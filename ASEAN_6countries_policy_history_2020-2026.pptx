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3004596" cy="73152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タイ｜2020年前後からの制度の変遷</a:t>
            </a:r>
          </a:p>
          <a:p>
            <a:r>
              <a:t>確認日：2026-10-06</a:t>
            </a:r>
          </a:p>
          <a:p/>
          <a:p>
            <a:r>
              <a:t>2020年11月｜EV投資支援を承認 [1]</a:t>
            </a:r>
          </a:p>
          <a:p>
            <a:r>
              <a:t>BEV・PHEV工場、電池・重要部品への投資を支援。条件付き法人税免除など。購入補助とは別。</a:t>
            </a:r>
          </a:p>
          <a:p/>
          <a:p>
            <a:r>
              <a:t>2022–2023年｜EV3.0：輸入先行を認める [2]</a:t>
            </a:r>
          </a:p>
          <a:p>
            <a:r>
              <a:t>対象BEVに購入補助・税軽減。対象CBU輸入分を後のタイ国内生産で相殺する。</a:t>
            </a:r>
          </a:p>
          <a:p/>
          <a:p>
            <a:r>
              <a:t>2024–2025年｜EV3.0：当初の生産条件 [2]</a:t>
            </a:r>
          </a:p>
          <a:p>
            <a:r>
              <a:t>2024年中に相殺完了なら輸入1：生産1。2025年に持ち越す場合は1：1.5。後に期限を調整。</a:t>
            </a:r>
          </a:p>
          <a:p/>
          <a:p>
            <a:r>
              <a:t>2024年～｜EV3.5：生産倍率を引き上げ [3]</a:t>
            </a:r>
          </a:p>
          <a:p>
            <a:r>
              <a:t>2024–25年の対象輸入に対し、2026年までの相殺生産は1：2、2027年までなら1：3。</a:t>
            </a:r>
          </a:p>
          <a:p/>
          <a:p>
            <a:r>
              <a:t>2025年7月｜輸出を相殺生産に加算 [4]</a:t>
            </a:r>
          </a:p>
          <a:p>
            <a:r>
              <a:t>輸出向けにタイで生産した1台を1.5台として算入。国内販売だけで義務を消化する必要はない。</a:t>
            </a:r>
          </a:p>
          <a:p/>
          <a:p>
            <a:r>
              <a:t>OEMへの影響（推論）</a:t>
            </a:r>
          </a:p>
          <a:p>
            <a:r>
              <a:t>輸入先行のBEV OEM</a:t>
            </a:r>
          </a:p>
          <a:p>
            <a:r>
              <a:t>価格支援で参入しやすいが、工場・資金・将来の生産能力が必要。</a:t>
            </a:r>
          </a:p>
          <a:p/>
          <a:p>
            <a:r>
              <a:t>既存工場・輸出網を持つOEM</a:t>
            </a:r>
          </a:p>
          <a:p>
            <a:r>
              <a:t>相殺生産を進めやすい。輸出先を持てば国内在庫圧力を緩和し得る。</a:t>
            </a:r>
          </a:p>
          <a:p/>
          <a:p>
            <a:r>
              <a:t>HEV中心のOEM</a:t>
            </a:r>
          </a:p>
          <a:p>
            <a:r>
              <a:t>BEVの倍率をHEVに適用しない。HEV税制は別制度として確認。</a:t>
            </a:r>
          </a:p>
          <a:p/>
          <a:p>
            <a:r>
              <a:t>説明用の例</a:t>
            </a:r>
          </a:p>
          <a:p>
            <a:r>
              <a:t>対象BEVを1万台輸入：EV3.0の当初条件は1万／1.5万台、EV3.5は2万／3万台の相殺生産。</a:t>
            </a:r>
          </a:p>
          <a:p/>
          <a:p>
            <a:r>
              <a:t>κ・λの仮説</a:t>
            </a:r>
          </a:p>
          <a:p>
            <a:r>
              <a:t>κ↑：購入価格の低下で初速が上がる可能性。λは競争・値下げ・輸出で分岐。生産増＝国内需要増ではない。</a:t>
            </a:r>
          </a:p>
          <a:p/>
          <a:p>
            <a:r>
              <a:t>一次情報（完全URL）</a:t>
            </a:r>
          </a:p>
          <a:p>
            <a:r>
              <a:t>[1] BOI｜2020年投資支援</a:t>
            </a:r>
          </a:p>
          <a:p>
            <a:r>
              <a:t>https://www.boi.go.th/index.php?language=en&amp;module=news&amp;page=boi_event_detail&amp;topic_id=127092</a:t>
            </a:r>
          </a:p>
          <a:p/>
          <a:p>
            <a:r>
              <a:t>[2] BOI｜EV3.0 日本語資料 p.36–37</a:t>
            </a:r>
          </a:p>
          <a:p>
            <a:r>
              <a:t>https://www.boi.go.th/upload/content/20230706%20JP%20BOI.pdf</a:t>
            </a:r>
          </a:p>
          <a:p/>
          <a:p>
            <a:r>
              <a:t>[3] BOI｜EV3.5 原制度</a:t>
            </a:r>
          </a:p>
          <a:p>
            <a:r>
              <a:t>https://www.boi.go.th/upload/content/EV%203.5ENG.pdf</a:t>
            </a:r>
          </a:p>
          <a:p/>
          <a:p>
            <a:r>
              <a:t>[4] BOI/OSOS｜2025年7月の調整</a:t>
            </a:r>
          </a:p>
          <a:p>
            <a:r>
              <a:t>https://osos.boi.go.th/EN/news/2228/Thailand-EV-Board-Adjusts-EV3-EV3-5-Terms-to-Promote-Exports-as-Investment-in-EV-Supply-Chain-Tops-137-Billion-Baht/</a:t>
            </a:r>
          </a:p>
          <a:p/>
          <a:p>
            <a:r>
              <a:t>EV3.0の比率は導入時条件。2024年12月以降の改正・期限延長あり。参入契約と適用時点を照合する。追加一次情報：https://www.boi.go.th/index.php?_module=news&amp;from_page=press_releases2&amp;language=en&amp;page=press_releases_detail&amp;topic_id=136261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インドネシア｜2020年前後からの制度の変遷</a:t>
            </a:r>
          </a:p>
          <a:p>
            <a:r>
              <a:t>確認日：2026-10-06</a:t>
            </a:r>
          </a:p>
          <a:p/>
          <a:p>
            <a:r>
              <a:t>2020年時点｜2019年大統領令55号が基礎 [1]</a:t>
            </a:r>
          </a:p>
          <a:p>
            <a:r>
              <a:t>四輪以上のBEV：2019–21年はTKDN35%以上、2022–23年は40%以上。</a:t>
            </a:r>
          </a:p>
          <a:p/>
          <a:p>
            <a:r>
              <a:t>当初の計画｜2024年からTKDN60%へ [1]</a:t>
            </a:r>
          </a:p>
          <a:p>
            <a:r>
              <a:t>2019年制定時は2024–29年60%以上、2030年以降80%以上という計画だった。</a:t>
            </a:r>
          </a:p>
          <a:p/>
          <a:p>
            <a:r>
              <a:t>2023年4月～｜対象BEVのVATを政府負担 [2]</a:t>
            </a:r>
          </a:p>
          <a:p>
            <a:r>
              <a:t>TKDN40%以上などの条件を満たす四輪BEVはVAT10ポイント分を政府負担。当時11%→購入者1%。</a:t>
            </a:r>
          </a:p>
          <a:p/>
          <a:p>
            <a:r>
              <a:t>2023年改正｜60%への引き上げを延期 [3]</a:t>
            </a:r>
          </a:p>
          <a:p>
            <a:r>
              <a:t>四輪以上は2022–26年40%以上、2027–29年60%以上、2030年以降80%以上に変更。</a:t>
            </a:r>
          </a:p>
          <a:p/>
          <a:p>
            <a:r>
              <a:t>2023年末～｜工場建設前の輸入を優遇 [4]</a:t>
            </a:r>
          </a:p>
          <a:p>
            <a:r>
              <a:t>対象輸入等と同数量以上の現地生産を約束。2026年初の生産準備・2027年末までの生産、保証・制裁を規定。</a:t>
            </a:r>
          </a:p>
          <a:p/>
          <a:p>
            <a:r>
              <a:t>OEMへの影響（推論）</a:t>
            </a:r>
          </a:p>
          <a:p>
            <a:r>
              <a:t>現地生産・電池調達を持つOEM</a:t>
            </a:r>
          </a:p>
          <a:p>
            <a:r>
              <a:t>税優遇を満たしやすく、価格設定と供給継続に有利。</a:t>
            </a:r>
          </a:p>
          <a:p/>
          <a:p>
            <a:r>
              <a:t>工場を建設する新規参入OEM</a:t>
            </a:r>
          </a:p>
          <a:p>
            <a:r>
              <a:t>輸入で市場開拓できるが、後の現地生産義務を負う。</a:t>
            </a:r>
          </a:p>
          <a:p/>
          <a:p>
            <a:r>
              <a:t>HEVを販売するOEM</a:t>
            </a:r>
          </a:p>
          <a:p>
            <a:r>
              <a:t>BEVのTKDN・VAT支援をそのまま適用しない。年度別HEV優遇を別途確認。</a:t>
            </a:r>
          </a:p>
          <a:p/>
          <a:p>
            <a:r>
              <a:t>説明用の例</a:t>
            </a:r>
          </a:p>
          <a:p>
            <a:r>
              <a:t>TKDN45%の車種：40%基準は満たし得る。2023年改正で、2024年に60%へ上げる当初の負担が延期。</a:t>
            </a:r>
          </a:p>
          <a:p/>
          <a:p>
            <a:r>
              <a:t>κ・λの仮説</a:t>
            </a:r>
          </a:p>
          <a:p>
            <a:r>
              <a:t>κ↑：優遇対象車の価格低下。λ↓の可能性：現地化・安定供給。ただし工場遅延は発売時期や供給断に作用。</a:t>
            </a:r>
          </a:p>
          <a:p/>
          <a:p>
            <a:r>
              <a:t>一次情報（完全URL）</a:t>
            </a:r>
          </a:p>
          <a:p>
            <a:r>
              <a:t>[1] 内閣官房｜2019年の当初条件</a:t>
            </a:r>
          </a:p>
          <a:p>
            <a:r>
              <a:t>https://setkab.go.id/inilah-perpres-no-55-2019-tentang-program-kendaraan-bermotor-listrik-berbasis-baterai/</a:t>
            </a:r>
          </a:p>
          <a:p/>
          <a:p>
            <a:r>
              <a:t>[2] 財務省｜PMK38/2023</a:t>
            </a:r>
          </a:p>
          <a:p>
            <a:r>
              <a:t>https://jdih.kemenkeu.go.id/dok/pmk-38-tahun-2023/files</a:t>
            </a:r>
          </a:p>
          <a:p/>
          <a:p>
            <a:r>
              <a:t>[3] 税務総局｜大統領令79/2023</a:t>
            </a:r>
          </a:p>
          <a:p>
            <a:r>
              <a:t>https://www.pajak.go.id/id/peraturan/perubahan-atas-peraturan-presiden-nomor-55-tahun-2019-tentang-percepatan-program</a:t>
            </a:r>
          </a:p>
          <a:p/>
          <a:p>
            <a:r>
              <a:t>[4] 投資省/BKPM｜規則6/2023 英訳</a:t>
            </a:r>
          </a:p>
          <a:p>
            <a:r>
              <a:t>https://jdih-storage.bkpm.go.id/jdih/userfiles/documents/2024/4/2023Permeninvest006English.pdf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マレーシア｜2020年前後からの制度の変遷</a:t>
            </a:r>
          </a:p>
          <a:p>
            <a:r>
              <a:t>確認日：2026-10-06</a:t>
            </a:r>
          </a:p>
          <a:p/>
          <a:p>
            <a:r>
              <a:t>2022年1月～｜CBU EVの税免除を開始 [1]</a:t>
            </a:r>
          </a:p>
          <a:p>
            <a:r>
              <a:t>輸入関税・物品税を免除。当初の期限は2023年末。</a:t>
            </a:r>
          </a:p>
          <a:p/>
          <a:p>
            <a:r>
              <a:t>2022年1月～｜CKD EVは長い支援期間 [1]</a:t>
            </a:r>
          </a:p>
          <a:p>
            <a:r>
              <a:t>物品税・販売税、現地組立用部品の輸入関税を免除。当初の期限は2025年末。</a:t>
            </a:r>
          </a:p>
          <a:p/>
          <a:p>
            <a:r>
              <a:t>2023年以降｜期限を延長 [2,3]</a:t>
            </a:r>
          </a:p>
          <a:p>
            <a:r>
              <a:t>CBUは2025年末、CKDは2027年末へ。予算提案と、その後のMITI運用資料を照合。</a:t>
            </a:r>
          </a:p>
          <a:p/>
          <a:p>
            <a:r>
              <a:t>2022–2025年｜AP Francaisの価格条件も緩和 [4]</a:t>
            </a:r>
          </a:p>
          <a:p>
            <a:r>
              <a:t>CBU EVの最低店頭OTR価格をRM250,000からRM100,000へ一時緩和。2025年末まで。</a:t>
            </a:r>
          </a:p>
          <a:p/>
          <a:p>
            <a:r>
              <a:t>2026年7月～｜新規輸入CBUの条件を変更 [5]</a:t>
            </a:r>
          </a:p>
          <a:p>
            <a:r>
              <a:t>AP Francais対象EV：CIF輸入価格RM200,000以上・出力180kW以上。既存在庫等には経過措置。</a:t>
            </a:r>
          </a:p>
          <a:p/>
          <a:p>
            <a:r>
              <a:t>OEMへの影響（推論）</a:t>
            </a:r>
          </a:p>
          <a:p>
            <a:r>
              <a:t>輸入中心のEV OEM</a:t>
            </a:r>
          </a:p>
          <a:p>
            <a:r>
              <a:t>2022–25年に拡販しやすい。優遇終了と輸入条件変更後の補充・価格が課題。</a:t>
            </a:r>
          </a:p>
          <a:p/>
          <a:p>
            <a:r>
              <a:t>現地組立へ移るOEM</a:t>
            </a:r>
          </a:p>
          <a:p>
            <a:r>
              <a:t>2027年末までの税優遇が移行の誘因。組立承認・稼働時期を確認。</a:t>
            </a:r>
          </a:p>
          <a:p/>
          <a:p>
            <a:r>
              <a:t>既存組立拠点を持つOEM</a:t>
            </a:r>
          </a:p>
          <a:p>
            <a:r>
              <a:t>設備・調達網を使える可能性。新設拠点の個別承認条件とは区別する。</a:t>
            </a:r>
          </a:p>
          <a:p/>
          <a:p>
            <a:r>
              <a:t>説明用の例</a:t>
            </a:r>
          </a:p>
          <a:p>
            <a:r>
              <a:t>輸入専業と2025年にCKDへ移行したOEMでは、2026年以降の優遇条件が異なる。CIFは店頭価格ではない。</a:t>
            </a:r>
          </a:p>
          <a:p/>
          <a:p>
            <a:r>
              <a:t>κ・λの仮説</a:t>
            </a:r>
          </a:p>
          <a:p>
            <a:r>
              <a:t>κ↑：2022年の輸入支援。支援終了で販売水準A↓・見かけのλ↑の可能性。CBUとCKDを分けて推定する。</a:t>
            </a:r>
          </a:p>
          <a:p/>
          <a:p>
            <a:r>
              <a:t>一次情報（完全URL）</a:t>
            </a:r>
          </a:p>
          <a:p>
            <a:r>
              <a:t>[1] 財務省｜Budget 2022</a:t>
            </a:r>
          </a:p>
          <a:p>
            <a:r>
              <a:t>https://www.mof.gov.my/portal/arkib/budget/2022/bs22.pdf</a:t>
            </a:r>
          </a:p>
          <a:p/>
          <a:p>
            <a:r>
              <a:t>[2] 財務省｜Budget 2023 Appendix 25</a:t>
            </a:r>
          </a:p>
          <a:p>
            <a:r>
              <a:t>https://belanjawan.mof.gov.my/pdf/belanjawan2023/ucapan/tax-measure.pdf</a:t>
            </a:r>
          </a:p>
          <a:p/>
          <a:p>
            <a:r>
              <a:t>[3] MITI｜CKD優遇・AP MRA EV 2026</a:t>
            </a:r>
          </a:p>
          <a:p>
            <a:r>
              <a:t>https://www.miti.gov.my/miti/resources/Approve%20Permit/Guidelines/GP_AP_MRA_EV_1_JAN_2026.pdf</a:t>
            </a:r>
          </a:p>
          <a:p/>
          <a:p>
            <a:r>
              <a:t>[4] MITI｜2022–25年の価格条件説明</a:t>
            </a:r>
          </a:p>
          <a:p>
            <a:r>
              <a:t>https://www.miti.gov.my/miti/resources/Media%20Release/PR_MITI_REAFFIRMS_COMMITMENT_TO_SUSTAINABLE_AUTOMOTIVE_GROWTH_latest.pdf</a:t>
            </a:r>
          </a:p>
          <a:p/>
          <a:p>
            <a:r>
              <a:t>[5] MITI｜2026年CBU条件変更</a:t>
            </a:r>
          </a:p>
          <a:p>
            <a:r>
              <a:t>https://www.miti.gov.my/miti/resources/Media%20Release/SIARAN_MEDIA_PENAMATAN_PENGECUALIAN_KHAS_6_Mei_2026_edited.pdf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ベトナム｜2020年前後からの制度の変遷</a:t>
            </a:r>
          </a:p>
          <a:p>
            <a:r>
              <a:t>確認日：2026-10-06</a:t>
            </a:r>
          </a:p>
          <a:p/>
          <a:p>
            <a:r>
              <a:t>2020年6–12月｜国内製造・組立車の登録料を半減 [1]</a:t>
            </a:r>
          </a:p>
          <a:p>
            <a:r>
              <a:t>政令70/2020：6月28日～12月31日は初回登録料を通常の50%に。コロナ禍の需要支援。</a:t>
            </a:r>
          </a:p>
          <a:p/>
          <a:p>
            <a:r>
              <a:t>2022年3月～｜BEVの初回登録料を0%に [2]</a:t>
            </a:r>
          </a:p>
          <a:p>
            <a:r>
              <a:t>政令10/2022：3年間0%。当初は、その後2年間を同等のガソリン・ディーゼル車の50%とする計画。</a:t>
            </a:r>
          </a:p>
          <a:p/>
          <a:p>
            <a:r>
              <a:t>2025年3月～｜0%の期間を延長 [3]</a:t>
            </a:r>
          </a:p>
          <a:p>
            <a:r>
              <a:t>政令51/2025：2027年2月28日まで0%を継続。当初予定の負担増を回避。</a:t>
            </a:r>
          </a:p>
          <a:p/>
          <a:p>
            <a:r>
              <a:t>2026年6月公布｜2030年末まで0%継続を規定 [4]</a:t>
            </a:r>
          </a:p>
          <a:p>
            <a:r>
              <a:t>政令202/2026：2027年3月1日施行。2027年に登録料が上がるという予測は更新が必要。</a:t>
            </a:r>
          </a:p>
          <a:p/>
          <a:p>
            <a:r>
              <a:t>OEMへの影響（推論）</a:t>
            </a:r>
          </a:p>
          <a:p>
            <a:r>
              <a:t>2020年の現地組立OEM</a:t>
            </a:r>
          </a:p>
          <a:p>
            <a:r>
              <a:t>ICEを含む対象車の購入負担が軽くなった。完成車輸入とは条件差。</a:t>
            </a:r>
          </a:p>
          <a:p/>
          <a:p>
            <a:r>
              <a:t>BEVを販売するOEM</a:t>
            </a:r>
          </a:p>
          <a:p>
            <a:r>
              <a:t>2022年から購入時負担を軽減。輸入／現地生産を問わず該当車種の扱いを確認。</a:t>
            </a:r>
          </a:p>
          <a:p/>
          <a:p>
            <a:r>
              <a:t>HEV・PHEVを販売するOEM</a:t>
            </a:r>
          </a:p>
          <a:p>
            <a:r>
              <a:t>BEV登録料0%を自動適用しない。動力方式別の税区分を確認。</a:t>
            </a:r>
          </a:p>
          <a:p/>
          <a:p>
            <a:r>
              <a:t>説明用の例</a:t>
            </a:r>
          </a:p>
          <a:p>
            <a:r>
              <a:t>評価額10億ドン・通常登録料10%なら1億ドン。2020年の対象現地組立車は5,000万、対象BEVは0。</a:t>
            </a:r>
          </a:p>
          <a:p/>
          <a:p>
            <a:r>
              <a:t>κ・λの仮説</a:t>
            </a:r>
          </a:p>
          <a:p>
            <a:r>
              <a:t>κ↑：購入負担の軽減。期限前の駆け込み・反動はλと分離。0%延長により、2027年登録料の反動減仮説は修正。</a:t>
            </a:r>
          </a:p>
          <a:p/>
          <a:p>
            <a:r>
              <a:t>一次情報（完全URL）</a:t>
            </a:r>
          </a:p>
          <a:p>
            <a:r>
              <a:t>[1] 政府｜政令70/2020の施行・内容</a:t>
            </a:r>
          </a:p>
          <a:p>
            <a:r>
              <a:t>https://vanban.chinhphu.vn/thong-cao-bao-chi-vbqppl-do-chinh-phu-thu-tuong-chinh-phu-ban-hanh/thong-cao-bao-chi-thang-06-nam-2020-10060651</a:t>
            </a:r>
          </a:p>
          <a:p/>
          <a:p>
            <a:r>
              <a:t>[2] 政府｜2022年3月の登録料制度</a:t>
            </a:r>
          </a:p>
          <a:p>
            <a:r>
              <a:t>https://baochinhphu.vn/chinh-sach-moi-co-hieu-luc-tu-thang-3-2022-102220301165034748.htm</a:t>
            </a:r>
          </a:p>
          <a:p/>
          <a:p>
            <a:r>
              <a:t>[3] 政府｜政令51/2025</a:t>
            </a:r>
          </a:p>
          <a:p>
            <a:r>
              <a:t>https://xaydungchinhsach.chinhphu.vn/nghi-dinh-so-51-2025-nd-cp-sua-doi-bo-sung-quy-dinh-ve-le-phi-truoc-ba-119250302081211221.htm</a:t>
            </a:r>
          </a:p>
          <a:p/>
          <a:p>
            <a:r>
              <a:t>[4] 官報｜政令202/2026</a:t>
            </a:r>
          </a:p>
          <a:p>
            <a:r>
              <a:t>https://congbao.chinhphu.vn/van-ban/nghi-dinh-so-202-2026-nd-cp-469730.htm</a:t>
            </a:r>
          </a:p>
          <a:p/>
          <a:p>
            <a:r>
              <a:t>登録料の例は仮定による計算であり、実際の評価額・通常税率は地域等によって異なる。政令202/2026は公布済み・2027-03-01施行であり、2026年時点の新規施行措置とは区別。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フィリピン｜2020年前後からの制度の変遷</a:t>
            </a:r>
          </a:p>
          <a:p>
            <a:r>
              <a:t>確認日：2026-10-06</a:t>
            </a:r>
          </a:p>
          <a:p/>
          <a:p>
            <a:r>
              <a:t>2020年時点｜2018年からの物品税優遇 [1]</a:t>
            </a:r>
          </a:p>
          <a:p>
            <a:r>
              <a:t>純電気自動車は自動車物品税免除。条件を満たすHEVは通常税率の50%。輸入関税免除とは別。</a:t>
            </a:r>
          </a:p>
          <a:p/>
          <a:p>
            <a:r>
              <a:t>2022年4月｜EVIDAが成立 [2]</a:t>
            </a:r>
          </a:p>
          <a:p>
            <a:r>
              <a:t>共和国法11697号：EV産業、充電設備、普及計画などの政策枠組みを整備。</a:t>
            </a:r>
          </a:p>
          <a:p/>
          <a:p>
            <a:r>
              <a:t>2023年2月～｜EO12の輸入関税軽減が発効 [3]</a:t>
            </a:r>
          </a:p>
          <a:p>
            <a:r>
              <a:t>特定のBEV等を対象に関税を軽減。2月20日発効。HEVはこの時点で同じ優遇対象ではない。</a:t>
            </a:r>
          </a:p>
          <a:p/>
          <a:p>
            <a:r>
              <a:t>2024年｜EO62でHEV・PHEV等へ拡大 [4]</a:t>
            </a:r>
          </a:p>
          <a:p>
            <a:r>
              <a:t>対象品目の関税0%を2028年まで設定。BEV以外の電動車にも輸入面の恩恵。</a:t>
            </a:r>
          </a:p>
          <a:p/>
          <a:p>
            <a:r>
              <a:t>OEMへの影響（推論）</a:t>
            </a:r>
          </a:p>
          <a:p>
            <a:r>
              <a:t>完成車輸入BEV OEM</a:t>
            </a:r>
          </a:p>
          <a:p>
            <a:r>
              <a:t>2023年から対象車の輸入コストを抑えやすい。関税分類・原産地を確認。</a:t>
            </a:r>
          </a:p>
          <a:p/>
          <a:p>
            <a:r>
              <a:t>完成車輸入HEV OEM</a:t>
            </a:r>
          </a:p>
          <a:p>
            <a:r>
              <a:t>2024年の対象拡大に意味。日系を含むHEVの価格競争力が改善し得る。</a:t>
            </a:r>
          </a:p>
          <a:p/>
          <a:p>
            <a:r>
              <a:t>既にFTA低関税の車種</a:t>
            </a:r>
          </a:p>
          <a:p>
            <a:r>
              <a:t>追加の関税削減効果は小さい可能性。OEM国籍だけで恩恵を決めない。</a:t>
            </a:r>
          </a:p>
          <a:p/>
          <a:p>
            <a:r>
              <a:t>説明用の例</a:t>
            </a:r>
          </a:p>
          <a:p>
            <a:r>
              <a:t>2024年にHEV販売が伸びた場合、モデルの魅力と関税優遇を分ける。従前の関税が0%なら追加効果は小さい。</a:t>
            </a:r>
          </a:p>
          <a:p/>
          <a:p>
            <a:r>
              <a:t>κ・λの仮説</a:t>
            </a:r>
          </a:p>
          <a:p>
            <a:r>
              <a:t>BEVは2023年、HEV/PHEVは2024年を政策転換点に。κ↑の可能性。価格低下はAにも作用し、λの方向は不定。</a:t>
            </a:r>
          </a:p>
          <a:p/>
          <a:p>
            <a:r>
              <a:t>一次情報（完全URL）</a:t>
            </a:r>
          </a:p>
          <a:p>
            <a:r>
              <a:t>[1] 最高裁法令庫｜RR5/2018</a:t>
            </a:r>
          </a:p>
          <a:p>
            <a:r>
              <a:t>https://elibrary.judiciary.gov.ph/thebookshelf/showdocs/10/89762</a:t>
            </a:r>
          </a:p>
          <a:p/>
          <a:p>
            <a:r>
              <a:t>[2] 最高裁法令庫｜EVIDA RA11697</a:t>
            </a:r>
          </a:p>
          <a:p>
            <a:r>
              <a:t>https://elibrary.judiciary.gov.ph/thebookshelf/showdocs/2/95174</a:t>
            </a:r>
          </a:p>
          <a:p/>
          <a:p>
            <a:r>
              <a:t>[3] 最高裁法令庫｜EO12/2023</a:t>
            </a:r>
          </a:p>
          <a:p>
            <a:r>
              <a:t>https://elibrary.judiciary.gov.ph/thebookshelf/showdocs/5/96216</a:t>
            </a:r>
          </a:p>
          <a:p/>
          <a:p>
            <a:r>
              <a:t>[4] 税関｜EO62/2024 原文</a:t>
            </a:r>
          </a:p>
          <a:p>
            <a:r>
              <a:t>https://customs.gov.ph/wp-content/uploads/2024/07/20240620-EO-62-FRM.pdf</a:t>
            </a:r>
          </a:p>
          <a:p/>
          <a:p>
            <a:r>
              <a:t>EO12の実際の発効日2023-02-20は政府通信社の説明でも確認：https://www.pna.gov.ph/articles/1220146。関税はHS・原産地・協定を照合。物品税優遇のHEVは電動機だけで停止状態から走行できる等の定義を満たす必要。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シンガポール｜2020年前後からの制度の変遷</a:t>
            </a:r>
          </a:p>
          <a:p>
            <a:r>
              <a:t>確認日：2026-10-06</a:t>
            </a:r>
          </a:p>
          <a:p/>
          <a:p>
            <a:r>
              <a:t>2020年発表｜EEAIを2021年から導入 [1]</a:t>
            </a:r>
          </a:p>
          <a:p>
            <a:r>
              <a:t>BEVの追加登録料ARFを45%軽減。2021–23年は上限20,000 SGD。</a:t>
            </a:r>
          </a:p>
          <a:p/>
          <a:p>
            <a:r>
              <a:t>2022年5月～｜BEVのCOE区分条件を変更 [2]</a:t>
            </a:r>
          </a:p>
          <a:p>
            <a:r>
              <a:t>Category AのBEV最大出力を97kW→110kWに。より多くの大衆向けBEVがA区分に入れる。</a:t>
            </a:r>
          </a:p>
          <a:p/>
          <a:p>
            <a:r>
              <a:t>2024–2025年｜EEAIを延長・上限縮小 [3,4]</a:t>
            </a:r>
          </a:p>
          <a:p>
            <a:r>
              <a:t>ARF45%軽減を継続し、上限を15,000 SGDに。VESの排出量別優遇とは別枠。</a:t>
            </a:r>
          </a:p>
          <a:p/>
          <a:p>
            <a:r>
              <a:t>2026年｜EEAI上限を7,500 SGDへ [4]</a:t>
            </a:r>
          </a:p>
          <a:p>
            <a:r>
              <a:t>購入支援をさらに縮小。VESと合算した最大恩恵とは混同しない。</a:t>
            </a:r>
          </a:p>
          <a:p/>
          <a:p>
            <a:r>
              <a:t>2027年予定｜EEAIを終了 [4]</a:t>
            </a:r>
          </a:p>
          <a:p>
            <a:r>
              <a:t>EEAI終了後もVESは別制度として残る。支援縮小による前倒し購入・反動を検証。</a:t>
            </a:r>
          </a:p>
          <a:p/>
          <a:p>
            <a:r>
              <a:t>OEMへの影響（推論）</a:t>
            </a:r>
          </a:p>
          <a:p>
            <a:r>
              <a:t>98–110kWのBEV OEM</a:t>
            </a:r>
          </a:p>
          <a:p>
            <a:r>
              <a:t>2022年変更でCategory Aへ。出力設定・投入モデルが販売条件に影響。</a:t>
            </a:r>
          </a:p>
          <a:p/>
          <a:p>
            <a:r>
              <a:t>BEV全般のOEM</a:t>
            </a:r>
          </a:p>
          <a:p>
            <a:r>
              <a:t>支援縮小を価格・販売計画に織り込む。上限額すべてが必ず使えるとは限らない。</a:t>
            </a:r>
          </a:p>
          <a:p/>
          <a:p>
            <a:r>
              <a:t>全OEM共通</a:t>
            </a:r>
          </a:p>
          <a:p>
            <a:r>
              <a:t>COE枠・区分別価格を統制する。減税が市場総台数を同率で増やすとは限らない。</a:t>
            </a:r>
          </a:p>
          <a:p/>
          <a:p>
            <a:r>
              <a:t>説明用の例</a:t>
            </a:r>
          </a:p>
          <a:p>
            <a:r>
              <a:t>最大出力105kWのBEV：変更前はCategory B、2022年5月以降はAに該当。価格差は各区分の入札次第。</a:t>
            </a:r>
          </a:p>
          <a:p/>
          <a:p>
            <a:r>
              <a:t>κ・λの仮説</a:t>
            </a:r>
          </a:p>
          <a:p>
            <a:r>
              <a:t>κ↑：2021年支援・2022年区分変更。支援終了前の駆け込みと後の反動は、モデル固有のλから分離する。</a:t>
            </a:r>
          </a:p>
          <a:p/>
          <a:p>
            <a:r>
              <a:t>一次情報（完全URL）</a:t>
            </a:r>
          </a:p>
          <a:p>
            <a:r>
              <a:t>[1] LTA｜2020年EEAI導入発表</a:t>
            </a:r>
          </a:p>
          <a:p>
            <a:r>
              <a:t>https://www.lta.gov.sg/content/ltagov/en/newsroom/2020/2/news-releases/Supporting_cleaner_and_greener_vehicles.html</a:t>
            </a:r>
          </a:p>
          <a:p/>
          <a:p>
            <a:r>
              <a:t>[2] LTA｜2022年COE出力区分変更</a:t>
            </a:r>
          </a:p>
          <a:p>
            <a:r>
              <a:t>https://www.lta.gov.sg/content/ltagov/en/newsroom/2022/3/news-releases/reducing-peak-land-transport-emissions-by-80-.html</a:t>
            </a:r>
          </a:p>
          <a:p/>
          <a:p>
            <a:r>
              <a:t>[3] LTA｜2023年延長・縮小発表</a:t>
            </a:r>
          </a:p>
          <a:p>
            <a:r>
              <a:t>https://www.lta.gov.sg/content/ltagov/en/newsroom/2023/9/news-releases/sustained_govt_support_to_encourage_vehicle_electrification.html</a:t>
            </a:r>
          </a:p>
          <a:p/>
          <a:p>
            <a:r>
              <a:t>[4] LTA｜2026–27年の支援条件</a:t>
            </a:r>
          </a:p>
          <a:p>
            <a:r>
              <a:t>https://www.lta.gov.sg/content/ltagov/en/newsroom/2025/9/news-releases/extension_of_ves_and_eeai_to_support_vehicle_electrification.html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boi.go.th/index.php?language=en&amp;module=news&amp;page=boi_event_detail&amp;topic_id=127092" TargetMode="External"/><Relationship Id="rId3" Type="http://schemas.openxmlformats.org/officeDocument/2006/relationships/hyperlink" Target="https://www.boi.go.th/upload/content/20230706%20JP%20BOI.pdf" TargetMode="External"/><Relationship Id="rId4" Type="http://schemas.openxmlformats.org/officeDocument/2006/relationships/hyperlink" Target="https://www.boi.go.th/upload/content/EV%203.5ENG.pdf" TargetMode="External"/><Relationship Id="rId5" Type="http://schemas.openxmlformats.org/officeDocument/2006/relationships/hyperlink" Target="https://osos.boi.go.th/EN/news/2228/Thailand-EV-Board-Adjusts-EV3-EV3-5-Terms-to-Promote-Exports-as-Investment-in-EV-Supply-Chain-Tops-137-Billion-Baht/" TargetMode="External"/><Relationship Id="rId6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setkab.go.id/inilah-perpres-no-55-2019-tentang-program-kendaraan-bermotor-listrik-berbasis-baterai/" TargetMode="External"/><Relationship Id="rId3" Type="http://schemas.openxmlformats.org/officeDocument/2006/relationships/hyperlink" Target="https://jdih.kemenkeu.go.id/dok/pmk-38-tahun-2023/files" TargetMode="External"/><Relationship Id="rId4" Type="http://schemas.openxmlformats.org/officeDocument/2006/relationships/hyperlink" Target="https://www.pajak.go.id/id/peraturan/perubahan-atas-peraturan-presiden-nomor-55-tahun-2019-tentang-percepatan-program" TargetMode="External"/><Relationship Id="rId5" Type="http://schemas.openxmlformats.org/officeDocument/2006/relationships/hyperlink" Target="https://jdih-storage.bkpm.go.id/jdih/userfiles/documents/2024/4/2023Permeninvest006English.pdf" TargetMode="External"/><Relationship Id="rId6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mof.gov.my/portal/arkib/budget/2022/bs22.pdf" TargetMode="External"/><Relationship Id="rId3" Type="http://schemas.openxmlformats.org/officeDocument/2006/relationships/hyperlink" Target="https://belanjawan.mof.gov.my/pdf/belanjawan2023/ucapan/tax-measure.pdf" TargetMode="External"/><Relationship Id="rId4" Type="http://schemas.openxmlformats.org/officeDocument/2006/relationships/hyperlink" Target="https://www.miti.gov.my/miti/resources/Approve%20Permit/Guidelines/GP_AP_MRA_EV_1_JAN_2026.pdf" TargetMode="External"/><Relationship Id="rId5" Type="http://schemas.openxmlformats.org/officeDocument/2006/relationships/hyperlink" Target="https://www.miti.gov.my/miti/resources/Media%20Release/PR_MITI_REAFFIRMS_COMMITMENT_TO_SUSTAINABLE_AUTOMOTIVE_GROWTH_latest.pdf" TargetMode="External"/><Relationship Id="rId6" Type="http://schemas.openxmlformats.org/officeDocument/2006/relationships/hyperlink" Target="https://www.miti.gov.my/miti/resources/Media%20Release/SIARAN_MEDIA_PENAMATAN_PENGECUALIAN_KHAS_6_Mei_2026_edited.pdf" TargetMode="External"/><Relationship Id="rId7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vanban.chinhphu.vn/thong-cao-bao-chi-vbqppl-do-chinh-phu-thu-tuong-chinh-phu-ban-hanh/thong-cao-bao-chi-thang-06-nam-2020-10060651" TargetMode="External"/><Relationship Id="rId3" Type="http://schemas.openxmlformats.org/officeDocument/2006/relationships/hyperlink" Target="https://baochinhphu.vn/chinh-sach-moi-co-hieu-luc-tu-thang-3-2022-102220301165034748.htm" TargetMode="External"/><Relationship Id="rId4" Type="http://schemas.openxmlformats.org/officeDocument/2006/relationships/hyperlink" Target="https://xaydungchinhsach.chinhphu.vn/nghi-dinh-so-51-2025-nd-cp-sua-doi-bo-sung-quy-dinh-ve-le-phi-truoc-ba-119250302081211221.htm" TargetMode="External"/><Relationship Id="rId5" Type="http://schemas.openxmlformats.org/officeDocument/2006/relationships/hyperlink" Target="https://congbao.chinhphu.vn/van-ban/nghi-dinh-so-202-2026-nd-cp-469730.htm" TargetMode="External"/><Relationship Id="rId6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elibrary.judiciary.gov.ph/thebookshelf/showdocs/10/89762" TargetMode="External"/><Relationship Id="rId3" Type="http://schemas.openxmlformats.org/officeDocument/2006/relationships/hyperlink" Target="https://elibrary.judiciary.gov.ph/thebookshelf/showdocs/2/95174" TargetMode="External"/><Relationship Id="rId4" Type="http://schemas.openxmlformats.org/officeDocument/2006/relationships/hyperlink" Target="https://elibrary.judiciary.gov.ph/thebookshelf/showdocs/5/96216" TargetMode="External"/><Relationship Id="rId5" Type="http://schemas.openxmlformats.org/officeDocument/2006/relationships/hyperlink" Target="https://customs.gov.ph/wp-content/uploads/2024/07/20240620-EO-62-FRM.pdf" TargetMode="External"/><Relationship Id="rId6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lta.gov.sg/content/ltagov/en/newsroom/2020/2/news-releases/Supporting_cleaner_and_greener_vehicles.html" TargetMode="External"/><Relationship Id="rId3" Type="http://schemas.openxmlformats.org/officeDocument/2006/relationships/hyperlink" Target="https://www.lta.gov.sg/content/ltagov/en/newsroom/2022/3/news-releases/reducing-peak-land-transport-emissions-by-80-.html" TargetMode="External"/><Relationship Id="rId4" Type="http://schemas.openxmlformats.org/officeDocument/2006/relationships/hyperlink" Target="https://www.lta.gov.sg/content/ltagov/en/newsroom/2023/9/news-releases/sustained_govt_support_to_encourage_vehicle_electrification.html" TargetMode="External"/><Relationship Id="rId5" Type="http://schemas.openxmlformats.org/officeDocument/2006/relationships/hyperlink" Target="https://www.lta.gov.sg/content/ltagov/en/newsroom/2025/9/news-releases/extension_of_ves_and_eeai_to_support_vehicle_electrification.html" TargetMode="External"/><Relationship Id="rId6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004596" cy="109728"/>
          </a:xfrm>
          <a:prstGeom prst="rect">
            <a:avLst/>
          </a:prstGeom>
          <a:solidFill>
            <a:srgbClr val="00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92608"/>
            <a:ext cx="100584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200"/>
              </a:spcAft>
            </a:pPr>
            <a:r>
              <a:rPr sz="1000" b="1">
                <a:solidFill>
                  <a:srgbClr val="007F82"/>
                </a:solidFill>
                <a:latin typeface="Noto Sans CJK JP"/>
                <a:ea typeface="Noto Sans CJK JP"/>
              </a:rPr>
              <a:t>01  THAILAND  /  2020年前後からの主要な制度変更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04088"/>
            <a:ext cx="12070080" cy="5120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200"/>
              </a:spcAft>
            </a:pPr>
            <a:r>
              <a:rPr sz="2500" b="1">
                <a:solidFill>
                  <a:srgbClr val="182B49"/>
                </a:solidFill>
                <a:latin typeface="Noto Sans CJK JP"/>
                <a:ea typeface="Noto Sans CJK JP"/>
              </a:rPr>
              <a:t>タイ｜投資支援 → 購入補助と相殺生産 → 条件の調整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07592"/>
            <a:ext cx="1207008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200"/>
              </a:spcAft>
            </a:pPr>
            <a:r>
              <a:rPr sz="1400" b="0">
                <a:solidFill>
                  <a:srgbClr val="59697C"/>
                </a:solidFill>
                <a:latin typeface="Noto Sans CJK JP"/>
                <a:ea typeface="Noto Sans CJK JP"/>
              </a:rPr>
              <a:t>「HEVを1台売ると2台生産」ではない。対象BEVの輸入に付く支援条件。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810512"/>
            <a:ext cx="80467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200"/>
              </a:spcAft>
            </a:pPr>
            <a:r>
              <a:rPr sz="1100" b="1">
                <a:solidFill>
                  <a:srgbClr val="007F82"/>
                </a:solidFill>
                <a:latin typeface="Noto Sans CJK JP"/>
                <a:ea typeface="Noto Sans CJK JP"/>
              </a:rPr>
              <a:t>制度の変遷｜番号は下の一次情報に対応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87968" y="1810512"/>
            <a:ext cx="36118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200"/>
              </a:spcAft>
            </a:pPr>
            <a:r>
              <a:rPr sz="1100" b="1">
                <a:solidFill>
                  <a:srgbClr val="2567A4"/>
                </a:solidFill>
                <a:latin typeface="Noto Sans CJK JP"/>
                <a:ea typeface="Noto Sans CJK JP"/>
              </a:rPr>
              <a:t>OEMへの影響｜分析上の推論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084831"/>
            <a:ext cx="8092440" cy="58613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2648" y="2176272"/>
            <a:ext cx="1481328" cy="52669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200"/>
              </a:spcAft>
            </a:pPr>
            <a:r>
              <a:rPr sz="1300" b="1">
                <a:solidFill>
                  <a:srgbClr val="007F82"/>
                </a:solidFill>
                <a:latin typeface="Noto Sans CJK JP"/>
                <a:ea typeface="Noto Sans CJK JP"/>
              </a:rPr>
              <a:t>2020年11月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85416" y="2144268"/>
            <a:ext cx="60807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200"/>
              </a:spcAft>
            </a:pPr>
            <a:r>
              <a:rPr sz="1400" b="1">
                <a:solidFill>
                  <a:srgbClr val="182B49"/>
                </a:solidFill>
                <a:latin typeface="Noto Sans CJK JP"/>
                <a:ea typeface="Noto Sans CJK JP"/>
              </a:rPr>
              <a:t>EV投資支援を承認 [1]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85416" y="2414015"/>
            <a:ext cx="6080760" cy="2889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200"/>
              </a:spcAft>
            </a:pPr>
            <a:r>
              <a:rPr sz="1240" b="0">
                <a:solidFill>
                  <a:srgbClr val="182B49"/>
                </a:solidFill>
                <a:latin typeface="Noto Sans CJK JP"/>
                <a:ea typeface="Noto Sans CJK JP"/>
              </a:rPr>
              <a:t>BEV・PHEV工場、電池・重要部品への投資を支援。条件付き法人税免除など。購入補助とは別。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721254"/>
            <a:ext cx="8092440" cy="58613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2648" y="2812694"/>
            <a:ext cx="1481328" cy="52669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200"/>
              </a:spcAft>
            </a:pPr>
            <a:r>
              <a:rPr sz="1300" b="1">
                <a:solidFill>
                  <a:srgbClr val="007F82"/>
                </a:solidFill>
                <a:latin typeface="Noto Sans CJK JP"/>
                <a:ea typeface="Noto Sans CJK JP"/>
              </a:rPr>
              <a:t>2022–2023年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85416" y="2780690"/>
            <a:ext cx="60807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200"/>
              </a:spcAft>
            </a:pPr>
            <a:r>
              <a:rPr sz="1400" b="1">
                <a:solidFill>
                  <a:srgbClr val="182B49"/>
                </a:solidFill>
                <a:latin typeface="Noto Sans CJK JP"/>
                <a:ea typeface="Noto Sans CJK JP"/>
              </a:rPr>
              <a:t>EV3.0：輸入先行を認める [2]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85416" y="3050438"/>
            <a:ext cx="6080760" cy="2889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200"/>
              </a:spcAft>
            </a:pPr>
            <a:r>
              <a:rPr sz="1240" b="0">
                <a:solidFill>
                  <a:srgbClr val="182B49"/>
                </a:solidFill>
                <a:latin typeface="Noto Sans CJK JP"/>
                <a:ea typeface="Noto Sans CJK JP"/>
              </a:rPr>
              <a:t>対象BEVに購入補助・税軽減。対象CBU輸入分を後のタイ国内生産で相殺する。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357676"/>
            <a:ext cx="8092440" cy="58613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2648" y="3449116"/>
            <a:ext cx="1481328" cy="52669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200"/>
              </a:spcAft>
            </a:pPr>
            <a:r>
              <a:rPr sz="1300" b="1">
                <a:solidFill>
                  <a:srgbClr val="007F82"/>
                </a:solidFill>
                <a:latin typeface="Noto Sans CJK JP"/>
                <a:ea typeface="Noto Sans CJK JP"/>
              </a:rPr>
              <a:t>2024–2025年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85416" y="3417112"/>
            <a:ext cx="60807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200"/>
              </a:spcAft>
            </a:pPr>
            <a:r>
              <a:rPr sz="1400" b="1">
                <a:solidFill>
                  <a:srgbClr val="182B49"/>
                </a:solidFill>
                <a:latin typeface="Noto Sans CJK JP"/>
                <a:ea typeface="Noto Sans CJK JP"/>
              </a:rPr>
              <a:t>EV3.0：当初の生産条件 [2]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85416" y="3686860"/>
            <a:ext cx="6080760" cy="2889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200"/>
              </a:spcAft>
            </a:pPr>
            <a:r>
              <a:rPr sz="1240" b="0">
                <a:solidFill>
                  <a:srgbClr val="182B49"/>
                </a:solidFill>
                <a:latin typeface="Noto Sans CJK JP"/>
                <a:ea typeface="Noto Sans CJK JP"/>
              </a:rPr>
              <a:t>2024年中に相殺完了なら輸入1：生産1。2025年に持ち越す場合は1：1.5。後に期限を調整。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3994099"/>
            <a:ext cx="8092440" cy="58613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2648" y="4085539"/>
            <a:ext cx="1481328" cy="52669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200"/>
              </a:spcAft>
            </a:pPr>
            <a:r>
              <a:rPr sz="1300" b="1">
                <a:solidFill>
                  <a:srgbClr val="007F82"/>
                </a:solidFill>
                <a:latin typeface="Noto Sans CJK JP"/>
                <a:ea typeface="Noto Sans CJK JP"/>
              </a:rPr>
              <a:t>2024年～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185416" y="4053535"/>
            <a:ext cx="60807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200"/>
              </a:spcAft>
            </a:pPr>
            <a:r>
              <a:rPr sz="1400" b="1">
                <a:solidFill>
                  <a:srgbClr val="182B49"/>
                </a:solidFill>
                <a:latin typeface="Noto Sans CJK JP"/>
                <a:ea typeface="Noto Sans CJK JP"/>
              </a:rPr>
              <a:t>EV3.5：生産倍率を引き上げ [3]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85416" y="4323283"/>
            <a:ext cx="6080760" cy="2889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200"/>
              </a:spcAft>
            </a:pPr>
            <a:r>
              <a:rPr sz="1240" b="0">
                <a:solidFill>
                  <a:srgbClr val="182B49"/>
                </a:solidFill>
                <a:latin typeface="Noto Sans CJK JP"/>
                <a:ea typeface="Noto Sans CJK JP"/>
              </a:rPr>
              <a:t>2024–25年の対象輸入に対し、2026年までの相殺生産は1：2、2027年までなら1：3。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4630521"/>
            <a:ext cx="8092440" cy="58613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12648" y="4721961"/>
            <a:ext cx="1481328" cy="52669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200"/>
              </a:spcAft>
            </a:pPr>
            <a:r>
              <a:rPr sz="1300" b="1">
                <a:solidFill>
                  <a:srgbClr val="007F82"/>
                </a:solidFill>
                <a:latin typeface="Noto Sans CJK JP"/>
                <a:ea typeface="Noto Sans CJK JP"/>
              </a:rPr>
              <a:t>2025年7月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185416" y="4689957"/>
            <a:ext cx="60807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200"/>
              </a:spcAft>
            </a:pPr>
            <a:r>
              <a:rPr sz="1400" b="1">
                <a:solidFill>
                  <a:srgbClr val="182B49"/>
                </a:solidFill>
                <a:latin typeface="Noto Sans CJK JP"/>
                <a:ea typeface="Noto Sans CJK JP"/>
              </a:rPr>
              <a:t>輸出を相殺生産に加算 [4]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185416" y="4959705"/>
            <a:ext cx="6080760" cy="2889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200"/>
              </a:spcAft>
            </a:pPr>
            <a:r>
              <a:rPr sz="1240" b="0">
                <a:solidFill>
                  <a:srgbClr val="182B49"/>
                </a:solidFill>
                <a:latin typeface="Noto Sans CJK JP"/>
                <a:ea typeface="Noto Sans CJK JP"/>
              </a:rPr>
              <a:t>輸出向けにタイで生産した1台を1.5台として算入。国内販売だけで義務を消化する必要はない。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759952" y="2084831"/>
            <a:ext cx="3776472" cy="3136392"/>
          </a:xfrm>
          <a:prstGeom prst="rect">
            <a:avLst/>
          </a:prstGeom>
          <a:solidFill>
            <a:srgbClr val="EA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942832" y="2221992"/>
            <a:ext cx="3419856" cy="2816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200"/>
              </a:spcAft>
            </a:pPr>
            <a:r>
              <a:rPr sz="1270" b="0">
                <a:solidFill>
                  <a:srgbClr val="182B49"/>
                </a:solidFill>
                <a:latin typeface="Noto Sans CJK JP"/>
                <a:ea typeface="Noto Sans CJK JP"/>
              </a:rPr>
              <a:t>輸入先行のBEV OEM</a:t>
            </a:r>
          </a:p>
          <a:p>
            <a:pPr>
              <a:lnSpc>
                <a:spcPct val="112000"/>
              </a:lnSpc>
              <a:spcAft>
                <a:spcPts val="200"/>
              </a:spcAft>
            </a:pPr>
            <a:r>
              <a:rPr sz="1270" b="0">
                <a:solidFill>
                  <a:srgbClr val="182B49"/>
                </a:solidFill>
                <a:latin typeface="Noto Sans CJK JP"/>
                <a:ea typeface="Noto Sans CJK JP"/>
              </a:rPr>
              <a:t>価格支援で参入しやすいが、工場・資金・将来の生産能力が必要。</a:t>
            </a:r>
          </a:p>
          <a:p>
            <a:pPr>
              <a:lnSpc>
                <a:spcPct val="112000"/>
              </a:lnSpc>
              <a:spcAft>
                <a:spcPts val="200"/>
              </a:spcAft>
            </a:pPr>
            <a:r>
              <a:rPr sz="1270" b="0">
                <a:solidFill>
                  <a:srgbClr val="182B49"/>
                </a:solidFill>
                <a:latin typeface="Noto Sans CJK JP"/>
                <a:ea typeface="Noto Sans CJK JP"/>
              </a:rPr>
              <a:t/>
            </a:r>
          </a:p>
          <a:p>
            <a:pPr>
              <a:lnSpc>
                <a:spcPct val="112000"/>
              </a:lnSpc>
              <a:spcAft>
                <a:spcPts val="200"/>
              </a:spcAft>
            </a:pPr>
            <a:r>
              <a:rPr sz="1270" b="0">
                <a:solidFill>
                  <a:srgbClr val="182B49"/>
                </a:solidFill>
                <a:latin typeface="Noto Sans CJK JP"/>
                <a:ea typeface="Noto Sans CJK JP"/>
              </a:rPr>
              <a:t>既存工場・輸出網を持つOEM</a:t>
            </a:r>
          </a:p>
          <a:p>
            <a:pPr>
              <a:lnSpc>
                <a:spcPct val="112000"/>
              </a:lnSpc>
              <a:spcAft>
                <a:spcPts val="200"/>
              </a:spcAft>
            </a:pPr>
            <a:r>
              <a:rPr sz="1270" b="0">
                <a:solidFill>
                  <a:srgbClr val="182B49"/>
                </a:solidFill>
                <a:latin typeface="Noto Sans CJK JP"/>
                <a:ea typeface="Noto Sans CJK JP"/>
              </a:rPr>
              <a:t>相殺生産を進めやすい。輸出先を持てば国内在庫圧力を緩和し得る。</a:t>
            </a:r>
          </a:p>
          <a:p>
            <a:pPr>
              <a:lnSpc>
                <a:spcPct val="112000"/>
              </a:lnSpc>
              <a:spcAft>
                <a:spcPts val="200"/>
              </a:spcAft>
            </a:pPr>
            <a:r>
              <a:rPr sz="1270" b="0">
                <a:solidFill>
                  <a:srgbClr val="182B49"/>
                </a:solidFill>
                <a:latin typeface="Noto Sans CJK JP"/>
                <a:ea typeface="Noto Sans CJK JP"/>
              </a:rPr>
              <a:t/>
            </a:r>
          </a:p>
          <a:p>
            <a:pPr>
              <a:lnSpc>
                <a:spcPct val="112000"/>
              </a:lnSpc>
              <a:spcAft>
                <a:spcPts val="200"/>
              </a:spcAft>
            </a:pPr>
            <a:r>
              <a:rPr sz="1270" b="0">
                <a:solidFill>
                  <a:srgbClr val="182B49"/>
                </a:solidFill>
                <a:latin typeface="Noto Sans CJK JP"/>
                <a:ea typeface="Noto Sans CJK JP"/>
              </a:rPr>
              <a:t>HEV中心のOEM</a:t>
            </a:r>
          </a:p>
          <a:p>
            <a:pPr>
              <a:lnSpc>
                <a:spcPct val="112000"/>
              </a:lnSpc>
              <a:spcAft>
                <a:spcPts val="200"/>
              </a:spcAft>
            </a:pPr>
            <a:r>
              <a:rPr sz="1270" b="0">
                <a:solidFill>
                  <a:srgbClr val="182B49"/>
                </a:solidFill>
                <a:latin typeface="Noto Sans CJK JP"/>
                <a:ea typeface="Noto Sans CJK JP"/>
              </a:rPr>
              <a:t>BEVの倍率をHEVに適用しない。HEV税制は別制度として確認。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5330952"/>
            <a:ext cx="12070080" cy="411480"/>
          </a:xfrm>
          <a:prstGeom prst="rect">
            <a:avLst/>
          </a:prstGeom>
          <a:solidFill>
            <a:srgbClr val="FFF5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21792" y="5422392"/>
            <a:ext cx="117500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200"/>
              </a:spcAft>
            </a:pPr>
            <a:r>
              <a:rPr sz="1210" b="0">
                <a:solidFill>
                  <a:srgbClr val="182B49"/>
                </a:solidFill>
                <a:latin typeface="Noto Sans CJK JP"/>
                <a:ea typeface="Noto Sans CJK JP"/>
              </a:rPr>
              <a:t>例｜対象BEVを1万台輸入：EV3.0の当初条件は1万／1.5万台、EV3.5は2万／3万台の相殺生産。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7200" y="5824728"/>
            <a:ext cx="12070080" cy="457200"/>
          </a:xfrm>
          <a:prstGeom prst="rect">
            <a:avLst/>
          </a:prstGeom>
          <a:solidFill>
            <a:srgbClr val="E9F4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21792" y="5916168"/>
            <a:ext cx="1175004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200"/>
              </a:spcAft>
            </a:pPr>
            <a:r>
              <a:rPr sz="1170" b="1">
                <a:solidFill>
                  <a:srgbClr val="007F82"/>
                </a:solidFill>
                <a:latin typeface="Noto Sans CJK JP"/>
                <a:ea typeface="Noto Sans CJK JP"/>
              </a:rPr>
              <a:t>κ・λの仮説｜κ↑：購入価格の低下で初速が上がる可能性。λは競争・値下げ・輸出で分岐。生産増＝国内需要増ではない。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84632" y="6409944"/>
            <a:ext cx="11887200" cy="1737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200"/>
              </a:spcAft>
            </a:pPr>
            <a:r>
              <a:rPr sz="900" b="0">
                <a:solidFill>
                  <a:srgbClr val="59697C"/>
                </a:solidFill>
                <a:latin typeface="Noto Sans CJK JP"/>
                <a:ea typeface="Noto Sans CJK JP"/>
              </a:rPr>
              <a:t>一次情報URL｜以下の資料名・ドメインをクリック。完全URL・補足は各スライドのノートに記載。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2920" y="6629400"/>
            <a:ext cx="5824728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200"/>
              </a:spcAft>
            </a:pPr>
            <a:r>
              <a:rPr sz="900" b="0">
                <a:solidFill>
                  <a:srgbClr val="2567A4"/>
                </a:solidFill>
                <a:latin typeface="Noto Sans CJK JP"/>
                <a:ea typeface="Noto Sans CJK JP"/>
                <a:hlinkClick r:id="rId2"/>
              </a:rPr>
              <a:t>[1] BOI｜2020年投資支援  |  boi.go.th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37959" y="6629400"/>
            <a:ext cx="5824728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200"/>
              </a:spcAft>
            </a:pPr>
            <a:r>
              <a:rPr sz="900" b="0">
                <a:solidFill>
                  <a:srgbClr val="2567A4"/>
                </a:solidFill>
                <a:latin typeface="Noto Sans CJK JP"/>
                <a:ea typeface="Noto Sans CJK JP"/>
                <a:hlinkClick r:id="rId3"/>
              </a:rPr>
              <a:t>[2] BOI｜EV3.0 日本語資料 p.36–37  |  boi.go.th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02920" y="6812280"/>
            <a:ext cx="5824728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200"/>
              </a:spcAft>
            </a:pPr>
            <a:r>
              <a:rPr sz="900" b="0">
                <a:solidFill>
                  <a:srgbClr val="2567A4"/>
                </a:solidFill>
                <a:latin typeface="Noto Sans CJK JP"/>
                <a:ea typeface="Noto Sans CJK JP"/>
                <a:hlinkClick r:id="rId4"/>
              </a:rPr>
              <a:t>[3] BOI｜EV3.5 原制度  |  boi.go.th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37959" y="6812280"/>
            <a:ext cx="5824728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200"/>
              </a:spcAft>
            </a:pPr>
            <a:r>
              <a:rPr sz="900" b="0">
                <a:solidFill>
                  <a:srgbClr val="2567A4"/>
                </a:solidFill>
                <a:latin typeface="Noto Sans CJK JP"/>
                <a:ea typeface="Noto Sans CJK JP"/>
                <a:hlinkClick r:id="rId5"/>
              </a:rPr>
              <a:t>[4] BOI/OSOS｜2025年7月の調整  |  osos.boi.go.th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84632" y="7232904"/>
            <a:ext cx="11612880" cy="731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200"/>
              </a:spcAft>
            </a:pPr>
            <a:r>
              <a:rPr sz="700" b="0">
                <a:solidFill>
                  <a:srgbClr val="59697C"/>
                </a:solidFill>
                <a:latin typeface="Noto Sans CJK JP"/>
                <a:ea typeface="Noto Sans CJK JP"/>
              </a:rPr>
              <a:t>一次情報確認：2026-10-06｜主要制度の抜粋。κ＝立ち上がり速度、λ＝減衰速度、A＝販売規模。矢印は仮説。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978640" y="7214616"/>
            <a:ext cx="457200" cy="137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200"/>
              </a:spcAft>
            </a:pPr>
            <a:r>
              <a:rPr sz="800" b="0">
                <a:solidFill>
                  <a:srgbClr val="59697C"/>
                </a:solidFill>
                <a:latin typeface="Noto Sans CJK JP"/>
                <a:ea typeface="Noto Sans CJK JP"/>
              </a:rPr>
              <a:t>1/6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004596" cy="109728"/>
          </a:xfrm>
          <a:prstGeom prst="rect">
            <a:avLst/>
          </a:prstGeom>
          <a:solidFill>
            <a:srgbClr val="00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92608"/>
            <a:ext cx="100584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200"/>
              </a:spcAft>
            </a:pPr>
            <a:r>
              <a:rPr sz="1000" b="1">
                <a:solidFill>
                  <a:srgbClr val="007F82"/>
                </a:solidFill>
                <a:latin typeface="Noto Sans CJK JP"/>
                <a:ea typeface="Noto Sans CJK JP"/>
              </a:rPr>
              <a:t>02  INDONESIA  /  2020年前後からの主要な制度変更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04088"/>
            <a:ext cx="12070080" cy="5120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200"/>
              </a:spcAft>
            </a:pPr>
            <a:r>
              <a:rPr sz="2500" b="1">
                <a:solidFill>
                  <a:srgbClr val="182B49"/>
                </a:solidFill>
                <a:latin typeface="Noto Sans CJK JP"/>
                <a:ea typeface="Noto Sans CJK JP"/>
              </a:rPr>
              <a:t>インドネシア｜現地調達を要求 → 購入支援 → 現地化期限を延期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07592"/>
            <a:ext cx="1207008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200"/>
              </a:spcAft>
            </a:pPr>
            <a:r>
              <a:rPr sz="1400" b="0">
                <a:solidFill>
                  <a:srgbClr val="59697C"/>
                </a:solidFill>
                <a:latin typeface="Noto Sans CJK JP"/>
                <a:ea typeface="Noto Sans CJK JP"/>
              </a:rPr>
              <a:t>TKDNは現地調達率。ブランド国籍より、車種ごとの現地化・優遇認定が重要。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810512"/>
            <a:ext cx="80467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200"/>
              </a:spcAft>
            </a:pPr>
            <a:r>
              <a:rPr sz="1100" b="1">
                <a:solidFill>
                  <a:srgbClr val="007F82"/>
                </a:solidFill>
                <a:latin typeface="Noto Sans CJK JP"/>
                <a:ea typeface="Noto Sans CJK JP"/>
              </a:rPr>
              <a:t>制度の変遷｜番号は下の一次情報に対応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87968" y="1810512"/>
            <a:ext cx="36118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200"/>
              </a:spcAft>
            </a:pPr>
            <a:r>
              <a:rPr sz="1100" b="1">
                <a:solidFill>
                  <a:srgbClr val="2567A4"/>
                </a:solidFill>
                <a:latin typeface="Noto Sans CJK JP"/>
                <a:ea typeface="Noto Sans CJK JP"/>
              </a:rPr>
              <a:t>OEMへの影響｜分析上の推論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084831"/>
            <a:ext cx="8092440" cy="58613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2648" y="2176272"/>
            <a:ext cx="1481328" cy="52669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200"/>
              </a:spcAft>
            </a:pPr>
            <a:r>
              <a:rPr sz="1300" b="1">
                <a:solidFill>
                  <a:srgbClr val="007F82"/>
                </a:solidFill>
                <a:latin typeface="Noto Sans CJK JP"/>
                <a:ea typeface="Noto Sans CJK JP"/>
              </a:rPr>
              <a:t>2020年時点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85416" y="2144268"/>
            <a:ext cx="60807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200"/>
              </a:spcAft>
            </a:pPr>
            <a:r>
              <a:rPr sz="1400" b="1">
                <a:solidFill>
                  <a:srgbClr val="182B49"/>
                </a:solidFill>
                <a:latin typeface="Noto Sans CJK JP"/>
                <a:ea typeface="Noto Sans CJK JP"/>
              </a:rPr>
              <a:t>2019年大統領令55号が基礎 [1]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85416" y="2414015"/>
            <a:ext cx="6080760" cy="2889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200"/>
              </a:spcAft>
            </a:pPr>
            <a:r>
              <a:rPr sz="1240" b="0">
                <a:solidFill>
                  <a:srgbClr val="182B49"/>
                </a:solidFill>
                <a:latin typeface="Noto Sans CJK JP"/>
                <a:ea typeface="Noto Sans CJK JP"/>
              </a:rPr>
              <a:t>四輪以上のBEV：2019–21年はTKDN35%以上、2022–23年は40%以上。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721254"/>
            <a:ext cx="8092440" cy="58613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2648" y="2812694"/>
            <a:ext cx="1481328" cy="52669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200"/>
              </a:spcAft>
            </a:pPr>
            <a:r>
              <a:rPr sz="1300" b="1">
                <a:solidFill>
                  <a:srgbClr val="007F82"/>
                </a:solidFill>
                <a:latin typeface="Noto Sans CJK JP"/>
                <a:ea typeface="Noto Sans CJK JP"/>
              </a:rPr>
              <a:t>当初の計画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85416" y="2780690"/>
            <a:ext cx="60807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200"/>
              </a:spcAft>
            </a:pPr>
            <a:r>
              <a:rPr sz="1400" b="1">
                <a:solidFill>
                  <a:srgbClr val="182B49"/>
                </a:solidFill>
                <a:latin typeface="Noto Sans CJK JP"/>
                <a:ea typeface="Noto Sans CJK JP"/>
              </a:rPr>
              <a:t>2024年からTKDN60%へ [1]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85416" y="3050438"/>
            <a:ext cx="6080760" cy="2889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200"/>
              </a:spcAft>
            </a:pPr>
            <a:r>
              <a:rPr sz="1240" b="0">
                <a:solidFill>
                  <a:srgbClr val="182B49"/>
                </a:solidFill>
                <a:latin typeface="Noto Sans CJK JP"/>
                <a:ea typeface="Noto Sans CJK JP"/>
              </a:rPr>
              <a:t>2019年制定時は2024–29年60%以上、2030年以降80%以上という計画だった。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357676"/>
            <a:ext cx="8092440" cy="58613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2648" y="3449116"/>
            <a:ext cx="1481328" cy="52669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200"/>
              </a:spcAft>
            </a:pPr>
            <a:r>
              <a:rPr sz="1300" b="1">
                <a:solidFill>
                  <a:srgbClr val="007F82"/>
                </a:solidFill>
                <a:latin typeface="Noto Sans CJK JP"/>
                <a:ea typeface="Noto Sans CJK JP"/>
              </a:rPr>
              <a:t>2023年4月～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85416" y="3417112"/>
            <a:ext cx="60807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200"/>
              </a:spcAft>
            </a:pPr>
            <a:r>
              <a:rPr sz="1400" b="1">
                <a:solidFill>
                  <a:srgbClr val="182B49"/>
                </a:solidFill>
                <a:latin typeface="Noto Sans CJK JP"/>
                <a:ea typeface="Noto Sans CJK JP"/>
              </a:rPr>
              <a:t>対象BEVのVATを政府負担 [2]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85416" y="3686860"/>
            <a:ext cx="6080760" cy="2889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200"/>
              </a:spcAft>
            </a:pPr>
            <a:r>
              <a:rPr sz="1240" b="0">
                <a:solidFill>
                  <a:srgbClr val="182B49"/>
                </a:solidFill>
                <a:latin typeface="Noto Sans CJK JP"/>
                <a:ea typeface="Noto Sans CJK JP"/>
              </a:rPr>
              <a:t>TKDN40%以上などの条件を満たす四輪BEVはVAT10ポイント分を政府負担。当時11%→購入者1%。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3994099"/>
            <a:ext cx="8092440" cy="58613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2648" y="4085539"/>
            <a:ext cx="1481328" cy="52669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200"/>
              </a:spcAft>
            </a:pPr>
            <a:r>
              <a:rPr sz="1300" b="1">
                <a:solidFill>
                  <a:srgbClr val="007F82"/>
                </a:solidFill>
                <a:latin typeface="Noto Sans CJK JP"/>
                <a:ea typeface="Noto Sans CJK JP"/>
              </a:rPr>
              <a:t>2023年改正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185416" y="4053535"/>
            <a:ext cx="60807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200"/>
              </a:spcAft>
            </a:pPr>
            <a:r>
              <a:rPr sz="1400" b="1">
                <a:solidFill>
                  <a:srgbClr val="182B49"/>
                </a:solidFill>
                <a:latin typeface="Noto Sans CJK JP"/>
                <a:ea typeface="Noto Sans CJK JP"/>
              </a:rPr>
              <a:t>60%への引き上げを延期 [3]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85416" y="4323283"/>
            <a:ext cx="6080760" cy="2889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200"/>
              </a:spcAft>
            </a:pPr>
            <a:r>
              <a:rPr sz="1240" b="0">
                <a:solidFill>
                  <a:srgbClr val="182B49"/>
                </a:solidFill>
                <a:latin typeface="Noto Sans CJK JP"/>
                <a:ea typeface="Noto Sans CJK JP"/>
              </a:rPr>
              <a:t>四輪以上は2022–26年40%以上、2027–29年60%以上、2030年以降80%以上に変更。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4630521"/>
            <a:ext cx="8092440" cy="58613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12648" y="4721961"/>
            <a:ext cx="1481328" cy="52669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200"/>
              </a:spcAft>
            </a:pPr>
            <a:r>
              <a:rPr sz="1300" b="1">
                <a:solidFill>
                  <a:srgbClr val="007F82"/>
                </a:solidFill>
                <a:latin typeface="Noto Sans CJK JP"/>
                <a:ea typeface="Noto Sans CJK JP"/>
              </a:rPr>
              <a:t>2023年末～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185416" y="4689957"/>
            <a:ext cx="60807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200"/>
              </a:spcAft>
            </a:pPr>
            <a:r>
              <a:rPr sz="1400" b="1">
                <a:solidFill>
                  <a:srgbClr val="182B49"/>
                </a:solidFill>
                <a:latin typeface="Noto Sans CJK JP"/>
                <a:ea typeface="Noto Sans CJK JP"/>
              </a:rPr>
              <a:t>工場建設前の輸入を優遇 [4]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185416" y="4959705"/>
            <a:ext cx="6080760" cy="2889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200"/>
              </a:spcAft>
            </a:pPr>
            <a:r>
              <a:rPr sz="1240" b="0">
                <a:solidFill>
                  <a:srgbClr val="182B49"/>
                </a:solidFill>
                <a:latin typeface="Noto Sans CJK JP"/>
                <a:ea typeface="Noto Sans CJK JP"/>
              </a:rPr>
              <a:t>対象輸入等と同数量以上の現地生産を約束。2026年初の生産準備・2027年末までの生産、保証・制裁を規定。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759952" y="2084831"/>
            <a:ext cx="3776472" cy="3136392"/>
          </a:xfrm>
          <a:prstGeom prst="rect">
            <a:avLst/>
          </a:prstGeom>
          <a:solidFill>
            <a:srgbClr val="EA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942832" y="2221992"/>
            <a:ext cx="3419856" cy="2816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200"/>
              </a:spcAft>
            </a:pPr>
            <a:r>
              <a:rPr sz="1270" b="0">
                <a:solidFill>
                  <a:srgbClr val="182B49"/>
                </a:solidFill>
                <a:latin typeface="Noto Sans CJK JP"/>
                <a:ea typeface="Noto Sans CJK JP"/>
              </a:rPr>
              <a:t>現地生産・電池調達を持つOEM</a:t>
            </a:r>
          </a:p>
          <a:p>
            <a:pPr>
              <a:lnSpc>
                <a:spcPct val="112000"/>
              </a:lnSpc>
              <a:spcAft>
                <a:spcPts val="200"/>
              </a:spcAft>
            </a:pPr>
            <a:r>
              <a:rPr sz="1270" b="0">
                <a:solidFill>
                  <a:srgbClr val="182B49"/>
                </a:solidFill>
                <a:latin typeface="Noto Sans CJK JP"/>
                <a:ea typeface="Noto Sans CJK JP"/>
              </a:rPr>
              <a:t>税優遇を満たしやすく、価格設定と供給継続に有利。</a:t>
            </a:r>
          </a:p>
          <a:p>
            <a:pPr>
              <a:lnSpc>
                <a:spcPct val="112000"/>
              </a:lnSpc>
              <a:spcAft>
                <a:spcPts val="200"/>
              </a:spcAft>
            </a:pPr>
            <a:r>
              <a:rPr sz="1270" b="0">
                <a:solidFill>
                  <a:srgbClr val="182B49"/>
                </a:solidFill>
                <a:latin typeface="Noto Sans CJK JP"/>
                <a:ea typeface="Noto Sans CJK JP"/>
              </a:rPr>
              <a:t/>
            </a:r>
          </a:p>
          <a:p>
            <a:pPr>
              <a:lnSpc>
                <a:spcPct val="112000"/>
              </a:lnSpc>
              <a:spcAft>
                <a:spcPts val="200"/>
              </a:spcAft>
            </a:pPr>
            <a:r>
              <a:rPr sz="1270" b="0">
                <a:solidFill>
                  <a:srgbClr val="182B49"/>
                </a:solidFill>
                <a:latin typeface="Noto Sans CJK JP"/>
                <a:ea typeface="Noto Sans CJK JP"/>
              </a:rPr>
              <a:t>工場を建設する新規参入OEM</a:t>
            </a:r>
          </a:p>
          <a:p>
            <a:pPr>
              <a:lnSpc>
                <a:spcPct val="112000"/>
              </a:lnSpc>
              <a:spcAft>
                <a:spcPts val="200"/>
              </a:spcAft>
            </a:pPr>
            <a:r>
              <a:rPr sz="1270" b="0">
                <a:solidFill>
                  <a:srgbClr val="182B49"/>
                </a:solidFill>
                <a:latin typeface="Noto Sans CJK JP"/>
                <a:ea typeface="Noto Sans CJK JP"/>
              </a:rPr>
              <a:t>輸入で市場開拓できるが、後の現地生産義務を負う。</a:t>
            </a:r>
          </a:p>
          <a:p>
            <a:pPr>
              <a:lnSpc>
                <a:spcPct val="112000"/>
              </a:lnSpc>
              <a:spcAft>
                <a:spcPts val="200"/>
              </a:spcAft>
            </a:pPr>
            <a:r>
              <a:rPr sz="1270" b="0">
                <a:solidFill>
                  <a:srgbClr val="182B49"/>
                </a:solidFill>
                <a:latin typeface="Noto Sans CJK JP"/>
                <a:ea typeface="Noto Sans CJK JP"/>
              </a:rPr>
              <a:t/>
            </a:r>
          </a:p>
          <a:p>
            <a:pPr>
              <a:lnSpc>
                <a:spcPct val="112000"/>
              </a:lnSpc>
              <a:spcAft>
                <a:spcPts val="200"/>
              </a:spcAft>
            </a:pPr>
            <a:r>
              <a:rPr sz="1270" b="0">
                <a:solidFill>
                  <a:srgbClr val="182B49"/>
                </a:solidFill>
                <a:latin typeface="Noto Sans CJK JP"/>
                <a:ea typeface="Noto Sans CJK JP"/>
              </a:rPr>
              <a:t>HEVを販売するOEM</a:t>
            </a:r>
          </a:p>
          <a:p>
            <a:pPr>
              <a:lnSpc>
                <a:spcPct val="112000"/>
              </a:lnSpc>
              <a:spcAft>
                <a:spcPts val="200"/>
              </a:spcAft>
            </a:pPr>
            <a:r>
              <a:rPr sz="1270" b="0">
                <a:solidFill>
                  <a:srgbClr val="182B49"/>
                </a:solidFill>
                <a:latin typeface="Noto Sans CJK JP"/>
                <a:ea typeface="Noto Sans CJK JP"/>
              </a:rPr>
              <a:t>BEVのTKDN・VAT支援をそのまま適用しない。年度別HEV優遇を別途確認。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5330952"/>
            <a:ext cx="12070080" cy="411480"/>
          </a:xfrm>
          <a:prstGeom prst="rect">
            <a:avLst/>
          </a:prstGeom>
          <a:solidFill>
            <a:srgbClr val="FFF5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21792" y="5422392"/>
            <a:ext cx="117500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200"/>
              </a:spcAft>
            </a:pPr>
            <a:r>
              <a:rPr sz="1210" b="0">
                <a:solidFill>
                  <a:srgbClr val="182B49"/>
                </a:solidFill>
                <a:latin typeface="Noto Sans CJK JP"/>
                <a:ea typeface="Noto Sans CJK JP"/>
              </a:rPr>
              <a:t>例｜TKDN45%の車種：40%基準は満たし得る。2023年改正で、2024年に60%へ上げる当初の負担が延期。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7200" y="5824728"/>
            <a:ext cx="12070080" cy="457200"/>
          </a:xfrm>
          <a:prstGeom prst="rect">
            <a:avLst/>
          </a:prstGeom>
          <a:solidFill>
            <a:srgbClr val="E9F4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21792" y="5916168"/>
            <a:ext cx="1175004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200"/>
              </a:spcAft>
            </a:pPr>
            <a:r>
              <a:rPr sz="1170" b="1">
                <a:solidFill>
                  <a:srgbClr val="007F82"/>
                </a:solidFill>
                <a:latin typeface="Noto Sans CJK JP"/>
                <a:ea typeface="Noto Sans CJK JP"/>
              </a:rPr>
              <a:t>κ・λの仮説｜κ↑：優遇対象車の価格低下。λ↓の可能性：現地化・安定供給。ただし工場遅延は発売時期や供給断に作用。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84632" y="6409944"/>
            <a:ext cx="11887200" cy="1737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200"/>
              </a:spcAft>
            </a:pPr>
            <a:r>
              <a:rPr sz="900" b="0">
                <a:solidFill>
                  <a:srgbClr val="59697C"/>
                </a:solidFill>
                <a:latin typeface="Noto Sans CJK JP"/>
                <a:ea typeface="Noto Sans CJK JP"/>
              </a:rPr>
              <a:t>一次情報URL｜以下の資料名・ドメインをクリック。完全URL・補足は各スライドのノートに記載。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2920" y="6629400"/>
            <a:ext cx="5824728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200"/>
              </a:spcAft>
            </a:pPr>
            <a:r>
              <a:rPr sz="900" b="0">
                <a:solidFill>
                  <a:srgbClr val="2567A4"/>
                </a:solidFill>
                <a:latin typeface="Noto Sans CJK JP"/>
                <a:ea typeface="Noto Sans CJK JP"/>
                <a:hlinkClick r:id="rId2"/>
              </a:rPr>
              <a:t>[1] 内閣官房｜2019年の当初条件  |  setkab.go.id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37959" y="6629400"/>
            <a:ext cx="5824728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200"/>
              </a:spcAft>
            </a:pPr>
            <a:r>
              <a:rPr sz="900" b="0">
                <a:solidFill>
                  <a:srgbClr val="2567A4"/>
                </a:solidFill>
                <a:latin typeface="Noto Sans CJK JP"/>
                <a:ea typeface="Noto Sans CJK JP"/>
                <a:hlinkClick r:id="rId3"/>
              </a:rPr>
              <a:t>[2] 財務省｜PMK38/2023  |  jdih.kemenkeu.go.id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02920" y="6812280"/>
            <a:ext cx="5824728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200"/>
              </a:spcAft>
            </a:pPr>
            <a:r>
              <a:rPr sz="900" b="0">
                <a:solidFill>
                  <a:srgbClr val="2567A4"/>
                </a:solidFill>
                <a:latin typeface="Noto Sans CJK JP"/>
                <a:ea typeface="Noto Sans CJK JP"/>
                <a:hlinkClick r:id="rId4"/>
              </a:rPr>
              <a:t>[3] 税務総局｜大統領令79/2023  |  pajak.go.id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37959" y="6812280"/>
            <a:ext cx="5824728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200"/>
              </a:spcAft>
            </a:pPr>
            <a:r>
              <a:rPr sz="900" b="0">
                <a:solidFill>
                  <a:srgbClr val="2567A4"/>
                </a:solidFill>
                <a:latin typeface="Noto Sans CJK JP"/>
                <a:ea typeface="Noto Sans CJK JP"/>
                <a:hlinkClick r:id="rId5"/>
              </a:rPr>
              <a:t>[4] 投資省/BKPM｜規則6/2023 英訳  |  jdih-storage.bkpm.go.id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84632" y="7232904"/>
            <a:ext cx="11612880" cy="731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200"/>
              </a:spcAft>
            </a:pPr>
            <a:r>
              <a:rPr sz="700" b="0">
                <a:solidFill>
                  <a:srgbClr val="59697C"/>
                </a:solidFill>
                <a:latin typeface="Noto Sans CJK JP"/>
                <a:ea typeface="Noto Sans CJK JP"/>
              </a:rPr>
              <a:t>一次情報確認：2026-10-06｜主要制度の抜粋。κ＝立ち上がり速度、λ＝減衰速度、A＝販売規模。矢印は仮説。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978640" y="7214616"/>
            <a:ext cx="457200" cy="137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200"/>
              </a:spcAft>
            </a:pPr>
            <a:r>
              <a:rPr sz="800" b="0">
                <a:solidFill>
                  <a:srgbClr val="59697C"/>
                </a:solidFill>
                <a:latin typeface="Noto Sans CJK JP"/>
                <a:ea typeface="Noto Sans CJK JP"/>
              </a:rPr>
              <a:t>2/6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004596" cy="109728"/>
          </a:xfrm>
          <a:prstGeom prst="rect">
            <a:avLst/>
          </a:prstGeom>
          <a:solidFill>
            <a:srgbClr val="00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92608"/>
            <a:ext cx="100584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200"/>
              </a:spcAft>
            </a:pPr>
            <a:r>
              <a:rPr sz="1000" b="1">
                <a:solidFill>
                  <a:srgbClr val="007F82"/>
                </a:solidFill>
                <a:latin typeface="Noto Sans CJK JP"/>
                <a:ea typeface="Noto Sans CJK JP"/>
              </a:rPr>
              <a:t>03  MALAYSIA  /  2020年前後からの主要な制度変更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04088"/>
            <a:ext cx="12070080" cy="5120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200"/>
              </a:spcAft>
            </a:pPr>
            <a:r>
              <a:rPr sz="2500" b="1">
                <a:solidFill>
                  <a:srgbClr val="182B49"/>
                </a:solidFill>
                <a:latin typeface="Noto Sans CJK JP"/>
                <a:ea typeface="Noto Sans CJK JP"/>
              </a:rPr>
              <a:t>マレーシア｜2022年に輸入EVを支援 → 現地組立へ誘導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07592"/>
            <a:ext cx="1207008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200"/>
              </a:spcAft>
            </a:pPr>
            <a:r>
              <a:rPr sz="1400" b="0">
                <a:solidFill>
                  <a:srgbClr val="59697C"/>
                </a:solidFill>
                <a:latin typeface="Noto Sans CJK JP"/>
                <a:ea typeface="Noto Sans CJK JP"/>
              </a:rPr>
              <a:t>CBU＝完成車輸入、CKD＝現地組立。2022年開始の優遇を2020年に遡って扱わない。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810512"/>
            <a:ext cx="80467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200"/>
              </a:spcAft>
            </a:pPr>
            <a:r>
              <a:rPr sz="1100" b="1">
                <a:solidFill>
                  <a:srgbClr val="007F82"/>
                </a:solidFill>
                <a:latin typeface="Noto Sans CJK JP"/>
                <a:ea typeface="Noto Sans CJK JP"/>
              </a:rPr>
              <a:t>制度の変遷｜番号は下の一次情報に対応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87968" y="1810512"/>
            <a:ext cx="36118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200"/>
              </a:spcAft>
            </a:pPr>
            <a:r>
              <a:rPr sz="1100" b="1">
                <a:solidFill>
                  <a:srgbClr val="2567A4"/>
                </a:solidFill>
                <a:latin typeface="Noto Sans CJK JP"/>
                <a:ea typeface="Noto Sans CJK JP"/>
              </a:rPr>
              <a:t>OEMへの影響｜分析上の推論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084831"/>
            <a:ext cx="8092440" cy="58613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2648" y="2176272"/>
            <a:ext cx="1481328" cy="52669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200"/>
              </a:spcAft>
            </a:pPr>
            <a:r>
              <a:rPr sz="1300" b="1">
                <a:solidFill>
                  <a:srgbClr val="007F82"/>
                </a:solidFill>
                <a:latin typeface="Noto Sans CJK JP"/>
                <a:ea typeface="Noto Sans CJK JP"/>
              </a:rPr>
              <a:t>2022年1月～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85416" y="2144268"/>
            <a:ext cx="60807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200"/>
              </a:spcAft>
            </a:pPr>
            <a:r>
              <a:rPr sz="1400" b="1">
                <a:solidFill>
                  <a:srgbClr val="182B49"/>
                </a:solidFill>
                <a:latin typeface="Noto Sans CJK JP"/>
                <a:ea typeface="Noto Sans CJK JP"/>
              </a:rPr>
              <a:t>CBU EVの税免除を開始 [1]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85416" y="2414015"/>
            <a:ext cx="6080760" cy="2889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200"/>
              </a:spcAft>
            </a:pPr>
            <a:r>
              <a:rPr sz="1240" b="0">
                <a:solidFill>
                  <a:srgbClr val="182B49"/>
                </a:solidFill>
                <a:latin typeface="Noto Sans CJK JP"/>
                <a:ea typeface="Noto Sans CJK JP"/>
              </a:rPr>
              <a:t>輸入関税・物品税を免除。当初の期限は2023年末。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721254"/>
            <a:ext cx="8092440" cy="58613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2648" y="2812694"/>
            <a:ext cx="1481328" cy="52669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200"/>
              </a:spcAft>
            </a:pPr>
            <a:r>
              <a:rPr sz="1300" b="1">
                <a:solidFill>
                  <a:srgbClr val="007F82"/>
                </a:solidFill>
                <a:latin typeface="Noto Sans CJK JP"/>
                <a:ea typeface="Noto Sans CJK JP"/>
              </a:rPr>
              <a:t>2022年1月～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85416" y="2780690"/>
            <a:ext cx="60807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200"/>
              </a:spcAft>
            </a:pPr>
            <a:r>
              <a:rPr sz="1400" b="1">
                <a:solidFill>
                  <a:srgbClr val="182B49"/>
                </a:solidFill>
                <a:latin typeface="Noto Sans CJK JP"/>
                <a:ea typeface="Noto Sans CJK JP"/>
              </a:rPr>
              <a:t>CKD EVは長い支援期間 [1]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85416" y="3050438"/>
            <a:ext cx="6080760" cy="2889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200"/>
              </a:spcAft>
            </a:pPr>
            <a:r>
              <a:rPr sz="1240" b="0">
                <a:solidFill>
                  <a:srgbClr val="182B49"/>
                </a:solidFill>
                <a:latin typeface="Noto Sans CJK JP"/>
                <a:ea typeface="Noto Sans CJK JP"/>
              </a:rPr>
              <a:t>物品税・販売税、現地組立用部品の輸入関税を免除。当初の期限は2025年末。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357676"/>
            <a:ext cx="8092440" cy="58613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2648" y="3449116"/>
            <a:ext cx="1481328" cy="52669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200"/>
              </a:spcAft>
            </a:pPr>
            <a:r>
              <a:rPr sz="1300" b="1">
                <a:solidFill>
                  <a:srgbClr val="007F82"/>
                </a:solidFill>
                <a:latin typeface="Noto Sans CJK JP"/>
                <a:ea typeface="Noto Sans CJK JP"/>
              </a:rPr>
              <a:t>2023年以降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85416" y="3417112"/>
            <a:ext cx="60807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200"/>
              </a:spcAft>
            </a:pPr>
            <a:r>
              <a:rPr sz="1400" b="1">
                <a:solidFill>
                  <a:srgbClr val="182B49"/>
                </a:solidFill>
                <a:latin typeface="Noto Sans CJK JP"/>
                <a:ea typeface="Noto Sans CJK JP"/>
              </a:rPr>
              <a:t>期限を延長 [2,3]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85416" y="3686860"/>
            <a:ext cx="6080760" cy="2889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200"/>
              </a:spcAft>
            </a:pPr>
            <a:r>
              <a:rPr sz="1240" b="0">
                <a:solidFill>
                  <a:srgbClr val="182B49"/>
                </a:solidFill>
                <a:latin typeface="Noto Sans CJK JP"/>
                <a:ea typeface="Noto Sans CJK JP"/>
              </a:rPr>
              <a:t>CBUは2025年末、CKDは2027年末へ。予算提案と、その後のMITI運用資料を照合。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3994099"/>
            <a:ext cx="8092440" cy="58613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2648" y="4085539"/>
            <a:ext cx="1481328" cy="52669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200"/>
              </a:spcAft>
            </a:pPr>
            <a:r>
              <a:rPr sz="1300" b="1">
                <a:solidFill>
                  <a:srgbClr val="007F82"/>
                </a:solidFill>
                <a:latin typeface="Noto Sans CJK JP"/>
                <a:ea typeface="Noto Sans CJK JP"/>
              </a:rPr>
              <a:t>2022–2025年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185416" y="4053535"/>
            <a:ext cx="60807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200"/>
              </a:spcAft>
            </a:pPr>
            <a:r>
              <a:rPr sz="1400" b="1">
                <a:solidFill>
                  <a:srgbClr val="182B49"/>
                </a:solidFill>
                <a:latin typeface="Noto Sans CJK JP"/>
                <a:ea typeface="Noto Sans CJK JP"/>
              </a:rPr>
              <a:t>AP Francaisの価格条件も緩和 [4]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85416" y="4323283"/>
            <a:ext cx="6080760" cy="2889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200"/>
              </a:spcAft>
            </a:pPr>
            <a:r>
              <a:rPr sz="1240" b="0">
                <a:solidFill>
                  <a:srgbClr val="182B49"/>
                </a:solidFill>
                <a:latin typeface="Noto Sans CJK JP"/>
                <a:ea typeface="Noto Sans CJK JP"/>
              </a:rPr>
              <a:t>CBU EVの最低店頭OTR価格をRM250,000からRM100,000へ一時緩和。2025年末まで。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4630521"/>
            <a:ext cx="8092440" cy="58613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12648" y="4721961"/>
            <a:ext cx="1481328" cy="52669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200"/>
              </a:spcAft>
            </a:pPr>
            <a:r>
              <a:rPr sz="1300" b="1">
                <a:solidFill>
                  <a:srgbClr val="007F82"/>
                </a:solidFill>
                <a:latin typeface="Noto Sans CJK JP"/>
                <a:ea typeface="Noto Sans CJK JP"/>
              </a:rPr>
              <a:t>2026年7月～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185416" y="4689957"/>
            <a:ext cx="60807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200"/>
              </a:spcAft>
            </a:pPr>
            <a:r>
              <a:rPr sz="1400" b="1">
                <a:solidFill>
                  <a:srgbClr val="182B49"/>
                </a:solidFill>
                <a:latin typeface="Noto Sans CJK JP"/>
                <a:ea typeface="Noto Sans CJK JP"/>
              </a:rPr>
              <a:t>新規輸入CBUの条件を変更 [5]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185416" y="4959705"/>
            <a:ext cx="6080760" cy="2889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200"/>
              </a:spcAft>
            </a:pPr>
            <a:r>
              <a:rPr sz="1240" b="0">
                <a:solidFill>
                  <a:srgbClr val="182B49"/>
                </a:solidFill>
                <a:latin typeface="Noto Sans CJK JP"/>
                <a:ea typeface="Noto Sans CJK JP"/>
              </a:rPr>
              <a:t>AP Francais対象EV：CIF輸入価格RM200,000以上・出力180kW以上。既存在庫等には経過措置。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759952" y="2084831"/>
            <a:ext cx="3776472" cy="3136392"/>
          </a:xfrm>
          <a:prstGeom prst="rect">
            <a:avLst/>
          </a:prstGeom>
          <a:solidFill>
            <a:srgbClr val="EA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942832" y="2221992"/>
            <a:ext cx="3419856" cy="2816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200"/>
              </a:spcAft>
            </a:pPr>
            <a:r>
              <a:rPr sz="1270" b="0">
                <a:solidFill>
                  <a:srgbClr val="182B49"/>
                </a:solidFill>
                <a:latin typeface="Noto Sans CJK JP"/>
                <a:ea typeface="Noto Sans CJK JP"/>
              </a:rPr>
              <a:t>輸入中心のEV OEM</a:t>
            </a:r>
          </a:p>
          <a:p>
            <a:pPr>
              <a:lnSpc>
                <a:spcPct val="112000"/>
              </a:lnSpc>
              <a:spcAft>
                <a:spcPts val="200"/>
              </a:spcAft>
            </a:pPr>
            <a:r>
              <a:rPr sz="1270" b="0">
                <a:solidFill>
                  <a:srgbClr val="182B49"/>
                </a:solidFill>
                <a:latin typeface="Noto Sans CJK JP"/>
                <a:ea typeface="Noto Sans CJK JP"/>
              </a:rPr>
              <a:t>2022–25年に拡販しやすい。優遇終了と輸入条件変更後の補充・価格が課題。</a:t>
            </a:r>
          </a:p>
          <a:p>
            <a:pPr>
              <a:lnSpc>
                <a:spcPct val="112000"/>
              </a:lnSpc>
              <a:spcAft>
                <a:spcPts val="200"/>
              </a:spcAft>
            </a:pPr>
            <a:r>
              <a:rPr sz="1270" b="0">
                <a:solidFill>
                  <a:srgbClr val="182B49"/>
                </a:solidFill>
                <a:latin typeface="Noto Sans CJK JP"/>
                <a:ea typeface="Noto Sans CJK JP"/>
              </a:rPr>
              <a:t/>
            </a:r>
          </a:p>
          <a:p>
            <a:pPr>
              <a:lnSpc>
                <a:spcPct val="112000"/>
              </a:lnSpc>
              <a:spcAft>
                <a:spcPts val="200"/>
              </a:spcAft>
            </a:pPr>
            <a:r>
              <a:rPr sz="1270" b="0">
                <a:solidFill>
                  <a:srgbClr val="182B49"/>
                </a:solidFill>
                <a:latin typeface="Noto Sans CJK JP"/>
                <a:ea typeface="Noto Sans CJK JP"/>
              </a:rPr>
              <a:t>現地組立へ移るOEM</a:t>
            </a:r>
          </a:p>
          <a:p>
            <a:pPr>
              <a:lnSpc>
                <a:spcPct val="112000"/>
              </a:lnSpc>
              <a:spcAft>
                <a:spcPts val="200"/>
              </a:spcAft>
            </a:pPr>
            <a:r>
              <a:rPr sz="1270" b="0">
                <a:solidFill>
                  <a:srgbClr val="182B49"/>
                </a:solidFill>
                <a:latin typeface="Noto Sans CJK JP"/>
                <a:ea typeface="Noto Sans CJK JP"/>
              </a:rPr>
              <a:t>2027年末までの税優遇が移行の誘因。組立承認・稼働時期を確認。</a:t>
            </a:r>
          </a:p>
          <a:p>
            <a:pPr>
              <a:lnSpc>
                <a:spcPct val="112000"/>
              </a:lnSpc>
              <a:spcAft>
                <a:spcPts val="200"/>
              </a:spcAft>
            </a:pPr>
            <a:r>
              <a:rPr sz="1270" b="0">
                <a:solidFill>
                  <a:srgbClr val="182B49"/>
                </a:solidFill>
                <a:latin typeface="Noto Sans CJK JP"/>
                <a:ea typeface="Noto Sans CJK JP"/>
              </a:rPr>
              <a:t/>
            </a:r>
          </a:p>
          <a:p>
            <a:pPr>
              <a:lnSpc>
                <a:spcPct val="112000"/>
              </a:lnSpc>
              <a:spcAft>
                <a:spcPts val="200"/>
              </a:spcAft>
            </a:pPr>
            <a:r>
              <a:rPr sz="1270" b="0">
                <a:solidFill>
                  <a:srgbClr val="182B49"/>
                </a:solidFill>
                <a:latin typeface="Noto Sans CJK JP"/>
                <a:ea typeface="Noto Sans CJK JP"/>
              </a:rPr>
              <a:t>既存組立拠点を持つOEM</a:t>
            </a:r>
          </a:p>
          <a:p>
            <a:pPr>
              <a:lnSpc>
                <a:spcPct val="112000"/>
              </a:lnSpc>
              <a:spcAft>
                <a:spcPts val="200"/>
              </a:spcAft>
            </a:pPr>
            <a:r>
              <a:rPr sz="1270" b="0">
                <a:solidFill>
                  <a:srgbClr val="182B49"/>
                </a:solidFill>
                <a:latin typeface="Noto Sans CJK JP"/>
                <a:ea typeface="Noto Sans CJK JP"/>
              </a:rPr>
              <a:t>設備・調達網を使える可能性。新設拠点の個別承認条件とは区別する。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5330952"/>
            <a:ext cx="12070080" cy="411480"/>
          </a:xfrm>
          <a:prstGeom prst="rect">
            <a:avLst/>
          </a:prstGeom>
          <a:solidFill>
            <a:srgbClr val="FFF5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21792" y="5422392"/>
            <a:ext cx="117500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200"/>
              </a:spcAft>
            </a:pPr>
            <a:r>
              <a:rPr sz="1210" b="0">
                <a:solidFill>
                  <a:srgbClr val="182B49"/>
                </a:solidFill>
                <a:latin typeface="Noto Sans CJK JP"/>
                <a:ea typeface="Noto Sans CJK JP"/>
              </a:rPr>
              <a:t>例｜輸入専業と2025年にCKDへ移行したOEMでは、2026年以降の優遇条件が異なる。CIFは店頭価格ではない。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7200" y="5824728"/>
            <a:ext cx="12070080" cy="457200"/>
          </a:xfrm>
          <a:prstGeom prst="rect">
            <a:avLst/>
          </a:prstGeom>
          <a:solidFill>
            <a:srgbClr val="E9F4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21792" y="5916168"/>
            <a:ext cx="1175004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200"/>
              </a:spcAft>
            </a:pPr>
            <a:r>
              <a:rPr sz="1170" b="1">
                <a:solidFill>
                  <a:srgbClr val="007F82"/>
                </a:solidFill>
                <a:latin typeface="Noto Sans CJK JP"/>
                <a:ea typeface="Noto Sans CJK JP"/>
              </a:rPr>
              <a:t>κ・λの仮説｜κ↑：2022年の輸入支援。支援終了で販売水準A↓・見かけのλ↑の可能性。CBUとCKDを分けて推定する。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84632" y="6409944"/>
            <a:ext cx="11887200" cy="1737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200"/>
              </a:spcAft>
            </a:pPr>
            <a:r>
              <a:rPr sz="900" b="0">
                <a:solidFill>
                  <a:srgbClr val="59697C"/>
                </a:solidFill>
                <a:latin typeface="Noto Sans CJK JP"/>
                <a:ea typeface="Noto Sans CJK JP"/>
              </a:rPr>
              <a:t>一次情報URL｜以下の資料名・ドメインをクリック。完全URL・補足は各スライドのノートに記載。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2920" y="6629400"/>
            <a:ext cx="5824728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200"/>
              </a:spcAft>
            </a:pPr>
            <a:r>
              <a:rPr sz="900" b="0">
                <a:solidFill>
                  <a:srgbClr val="2567A4"/>
                </a:solidFill>
                <a:latin typeface="Noto Sans CJK JP"/>
                <a:ea typeface="Noto Sans CJK JP"/>
                <a:hlinkClick r:id="rId2"/>
              </a:rPr>
              <a:t>[1] 財務省｜Budget 2022  |  mof.gov.my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37959" y="6629400"/>
            <a:ext cx="5824728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200"/>
              </a:spcAft>
            </a:pPr>
            <a:r>
              <a:rPr sz="900" b="0">
                <a:solidFill>
                  <a:srgbClr val="2567A4"/>
                </a:solidFill>
                <a:latin typeface="Noto Sans CJK JP"/>
                <a:ea typeface="Noto Sans CJK JP"/>
                <a:hlinkClick r:id="rId3"/>
              </a:rPr>
              <a:t>[2] 財務省｜Budget 2023 Appendix 25  |  belanjawan.mof.gov.my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02920" y="6812280"/>
            <a:ext cx="5824728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200"/>
              </a:spcAft>
            </a:pPr>
            <a:r>
              <a:rPr sz="900" b="0">
                <a:solidFill>
                  <a:srgbClr val="2567A4"/>
                </a:solidFill>
                <a:latin typeface="Noto Sans CJK JP"/>
                <a:ea typeface="Noto Sans CJK JP"/>
                <a:hlinkClick r:id="rId4"/>
              </a:rPr>
              <a:t>[3] MITI｜CKD優遇・AP MRA EV 2026  |  miti.gov.my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37959" y="6812280"/>
            <a:ext cx="5824728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200"/>
              </a:spcAft>
            </a:pPr>
            <a:r>
              <a:rPr sz="900" b="0">
                <a:solidFill>
                  <a:srgbClr val="2567A4"/>
                </a:solidFill>
                <a:latin typeface="Noto Sans CJK JP"/>
                <a:ea typeface="Noto Sans CJK JP"/>
                <a:hlinkClick r:id="rId5"/>
              </a:rPr>
              <a:t>[4] MITI｜2022–25年の価格条件説明  |  miti.gov.my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02920" y="6995160"/>
            <a:ext cx="5824728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200"/>
              </a:spcAft>
            </a:pPr>
            <a:r>
              <a:rPr sz="900" b="0">
                <a:solidFill>
                  <a:srgbClr val="2567A4"/>
                </a:solidFill>
                <a:latin typeface="Noto Sans CJK JP"/>
                <a:ea typeface="Noto Sans CJK JP"/>
                <a:hlinkClick r:id="rId6"/>
              </a:rPr>
              <a:t>[5] MITI｜2026年CBU条件変更  |  miti.gov.my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84632" y="7232904"/>
            <a:ext cx="11612880" cy="731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200"/>
              </a:spcAft>
            </a:pPr>
            <a:r>
              <a:rPr sz="700" b="0">
                <a:solidFill>
                  <a:srgbClr val="59697C"/>
                </a:solidFill>
                <a:latin typeface="Noto Sans CJK JP"/>
                <a:ea typeface="Noto Sans CJK JP"/>
              </a:rPr>
              <a:t>一次情報確認：2026-10-06｜主要制度の抜粋。κ＝立ち上がり速度、λ＝減衰速度、A＝販売規模。矢印は仮説。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978640" y="7214616"/>
            <a:ext cx="457200" cy="137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200"/>
              </a:spcAft>
            </a:pPr>
            <a:r>
              <a:rPr sz="800" b="0">
                <a:solidFill>
                  <a:srgbClr val="59697C"/>
                </a:solidFill>
                <a:latin typeface="Noto Sans CJK JP"/>
                <a:ea typeface="Noto Sans CJK JP"/>
              </a:rPr>
              <a:t>3/6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004596" cy="109728"/>
          </a:xfrm>
          <a:prstGeom prst="rect">
            <a:avLst/>
          </a:prstGeom>
          <a:solidFill>
            <a:srgbClr val="00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92608"/>
            <a:ext cx="100584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200"/>
              </a:spcAft>
            </a:pPr>
            <a:r>
              <a:rPr sz="1000" b="1">
                <a:solidFill>
                  <a:srgbClr val="007F82"/>
                </a:solidFill>
                <a:latin typeface="Noto Sans CJK JP"/>
                <a:ea typeface="Noto Sans CJK JP"/>
              </a:rPr>
              <a:t>04  VIET NAM  /  2020年前後からの主要な制度変更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04088"/>
            <a:ext cx="12070080" cy="5120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200"/>
              </a:spcAft>
            </a:pPr>
            <a:r>
              <a:rPr sz="2500" b="1">
                <a:solidFill>
                  <a:srgbClr val="182B49"/>
                </a:solidFill>
                <a:latin typeface="Noto Sans CJK JP"/>
                <a:ea typeface="Noto Sans CJK JP"/>
              </a:rPr>
              <a:t>ベトナム｜現地組立車の需要支援 → BEV登録料0%を継続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07592"/>
            <a:ext cx="1207008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200"/>
              </a:spcAft>
            </a:pPr>
            <a:r>
              <a:rPr sz="1400" b="0">
                <a:solidFill>
                  <a:srgbClr val="59697C"/>
                </a:solidFill>
                <a:latin typeface="Noto Sans CJK JP"/>
                <a:ea typeface="Noto Sans CJK JP"/>
              </a:rPr>
              <a:t>2020年の措置はEV専用ではない。BEV向け登録料優遇は2022年3月から。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810512"/>
            <a:ext cx="80467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200"/>
              </a:spcAft>
            </a:pPr>
            <a:r>
              <a:rPr sz="1100" b="1">
                <a:solidFill>
                  <a:srgbClr val="007F82"/>
                </a:solidFill>
                <a:latin typeface="Noto Sans CJK JP"/>
                <a:ea typeface="Noto Sans CJK JP"/>
              </a:rPr>
              <a:t>制度の変遷｜番号は下の一次情報に対応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87968" y="1810512"/>
            <a:ext cx="36118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200"/>
              </a:spcAft>
            </a:pPr>
            <a:r>
              <a:rPr sz="1100" b="1">
                <a:solidFill>
                  <a:srgbClr val="2567A4"/>
                </a:solidFill>
                <a:latin typeface="Noto Sans CJK JP"/>
                <a:ea typeface="Noto Sans CJK JP"/>
              </a:rPr>
              <a:t>OEMへの影響｜分析上の推論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084831"/>
            <a:ext cx="8092440" cy="745236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2648" y="2176272"/>
            <a:ext cx="1481328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200"/>
              </a:spcAft>
            </a:pPr>
            <a:r>
              <a:rPr sz="1300" b="1">
                <a:solidFill>
                  <a:srgbClr val="007F82"/>
                </a:solidFill>
                <a:latin typeface="Noto Sans CJK JP"/>
                <a:ea typeface="Noto Sans CJK JP"/>
              </a:rPr>
              <a:t>2020年6–12月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85416" y="2144268"/>
            <a:ext cx="60807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200"/>
              </a:spcAft>
            </a:pPr>
            <a:r>
              <a:rPr sz="1400" b="1">
                <a:solidFill>
                  <a:srgbClr val="182B49"/>
                </a:solidFill>
                <a:latin typeface="Noto Sans CJK JP"/>
                <a:ea typeface="Noto Sans CJK JP"/>
              </a:rPr>
              <a:t>国内製造・組立車の登録料を半減 [1]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85416" y="2414015"/>
            <a:ext cx="6080760" cy="4480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200"/>
              </a:spcAft>
            </a:pPr>
            <a:r>
              <a:rPr sz="1240" b="0">
                <a:solidFill>
                  <a:srgbClr val="182B49"/>
                </a:solidFill>
                <a:latin typeface="Noto Sans CJK JP"/>
                <a:ea typeface="Noto Sans CJK JP"/>
              </a:rPr>
              <a:t>政令70/2020：6月28日～12月31日は初回登録料を通常の50%に。コロナ禍の需要支援。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880360"/>
            <a:ext cx="8092440" cy="745236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2648" y="2971800"/>
            <a:ext cx="1481328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200"/>
              </a:spcAft>
            </a:pPr>
            <a:r>
              <a:rPr sz="1300" b="1">
                <a:solidFill>
                  <a:srgbClr val="007F82"/>
                </a:solidFill>
                <a:latin typeface="Noto Sans CJK JP"/>
                <a:ea typeface="Noto Sans CJK JP"/>
              </a:rPr>
              <a:t>2022年3月～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85416" y="2939796"/>
            <a:ext cx="60807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200"/>
              </a:spcAft>
            </a:pPr>
            <a:r>
              <a:rPr sz="1400" b="1">
                <a:solidFill>
                  <a:srgbClr val="182B49"/>
                </a:solidFill>
                <a:latin typeface="Noto Sans CJK JP"/>
                <a:ea typeface="Noto Sans CJK JP"/>
              </a:rPr>
              <a:t>BEVの初回登録料を0%に [2]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85416" y="3209544"/>
            <a:ext cx="6080760" cy="4480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200"/>
              </a:spcAft>
            </a:pPr>
            <a:r>
              <a:rPr sz="1240" b="0">
                <a:solidFill>
                  <a:srgbClr val="182B49"/>
                </a:solidFill>
                <a:latin typeface="Noto Sans CJK JP"/>
                <a:ea typeface="Noto Sans CJK JP"/>
              </a:rPr>
              <a:t>政令10/2022：3年間0%。当初は、その後2年間を同等のガソリン・ディーゼル車の50%とする計画。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675887"/>
            <a:ext cx="8092440" cy="745236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2648" y="3767327"/>
            <a:ext cx="1481328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200"/>
              </a:spcAft>
            </a:pPr>
            <a:r>
              <a:rPr sz="1300" b="1">
                <a:solidFill>
                  <a:srgbClr val="007F82"/>
                </a:solidFill>
                <a:latin typeface="Noto Sans CJK JP"/>
                <a:ea typeface="Noto Sans CJK JP"/>
              </a:rPr>
              <a:t>2025年3月～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85416" y="3735324"/>
            <a:ext cx="60807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200"/>
              </a:spcAft>
            </a:pPr>
            <a:r>
              <a:rPr sz="1400" b="1">
                <a:solidFill>
                  <a:srgbClr val="182B49"/>
                </a:solidFill>
                <a:latin typeface="Noto Sans CJK JP"/>
                <a:ea typeface="Noto Sans CJK JP"/>
              </a:rPr>
              <a:t>0%の期間を延長 [3]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85416" y="4005072"/>
            <a:ext cx="6080760" cy="4480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200"/>
              </a:spcAft>
            </a:pPr>
            <a:r>
              <a:rPr sz="1240" b="0">
                <a:solidFill>
                  <a:srgbClr val="182B49"/>
                </a:solidFill>
                <a:latin typeface="Noto Sans CJK JP"/>
                <a:ea typeface="Noto Sans CJK JP"/>
              </a:rPr>
              <a:t>政令51/2025：2027年2月28日まで0%を継続。当初予定の負担増を回避。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4471416"/>
            <a:ext cx="8092440" cy="745236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2648" y="4562855"/>
            <a:ext cx="1481328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200"/>
              </a:spcAft>
            </a:pPr>
            <a:r>
              <a:rPr sz="1300" b="1">
                <a:solidFill>
                  <a:srgbClr val="007F82"/>
                </a:solidFill>
                <a:latin typeface="Noto Sans CJK JP"/>
                <a:ea typeface="Noto Sans CJK JP"/>
              </a:rPr>
              <a:t>2026年6月公布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185416" y="4530852"/>
            <a:ext cx="60807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200"/>
              </a:spcAft>
            </a:pPr>
            <a:r>
              <a:rPr sz="1400" b="1">
                <a:solidFill>
                  <a:srgbClr val="182B49"/>
                </a:solidFill>
                <a:latin typeface="Noto Sans CJK JP"/>
                <a:ea typeface="Noto Sans CJK JP"/>
              </a:rPr>
              <a:t>2030年末まで0%継続を規定 [4]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85416" y="4800600"/>
            <a:ext cx="6080760" cy="4480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200"/>
              </a:spcAft>
            </a:pPr>
            <a:r>
              <a:rPr sz="1240" b="0">
                <a:solidFill>
                  <a:srgbClr val="182B49"/>
                </a:solidFill>
                <a:latin typeface="Noto Sans CJK JP"/>
                <a:ea typeface="Noto Sans CJK JP"/>
              </a:rPr>
              <a:t>政令202/2026：2027年3月1日施行。2027年に登録料が上がるという予測は更新が必要。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759952" y="2084831"/>
            <a:ext cx="3776472" cy="3136392"/>
          </a:xfrm>
          <a:prstGeom prst="rect">
            <a:avLst/>
          </a:prstGeom>
          <a:solidFill>
            <a:srgbClr val="EA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942832" y="2221992"/>
            <a:ext cx="3419856" cy="2816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200"/>
              </a:spcAft>
            </a:pPr>
            <a:r>
              <a:rPr sz="1270" b="0">
                <a:solidFill>
                  <a:srgbClr val="182B49"/>
                </a:solidFill>
                <a:latin typeface="Noto Sans CJK JP"/>
                <a:ea typeface="Noto Sans CJK JP"/>
              </a:rPr>
              <a:t>2020年の現地組立OEM</a:t>
            </a:r>
          </a:p>
          <a:p>
            <a:pPr>
              <a:lnSpc>
                <a:spcPct val="112000"/>
              </a:lnSpc>
              <a:spcAft>
                <a:spcPts val="200"/>
              </a:spcAft>
            </a:pPr>
            <a:r>
              <a:rPr sz="1270" b="0">
                <a:solidFill>
                  <a:srgbClr val="182B49"/>
                </a:solidFill>
                <a:latin typeface="Noto Sans CJK JP"/>
                <a:ea typeface="Noto Sans CJK JP"/>
              </a:rPr>
              <a:t>ICEを含む対象車の購入負担が軽くなった。完成車輸入とは条件差。</a:t>
            </a:r>
          </a:p>
          <a:p>
            <a:pPr>
              <a:lnSpc>
                <a:spcPct val="112000"/>
              </a:lnSpc>
              <a:spcAft>
                <a:spcPts val="200"/>
              </a:spcAft>
            </a:pPr>
            <a:r>
              <a:rPr sz="1270" b="0">
                <a:solidFill>
                  <a:srgbClr val="182B49"/>
                </a:solidFill>
                <a:latin typeface="Noto Sans CJK JP"/>
                <a:ea typeface="Noto Sans CJK JP"/>
              </a:rPr>
              <a:t/>
            </a:r>
          </a:p>
          <a:p>
            <a:pPr>
              <a:lnSpc>
                <a:spcPct val="112000"/>
              </a:lnSpc>
              <a:spcAft>
                <a:spcPts val="200"/>
              </a:spcAft>
            </a:pPr>
            <a:r>
              <a:rPr sz="1270" b="0">
                <a:solidFill>
                  <a:srgbClr val="182B49"/>
                </a:solidFill>
                <a:latin typeface="Noto Sans CJK JP"/>
                <a:ea typeface="Noto Sans CJK JP"/>
              </a:rPr>
              <a:t>BEVを販売するOEM</a:t>
            </a:r>
          </a:p>
          <a:p>
            <a:pPr>
              <a:lnSpc>
                <a:spcPct val="112000"/>
              </a:lnSpc>
              <a:spcAft>
                <a:spcPts val="200"/>
              </a:spcAft>
            </a:pPr>
            <a:r>
              <a:rPr sz="1270" b="0">
                <a:solidFill>
                  <a:srgbClr val="182B49"/>
                </a:solidFill>
                <a:latin typeface="Noto Sans CJK JP"/>
                <a:ea typeface="Noto Sans CJK JP"/>
              </a:rPr>
              <a:t>2022年から購入時負担を軽減。輸入／現地生産を問わず該当車種の扱いを確認。</a:t>
            </a:r>
          </a:p>
          <a:p>
            <a:pPr>
              <a:lnSpc>
                <a:spcPct val="112000"/>
              </a:lnSpc>
              <a:spcAft>
                <a:spcPts val="200"/>
              </a:spcAft>
            </a:pPr>
            <a:r>
              <a:rPr sz="1270" b="0">
                <a:solidFill>
                  <a:srgbClr val="182B49"/>
                </a:solidFill>
                <a:latin typeface="Noto Sans CJK JP"/>
                <a:ea typeface="Noto Sans CJK JP"/>
              </a:rPr>
              <a:t/>
            </a:r>
          </a:p>
          <a:p>
            <a:pPr>
              <a:lnSpc>
                <a:spcPct val="112000"/>
              </a:lnSpc>
              <a:spcAft>
                <a:spcPts val="200"/>
              </a:spcAft>
            </a:pPr>
            <a:r>
              <a:rPr sz="1270" b="0">
                <a:solidFill>
                  <a:srgbClr val="182B49"/>
                </a:solidFill>
                <a:latin typeface="Noto Sans CJK JP"/>
                <a:ea typeface="Noto Sans CJK JP"/>
              </a:rPr>
              <a:t>HEV・PHEVを販売するOEM</a:t>
            </a:r>
          </a:p>
          <a:p>
            <a:pPr>
              <a:lnSpc>
                <a:spcPct val="112000"/>
              </a:lnSpc>
              <a:spcAft>
                <a:spcPts val="200"/>
              </a:spcAft>
            </a:pPr>
            <a:r>
              <a:rPr sz="1270" b="0">
                <a:solidFill>
                  <a:srgbClr val="182B49"/>
                </a:solidFill>
                <a:latin typeface="Noto Sans CJK JP"/>
                <a:ea typeface="Noto Sans CJK JP"/>
              </a:rPr>
              <a:t>BEV登録料0%を自動適用しない。動力方式別の税区分を確認。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5330952"/>
            <a:ext cx="12070080" cy="411480"/>
          </a:xfrm>
          <a:prstGeom prst="rect">
            <a:avLst/>
          </a:prstGeom>
          <a:solidFill>
            <a:srgbClr val="FFF5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21792" y="5422392"/>
            <a:ext cx="117500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200"/>
              </a:spcAft>
            </a:pPr>
            <a:r>
              <a:rPr sz="1210" b="0">
                <a:solidFill>
                  <a:srgbClr val="182B49"/>
                </a:solidFill>
                <a:latin typeface="Noto Sans CJK JP"/>
                <a:ea typeface="Noto Sans CJK JP"/>
              </a:rPr>
              <a:t>例｜評価額10億ドン・通常登録料10%なら1億ドン。2020年の対象現地組立車は5,000万、対象BEVは0。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5824728"/>
            <a:ext cx="12070080" cy="457200"/>
          </a:xfrm>
          <a:prstGeom prst="rect">
            <a:avLst/>
          </a:prstGeom>
          <a:solidFill>
            <a:srgbClr val="E9F4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1792" y="5916168"/>
            <a:ext cx="1175004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200"/>
              </a:spcAft>
            </a:pPr>
            <a:r>
              <a:rPr sz="1170" b="1">
                <a:solidFill>
                  <a:srgbClr val="007F82"/>
                </a:solidFill>
                <a:latin typeface="Noto Sans CJK JP"/>
                <a:ea typeface="Noto Sans CJK JP"/>
              </a:rPr>
              <a:t>κ・λの仮説｜κ↑：購入負担の軽減。期限前の駆け込み・反動はλと分離。0%延長により、2027年登録料の反動減仮説は修正。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84632" y="6409944"/>
            <a:ext cx="11887200" cy="1737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200"/>
              </a:spcAft>
            </a:pPr>
            <a:r>
              <a:rPr sz="900" b="0">
                <a:solidFill>
                  <a:srgbClr val="59697C"/>
                </a:solidFill>
                <a:latin typeface="Noto Sans CJK JP"/>
                <a:ea typeface="Noto Sans CJK JP"/>
              </a:rPr>
              <a:t>一次情報URL｜以下の資料名・ドメインをクリック。完全URL・補足は各スライドのノートに記載。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6629400"/>
            <a:ext cx="5824728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200"/>
              </a:spcAft>
            </a:pPr>
            <a:r>
              <a:rPr sz="900" b="0">
                <a:solidFill>
                  <a:srgbClr val="2567A4"/>
                </a:solidFill>
                <a:latin typeface="Noto Sans CJK JP"/>
                <a:ea typeface="Noto Sans CJK JP"/>
                <a:hlinkClick r:id="rId2"/>
              </a:rPr>
              <a:t>[1] 政府｜政令70/2020の施行・内容  |  vanban.chinhphu.vn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37959" y="6629400"/>
            <a:ext cx="5824728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200"/>
              </a:spcAft>
            </a:pPr>
            <a:r>
              <a:rPr sz="900" b="0">
                <a:solidFill>
                  <a:srgbClr val="2567A4"/>
                </a:solidFill>
                <a:latin typeface="Noto Sans CJK JP"/>
                <a:ea typeface="Noto Sans CJK JP"/>
                <a:hlinkClick r:id="rId3"/>
              </a:rPr>
              <a:t>[2] 政府｜2022年3月の登録料制度  |  baochinhphu.vn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2920" y="6812280"/>
            <a:ext cx="5824728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200"/>
              </a:spcAft>
            </a:pPr>
            <a:r>
              <a:rPr sz="900" b="0">
                <a:solidFill>
                  <a:srgbClr val="2567A4"/>
                </a:solidFill>
                <a:latin typeface="Noto Sans CJK JP"/>
                <a:ea typeface="Noto Sans CJK JP"/>
                <a:hlinkClick r:id="rId4"/>
              </a:rPr>
              <a:t>[3] 政府｜政令51/2025  |  xaydungchinhsach.chinhphu.vn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37959" y="6812280"/>
            <a:ext cx="5824728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200"/>
              </a:spcAft>
            </a:pPr>
            <a:r>
              <a:rPr sz="900" b="0">
                <a:solidFill>
                  <a:srgbClr val="2567A4"/>
                </a:solidFill>
                <a:latin typeface="Noto Sans CJK JP"/>
                <a:ea typeface="Noto Sans CJK JP"/>
                <a:hlinkClick r:id="rId5"/>
              </a:rPr>
              <a:t>[4] 官報｜政令202/2026  |  congbao.chinhphu.vn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84632" y="7232904"/>
            <a:ext cx="11612880" cy="731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200"/>
              </a:spcAft>
            </a:pPr>
            <a:r>
              <a:rPr sz="700" b="0">
                <a:solidFill>
                  <a:srgbClr val="59697C"/>
                </a:solidFill>
                <a:latin typeface="Noto Sans CJK JP"/>
                <a:ea typeface="Noto Sans CJK JP"/>
              </a:rPr>
              <a:t>一次情報確認：2026-10-06｜主要制度の抜粋。κ＝立ち上がり速度、λ＝減衰速度、A＝販売規模。矢印は仮説。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978640" y="7214616"/>
            <a:ext cx="457200" cy="137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200"/>
              </a:spcAft>
            </a:pPr>
            <a:r>
              <a:rPr sz="800" b="0">
                <a:solidFill>
                  <a:srgbClr val="59697C"/>
                </a:solidFill>
                <a:latin typeface="Noto Sans CJK JP"/>
                <a:ea typeface="Noto Sans CJK JP"/>
              </a:rPr>
              <a:t>4/6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004596" cy="109728"/>
          </a:xfrm>
          <a:prstGeom prst="rect">
            <a:avLst/>
          </a:prstGeom>
          <a:solidFill>
            <a:srgbClr val="00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92608"/>
            <a:ext cx="100584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200"/>
              </a:spcAft>
            </a:pPr>
            <a:r>
              <a:rPr sz="1000" b="1">
                <a:solidFill>
                  <a:srgbClr val="007F82"/>
                </a:solidFill>
                <a:latin typeface="Noto Sans CJK JP"/>
                <a:ea typeface="Noto Sans CJK JP"/>
              </a:rPr>
              <a:t>05  PHILIPPINES  /  2020年前後からの主要な制度変更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04088"/>
            <a:ext cx="12070080" cy="5120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200"/>
              </a:spcAft>
            </a:pPr>
            <a:r>
              <a:rPr sz="2500" b="1">
                <a:solidFill>
                  <a:srgbClr val="182B49"/>
                </a:solidFill>
                <a:latin typeface="Noto Sans CJK JP"/>
                <a:ea typeface="Noto Sans CJK JP"/>
              </a:rPr>
              <a:t>フィリピン｜物品税の優遇 → BEV関税軽減 → HEVにも拡大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07592"/>
            <a:ext cx="1207008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200"/>
              </a:spcAft>
            </a:pPr>
            <a:r>
              <a:rPr sz="1400" b="0">
                <a:solidFill>
                  <a:srgbClr val="59697C"/>
                </a:solidFill>
                <a:latin typeface="Noto Sans CJK JP"/>
                <a:ea typeface="Noto Sans CJK JP"/>
              </a:rPr>
              <a:t>物品税と輸入関税は別。HEVの2024年の関税支援を、2020年に遡って扱わない。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810512"/>
            <a:ext cx="80467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200"/>
              </a:spcAft>
            </a:pPr>
            <a:r>
              <a:rPr sz="1100" b="1">
                <a:solidFill>
                  <a:srgbClr val="007F82"/>
                </a:solidFill>
                <a:latin typeface="Noto Sans CJK JP"/>
                <a:ea typeface="Noto Sans CJK JP"/>
              </a:rPr>
              <a:t>制度の変遷｜番号は下の一次情報に対応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87968" y="1810512"/>
            <a:ext cx="36118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200"/>
              </a:spcAft>
            </a:pPr>
            <a:r>
              <a:rPr sz="1100" b="1">
                <a:solidFill>
                  <a:srgbClr val="2567A4"/>
                </a:solidFill>
                <a:latin typeface="Noto Sans CJK JP"/>
                <a:ea typeface="Noto Sans CJK JP"/>
              </a:rPr>
              <a:t>OEMへの影響｜分析上の推論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084831"/>
            <a:ext cx="8092440" cy="745236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2648" y="2176272"/>
            <a:ext cx="1481328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200"/>
              </a:spcAft>
            </a:pPr>
            <a:r>
              <a:rPr sz="1300" b="1">
                <a:solidFill>
                  <a:srgbClr val="007F82"/>
                </a:solidFill>
                <a:latin typeface="Noto Sans CJK JP"/>
                <a:ea typeface="Noto Sans CJK JP"/>
              </a:rPr>
              <a:t>2020年時点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85416" y="2144268"/>
            <a:ext cx="60807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200"/>
              </a:spcAft>
            </a:pPr>
            <a:r>
              <a:rPr sz="1400" b="1">
                <a:solidFill>
                  <a:srgbClr val="182B49"/>
                </a:solidFill>
                <a:latin typeface="Noto Sans CJK JP"/>
                <a:ea typeface="Noto Sans CJK JP"/>
              </a:rPr>
              <a:t>2018年からの物品税優遇 [1]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85416" y="2414015"/>
            <a:ext cx="6080760" cy="4480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200"/>
              </a:spcAft>
            </a:pPr>
            <a:r>
              <a:rPr sz="1240" b="0">
                <a:solidFill>
                  <a:srgbClr val="182B49"/>
                </a:solidFill>
                <a:latin typeface="Noto Sans CJK JP"/>
                <a:ea typeface="Noto Sans CJK JP"/>
              </a:rPr>
              <a:t>純電気自動車は自動車物品税免除。条件を満たすHEVは通常税率の50%。輸入関税免除とは別。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880360"/>
            <a:ext cx="8092440" cy="745236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2648" y="2971800"/>
            <a:ext cx="1481328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200"/>
              </a:spcAft>
            </a:pPr>
            <a:r>
              <a:rPr sz="1300" b="1">
                <a:solidFill>
                  <a:srgbClr val="007F82"/>
                </a:solidFill>
                <a:latin typeface="Noto Sans CJK JP"/>
                <a:ea typeface="Noto Sans CJK JP"/>
              </a:rPr>
              <a:t>2022年4月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85416" y="2939796"/>
            <a:ext cx="60807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200"/>
              </a:spcAft>
            </a:pPr>
            <a:r>
              <a:rPr sz="1400" b="1">
                <a:solidFill>
                  <a:srgbClr val="182B49"/>
                </a:solidFill>
                <a:latin typeface="Noto Sans CJK JP"/>
                <a:ea typeface="Noto Sans CJK JP"/>
              </a:rPr>
              <a:t>EVIDAが成立 [2]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85416" y="3209544"/>
            <a:ext cx="6080760" cy="4480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200"/>
              </a:spcAft>
            </a:pPr>
            <a:r>
              <a:rPr sz="1240" b="0">
                <a:solidFill>
                  <a:srgbClr val="182B49"/>
                </a:solidFill>
                <a:latin typeface="Noto Sans CJK JP"/>
                <a:ea typeface="Noto Sans CJK JP"/>
              </a:rPr>
              <a:t>共和国法11697号：EV産業、充電設備、普及計画などの政策枠組みを整備。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675887"/>
            <a:ext cx="8092440" cy="745236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2648" y="3767327"/>
            <a:ext cx="1481328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200"/>
              </a:spcAft>
            </a:pPr>
            <a:r>
              <a:rPr sz="1300" b="1">
                <a:solidFill>
                  <a:srgbClr val="007F82"/>
                </a:solidFill>
                <a:latin typeface="Noto Sans CJK JP"/>
                <a:ea typeface="Noto Sans CJK JP"/>
              </a:rPr>
              <a:t>2023年2月～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85416" y="3735324"/>
            <a:ext cx="60807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200"/>
              </a:spcAft>
            </a:pPr>
            <a:r>
              <a:rPr sz="1400" b="1">
                <a:solidFill>
                  <a:srgbClr val="182B49"/>
                </a:solidFill>
                <a:latin typeface="Noto Sans CJK JP"/>
                <a:ea typeface="Noto Sans CJK JP"/>
              </a:rPr>
              <a:t>EO12の輸入関税軽減が発効 [3]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85416" y="4005072"/>
            <a:ext cx="6080760" cy="4480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200"/>
              </a:spcAft>
            </a:pPr>
            <a:r>
              <a:rPr sz="1240" b="0">
                <a:solidFill>
                  <a:srgbClr val="182B49"/>
                </a:solidFill>
                <a:latin typeface="Noto Sans CJK JP"/>
                <a:ea typeface="Noto Sans CJK JP"/>
              </a:rPr>
              <a:t>特定のBEV等を対象に関税を軽減。2月20日発効。HEVはこの時点で同じ優遇対象ではない。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4471416"/>
            <a:ext cx="8092440" cy="745236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2648" y="4562855"/>
            <a:ext cx="1481328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200"/>
              </a:spcAft>
            </a:pPr>
            <a:r>
              <a:rPr sz="1300" b="1">
                <a:solidFill>
                  <a:srgbClr val="007F82"/>
                </a:solidFill>
                <a:latin typeface="Noto Sans CJK JP"/>
                <a:ea typeface="Noto Sans CJK JP"/>
              </a:rPr>
              <a:t>2024年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185416" y="4530852"/>
            <a:ext cx="60807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200"/>
              </a:spcAft>
            </a:pPr>
            <a:r>
              <a:rPr sz="1400" b="1">
                <a:solidFill>
                  <a:srgbClr val="182B49"/>
                </a:solidFill>
                <a:latin typeface="Noto Sans CJK JP"/>
                <a:ea typeface="Noto Sans CJK JP"/>
              </a:rPr>
              <a:t>EO62でHEV・PHEV等へ拡大 [4]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85416" y="4800600"/>
            <a:ext cx="6080760" cy="4480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200"/>
              </a:spcAft>
            </a:pPr>
            <a:r>
              <a:rPr sz="1240" b="0">
                <a:solidFill>
                  <a:srgbClr val="182B49"/>
                </a:solidFill>
                <a:latin typeface="Noto Sans CJK JP"/>
                <a:ea typeface="Noto Sans CJK JP"/>
              </a:rPr>
              <a:t>対象品目の関税0%を2028年まで設定。BEV以外の電動車にも輸入面の恩恵。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759952" y="2084831"/>
            <a:ext cx="3776472" cy="3136392"/>
          </a:xfrm>
          <a:prstGeom prst="rect">
            <a:avLst/>
          </a:prstGeom>
          <a:solidFill>
            <a:srgbClr val="EA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942832" y="2221992"/>
            <a:ext cx="3419856" cy="2816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200"/>
              </a:spcAft>
            </a:pPr>
            <a:r>
              <a:rPr sz="1270" b="0">
                <a:solidFill>
                  <a:srgbClr val="182B49"/>
                </a:solidFill>
                <a:latin typeface="Noto Sans CJK JP"/>
                <a:ea typeface="Noto Sans CJK JP"/>
              </a:rPr>
              <a:t>完成車輸入BEV OEM</a:t>
            </a:r>
          </a:p>
          <a:p>
            <a:pPr>
              <a:lnSpc>
                <a:spcPct val="112000"/>
              </a:lnSpc>
              <a:spcAft>
                <a:spcPts val="200"/>
              </a:spcAft>
            </a:pPr>
            <a:r>
              <a:rPr sz="1270" b="0">
                <a:solidFill>
                  <a:srgbClr val="182B49"/>
                </a:solidFill>
                <a:latin typeface="Noto Sans CJK JP"/>
                <a:ea typeface="Noto Sans CJK JP"/>
              </a:rPr>
              <a:t>2023年から対象車の輸入コストを抑えやすい。関税分類・原産地を確認。</a:t>
            </a:r>
          </a:p>
          <a:p>
            <a:pPr>
              <a:lnSpc>
                <a:spcPct val="112000"/>
              </a:lnSpc>
              <a:spcAft>
                <a:spcPts val="200"/>
              </a:spcAft>
            </a:pPr>
            <a:r>
              <a:rPr sz="1270" b="0">
                <a:solidFill>
                  <a:srgbClr val="182B49"/>
                </a:solidFill>
                <a:latin typeface="Noto Sans CJK JP"/>
                <a:ea typeface="Noto Sans CJK JP"/>
              </a:rPr>
              <a:t/>
            </a:r>
          </a:p>
          <a:p>
            <a:pPr>
              <a:lnSpc>
                <a:spcPct val="112000"/>
              </a:lnSpc>
              <a:spcAft>
                <a:spcPts val="200"/>
              </a:spcAft>
            </a:pPr>
            <a:r>
              <a:rPr sz="1270" b="0">
                <a:solidFill>
                  <a:srgbClr val="182B49"/>
                </a:solidFill>
                <a:latin typeface="Noto Sans CJK JP"/>
                <a:ea typeface="Noto Sans CJK JP"/>
              </a:rPr>
              <a:t>完成車輸入HEV OEM</a:t>
            </a:r>
          </a:p>
          <a:p>
            <a:pPr>
              <a:lnSpc>
                <a:spcPct val="112000"/>
              </a:lnSpc>
              <a:spcAft>
                <a:spcPts val="200"/>
              </a:spcAft>
            </a:pPr>
            <a:r>
              <a:rPr sz="1270" b="0">
                <a:solidFill>
                  <a:srgbClr val="182B49"/>
                </a:solidFill>
                <a:latin typeface="Noto Sans CJK JP"/>
                <a:ea typeface="Noto Sans CJK JP"/>
              </a:rPr>
              <a:t>2024年の対象拡大に意味。日系を含むHEVの価格競争力が改善し得る。</a:t>
            </a:r>
          </a:p>
          <a:p>
            <a:pPr>
              <a:lnSpc>
                <a:spcPct val="112000"/>
              </a:lnSpc>
              <a:spcAft>
                <a:spcPts val="200"/>
              </a:spcAft>
            </a:pPr>
            <a:r>
              <a:rPr sz="1270" b="0">
                <a:solidFill>
                  <a:srgbClr val="182B49"/>
                </a:solidFill>
                <a:latin typeface="Noto Sans CJK JP"/>
                <a:ea typeface="Noto Sans CJK JP"/>
              </a:rPr>
              <a:t/>
            </a:r>
          </a:p>
          <a:p>
            <a:pPr>
              <a:lnSpc>
                <a:spcPct val="112000"/>
              </a:lnSpc>
              <a:spcAft>
                <a:spcPts val="200"/>
              </a:spcAft>
            </a:pPr>
            <a:r>
              <a:rPr sz="1270" b="0">
                <a:solidFill>
                  <a:srgbClr val="182B49"/>
                </a:solidFill>
                <a:latin typeface="Noto Sans CJK JP"/>
                <a:ea typeface="Noto Sans CJK JP"/>
              </a:rPr>
              <a:t>既にFTA低関税の車種</a:t>
            </a:r>
          </a:p>
          <a:p>
            <a:pPr>
              <a:lnSpc>
                <a:spcPct val="112000"/>
              </a:lnSpc>
              <a:spcAft>
                <a:spcPts val="200"/>
              </a:spcAft>
            </a:pPr>
            <a:r>
              <a:rPr sz="1270" b="0">
                <a:solidFill>
                  <a:srgbClr val="182B49"/>
                </a:solidFill>
                <a:latin typeface="Noto Sans CJK JP"/>
                <a:ea typeface="Noto Sans CJK JP"/>
              </a:rPr>
              <a:t>追加の関税削減効果は小さい可能性。OEM国籍だけで恩恵を決めない。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5330952"/>
            <a:ext cx="12070080" cy="411480"/>
          </a:xfrm>
          <a:prstGeom prst="rect">
            <a:avLst/>
          </a:prstGeom>
          <a:solidFill>
            <a:srgbClr val="FFF5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21792" y="5422392"/>
            <a:ext cx="117500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200"/>
              </a:spcAft>
            </a:pPr>
            <a:r>
              <a:rPr sz="1210" b="0">
                <a:solidFill>
                  <a:srgbClr val="182B49"/>
                </a:solidFill>
                <a:latin typeface="Noto Sans CJK JP"/>
                <a:ea typeface="Noto Sans CJK JP"/>
              </a:rPr>
              <a:t>例｜2024年にHEV販売が伸びた場合、モデルの魅力と関税優遇を分ける。従前の関税が0%なら追加効果は小さい。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5824728"/>
            <a:ext cx="12070080" cy="457200"/>
          </a:xfrm>
          <a:prstGeom prst="rect">
            <a:avLst/>
          </a:prstGeom>
          <a:solidFill>
            <a:srgbClr val="E9F4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1792" y="5916168"/>
            <a:ext cx="1175004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200"/>
              </a:spcAft>
            </a:pPr>
            <a:r>
              <a:rPr sz="1170" b="1">
                <a:solidFill>
                  <a:srgbClr val="007F82"/>
                </a:solidFill>
                <a:latin typeface="Noto Sans CJK JP"/>
                <a:ea typeface="Noto Sans CJK JP"/>
              </a:rPr>
              <a:t>κ・λの仮説｜BEVは2023年、HEV/PHEVは2024年を政策転換点に。κ↑の可能性。価格低下はAにも作用し、λの方向は不定。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84632" y="6409944"/>
            <a:ext cx="11887200" cy="1737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200"/>
              </a:spcAft>
            </a:pPr>
            <a:r>
              <a:rPr sz="900" b="0">
                <a:solidFill>
                  <a:srgbClr val="59697C"/>
                </a:solidFill>
                <a:latin typeface="Noto Sans CJK JP"/>
                <a:ea typeface="Noto Sans CJK JP"/>
              </a:rPr>
              <a:t>一次情報URL｜以下の資料名・ドメインをクリック。完全URL・補足は各スライドのノートに記載。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6629400"/>
            <a:ext cx="5824728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200"/>
              </a:spcAft>
            </a:pPr>
            <a:r>
              <a:rPr sz="900" b="0">
                <a:solidFill>
                  <a:srgbClr val="2567A4"/>
                </a:solidFill>
                <a:latin typeface="Noto Sans CJK JP"/>
                <a:ea typeface="Noto Sans CJK JP"/>
                <a:hlinkClick r:id="rId2"/>
              </a:rPr>
              <a:t>[1] 最高裁法令庫｜RR5/2018  |  elibrary.judiciary.gov.ph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37959" y="6629400"/>
            <a:ext cx="5824728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200"/>
              </a:spcAft>
            </a:pPr>
            <a:r>
              <a:rPr sz="900" b="0">
                <a:solidFill>
                  <a:srgbClr val="2567A4"/>
                </a:solidFill>
                <a:latin typeface="Noto Sans CJK JP"/>
                <a:ea typeface="Noto Sans CJK JP"/>
                <a:hlinkClick r:id="rId3"/>
              </a:rPr>
              <a:t>[2] 最高裁法令庫｜EVIDA RA11697  |  elibrary.judiciary.gov.ph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2920" y="6812280"/>
            <a:ext cx="5824728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200"/>
              </a:spcAft>
            </a:pPr>
            <a:r>
              <a:rPr sz="900" b="0">
                <a:solidFill>
                  <a:srgbClr val="2567A4"/>
                </a:solidFill>
                <a:latin typeface="Noto Sans CJK JP"/>
                <a:ea typeface="Noto Sans CJK JP"/>
                <a:hlinkClick r:id="rId4"/>
              </a:rPr>
              <a:t>[3] 最高裁法令庫｜EO12/2023  |  elibrary.judiciary.gov.ph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37959" y="6812280"/>
            <a:ext cx="5824728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200"/>
              </a:spcAft>
            </a:pPr>
            <a:r>
              <a:rPr sz="900" b="0">
                <a:solidFill>
                  <a:srgbClr val="2567A4"/>
                </a:solidFill>
                <a:latin typeface="Noto Sans CJK JP"/>
                <a:ea typeface="Noto Sans CJK JP"/>
                <a:hlinkClick r:id="rId5"/>
              </a:rPr>
              <a:t>[4] 税関｜EO62/2024 原文  |  customs.gov.ph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84632" y="7232904"/>
            <a:ext cx="11612880" cy="731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200"/>
              </a:spcAft>
            </a:pPr>
            <a:r>
              <a:rPr sz="700" b="0">
                <a:solidFill>
                  <a:srgbClr val="59697C"/>
                </a:solidFill>
                <a:latin typeface="Noto Sans CJK JP"/>
                <a:ea typeface="Noto Sans CJK JP"/>
              </a:rPr>
              <a:t>一次情報確認：2026-10-06｜主要制度の抜粋。κ＝立ち上がり速度、λ＝減衰速度、A＝販売規模。矢印は仮説。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978640" y="7214616"/>
            <a:ext cx="457200" cy="137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200"/>
              </a:spcAft>
            </a:pPr>
            <a:r>
              <a:rPr sz="800" b="0">
                <a:solidFill>
                  <a:srgbClr val="59697C"/>
                </a:solidFill>
                <a:latin typeface="Noto Sans CJK JP"/>
                <a:ea typeface="Noto Sans CJK JP"/>
              </a:rPr>
              <a:t>5/6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004596" cy="109728"/>
          </a:xfrm>
          <a:prstGeom prst="rect">
            <a:avLst/>
          </a:prstGeom>
          <a:solidFill>
            <a:srgbClr val="00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92608"/>
            <a:ext cx="100584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200"/>
              </a:spcAft>
            </a:pPr>
            <a:r>
              <a:rPr sz="1000" b="1">
                <a:solidFill>
                  <a:srgbClr val="007F82"/>
                </a:solidFill>
                <a:latin typeface="Noto Sans CJK JP"/>
                <a:ea typeface="Noto Sans CJK JP"/>
              </a:rPr>
              <a:t>06  SINGAPORE  /  2020年前後からの主要な制度変更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04088"/>
            <a:ext cx="12070080" cy="5120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200"/>
              </a:spcAft>
            </a:pPr>
            <a:r>
              <a:rPr sz="2500" b="1">
                <a:solidFill>
                  <a:srgbClr val="182B49"/>
                </a:solidFill>
                <a:latin typeface="Noto Sans CJK JP"/>
                <a:ea typeface="Noto Sans CJK JP"/>
              </a:rPr>
              <a:t>シンガポール｜購入支援を導入 → 出力区分を緩和 → 支援縮小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07592"/>
            <a:ext cx="1207008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200"/>
              </a:spcAft>
            </a:pPr>
            <a:r>
              <a:rPr sz="1400" b="0">
                <a:solidFill>
                  <a:srgbClr val="59697C"/>
                </a:solidFill>
                <a:latin typeface="Noto Sans CJK JP"/>
                <a:ea typeface="Noto Sans CJK JP"/>
              </a:rPr>
              <a:t>価格支援があってもCOEの登録枠に制約される。市場全体と個別モデルのシェアを区別。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810512"/>
            <a:ext cx="80467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200"/>
              </a:spcAft>
            </a:pPr>
            <a:r>
              <a:rPr sz="1100" b="1">
                <a:solidFill>
                  <a:srgbClr val="007F82"/>
                </a:solidFill>
                <a:latin typeface="Noto Sans CJK JP"/>
                <a:ea typeface="Noto Sans CJK JP"/>
              </a:rPr>
              <a:t>制度の変遷｜番号は下の一次情報に対応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87968" y="1810512"/>
            <a:ext cx="36118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200"/>
              </a:spcAft>
            </a:pPr>
            <a:r>
              <a:rPr sz="1100" b="1">
                <a:solidFill>
                  <a:srgbClr val="2567A4"/>
                </a:solidFill>
                <a:latin typeface="Noto Sans CJK JP"/>
                <a:ea typeface="Noto Sans CJK JP"/>
              </a:rPr>
              <a:t>OEMへの影響｜分析上の推論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084831"/>
            <a:ext cx="8092440" cy="58613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2648" y="2176272"/>
            <a:ext cx="1481328" cy="52669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200"/>
              </a:spcAft>
            </a:pPr>
            <a:r>
              <a:rPr sz="1300" b="1">
                <a:solidFill>
                  <a:srgbClr val="007F82"/>
                </a:solidFill>
                <a:latin typeface="Noto Sans CJK JP"/>
                <a:ea typeface="Noto Sans CJK JP"/>
              </a:rPr>
              <a:t>2020年発表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85416" y="2144268"/>
            <a:ext cx="60807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200"/>
              </a:spcAft>
            </a:pPr>
            <a:r>
              <a:rPr sz="1400" b="1">
                <a:solidFill>
                  <a:srgbClr val="182B49"/>
                </a:solidFill>
                <a:latin typeface="Noto Sans CJK JP"/>
                <a:ea typeface="Noto Sans CJK JP"/>
              </a:rPr>
              <a:t>EEAIを2021年から導入 [1]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85416" y="2414015"/>
            <a:ext cx="6080760" cy="2889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200"/>
              </a:spcAft>
            </a:pPr>
            <a:r>
              <a:rPr sz="1240" b="0">
                <a:solidFill>
                  <a:srgbClr val="182B49"/>
                </a:solidFill>
                <a:latin typeface="Noto Sans CJK JP"/>
                <a:ea typeface="Noto Sans CJK JP"/>
              </a:rPr>
              <a:t>BEVの追加登録料ARFを45%軽減。2021–23年は上限20,000 SGD。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721254"/>
            <a:ext cx="8092440" cy="58613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2648" y="2812694"/>
            <a:ext cx="1481328" cy="52669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200"/>
              </a:spcAft>
            </a:pPr>
            <a:r>
              <a:rPr sz="1300" b="1">
                <a:solidFill>
                  <a:srgbClr val="007F82"/>
                </a:solidFill>
                <a:latin typeface="Noto Sans CJK JP"/>
                <a:ea typeface="Noto Sans CJK JP"/>
              </a:rPr>
              <a:t>2022年5月～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85416" y="2780690"/>
            <a:ext cx="60807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200"/>
              </a:spcAft>
            </a:pPr>
            <a:r>
              <a:rPr sz="1400" b="1">
                <a:solidFill>
                  <a:srgbClr val="182B49"/>
                </a:solidFill>
                <a:latin typeface="Noto Sans CJK JP"/>
                <a:ea typeface="Noto Sans CJK JP"/>
              </a:rPr>
              <a:t>BEVのCOE区分条件を変更 [2]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85416" y="3050438"/>
            <a:ext cx="6080760" cy="2889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200"/>
              </a:spcAft>
            </a:pPr>
            <a:r>
              <a:rPr sz="1240" b="0">
                <a:solidFill>
                  <a:srgbClr val="182B49"/>
                </a:solidFill>
                <a:latin typeface="Noto Sans CJK JP"/>
                <a:ea typeface="Noto Sans CJK JP"/>
              </a:rPr>
              <a:t>Category AのBEV最大出力を97kW→110kWに。より多くの大衆向けBEVがA区分に入れる。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357676"/>
            <a:ext cx="8092440" cy="58613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2648" y="3449116"/>
            <a:ext cx="1481328" cy="52669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200"/>
              </a:spcAft>
            </a:pPr>
            <a:r>
              <a:rPr sz="1300" b="1">
                <a:solidFill>
                  <a:srgbClr val="007F82"/>
                </a:solidFill>
                <a:latin typeface="Noto Sans CJK JP"/>
                <a:ea typeface="Noto Sans CJK JP"/>
              </a:rPr>
              <a:t>2024–2025年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85416" y="3417112"/>
            <a:ext cx="60807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200"/>
              </a:spcAft>
            </a:pPr>
            <a:r>
              <a:rPr sz="1400" b="1">
                <a:solidFill>
                  <a:srgbClr val="182B49"/>
                </a:solidFill>
                <a:latin typeface="Noto Sans CJK JP"/>
                <a:ea typeface="Noto Sans CJK JP"/>
              </a:rPr>
              <a:t>EEAIを延長・上限縮小 [3,4]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85416" y="3686860"/>
            <a:ext cx="6080760" cy="2889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200"/>
              </a:spcAft>
            </a:pPr>
            <a:r>
              <a:rPr sz="1240" b="0">
                <a:solidFill>
                  <a:srgbClr val="182B49"/>
                </a:solidFill>
                <a:latin typeface="Noto Sans CJK JP"/>
                <a:ea typeface="Noto Sans CJK JP"/>
              </a:rPr>
              <a:t>ARF45%軽減を継続し、上限を15,000 SGDに。VESの排出量別優遇とは別枠。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3994099"/>
            <a:ext cx="8092440" cy="58613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2648" y="4085539"/>
            <a:ext cx="1481328" cy="52669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200"/>
              </a:spcAft>
            </a:pPr>
            <a:r>
              <a:rPr sz="1300" b="1">
                <a:solidFill>
                  <a:srgbClr val="007F82"/>
                </a:solidFill>
                <a:latin typeface="Noto Sans CJK JP"/>
                <a:ea typeface="Noto Sans CJK JP"/>
              </a:rPr>
              <a:t>2026年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185416" y="4053535"/>
            <a:ext cx="60807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200"/>
              </a:spcAft>
            </a:pPr>
            <a:r>
              <a:rPr sz="1400" b="1">
                <a:solidFill>
                  <a:srgbClr val="182B49"/>
                </a:solidFill>
                <a:latin typeface="Noto Sans CJK JP"/>
                <a:ea typeface="Noto Sans CJK JP"/>
              </a:rPr>
              <a:t>EEAI上限を7,500 SGDへ [4]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85416" y="4323283"/>
            <a:ext cx="6080760" cy="2889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200"/>
              </a:spcAft>
            </a:pPr>
            <a:r>
              <a:rPr sz="1240" b="0">
                <a:solidFill>
                  <a:srgbClr val="182B49"/>
                </a:solidFill>
                <a:latin typeface="Noto Sans CJK JP"/>
                <a:ea typeface="Noto Sans CJK JP"/>
              </a:rPr>
              <a:t>購入支援をさらに縮小。VESと合算した最大恩恵とは混同しない。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4630521"/>
            <a:ext cx="8092440" cy="58613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12648" y="4721961"/>
            <a:ext cx="1481328" cy="52669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200"/>
              </a:spcAft>
            </a:pPr>
            <a:r>
              <a:rPr sz="1300" b="1">
                <a:solidFill>
                  <a:srgbClr val="007F82"/>
                </a:solidFill>
                <a:latin typeface="Noto Sans CJK JP"/>
                <a:ea typeface="Noto Sans CJK JP"/>
              </a:rPr>
              <a:t>2027年予定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185416" y="4689957"/>
            <a:ext cx="60807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200"/>
              </a:spcAft>
            </a:pPr>
            <a:r>
              <a:rPr sz="1400" b="1">
                <a:solidFill>
                  <a:srgbClr val="182B49"/>
                </a:solidFill>
                <a:latin typeface="Noto Sans CJK JP"/>
                <a:ea typeface="Noto Sans CJK JP"/>
              </a:rPr>
              <a:t>EEAIを終了 [4]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185416" y="4959705"/>
            <a:ext cx="6080760" cy="2889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200"/>
              </a:spcAft>
            </a:pPr>
            <a:r>
              <a:rPr sz="1240" b="0">
                <a:solidFill>
                  <a:srgbClr val="182B49"/>
                </a:solidFill>
                <a:latin typeface="Noto Sans CJK JP"/>
                <a:ea typeface="Noto Sans CJK JP"/>
              </a:rPr>
              <a:t>EEAI終了後もVESは別制度として残る。支援縮小による前倒し購入・反動を検証。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759952" y="2084831"/>
            <a:ext cx="3776472" cy="3136392"/>
          </a:xfrm>
          <a:prstGeom prst="rect">
            <a:avLst/>
          </a:prstGeom>
          <a:solidFill>
            <a:srgbClr val="EA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942832" y="2221992"/>
            <a:ext cx="3419856" cy="2816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200"/>
              </a:spcAft>
            </a:pPr>
            <a:r>
              <a:rPr sz="1270" b="0">
                <a:solidFill>
                  <a:srgbClr val="182B49"/>
                </a:solidFill>
                <a:latin typeface="Noto Sans CJK JP"/>
                <a:ea typeface="Noto Sans CJK JP"/>
              </a:rPr>
              <a:t>98–110kWのBEV OEM</a:t>
            </a:r>
          </a:p>
          <a:p>
            <a:pPr>
              <a:lnSpc>
                <a:spcPct val="112000"/>
              </a:lnSpc>
              <a:spcAft>
                <a:spcPts val="200"/>
              </a:spcAft>
            </a:pPr>
            <a:r>
              <a:rPr sz="1270" b="0">
                <a:solidFill>
                  <a:srgbClr val="182B49"/>
                </a:solidFill>
                <a:latin typeface="Noto Sans CJK JP"/>
                <a:ea typeface="Noto Sans CJK JP"/>
              </a:rPr>
              <a:t>2022年変更でCategory Aへ。出力設定・投入モデルが販売条件に影響。</a:t>
            </a:r>
          </a:p>
          <a:p>
            <a:pPr>
              <a:lnSpc>
                <a:spcPct val="112000"/>
              </a:lnSpc>
              <a:spcAft>
                <a:spcPts val="200"/>
              </a:spcAft>
            </a:pPr>
            <a:r>
              <a:rPr sz="1270" b="0">
                <a:solidFill>
                  <a:srgbClr val="182B49"/>
                </a:solidFill>
                <a:latin typeface="Noto Sans CJK JP"/>
                <a:ea typeface="Noto Sans CJK JP"/>
              </a:rPr>
              <a:t/>
            </a:r>
          </a:p>
          <a:p>
            <a:pPr>
              <a:lnSpc>
                <a:spcPct val="112000"/>
              </a:lnSpc>
              <a:spcAft>
                <a:spcPts val="200"/>
              </a:spcAft>
            </a:pPr>
            <a:r>
              <a:rPr sz="1270" b="0">
                <a:solidFill>
                  <a:srgbClr val="182B49"/>
                </a:solidFill>
                <a:latin typeface="Noto Sans CJK JP"/>
                <a:ea typeface="Noto Sans CJK JP"/>
              </a:rPr>
              <a:t>BEV全般のOEM</a:t>
            </a:r>
          </a:p>
          <a:p>
            <a:pPr>
              <a:lnSpc>
                <a:spcPct val="112000"/>
              </a:lnSpc>
              <a:spcAft>
                <a:spcPts val="200"/>
              </a:spcAft>
            </a:pPr>
            <a:r>
              <a:rPr sz="1270" b="0">
                <a:solidFill>
                  <a:srgbClr val="182B49"/>
                </a:solidFill>
                <a:latin typeface="Noto Sans CJK JP"/>
                <a:ea typeface="Noto Sans CJK JP"/>
              </a:rPr>
              <a:t>支援縮小を価格・販売計画に織り込む。上限額すべてが必ず使えるとは限らない。</a:t>
            </a:r>
          </a:p>
          <a:p>
            <a:pPr>
              <a:lnSpc>
                <a:spcPct val="112000"/>
              </a:lnSpc>
              <a:spcAft>
                <a:spcPts val="200"/>
              </a:spcAft>
            </a:pPr>
            <a:r>
              <a:rPr sz="1270" b="0">
                <a:solidFill>
                  <a:srgbClr val="182B49"/>
                </a:solidFill>
                <a:latin typeface="Noto Sans CJK JP"/>
                <a:ea typeface="Noto Sans CJK JP"/>
              </a:rPr>
              <a:t/>
            </a:r>
          </a:p>
          <a:p>
            <a:pPr>
              <a:lnSpc>
                <a:spcPct val="112000"/>
              </a:lnSpc>
              <a:spcAft>
                <a:spcPts val="200"/>
              </a:spcAft>
            </a:pPr>
            <a:r>
              <a:rPr sz="1270" b="0">
                <a:solidFill>
                  <a:srgbClr val="182B49"/>
                </a:solidFill>
                <a:latin typeface="Noto Sans CJK JP"/>
                <a:ea typeface="Noto Sans CJK JP"/>
              </a:rPr>
              <a:t>全OEM共通</a:t>
            </a:r>
          </a:p>
          <a:p>
            <a:pPr>
              <a:lnSpc>
                <a:spcPct val="112000"/>
              </a:lnSpc>
              <a:spcAft>
                <a:spcPts val="200"/>
              </a:spcAft>
            </a:pPr>
            <a:r>
              <a:rPr sz="1270" b="0">
                <a:solidFill>
                  <a:srgbClr val="182B49"/>
                </a:solidFill>
                <a:latin typeface="Noto Sans CJK JP"/>
                <a:ea typeface="Noto Sans CJK JP"/>
              </a:rPr>
              <a:t>COE枠・区分別価格を統制する。減税が市場総台数を同率で増やすとは限らない。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5330952"/>
            <a:ext cx="12070080" cy="411480"/>
          </a:xfrm>
          <a:prstGeom prst="rect">
            <a:avLst/>
          </a:prstGeom>
          <a:solidFill>
            <a:srgbClr val="FFF5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21792" y="5422392"/>
            <a:ext cx="117500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200"/>
              </a:spcAft>
            </a:pPr>
            <a:r>
              <a:rPr sz="1210" b="0">
                <a:solidFill>
                  <a:srgbClr val="182B49"/>
                </a:solidFill>
                <a:latin typeface="Noto Sans CJK JP"/>
                <a:ea typeface="Noto Sans CJK JP"/>
              </a:rPr>
              <a:t>例｜最大出力105kWのBEV：変更前はCategory B、2022年5月以降はAに該当。価格差は各区分の入札次第。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7200" y="5824728"/>
            <a:ext cx="12070080" cy="457200"/>
          </a:xfrm>
          <a:prstGeom prst="rect">
            <a:avLst/>
          </a:prstGeom>
          <a:solidFill>
            <a:srgbClr val="E9F4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21792" y="5916168"/>
            <a:ext cx="1175004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200"/>
              </a:spcAft>
            </a:pPr>
            <a:r>
              <a:rPr sz="1170" b="1">
                <a:solidFill>
                  <a:srgbClr val="007F82"/>
                </a:solidFill>
                <a:latin typeface="Noto Sans CJK JP"/>
                <a:ea typeface="Noto Sans CJK JP"/>
              </a:rPr>
              <a:t>κ・λの仮説｜κ↑：2021年支援・2022年区分変更。支援終了前の駆け込みと後の反動は、モデル固有のλから分離する。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84632" y="6409944"/>
            <a:ext cx="11887200" cy="1737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200"/>
              </a:spcAft>
            </a:pPr>
            <a:r>
              <a:rPr sz="900" b="0">
                <a:solidFill>
                  <a:srgbClr val="59697C"/>
                </a:solidFill>
                <a:latin typeface="Noto Sans CJK JP"/>
                <a:ea typeface="Noto Sans CJK JP"/>
              </a:rPr>
              <a:t>一次情報URL｜以下の資料名・ドメインをクリック。完全URL・補足は各スライドのノートに記載。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2920" y="6629400"/>
            <a:ext cx="5824728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200"/>
              </a:spcAft>
            </a:pPr>
            <a:r>
              <a:rPr sz="900" b="0">
                <a:solidFill>
                  <a:srgbClr val="2567A4"/>
                </a:solidFill>
                <a:latin typeface="Noto Sans CJK JP"/>
                <a:ea typeface="Noto Sans CJK JP"/>
                <a:hlinkClick r:id="rId2"/>
              </a:rPr>
              <a:t>[1] LTA｜2020年EEAI導入発表  |  lta.gov.sg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37959" y="6629400"/>
            <a:ext cx="5824728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200"/>
              </a:spcAft>
            </a:pPr>
            <a:r>
              <a:rPr sz="900" b="0">
                <a:solidFill>
                  <a:srgbClr val="2567A4"/>
                </a:solidFill>
                <a:latin typeface="Noto Sans CJK JP"/>
                <a:ea typeface="Noto Sans CJK JP"/>
                <a:hlinkClick r:id="rId3"/>
              </a:rPr>
              <a:t>[2] LTA｜2022年COE出力区分変更  |  lta.gov.sg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02920" y="6812280"/>
            <a:ext cx="5824728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200"/>
              </a:spcAft>
            </a:pPr>
            <a:r>
              <a:rPr sz="900" b="0">
                <a:solidFill>
                  <a:srgbClr val="2567A4"/>
                </a:solidFill>
                <a:latin typeface="Noto Sans CJK JP"/>
                <a:ea typeface="Noto Sans CJK JP"/>
                <a:hlinkClick r:id="rId4"/>
              </a:rPr>
              <a:t>[3] LTA｜2023年延長・縮小発表  |  lta.gov.sg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37959" y="6812280"/>
            <a:ext cx="5824728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200"/>
              </a:spcAft>
            </a:pPr>
            <a:r>
              <a:rPr sz="900" b="0">
                <a:solidFill>
                  <a:srgbClr val="2567A4"/>
                </a:solidFill>
                <a:latin typeface="Noto Sans CJK JP"/>
                <a:ea typeface="Noto Sans CJK JP"/>
                <a:hlinkClick r:id="rId5"/>
              </a:rPr>
              <a:t>[4] LTA｜2026–27年の支援条件  |  lta.gov.sg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84632" y="7232904"/>
            <a:ext cx="11612880" cy="731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200"/>
              </a:spcAft>
            </a:pPr>
            <a:r>
              <a:rPr sz="700" b="0">
                <a:solidFill>
                  <a:srgbClr val="59697C"/>
                </a:solidFill>
                <a:latin typeface="Noto Sans CJK JP"/>
                <a:ea typeface="Noto Sans CJK JP"/>
              </a:rPr>
              <a:t>一次情報確認：2026-10-06｜主要制度の抜粋。κ＝立ち上がり速度、λ＝減衰速度、A＝販売規模。矢印は仮説。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978640" y="7214616"/>
            <a:ext cx="457200" cy="137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200"/>
              </a:spcAft>
            </a:pPr>
            <a:r>
              <a:rPr sz="800" b="0">
                <a:solidFill>
                  <a:srgbClr val="59697C"/>
                </a:solidFill>
                <a:latin typeface="Noto Sans CJK JP"/>
                <a:ea typeface="Noto Sans CJK JP"/>
              </a:rPr>
              <a:t>6/6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ASEAN主要6カ国｜自動車制度の変遷（2020年前後～）</dc:title>
  <dc:subject>各国1枚・6枚。一次情報、OEM影響、具体例、κとλの分析仮説。</dc:subject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