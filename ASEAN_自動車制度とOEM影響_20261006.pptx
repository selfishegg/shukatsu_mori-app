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3004596" cy="73152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基準日2026年10月6日。網羅的な全法令一覧ではなく、中国系OEMの販売浸透・減衰の分析に影響しやすい制度を選択。確定事実と推論を分離。各国の一次情報URLはスライド内に掲載。</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定義は既存資料「中国系OEM台頭の仮説と検証方針.pdf」のκ＝浸透、λ＝減衰を踏襲。式は本資料の推定提案。A、κ、λの推定は同時識別が必要であり短い観測では不安定。序盤の傾きは概ねAκ、末期の対数傾きは−λだが、政策の時点・価格・供給を統制する。</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EAN一般則を自動車全品目の適用規則と断定しない。HS別PSR・輸入国税率表・原産証明・協定適用日を別途照合。東ティモールへの域内恩典の適用は加入・移行措置を個別に確認し、本資料では既存各国と同一視しない。国産化は投資恩典・税制資格、原産地は貿易恩典の判定で別。</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確認日：2026-10-06</a:t>
            </a:r>
          </a:p>
          <a:p>
            <a:r>
              <a:t>タイ</a:t>
            </a:r>
          </a:p>
          <a:p>
            <a:r>
              <a:t>EV3.5：輸入と生産の交換条件 [1]</a:t>
            </a:r>
          </a:p>
          <a:p>
            <a:r>
              <a:t>2024–25年の優遇対象BEV輸入に対し、2026年までに生産する場合は1：2、2027年までの場合は1：3。全OEM・全販売への一律義務ではない。</a:t>
            </a:r>
          </a:p>
          <a:p/>
          <a:p>
            <a:r>
              <a:t>輸出の加算・補助金支払い条件 [2]</a:t>
            </a:r>
          </a:p>
          <a:p>
            <a:r>
              <a:t>輸出向け現地生産1台を1.5台として算入。補助金支払いは生産義務の達成状況に連動。EV3.5の国内車登録期限は2028年1月へ延長。</a:t>
            </a:r>
          </a:p>
          <a:p/>
          <a:p>
            <a:r>
              <a:t>2026年9月：税制再編に原則合意 [3]</a:t>
            </a:r>
          </a:p>
          <a:p>
            <a:r>
              <a:t>現地投資・組立・調達・雇用で税負担を差別化する方向。HEV/PHEVも含む。原則合意の段階であり、新税率の施行確定とは扱わない。</a:t>
            </a:r>
          </a:p>
          <a:p/>
          <a:p>
            <a:r>
              <a:t>OEM影響は仮説：</a:t>
            </a:r>
          </a:p>
          <a:p>
            <a:r>
              <a:t>優遇を使う中国系BEV OEM：現地工場・資金が必要。輸入先行の初速と、その後の増産・在庫負担を分けて見る。</a:t>
            </a:r>
          </a:p>
          <a:p>
            <a:r>
              <a:t>輸出できるOEM：生産義務を国内販売だけで消化しなくてよい。輸出先があるほど国内での値下げ圧力を緩め得る。</a:t>
            </a:r>
          </a:p>
          <a:p>
            <a:r>
              <a:t>日系HEV・既存生産拠点：BEV生産倍率をHEVに適用しない。既存の工場・調達網の価値が税制上も高まる可能性。</a:t>
            </a:r>
          </a:p>
          <a:p/>
          <a:p>
            <a:r>
              <a:t>分析：生産義務→国内の供給過剰→値下げは条件付きの仮説。輸出実績・補助金受領・在庫を併せて確認。</a:t>
            </a:r>
          </a:p>
          <a:p/>
          <a:p>
            <a:r>
              <a:t>一次情報</a:t>
            </a:r>
          </a:p>
          <a:p>
            <a:r>
              <a:t>[1] BOI｜EV3.5 原制度（1頁）</a:t>
            </a:r>
          </a:p>
          <a:p>
            <a:r>
              <a:t>https://www.boi.go.th/upload/content/EV%203.5ENG.pdf</a:t>
            </a:r>
          </a:p>
          <a:p>
            <a:r>
              <a:t>[2] BOI｜改正決定 2025-11-25</a:t>
            </a:r>
          </a:p>
          <a:p>
            <a:r>
              <a:t>https://www.boi.go.th/upload/content/PR168_2568EN.pdf</a:t>
            </a:r>
          </a:p>
          <a:p>
            <a:r>
              <a:t>[3] BOI/OSOS｜原則合意 2026-09-10</a:t>
            </a:r>
          </a:p>
          <a:p>
            <a:r>
              <a:t>https://osos.boi.go.th/EN/news/2475/Thailand-Overhauls-Vehicle-Excise-Tax-as-EVs-Capture-55-of</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確認日：2026-10-06</a:t>
            </a:r>
          </a:p>
          <a:p>
            <a:r>
              <a:t>インドネシア</a:t>
            </a:r>
          </a:p>
          <a:p>
            <a:r>
              <a:t>四輪BEVの国産化率：TKDN [1]</a:t>
            </a:r>
          </a:p>
          <a:p>
            <a:r>
              <a:t>大統領令79/2023 第8条：2022–26年は40％以上、2027–29年は60％以上、2030年以降は80％以上。計算方法は工業省規則による。</a:t>
            </a:r>
          </a:p>
          <a:p/>
          <a:p>
            <a:r>
              <a:t>輸入優遇の利用には生産コミット [2]</a:t>
            </a:r>
          </a:p>
          <a:p>
            <a:r>
              <a:t>規則6/2023：輸入等と少なくとも同数量・同等の技術仕様を現地生産。2026年1月1日までに商業生産可能、2027年末までに生産。銀行保証・未達制裁を規定。</a:t>
            </a:r>
          </a:p>
          <a:p/>
          <a:p>
            <a:r>
              <a:t>2025年優遇を2026年に自動延長しない [1,3]</a:t>
            </a:r>
          </a:p>
          <a:p>
            <a:r>
              <a:t>CBU輸入の特例期間は2025年末まで。PPN・HEV向けPPnBMの政府負担も2025年度規則。2026年の税恩典は別年度の成立規則を要確認。</a:t>
            </a:r>
          </a:p>
          <a:p/>
          <a:p>
            <a:r>
              <a:t>OEM影響は仮説：</a:t>
            </a:r>
          </a:p>
          <a:p>
            <a:r>
              <a:t>輸入先行のBEV新規参入者：BYD・Geely・VinFast等を分析する際は、個社の優遇承認・工場稼働を確認。輸入だけで成長を延長しにくい。</a:t>
            </a:r>
          </a:p>
          <a:p>
            <a:r>
              <a:t>現地電池・部品を確保するOEM：2027年の60％基準に対応しやすい。電池を含む調達網が、価格と供給継続の差を生む。</a:t>
            </a:r>
          </a:p>
          <a:p>
            <a:r>
              <a:t>日系HEV・既存組立OEM：BEVのTKDN達成をそのままHEVに適用しない。HEVの税区分と年度別恩典を別に確認する。</a:t>
            </a:r>
          </a:p>
          <a:p/>
          <a:p>
            <a:r>
              <a:t>分析：工場の稼働遅れは発売後の販売曲線より「発売時期・供給断」を変え得る。国産化成功時のλ低下は仮説。</a:t>
            </a:r>
          </a:p>
          <a:p/>
          <a:p>
            <a:r>
              <a:t>一次情報</a:t>
            </a:r>
          </a:p>
          <a:p>
            <a:r>
              <a:t>[1] 税務当局｜大統領令79/2023</a:t>
            </a:r>
          </a:p>
          <a:p>
            <a:r>
              <a:t>https://pajak.go.id/id/peraturan/perubahan-atas-peraturan-presiden-nomor-55-tahun-2019-tentang-percepatan-program</a:t>
            </a:r>
          </a:p>
          <a:p>
            <a:r>
              <a:t>[2] BKPM｜規則6/2023 英訳</a:t>
            </a:r>
          </a:p>
          <a:p>
            <a:r>
              <a:t>https://jdih-storage.bkpm.go.id/jdih/userfiles/documents/2024/4/2023Permeninvest006English.pdf</a:t>
            </a:r>
          </a:p>
          <a:p>
            <a:r>
              <a:t>[3] 財務省｜PMK12/2025</a:t>
            </a:r>
          </a:p>
          <a:p>
            <a:r>
              <a:t>https://jdih.kemenkeu.go.id/dok/pmk-12-tahun-2025/files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確認日：2026-10-06</a:t>
            </a:r>
          </a:p>
          <a:p>
            <a:r>
              <a:t>マレーシア</a:t>
            </a:r>
          </a:p>
          <a:p>
            <a:r>
              <a:t>2026年7月1日以降のCBU条件 [1]</a:t>
            </a:r>
          </a:p>
          <a:p>
            <a:r>
              <a:t>MITI：新規輸入EV CBUはCIF価格RM200,000以上、モーター出力180kW以上。既存在庫・港湾在庫・輸送中在庫は特例条件で売り切りを認める。</a:t>
            </a:r>
          </a:p>
          <a:p/>
          <a:p>
            <a:r>
              <a:t>CKD優遇と試験輸入枠 [2]</a:t>
            </a:r>
          </a:p>
          <a:p>
            <a:r>
              <a:t>CKD EVの物品税・売上税免除は2027年末まで。AP MRA EVは組立承認等が必要で、乗用車は原則1モデル200台の一回限りの試験輸入枠。</a:t>
            </a:r>
          </a:p>
          <a:p/>
          <a:p>
            <a:r>
              <a:t>新設工場の国内販売・付加価値条件 [3]</a:t>
            </a:r>
          </a:p>
          <a:p>
            <a:r>
              <a:t>MITIが公表したBYDの承認例：国内年10,000台（計画能力の20％）、国内CKDの最低OTR RM100,000。車体・塗装・組付けの現地工程が必要。</a:t>
            </a:r>
          </a:p>
          <a:p/>
          <a:p>
            <a:r>
              <a:t>OEM影響は仮説：</a:t>
            </a:r>
          </a:p>
          <a:p>
            <a:r>
              <a:t>安価な中国製CBUを輸入するOEM：新規輸入で従来の低価格帯を維持しにくい。既存在庫の売上と、新条件の下での補充を分けて見る。</a:t>
            </a:r>
          </a:p>
          <a:p>
            <a:r>
              <a:t>既存CKD設備を使えるOEM：新設拠点との条件差が重要。組立移行の早さ、承認モデル、200台の試験枠を個別に確認する。</a:t>
            </a:r>
          </a:p>
          <a:p>
            <a:r>
              <a:t>新設・輸出志向のOEM：BYDの国内年10,000台は個社の条件。他社にも同じ上限が付くとは限らない。</a:t>
            </a:r>
          </a:p>
          <a:p/>
          <a:p>
            <a:r>
              <a:t>分析：低価格CBUの供給終了はA低下・供給断を生み得る。CKDへの移行でκ・λが同時に改善するとは限らない。</a:t>
            </a:r>
          </a:p>
          <a:p/>
          <a:p>
            <a:r>
              <a:t>一次情報</a:t>
            </a:r>
          </a:p>
          <a:p>
            <a:r>
              <a:t>[1] MITI｜CBU条件 2026-05-06</a:t>
            </a:r>
          </a:p>
          <a:p>
            <a:r>
              <a:t>https://www.miti.gov.my/miti/resources/Media%20Release/SIARAN_MEDIA_PENAMATAN_PENGECUALIAN_KHAS_6_Mei_2026_edited.pdf</a:t>
            </a:r>
          </a:p>
          <a:p>
            <a:r>
              <a:t>[2] MITI｜AP MRA EV 2026 指針</a:t>
            </a:r>
          </a:p>
          <a:p>
            <a:r>
              <a:t>https://www.miti.gov.my/miti/resources/Approve%20Permit/Guidelines/GP_AP_MRA_EV_1_JAN_2026.pdf</a:t>
            </a:r>
          </a:p>
          <a:p>
            <a:r>
              <a:t>[3] MITI｜工場承認説明 2026-03-31</a:t>
            </a:r>
          </a:p>
          <a:p>
            <a:r>
              <a:t>https://www.miti.gov.my/miti/resources/Media%20Release/PR_MITI_REAFFIRMS_COMMITMENT_TO_SUSTAINABLE_AUTOMOTIVE_GROWTH_latest.pdf</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確認日：2026-10-06</a:t>
            </a:r>
          </a:p>
          <a:p>
            <a:r>
              <a:t>ベトナム</a:t>
            </a:r>
          </a:p>
          <a:p>
            <a:r>
              <a:t>現行：BEVの初回登録料0％ [1]</a:t>
            </a:r>
          </a:p>
          <a:p>
            <a:r>
              <a:t>政令51/2025：2027年2月28日まで0％。BEV（バッテリー電気自動車）の初回登録が対象で、HEV全般への免除ではない。</a:t>
            </a:r>
          </a:p>
          <a:p/>
          <a:p>
            <a:r>
              <a:t>公布済み・将来施行：2030年まで0％ [2]</a:t>
            </a:r>
          </a:p>
          <a:p>
            <a:r>
              <a:t>政令202/2026を2026年6月8日に公布。2027年3月1日施行、2030年12月31日まで初回登録料0％を継続。旧政令を置換する。</a:t>
            </a:r>
          </a:p>
          <a:p/>
          <a:p>
            <a:r>
              <a:t>HEV等には別の特別消費税区分 [3]</a:t>
            </a:r>
          </a:p>
          <a:p>
            <a:r>
              <a:t>特別消費税法の2026年統合版：政府の定めるガソリン・電気併用車等は同種車の税率の70％。BEV免除とは別で、型式の適格条件を確認する。</a:t>
            </a:r>
          </a:p>
          <a:p/>
          <a:p>
            <a:r>
              <a:t>OEM影響は仮説：</a:t>
            </a:r>
          </a:p>
          <a:p>
            <a:r>
              <a:t>VinFast・中国系BEV OEM：登録料上は同じBEV優遇を受け得る。充電・保証・販売網の差を、税制による差と混同しない。</a:t>
            </a:r>
          </a:p>
          <a:p>
            <a:r>
              <a:t>長期にモデルを育てるOEM：登録料優遇の期限が延び、投資回収の見通しが改善し得る。2027年の駆け込み・反動を当然視しない。</a:t>
            </a:r>
          </a:p>
          <a:p>
            <a:r>
              <a:t>日系HEV OEM：HEVも適格な税区分ならICE比で有利。BEVとHEVの購入総額・利便性を別々に比較する。</a:t>
            </a:r>
          </a:p>
          <a:p/>
          <a:p>
            <a:r>
              <a:t>分析：優遇の延長はBEVのA・持続性を支え得るが、個別モデルのλを下げる因果は販売データで検証する。</a:t>
            </a:r>
          </a:p>
          <a:p/>
          <a:p>
            <a:r>
              <a:t>一次情報</a:t>
            </a:r>
          </a:p>
          <a:p>
            <a:r>
              <a:t>[1] 政府｜政令51/2025 説明</a:t>
            </a:r>
          </a:p>
          <a:p>
            <a:r>
              <a:t>https://xaydungchinhsach.chinhphu.vn/nghi-dinh-so-51-2025-nd-cp-sua-doi-bo-sung-quy-dinh-ve-le-phi-truoc-ba-119250302081211221.htm</a:t>
            </a:r>
          </a:p>
          <a:p>
            <a:r>
              <a:t>[2] 官報｜政令202/2026</a:t>
            </a:r>
          </a:p>
          <a:p>
            <a:r>
              <a:t>https://congbao.chinhphu.vn/van-ban/nghi-dinh-so-202-2026-nd-cp-469730.htm</a:t>
            </a:r>
          </a:p>
          <a:p>
            <a:r>
              <a:t>[3] 国会事務局｜111/VBHN 2026</a:t>
            </a:r>
          </a:p>
          <a:p>
            <a:r>
              <a:t>https://datafiles.chinhphu.vn/cpp/files/vbpq/2026/5/111-vbhn-vpqh.pdf</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確認日：2026-10-06</a:t>
            </a:r>
          </a:p>
          <a:p>
            <a:r>
              <a:t>フィリピン</a:t>
            </a:r>
          </a:p>
          <a:p>
            <a:r>
              <a:t>EO62：対象関税を2028年まで0％ [1]</a:t>
            </a:r>
          </a:p>
          <a:p>
            <a:r>
              <a:t>対象のBEV・HEV・PHEVと一定の部品のMFN関税を0％にする。車種・HS番号ごとの適用であり、VATなど全税の免除を意味しない。</a:t>
            </a:r>
          </a:p>
          <a:p/>
          <a:p>
            <a:r>
              <a:t>物品税：BEV免除、HEV等は50％ [2]</a:t>
            </a:r>
          </a:p>
          <a:p>
            <a:r>
              <a:t>BIR RR1/2025：純電気車は物品税免除、適格なハイブリッド車は通常適用税の50％。DOEのElectric Vehicle Recognition Listで分類を確認する。</a:t>
            </a:r>
          </a:p>
          <a:p/>
          <a:p>
            <a:r>
              <a:t>中国系輸入BEVと日系HEVが競合 [1,2]</a:t>
            </a:r>
          </a:p>
          <a:p>
            <a:r>
              <a:t>上記の関税0％自体にはタイ型の輸入台数連動の生産倍率を規定していない。国籍より、対象型式・車種分類・適用HSが恩典を決める。</a:t>
            </a:r>
          </a:p>
          <a:p/>
          <a:p>
            <a:r>
              <a:t>OEM影響は仮説：</a:t>
            </a:r>
          </a:p>
          <a:p>
            <a:r>
              <a:t>中国系BEV・PHEV OEM：CBUでモデルを追加しやすい可能性。現地工場の有無だけで参入速度を判断しない。</a:t>
            </a:r>
          </a:p>
          <a:p>
            <a:r>
              <a:t>Toyota等の日系HEV OEM：関税優遇をBEVだけの追い風と見なさない。HEVも税負担を抑えながら既存需要を取り込める。</a:t>
            </a:r>
          </a:p>
          <a:p>
            <a:r>
              <a:t>MHEVを含む各社：「ハイブリッド」の商品名だけでは物品税恩典を判定できない。DOEの認定型式を照合する。</a:t>
            </a:r>
          </a:p>
          <a:p/>
          <a:p>
            <a:r>
              <a:t>分析：輸入障壁低下→κ上昇は供給・販売網が整う場合。輸入モデル増加→λ上昇は競合投入が増える場合。</a:t>
            </a:r>
          </a:p>
          <a:p/>
          <a:p>
            <a:r>
              <a:t>一次情報</a:t>
            </a:r>
          </a:p>
          <a:p>
            <a:r>
              <a:t>[1] 税関｜EO62 原文 2024-06-20</a:t>
            </a:r>
          </a:p>
          <a:p>
            <a:r>
              <a:t>https://customs.gov.ph/wp-content/uploads/2024/07/20240620-EO-62-FRM.pdf</a:t>
            </a:r>
          </a:p>
          <a:p>
            <a:r>
              <a:t>[2] BIR｜RR1/2025（1頁）</a:t>
            </a:r>
          </a:p>
          <a:p>
            <a:r>
              <a:t>https://bir-cdn.bir.gov.ph/BIR/pdf/RR%20No.%201-2025.pdf</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確認日：2026-10-06</a:t>
            </a:r>
          </a:p>
          <a:p>
            <a:r>
              <a:t>シンガポール</a:t>
            </a:r>
          </a:p>
          <a:p>
            <a:r>
              <a:t>COE：登録に必要な枠を入札 [1]</a:t>
            </a:r>
          </a:p>
          <a:p>
            <a:r>
              <a:t>VQSが新規登録数を制限し、COE枠は四半期ごとに更新。BEVは最大出力110kW以下がCategory A、超えるとB。価格差も確認する。</a:t>
            </a:r>
          </a:p>
          <a:p/>
          <a:p>
            <a:r>
              <a:t>2026年：EEAI上限S$7,500 [2]</a:t>
            </a:r>
          </a:p>
          <a:p>
            <a:r>
              <a:t>BEVのARFを45％減免、上限S$7,500。VESと合計で最大S$30,000。EEAIは2026年末終了、2027年の合計恩典は最大S$20,000。</a:t>
            </a:r>
          </a:p>
          <a:p/>
          <a:p>
            <a:r>
              <a:t>2026–27年のVES・2030年の方向 [2]</a:t>
            </a:r>
          </a:p>
          <a:p>
            <a:r>
              <a:t>VESを2027年末まで延長しバンド・加減額を改定。2030年から新規登録をよりクリーンな車へ移行する方針で、ハイブリッドも含む。</a:t>
            </a:r>
          </a:p>
          <a:p/>
          <a:p>
            <a:r>
              <a:t>OEM影響は仮説：</a:t>
            </a:r>
          </a:p>
          <a:p>
            <a:r>
              <a:t>110kW以下のBEVを持つOEM：Category A向け仕様が参入の鍵。高出力の同名海外仕様と、現地認定仕様を分ける。</a:t>
            </a:r>
          </a:p>
          <a:p>
            <a:r>
              <a:t>2026年に販売するBEV OEM：年末へ購入が前倒しされる可能性。COE価格上昇が減税効果を相殺し得る。</a:t>
            </a:r>
          </a:p>
          <a:p>
            <a:r>
              <a:t>高出力BEV・日系HEV OEM：COE・VES・ARFを含む購入総額で競う。恩典縮小だけでHEV優位は決まらない。</a:t>
            </a:r>
          </a:p>
          <a:p/>
          <a:p>
            <a:r>
              <a:t>分析：COE枠は市場規模Aに直結。年末の駆け込みと年初の反動をλ＝製品の陳腐化と読み替えない。</a:t>
            </a:r>
          </a:p>
          <a:p/>
          <a:p>
            <a:r>
              <a:t>一次情報</a:t>
            </a:r>
          </a:p>
          <a:p>
            <a:r>
              <a:t>[1] LTA｜COE制度・110kW区分</a:t>
            </a:r>
          </a:p>
          <a:p>
            <a:r>
              <a:t>https://onemotoring.lta.gov.sg/content/onemotoring/home/buying/upfront-vehicle-costs/certificate-of-entitlement--coe-.html</a:t>
            </a:r>
          </a:p>
          <a:p>
            <a:r>
              <a:t>[2] LTA/NEA｜2026–27年恩典</a:t>
            </a:r>
          </a:p>
          <a:p>
            <a:r>
              <a:t>https://www.lta.gov.sg/content/ltagov/en/newsroom/2025/9/news-releases/extension_of_ves_and_eeai_to_support_vehicle_electrification.html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確認日：2026-10-06</a:t>
            </a:r>
          </a:p>
          <a:p>
            <a:r>
              <a:t>カンボジア</a:t>
            </a:r>
          </a:p>
          <a:p>
            <a:r>
              <a:t>2026年4月1日：関税等を改定 [1]</a:t>
            </a:r>
          </a:p>
          <a:p>
            <a:r>
              <a:t>財務省公表の政令は、充電器・EV用モーター・HEV/PHEV/EVトラック等の関税・輸出税調整を掲載。品目別付表が適用の根拠。</a:t>
            </a:r>
          </a:p>
          <a:p/>
          <a:p>
            <a:r>
              <a:t>EV分野への追加優遇を政府が公表 [2]</a:t>
            </a:r>
          </a:p>
          <a:p>
            <a:r>
              <a:t>政府通信AKPはEV・充電器・リチウム電池等の関税削減を説明。一部品目は15–35％から0％。全乗用EVが一律0％とは読まない。</a:t>
            </a:r>
          </a:p>
          <a:p/>
          <a:p>
            <a:r>
              <a:t>2024–30年EV政策：投資と供給網 [2]</a:t>
            </a:r>
          </a:p>
          <a:p>
            <a:r>
              <a:t>EV組立・電池・充電インフラへの投資優遇が政策の柱。優遇は認定投資・対象品目の条件を伴うため、輸入販売と製造投資を分ける。</a:t>
            </a:r>
          </a:p>
          <a:p/>
          <a:p>
            <a:r>
              <a:t>OEM影響は仮説：</a:t>
            </a:r>
          </a:p>
          <a:p>
            <a:r>
              <a:t>中国系BEV・現地組立OEM：対象品目なら調達・充電設備のコストを下げ得る。自社乗用車のHSと税額をまず確定する。</a:t>
            </a:r>
          </a:p>
          <a:p>
            <a:r>
              <a:t>日系ICE・HEV OEM：EV向け恩典との差を購入総額で評価。HEVトラックの記載をHEV乗用車へ横展開しない。</a:t>
            </a:r>
          </a:p>
          <a:p>
            <a:r>
              <a:t>充電・サービスを整えるOEM：販売開始後の不安を減らし得る。優遇だけで継続販売が成立するとは限らない。</a:t>
            </a:r>
          </a:p>
          <a:p/>
          <a:p>
            <a:r>
              <a:t>確認限界：本資料では乗用車全型式のHS別税率を確定していない。税率仮定でκ・λの大きさを数値化しない。</a:t>
            </a:r>
          </a:p>
          <a:p/>
          <a:p>
            <a:r>
              <a:t>一次情報</a:t>
            </a:r>
          </a:p>
          <a:p>
            <a:r>
              <a:t>[1] 財務省｜2026年関税調整・付表</a:t>
            </a:r>
          </a:p>
          <a:p>
            <a:r>
              <a:t>https://data.mef.gov.kh/datasets/pd_69c8ed36b207380007f1cb0b</a:t>
            </a:r>
          </a:p>
          <a:p>
            <a:r>
              <a:t>[2] 政府通信AKP｜政策説明 2026</a:t>
            </a:r>
          </a:p>
          <a:p>
            <a:r>
              <a:t>https://www.akp.gov.kh/index.php/post/detail/375567</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確認日：2026-10-06</a:t>
            </a:r>
          </a:p>
          <a:p>
            <a:r>
              <a:t>ラオス</a:t>
            </a:r>
          </a:p>
          <a:p>
            <a:r>
              <a:t>燃料を使う小型車の輸入を一時停止 [1]</a:t>
            </a:r>
          </a:p>
          <a:p>
            <a:r>
              <a:t>首相の国会説明を政府通信KPLが2026年7月9日に掲載。燃料車の輸入停止を明記。ただし当該説明は例外・終了日を詳述していない。</a:t>
            </a:r>
          </a:p>
          <a:p/>
          <a:p>
            <a:r>
              <a:t>EV輸入は正規認可・サービス施設 [1]</a:t>
            </a:r>
          </a:p>
          <a:p>
            <a:r>
              <a:t>政府説明：正式に認可され、アフターサービスセンターを備えた企業だけにEV輸入を認める。低価格輸入のみの事業者には参入制約。</a:t>
            </a:r>
          </a:p>
          <a:p/>
          <a:p>
            <a:r>
              <a:t>EVの輸入許可が必要 [2]</a:t>
            </a:r>
          </a:p>
          <a:p>
            <a:r>
              <a:t>商工省Trade Portal：輸出入部門の許可と公共事業運輸省の規則適合が必要。通知1283/2020が原文根拠として掲載される。</a:t>
            </a:r>
          </a:p>
          <a:p/>
          <a:p>
            <a:r>
              <a:t>OEM影響は仮説：</a:t>
            </a:r>
          </a:p>
          <a:p>
            <a:r>
              <a:t>中国系BEVの正規販売OEM：燃料車からの需要代替が起き得る。保守・部品供給を持つ代理店が重要になる。</a:t>
            </a:r>
          </a:p>
          <a:p>
            <a:r>
              <a:t>日系ICE・HEVを輸入するOEM：燃料車の適用範囲に自社HEVが入るかを個別確認。発注済み車両・例外・再開を統制する。</a:t>
            </a:r>
          </a:p>
          <a:p>
            <a:r>
              <a:t>並行輸入・小規模新規参入者：販売価格の低さだけでは市場へ入れない。許可取得とサービス拠点への固定費が必要。</a:t>
            </a:r>
          </a:p>
          <a:p/>
          <a:p>
            <a:r>
              <a:t>確認限界：政府説明の一時停止を、恒久的なICE禁止やHEV一律禁止とは扱わない。停止法令の例外は要確認。</a:t>
            </a:r>
          </a:p>
          <a:p/>
          <a:p>
            <a:r>
              <a:t>一次情報</a:t>
            </a:r>
          </a:p>
          <a:p>
            <a:r>
              <a:t>[1] 政府通信KPL｜首相説明 2026-07-09</a:t>
            </a:r>
          </a:p>
          <a:p>
            <a:r>
              <a:t>https://kpl.gov.la/en/detail.aspx?id=102079</a:t>
            </a:r>
          </a:p>
          <a:p>
            <a:r>
              <a:t>[2] 商工省｜EV輸入許可</a:t>
            </a:r>
          </a:p>
          <a:p>
            <a:r>
              <a:t>https://www.laotradeportal.gov.la/en-gb/search-measure/view/1036</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確認日：2026-10-06</a:t>
            </a:r>
          </a:p>
          <a:p>
            <a:r>
              <a:t>ミャンマー</a:t>
            </a:r>
          </a:p>
          <a:p>
            <a:r>
              <a:t>2026年4月1日：BEV特別物品税5％ [1]</a:t>
            </a:r>
          </a:p>
          <a:p>
            <a:r>
              <a:t>2026 Union Tax Lawについて情報省が公表。輸入BEVのlanded valueに5％の特別物品税。従来の免除から変更。関税・商業税と別の税目。</a:t>
            </a:r>
          </a:p>
          <a:p/>
          <a:p>
            <a:r>
              <a:t>旧車抹消とEVの交換輸入を公表 [2]</a:t>
            </a:r>
          </a:p>
          <a:p>
            <a:r>
              <a:t>2026年5月の商業省発表：旧車の登録抹消証明Form(d)等を提出し、委員会審査を経てEV1台を輸入。必要外貨は中央銀行が承認後に販売する仕組み。</a:t>
            </a:r>
          </a:p>
          <a:p/>
          <a:p>
            <a:r>
              <a:t>旧パイロットと販売拠点登録 [3]</a:t>
            </a:r>
          </a:p>
          <a:p>
            <a:r>
              <a:t>Notification40/2025はEV輸入パイロットの規則。2026年度までの自動継続を前提にしない。現行承認・輸入ライセンス・保証条件を個社確認する。</a:t>
            </a:r>
          </a:p>
          <a:p/>
          <a:p>
            <a:r>
              <a:t>OEM影響は仮説：</a:t>
            </a:r>
          </a:p>
          <a:p>
            <a:r>
              <a:t>中国系BEVの輸入OEM：税負担増と輸入承認が初速を左右する。納車停止を製品の人気低下と誤認しない。</a:t>
            </a:r>
          </a:p>
          <a:p>
            <a:r>
              <a:t>買替え対応のOEM・代理店：抹消証明・委員会承認の導線が新規需要の条件。旧車1台との交換枠を一般販売全体に適用しない。</a:t>
            </a:r>
          </a:p>
          <a:p>
            <a:r>
              <a:t>全OEM：外貨割当と実際の輸入・納車時期を確認。月次台数の段差はκ・λより供給ショックの可能性。</a:t>
            </a:r>
          </a:p>
          <a:p/>
          <a:p>
            <a:r>
              <a:t>確認限界：5％は特別物品税のみ。2025パイロットの保証額や期限を現行条件として断定しない。</a:t>
            </a:r>
          </a:p>
          <a:p/>
          <a:p>
            <a:r>
              <a:t>一次情報</a:t>
            </a:r>
          </a:p>
          <a:p>
            <a:r>
              <a:t>[1] 情報省｜2026年税法の説明</a:t>
            </a:r>
          </a:p>
          <a:p>
            <a:r>
              <a:t>https://www.moi.gov.mm/moi:eng/news/20521</a:t>
            </a:r>
          </a:p>
          <a:p>
            <a:r>
              <a:t>[2] 情報省/商業省｜交換輸入 2026-05-29</a:t>
            </a:r>
          </a:p>
          <a:p>
            <a:r>
              <a:t>https://www.moi.gov.mm/moi:eng/news/21101</a:t>
            </a:r>
          </a:p>
          <a:p>
            <a:r>
              <a:t>[3] 商業省｜Notification40/2025</a:t>
            </a:r>
          </a:p>
          <a:p>
            <a:r>
              <a:t>https://myanmartradeportal.gov.mm/en/legal/521</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確認日：2026-10-06</a:t>
            </a:r>
          </a:p>
          <a:p>
            <a:r>
              <a:t>ブルネイ</a:t>
            </a:r>
          </a:p>
          <a:p>
            <a:r>
              <a:t>輸入事業者の登録・通関手続 [1]</a:t>
            </a:r>
          </a:p>
          <a:p>
            <a:r>
              <a:t>企業はRCEDに登録または登録代理人を利用。到着前の輸入申告をBDNSWで行い、規制品には主管庁の許可を取得。税率は当該HS・税令で確認。</a:t>
            </a:r>
          </a:p>
          <a:p/>
          <a:p>
            <a:r>
              <a:t>燃料補助：国内向けの利用を保護 [2]</a:t>
            </a:r>
          </a:p>
          <a:p>
            <a:r>
              <a:t>エネルギー当局は2026年4月の措置を、補助燃料の国内用途を守るためと説明。燃料費がBEVの総保有コスト優位を左右する。</a:t>
            </a:r>
          </a:p>
          <a:p/>
          <a:p>
            <a:r>
              <a:t>外国登録車の給油・入国には別条件 [2]</a:t>
            </a:r>
          </a:p>
          <a:p>
            <a:r>
              <a:t>外国登録車は入国時に燃料タンク3/4以上が必要で、購入は市場価格のV-Power等に限定。国内の新車販売・登録にこの条件を転用しない。</a:t>
            </a:r>
          </a:p>
          <a:p/>
          <a:p>
            <a:r>
              <a:t>OEM影響は仮説：</a:t>
            </a:r>
          </a:p>
          <a:p>
            <a:r>
              <a:t>中国系BEVの輸入OEM：燃料費節約のみの訴求は弱まり得る。税・電気料金・保証を含む総保有コストで比較する。</a:t>
            </a:r>
          </a:p>
          <a:p>
            <a:r>
              <a:t>日系ICE・HEV OEM：安価な国内燃料は既存需要を支え得る。HEVの燃費優位も販売価格差次第で変わる。</a:t>
            </a:r>
          </a:p>
          <a:p>
            <a:r>
              <a:t>全OEM・正規代理店：登録・型式・輸入手続の実務が必要。新規モデルの投入日と納車開始日の差を確認する。</a:t>
            </a:r>
          </a:p>
          <a:p/>
          <a:p>
            <a:r>
              <a:t>確認限界：本調査では現行の全車種EV税率を確定していない。EV優遇が存在しないという意味ではない。</a:t>
            </a:r>
          </a:p>
          <a:p/>
          <a:p>
            <a:r>
              <a:t>一次情報</a:t>
            </a:r>
          </a:p>
          <a:p>
            <a:r>
              <a:t>[1] 財務省/RCED｜輸入手続</a:t>
            </a:r>
          </a:p>
          <a:p>
            <a:r>
              <a:t>https://www.mof.gov.bn/import-and-export-procedures/</a:t>
            </a:r>
          </a:p>
          <a:p>
            <a:r>
              <a:t>[2] エネルギー当局｜燃料措置 2026-04-01</a:t>
            </a:r>
          </a:p>
          <a:p>
            <a:r>
              <a:t>https://www.energy.gov.bn/updated-fuel-petroleum-products-control-measures-to-safeguard-nationalenergy-supply-effective-1-april-2026/</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確認日：2026-10-06</a:t>
            </a:r>
          </a:p>
          <a:p>
            <a:r>
              <a:t>東ティモール</a:t>
            </a:r>
          </a:p>
          <a:p>
            <a:r>
              <a:t>販売用車両は発送前に書面承認 [1]</a:t>
            </a:r>
          </a:p>
          <a:p>
            <a:r>
              <a:t>政府Trade Portal：販売・リース等の輸入は、外国貿易部門と陸運部門の書面承認を発送前に取得。車両の輸入許可も必要。</a:t>
            </a:r>
          </a:p>
          <a:p/>
          <a:p>
            <a:r>
              <a:t>軽乗用・兼用車は原則5年以内 [1]</a:t>
            </a:r>
          </a:p>
          <a:p>
            <a:r>
              <a:t>原則は新車または製造から5年以内。大型旅客・貨物車の年式条件は別で、すべての商用車へ同じ制限を当てはめない。</a:t>
            </a:r>
          </a:p>
          <a:p/>
          <a:p>
            <a:r>
              <a:t>2022年改正後も帰国者等の例外 [2]</a:t>
            </a:r>
          </a:p>
          <a:p>
            <a:r>
              <a:t>政府Portalは改正法64/2022に基づく例外を掲載。一定の帰国者の個人使用・海外保有等を条件に5年超の車も可能。一般販売用の自由輸入ではない。</a:t>
            </a:r>
          </a:p>
          <a:p/>
          <a:p>
            <a:r>
              <a:t>OEM影響は仮説：</a:t>
            </a:r>
          </a:p>
          <a:p>
            <a:r>
              <a:t>中国系の低価格新車OEM：古い中古車との価格差が縮まれば新車を選びやすくなる可能性。ただしEV固有の優遇効果とは別。</a:t>
            </a:r>
          </a:p>
          <a:p>
            <a:r>
              <a:t>日系の新車・中古車供給OEM：安価な中古車の供給年式が競争相手を決める。中古販売を新車市場シェアの分母に混ぜない。</a:t>
            </a:r>
          </a:p>
          <a:p>
            <a:r>
              <a:t>新規輸入OEM：許可・販売網・部品供給を先に整える必要。年式規制そのものからλの方向は判定できない。</a:t>
            </a:r>
          </a:p>
          <a:p/>
          <a:p>
            <a:r>
              <a:t>確認限界：本調査ではEV固有の現行補助・生産倍率を確認できていない。小規模市場のκ・λ推定には台数を併記。</a:t>
            </a:r>
          </a:p>
          <a:p/>
          <a:p>
            <a:r>
              <a:t>一次情報</a:t>
            </a:r>
          </a:p>
          <a:p>
            <a:r>
              <a:t>[1] 政府Trade Portal｜車両輸入許可</a:t>
            </a:r>
          </a:p>
          <a:p>
            <a:r>
              <a:t>https://www.tip.mci.gov.tl/en-gb/search-measure/view/153</a:t>
            </a:r>
          </a:p>
          <a:p>
            <a:r>
              <a:t>[2] 政府Trade Portal｜64/2022・例外</a:t>
            </a:r>
          </a:p>
          <a:p>
            <a:r>
              <a:t>https://www.tip.mci.gov.tl/en-gb/search-measure/view/1356</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式は推定仕様の提案。ageは発売からの月数、政策は暦月で別に付与。対照群には同国・同セグメント・同パワートレインを優先。政策が価格を経由する総効果と価格を調整した直接効果は別であり、両仕様を明記する。国と月の効果、企業特性、競争モデル追加等の統制を検討。国籍差のκ・λに政策差が混ざることを避ける。</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全矢印は本資料の推論。一次情報の根拠は各国ページ参照。制度はパラメータ値を直接決定しない。価格低下はAのみ変える可能性、現地化は新規モデルの投入遅延のみ変える可能性、供給退出はλではなく構造変化。制度調整前後の推定を併記して仮説の妥当性を検証。方向不定は効果なしを意味しない。</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sean.org/asean-trade-in-goods-agreement-atiga/" TargetMode="External"/><Relationship Id="rId3" Type="http://schemas.openxmlformats.org/officeDocument/2006/relationships/hyperlink" Target="https://asean.org/our-communities/economic-community/rules-of-origin/" TargetMode="Externa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boi.go.th/upload/content/EV%203.5ENG.pdf" TargetMode="External"/><Relationship Id="rId3" Type="http://schemas.openxmlformats.org/officeDocument/2006/relationships/hyperlink" Target="https://www.boi.go.th/upload/content/PR168_2568EN.pdf" TargetMode="External"/><Relationship Id="rId4" Type="http://schemas.openxmlformats.org/officeDocument/2006/relationships/hyperlink" Target="https://osos.boi.go.th/EN/news/2475/Thailand-Overhauls-Vehicle-Excise-Tax-as-EVs-Capture-55-of" TargetMode="Externa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pajak.go.id/id/peraturan/perubahan-atas-peraturan-presiden-nomor-55-tahun-2019-tentang-percepatan-program" TargetMode="External"/><Relationship Id="rId3" Type="http://schemas.openxmlformats.org/officeDocument/2006/relationships/hyperlink" Target="https://jdih-storage.bkpm.go.id/jdih/userfiles/documents/2024/4/2023Permeninvest006English.pdf" TargetMode="External"/><Relationship Id="rId4" Type="http://schemas.openxmlformats.org/officeDocument/2006/relationships/hyperlink" Target="https://jdih.kemenkeu.go.id/dok/pmk-12-tahun-2025/files" TargetMode="Externa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miti.gov.my/miti/resources/Media%20Release/SIARAN_MEDIA_PENAMATAN_PENGECUALIAN_KHAS_6_Mei_2026_edited.pdf" TargetMode="External"/><Relationship Id="rId3" Type="http://schemas.openxmlformats.org/officeDocument/2006/relationships/hyperlink" Target="https://www.miti.gov.my/miti/resources/Approve%20Permit/Guidelines/GP_AP_MRA_EV_1_JAN_2026.pdf" TargetMode="External"/><Relationship Id="rId4" Type="http://schemas.openxmlformats.org/officeDocument/2006/relationships/hyperlink" Target="https://www.miti.gov.my/miti/resources/Media%20Release/PR_MITI_REAFFIRMS_COMMITMENT_TO_SUSTAINABLE_AUTOMOTIVE_GROWTH_latest.pdf" TargetMode="Externa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xaydungchinhsach.chinhphu.vn/nghi-dinh-so-51-2025-nd-cp-sua-doi-bo-sung-quy-dinh-ve-le-phi-truoc-ba-119250302081211221.htm" TargetMode="External"/><Relationship Id="rId3" Type="http://schemas.openxmlformats.org/officeDocument/2006/relationships/hyperlink" Target="https://congbao.chinhphu.vn/van-ban/nghi-dinh-so-202-2026-nd-cp-469730.htm" TargetMode="External"/><Relationship Id="rId4" Type="http://schemas.openxmlformats.org/officeDocument/2006/relationships/hyperlink" Target="https://datafiles.chinhphu.vn/cpp/files/vbpq/2026/5/111-vbhn-vpqh.pdf" TargetMode="Externa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ustoms.gov.ph/wp-content/uploads/2024/07/20240620-EO-62-FRM.pdf" TargetMode="External"/><Relationship Id="rId3" Type="http://schemas.openxmlformats.org/officeDocument/2006/relationships/hyperlink" Target="https://bir-cdn.bir.gov.ph/BIR/pdf/RR%20No.%201-2025.pdf" TargetMode="Externa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onemotoring.lta.gov.sg/content/onemotoring/home/buying/upfront-vehicle-costs/certificate-of-entitlement--coe-.html" TargetMode="External"/><Relationship Id="rId3" Type="http://schemas.openxmlformats.org/officeDocument/2006/relationships/hyperlink" Target="https://www.lta.gov.sg/content/ltagov/en/newsroom/2025/9/news-releases/extension_of_ves_and_eeai_to_support_vehicle_electrification.html" TargetMode="Externa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ata.mef.gov.kh/datasets/pd_69c8ed36b207380007f1cb0b" TargetMode="External"/><Relationship Id="rId3" Type="http://schemas.openxmlformats.org/officeDocument/2006/relationships/hyperlink" Target="https://www.akp.gov.kh/index.php/post/detail/375567" TargetMode="Externa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kpl.gov.la/en/detail.aspx?id=102079" TargetMode="External"/><Relationship Id="rId3" Type="http://schemas.openxmlformats.org/officeDocument/2006/relationships/hyperlink" Target="https://www.laotradeportal.gov.la/en-gb/search-measure/view/1036" TargetMode="Externa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moi.gov.mm/moi:eng/news/20521" TargetMode="External"/><Relationship Id="rId3" Type="http://schemas.openxmlformats.org/officeDocument/2006/relationships/hyperlink" Target="https://www.moi.gov.mm/moi:eng/news/21101" TargetMode="External"/><Relationship Id="rId4" Type="http://schemas.openxmlformats.org/officeDocument/2006/relationships/hyperlink" Target="https://myanmartradeportal.gov.mm/en/legal/521" TargetMode="Externa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mof.gov.bn/import-and-export-procedures/" TargetMode="External"/><Relationship Id="rId3" Type="http://schemas.openxmlformats.org/officeDocument/2006/relationships/hyperlink" Target="https://www.energy.gov.bn/updated-fuel-petroleum-products-control-measures-to-safeguard-nationalenergy-supply-effective-1-april-2026/" TargetMode="Externa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tip.mci.gov.tl/en-gb/search-measure/view/153" TargetMode="External"/><Relationship Id="rId3" Type="http://schemas.openxmlformats.org/officeDocument/2006/relationships/hyperlink" Target="https://www.tip.mci.gov.tl/en-gb/search-measure/view/1356" TargetMode="Externa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3004596" cy="118872"/>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972800" cy="228600"/>
          </a:xfrm>
          <a:prstGeom prst="rect">
            <a:avLst/>
          </a:prstGeom>
          <a:noFill/>
        </p:spPr>
        <p:txBody>
          <a:bodyPr wrap="square" lIns="0" rIns="0" tIns="0" bIns="0">
            <a:spAutoFit/>
          </a:bodyPr>
          <a:lstStyle/>
          <a:p>
            <a:pPr>
              <a:lnSpc>
                <a:spcPct val="113000"/>
              </a:lnSpc>
              <a:spcAft>
                <a:spcPts val="300"/>
              </a:spcAft>
            </a:pPr>
            <a:r>
              <a:rPr sz="1000" b="1">
                <a:solidFill>
                  <a:srgbClr val="007F82"/>
                </a:solidFill>
                <a:latin typeface="Noto Sans CJK JP"/>
                <a:ea typeface="Noto Sans CJK JP"/>
              </a:rPr>
              <a:t>ASEAN AUTOMOTIVE / RESEARCH NOTE</a:t>
            </a:r>
          </a:p>
        </p:txBody>
      </p:sp>
      <p:sp>
        <p:nvSpPr>
          <p:cNvPr id="4" name="TextBox 3"/>
          <p:cNvSpPr txBox="1"/>
          <p:nvPr/>
        </p:nvSpPr>
        <p:spPr>
          <a:xfrm>
            <a:off x="502920" y="685800"/>
            <a:ext cx="12024360" cy="566928"/>
          </a:xfrm>
          <a:prstGeom prst="rect">
            <a:avLst/>
          </a:prstGeom>
          <a:noFill/>
        </p:spPr>
        <p:txBody>
          <a:bodyPr wrap="square" lIns="0" rIns="0" tIns="0" bIns="0">
            <a:spAutoFit/>
          </a:bodyPr>
          <a:lstStyle/>
          <a:p>
            <a:pPr>
              <a:lnSpc>
                <a:spcPct val="113000"/>
              </a:lnSpc>
              <a:spcAft>
                <a:spcPts val="300"/>
              </a:spcAft>
            </a:pPr>
            <a:r>
              <a:rPr sz="2800" b="1">
                <a:solidFill>
                  <a:srgbClr val="172B4D"/>
                </a:solidFill>
                <a:latin typeface="Noto Sans CJK JP"/>
                <a:ea typeface="Noto Sans CJK JP"/>
              </a:rPr>
              <a:t>東南アジアの自動車制度とOEMへの影響</a:t>
            </a:r>
          </a:p>
        </p:txBody>
      </p:sp>
      <p:sp>
        <p:nvSpPr>
          <p:cNvPr id="5" name="TextBox 4"/>
          <p:cNvSpPr txBox="1"/>
          <p:nvPr/>
        </p:nvSpPr>
        <p:spPr>
          <a:xfrm>
            <a:off x="502920" y="1335024"/>
            <a:ext cx="11978640" cy="438912"/>
          </a:xfrm>
          <a:prstGeom prst="rect">
            <a:avLst/>
          </a:prstGeom>
          <a:noFill/>
        </p:spPr>
        <p:txBody>
          <a:bodyPr wrap="square" lIns="0" rIns="0" tIns="0" bIns="0">
            <a:spAutoFit/>
          </a:bodyPr>
          <a:lstStyle/>
          <a:p>
            <a:pPr>
              <a:lnSpc>
                <a:spcPct val="113000"/>
              </a:lnSpc>
              <a:spcAft>
                <a:spcPts val="300"/>
              </a:spcAft>
            </a:pPr>
            <a:r>
              <a:rPr sz="1600" b="0">
                <a:solidFill>
                  <a:srgbClr val="56677C"/>
                </a:solidFill>
                <a:latin typeface="Noto Sans CJK JP"/>
                <a:ea typeface="Noto Sans CJK JP"/>
              </a:rPr>
              <a:t>11か国を1国1スライドで比較｜現地生産・国産化・輸入条件・税優遇を販売カーブへつなぐ</a:t>
            </a:r>
          </a:p>
        </p:txBody>
      </p:sp>
      <p:sp>
        <p:nvSpPr>
          <p:cNvPr id="6" name="Rectangle 5"/>
          <p:cNvSpPr/>
          <p:nvPr/>
        </p:nvSpPr>
        <p:spPr>
          <a:xfrm>
            <a:off x="502920" y="7114032"/>
            <a:ext cx="11978640" cy="10972"/>
          </a:xfrm>
          <a:prstGeom prst="rect">
            <a:avLst/>
          </a:prstGeom>
          <a:solidFill>
            <a:srgbClr val="D9E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7178040"/>
            <a:ext cx="10972800" cy="109728"/>
          </a:xfrm>
          <a:prstGeom prst="rect">
            <a:avLst/>
          </a:prstGeom>
          <a:noFill/>
        </p:spPr>
        <p:txBody>
          <a:bodyPr wrap="square" lIns="0" rIns="0" tIns="0" bIns="0">
            <a:spAutoFit/>
          </a:bodyPr>
          <a:lstStyle/>
          <a:p>
            <a:pPr>
              <a:lnSpc>
                <a:spcPct val="113000"/>
              </a:lnSpc>
              <a:spcAft>
                <a:spcPts val="300"/>
              </a:spcAft>
            </a:pPr>
            <a:r>
              <a:rPr sz="800" b="0">
                <a:solidFill>
                  <a:srgbClr val="56677C"/>
                </a:solidFill>
                <a:latin typeface="Noto Sans CJK JP"/>
                <a:ea typeface="Noto Sans CJK JP"/>
              </a:rPr>
              <a:t>東南アジア自動車制度｜公開一次情報の確認日：2026-10-06｜影響・矢印は分析仮説</a:t>
            </a:r>
          </a:p>
        </p:txBody>
      </p:sp>
      <p:sp>
        <p:nvSpPr>
          <p:cNvPr id="8" name="TextBox 7"/>
          <p:cNvSpPr txBox="1"/>
          <p:nvPr/>
        </p:nvSpPr>
        <p:spPr>
          <a:xfrm>
            <a:off x="12024360" y="7159752"/>
            <a:ext cx="457200" cy="137160"/>
          </a:xfrm>
          <a:prstGeom prst="rect">
            <a:avLst/>
          </a:prstGeom>
          <a:noFill/>
        </p:spPr>
        <p:txBody>
          <a:bodyPr wrap="square" lIns="0" rIns="0" tIns="0" bIns="0">
            <a:spAutoFit/>
          </a:bodyPr>
          <a:lstStyle/>
          <a:p>
            <a:pPr>
              <a:lnSpc>
                <a:spcPct val="113000"/>
              </a:lnSpc>
              <a:spcAft>
                <a:spcPts val="300"/>
              </a:spcAft>
            </a:pPr>
            <a:r>
              <a:rPr sz="900" b="0">
                <a:solidFill>
                  <a:srgbClr val="56677C"/>
                </a:solidFill>
                <a:latin typeface="Noto Sans CJK JP"/>
                <a:ea typeface="Noto Sans CJK JP"/>
              </a:rPr>
              <a:t>01</a:t>
            </a:r>
          </a:p>
        </p:txBody>
      </p:sp>
      <p:sp>
        <p:nvSpPr>
          <p:cNvPr id="9" name="TextBox 8"/>
          <p:cNvSpPr txBox="1"/>
          <p:nvPr/>
        </p:nvSpPr>
        <p:spPr>
          <a:xfrm>
            <a:off x="640080" y="2011680"/>
            <a:ext cx="11612880" cy="914400"/>
          </a:xfrm>
          <a:prstGeom prst="rect">
            <a:avLst/>
          </a:prstGeom>
          <a:noFill/>
        </p:spPr>
        <p:txBody>
          <a:bodyPr wrap="square" lIns="0" rIns="0" tIns="0" bIns="0">
            <a:spAutoFit/>
          </a:bodyPr>
          <a:lstStyle/>
          <a:p>
            <a:pPr>
              <a:lnSpc>
                <a:spcPct val="113000"/>
              </a:lnSpc>
              <a:spcAft>
                <a:spcPts val="300"/>
              </a:spcAft>
            </a:pPr>
            <a:r>
              <a:rPr sz="3000" b="1">
                <a:solidFill>
                  <a:srgbClr val="172B4D"/>
                </a:solidFill>
                <a:latin typeface="Noto Sans CJK JP"/>
                <a:ea typeface="Noto Sans CJK JP"/>
              </a:rPr>
              <a:t>制度が変えるのは「誰が売れるか」と</a:t>
            </a:r>
          </a:p>
          <a:p>
            <a:pPr>
              <a:lnSpc>
                <a:spcPct val="113000"/>
              </a:lnSpc>
              <a:spcAft>
                <a:spcPts val="300"/>
              </a:spcAft>
            </a:pPr>
            <a:r>
              <a:rPr sz="3000" b="1">
                <a:solidFill>
                  <a:srgbClr val="172B4D"/>
                </a:solidFill>
                <a:latin typeface="Noto Sans CJK JP"/>
                <a:ea typeface="Noto Sans CJK JP"/>
              </a:rPr>
              <a:t>「どのような販売カーブになるか」</a:t>
            </a:r>
          </a:p>
        </p:txBody>
      </p:sp>
      <p:sp>
        <p:nvSpPr>
          <p:cNvPr id="10" name="Rectangle 9"/>
          <p:cNvSpPr/>
          <p:nvPr/>
        </p:nvSpPr>
        <p:spPr>
          <a:xfrm>
            <a:off x="640080" y="3383280"/>
            <a:ext cx="3657600" cy="141732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59" y="3566160"/>
            <a:ext cx="502920" cy="365760"/>
          </a:xfrm>
          <a:prstGeom prst="rect">
            <a:avLst/>
          </a:prstGeom>
          <a:noFill/>
        </p:spPr>
        <p:txBody>
          <a:bodyPr wrap="square" lIns="0" rIns="0" tIns="0" bIns="0">
            <a:spAutoFit/>
          </a:bodyPr>
          <a:lstStyle/>
          <a:p>
            <a:pPr>
              <a:lnSpc>
                <a:spcPct val="113000"/>
              </a:lnSpc>
              <a:spcAft>
                <a:spcPts val="300"/>
              </a:spcAft>
            </a:pPr>
            <a:r>
              <a:rPr sz="2300" b="1">
                <a:solidFill>
                  <a:srgbClr val="007F82"/>
                </a:solidFill>
                <a:latin typeface="Noto Sans CJK JP"/>
                <a:ea typeface="Noto Sans CJK JP"/>
              </a:rPr>
              <a:t>01</a:t>
            </a:r>
          </a:p>
        </p:txBody>
      </p:sp>
      <p:sp>
        <p:nvSpPr>
          <p:cNvPr id="12" name="TextBox 11"/>
          <p:cNvSpPr txBox="1"/>
          <p:nvPr/>
        </p:nvSpPr>
        <p:spPr>
          <a:xfrm>
            <a:off x="1417319" y="3584448"/>
            <a:ext cx="2697480" cy="365760"/>
          </a:xfrm>
          <a:prstGeom prst="rect">
            <a:avLst/>
          </a:prstGeom>
          <a:noFill/>
        </p:spPr>
        <p:txBody>
          <a:bodyPr wrap="square" lIns="0" rIns="0" tIns="0" bIns="0">
            <a:spAutoFit/>
          </a:bodyPr>
          <a:lstStyle/>
          <a:p>
            <a:pPr>
              <a:lnSpc>
                <a:spcPct val="113000"/>
              </a:lnSpc>
              <a:spcAft>
                <a:spcPts val="300"/>
              </a:spcAft>
            </a:pPr>
            <a:r>
              <a:rPr sz="2100" b="1">
                <a:solidFill>
                  <a:srgbClr val="172B4D"/>
                </a:solidFill>
                <a:latin typeface="Noto Sans CJK JP"/>
                <a:ea typeface="Noto Sans CJK JP"/>
              </a:rPr>
              <a:t>参入・供給</a:t>
            </a:r>
          </a:p>
        </p:txBody>
      </p:sp>
      <p:sp>
        <p:nvSpPr>
          <p:cNvPr id="13" name="TextBox 12"/>
          <p:cNvSpPr txBox="1"/>
          <p:nvPr/>
        </p:nvSpPr>
        <p:spPr>
          <a:xfrm>
            <a:off x="822959" y="4160520"/>
            <a:ext cx="3337560" cy="548640"/>
          </a:xfrm>
          <a:prstGeom prst="rect">
            <a:avLst/>
          </a:prstGeom>
          <a:noFill/>
        </p:spPr>
        <p:txBody>
          <a:bodyPr wrap="square" lIns="0" rIns="0" tIns="0" bIns="0">
            <a:spAutoFit/>
          </a:bodyPr>
          <a:lstStyle/>
          <a:p>
            <a:pPr>
              <a:lnSpc>
                <a:spcPct val="113000"/>
              </a:lnSpc>
              <a:spcAft>
                <a:spcPts val="300"/>
              </a:spcAft>
            </a:pPr>
            <a:r>
              <a:rPr sz="1500" b="0">
                <a:solidFill>
                  <a:srgbClr val="56677C"/>
                </a:solidFill>
                <a:latin typeface="Noto Sans CJK JP"/>
                <a:ea typeface="Noto Sans CJK JP"/>
              </a:rPr>
              <a:t>輸入許可／CBU・CKD／生産義務</a:t>
            </a:r>
          </a:p>
        </p:txBody>
      </p:sp>
      <p:sp>
        <p:nvSpPr>
          <p:cNvPr id="14" name="Rectangle 13"/>
          <p:cNvSpPr/>
          <p:nvPr/>
        </p:nvSpPr>
        <p:spPr>
          <a:xfrm>
            <a:off x="4663440" y="3383280"/>
            <a:ext cx="3657600" cy="141732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846320" y="3566160"/>
            <a:ext cx="502920" cy="365760"/>
          </a:xfrm>
          <a:prstGeom prst="rect">
            <a:avLst/>
          </a:prstGeom>
          <a:noFill/>
        </p:spPr>
        <p:txBody>
          <a:bodyPr wrap="square" lIns="0" rIns="0" tIns="0" bIns="0">
            <a:spAutoFit/>
          </a:bodyPr>
          <a:lstStyle/>
          <a:p>
            <a:pPr>
              <a:lnSpc>
                <a:spcPct val="113000"/>
              </a:lnSpc>
              <a:spcAft>
                <a:spcPts val="300"/>
              </a:spcAft>
            </a:pPr>
            <a:r>
              <a:rPr sz="2300" b="1">
                <a:solidFill>
                  <a:srgbClr val="007F82"/>
                </a:solidFill>
                <a:latin typeface="Noto Sans CJK JP"/>
                <a:ea typeface="Noto Sans CJK JP"/>
              </a:rPr>
              <a:t>02</a:t>
            </a:r>
          </a:p>
        </p:txBody>
      </p:sp>
      <p:sp>
        <p:nvSpPr>
          <p:cNvPr id="16" name="TextBox 15"/>
          <p:cNvSpPr txBox="1"/>
          <p:nvPr/>
        </p:nvSpPr>
        <p:spPr>
          <a:xfrm>
            <a:off x="5440679" y="3584448"/>
            <a:ext cx="2697480" cy="365760"/>
          </a:xfrm>
          <a:prstGeom prst="rect">
            <a:avLst/>
          </a:prstGeom>
          <a:noFill/>
        </p:spPr>
        <p:txBody>
          <a:bodyPr wrap="square" lIns="0" rIns="0" tIns="0" bIns="0">
            <a:spAutoFit/>
          </a:bodyPr>
          <a:lstStyle/>
          <a:p>
            <a:pPr>
              <a:lnSpc>
                <a:spcPct val="113000"/>
              </a:lnSpc>
              <a:spcAft>
                <a:spcPts val="300"/>
              </a:spcAft>
            </a:pPr>
            <a:r>
              <a:rPr sz="2100" b="1">
                <a:solidFill>
                  <a:srgbClr val="172B4D"/>
                </a:solidFill>
                <a:latin typeface="Noto Sans CJK JP"/>
                <a:ea typeface="Noto Sans CJK JP"/>
              </a:rPr>
              <a:t>価格・継続</a:t>
            </a:r>
          </a:p>
        </p:txBody>
      </p:sp>
      <p:sp>
        <p:nvSpPr>
          <p:cNvPr id="17" name="TextBox 16"/>
          <p:cNvSpPr txBox="1"/>
          <p:nvPr/>
        </p:nvSpPr>
        <p:spPr>
          <a:xfrm>
            <a:off x="4846320" y="4160520"/>
            <a:ext cx="3337560" cy="548640"/>
          </a:xfrm>
          <a:prstGeom prst="rect">
            <a:avLst/>
          </a:prstGeom>
          <a:noFill/>
        </p:spPr>
        <p:txBody>
          <a:bodyPr wrap="square" lIns="0" rIns="0" tIns="0" bIns="0">
            <a:spAutoFit/>
          </a:bodyPr>
          <a:lstStyle/>
          <a:p>
            <a:pPr>
              <a:lnSpc>
                <a:spcPct val="113000"/>
              </a:lnSpc>
              <a:spcAft>
                <a:spcPts val="300"/>
              </a:spcAft>
            </a:pPr>
            <a:r>
              <a:rPr sz="1500" b="0">
                <a:solidFill>
                  <a:srgbClr val="56677C"/>
                </a:solidFill>
                <a:latin typeface="Noto Sans CJK JP"/>
                <a:ea typeface="Noto Sans CJK JP"/>
              </a:rPr>
              <a:t>関税／登録料／恩典期限／現地調達</a:t>
            </a:r>
          </a:p>
        </p:txBody>
      </p:sp>
      <p:sp>
        <p:nvSpPr>
          <p:cNvPr id="18" name="Rectangle 17"/>
          <p:cNvSpPr/>
          <p:nvPr/>
        </p:nvSpPr>
        <p:spPr>
          <a:xfrm>
            <a:off x="8686800" y="3383280"/>
            <a:ext cx="3657600" cy="141732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869680" y="3566160"/>
            <a:ext cx="502920" cy="365760"/>
          </a:xfrm>
          <a:prstGeom prst="rect">
            <a:avLst/>
          </a:prstGeom>
          <a:noFill/>
        </p:spPr>
        <p:txBody>
          <a:bodyPr wrap="square" lIns="0" rIns="0" tIns="0" bIns="0">
            <a:spAutoFit/>
          </a:bodyPr>
          <a:lstStyle/>
          <a:p>
            <a:pPr>
              <a:lnSpc>
                <a:spcPct val="113000"/>
              </a:lnSpc>
              <a:spcAft>
                <a:spcPts val="300"/>
              </a:spcAft>
            </a:pPr>
            <a:r>
              <a:rPr sz="2300" b="1">
                <a:solidFill>
                  <a:srgbClr val="007F82"/>
                </a:solidFill>
                <a:latin typeface="Noto Sans CJK JP"/>
                <a:ea typeface="Noto Sans CJK JP"/>
              </a:rPr>
              <a:t>03</a:t>
            </a:r>
          </a:p>
        </p:txBody>
      </p:sp>
      <p:sp>
        <p:nvSpPr>
          <p:cNvPr id="20" name="TextBox 19"/>
          <p:cNvSpPr txBox="1"/>
          <p:nvPr/>
        </p:nvSpPr>
        <p:spPr>
          <a:xfrm>
            <a:off x="9464040" y="3584448"/>
            <a:ext cx="2697480" cy="365760"/>
          </a:xfrm>
          <a:prstGeom prst="rect">
            <a:avLst/>
          </a:prstGeom>
          <a:noFill/>
        </p:spPr>
        <p:txBody>
          <a:bodyPr wrap="square" lIns="0" rIns="0" tIns="0" bIns="0">
            <a:spAutoFit/>
          </a:bodyPr>
          <a:lstStyle/>
          <a:p>
            <a:pPr>
              <a:lnSpc>
                <a:spcPct val="113000"/>
              </a:lnSpc>
              <a:spcAft>
                <a:spcPts val="300"/>
              </a:spcAft>
            </a:pPr>
            <a:r>
              <a:rPr sz="2100" b="1">
                <a:solidFill>
                  <a:srgbClr val="172B4D"/>
                </a:solidFill>
                <a:latin typeface="Noto Sans CJK JP"/>
                <a:ea typeface="Noto Sans CJK JP"/>
              </a:rPr>
              <a:t>検証パラメータ</a:t>
            </a:r>
          </a:p>
        </p:txBody>
      </p:sp>
      <p:sp>
        <p:nvSpPr>
          <p:cNvPr id="21" name="TextBox 20"/>
          <p:cNvSpPr txBox="1"/>
          <p:nvPr/>
        </p:nvSpPr>
        <p:spPr>
          <a:xfrm>
            <a:off x="8869680" y="4160520"/>
            <a:ext cx="3337560" cy="548640"/>
          </a:xfrm>
          <a:prstGeom prst="rect">
            <a:avLst/>
          </a:prstGeom>
          <a:noFill/>
        </p:spPr>
        <p:txBody>
          <a:bodyPr wrap="square" lIns="0" rIns="0" tIns="0" bIns="0">
            <a:spAutoFit/>
          </a:bodyPr>
          <a:lstStyle/>
          <a:p>
            <a:pPr>
              <a:lnSpc>
                <a:spcPct val="113000"/>
              </a:lnSpc>
              <a:spcAft>
                <a:spcPts val="300"/>
              </a:spcAft>
            </a:pPr>
            <a:r>
              <a:rPr sz="1500" b="0">
                <a:solidFill>
                  <a:srgbClr val="56677C"/>
                </a:solidFill>
                <a:latin typeface="Noto Sans CJK JP"/>
                <a:ea typeface="Noto Sans CJK JP"/>
              </a:rPr>
              <a:t>κ：浸透速度　λ：減衰速度</a:t>
            </a:r>
          </a:p>
        </p:txBody>
      </p:sp>
      <p:sp>
        <p:nvSpPr>
          <p:cNvPr id="22" name="TextBox 21"/>
          <p:cNvSpPr txBox="1"/>
          <p:nvPr/>
        </p:nvSpPr>
        <p:spPr>
          <a:xfrm>
            <a:off x="640080" y="5257800"/>
            <a:ext cx="11704320" cy="640080"/>
          </a:xfrm>
          <a:prstGeom prst="rect">
            <a:avLst/>
          </a:prstGeom>
          <a:noFill/>
        </p:spPr>
        <p:txBody>
          <a:bodyPr wrap="square" lIns="0" rIns="0" tIns="0" bIns="0">
            <a:spAutoFit/>
          </a:bodyPr>
          <a:lstStyle/>
          <a:p>
            <a:pPr>
              <a:lnSpc>
                <a:spcPct val="113000"/>
              </a:lnSpc>
              <a:spcAft>
                <a:spcPts val="300"/>
              </a:spcAft>
            </a:pPr>
            <a:r>
              <a:rPr sz="1600" b="0">
                <a:solidFill>
                  <a:srgbClr val="56677C"/>
                </a:solidFill>
                <a:latin typeface="Noto Sans CJK JP"/>
                <a:ea typeface="Noto Sans CJK JP"/>
              </a:rPr>
              <a:t>対象：タイ、インドネシア、マレーシア、ベトナム、フィリピン、シンガポール、</a:t>
            </a:r>
          </a:p>
          <a:p>
            <a:pPr>
              <a:lnSpc>
                <a:spcPct val="113000"/>
              </a:lnSpc>
              <a:spcAft>
                <a:spcPts val="300"/>
              </a:spcAft>
            </a:pPr>
            <a:r>
              <a:rPr sz="1600" b="0">
                <a:solidFill>
                  <a:srgbClr val="56677C"/>
                </a:solidFill>
                <a:latin typeface="Noto Sans CJK JP"/>
                <a:ea typeface="Noto Sans CJK JP"/>
              </a:rPr>
              <a:t>カンボジア、ラオス、ミャンマー、ブルネイ、東ティモール</a:t>
            </a:r>
          </a:p>
        </p:txBody>
      </p:sp>
      <p:sp>
        <p:nvSpPr>
          <p:cNvPr id="23" name="TextBox 22"/>
          <p:cNvSpPr txBox="1"/>
          <p:nvPr/>
        </p:nvSpPr>
        <p:spPr>
          <a:xfrm>
            <a:off x="640080" y="6172200"/>
            <a:ext cx="11612880" cy="566928"/>
          </a:xfrm>
          <a:prstGeom prst="rect">
            <a:avLst/>
          </a:prstGeom>
          <a:noFill/>
        </p:spPr>
        <p:txBody>
          <a:bodyPr wrap="square" lIns="0" rIns="0" tIns="0" bIns="0">
            <a:spAutoFit/>
          </a:bodyPr>
          <a:lstStyle/>
          <a:p>
            <a:pPr>
              <a:lnSpc>
                <a:spcPct val="113000"/>
              </a:lnSpc>
              <a:spcAft>
                <a:spcPts val="300"/>
              </a:spcAft>
            </a:pPr>
            <a:r>
              <a:rPr sz="1200" b="0">
                <a:solidFill>
                  <a:srgbClr val="56677C"/>
                </a:solidFill>
                <a:latin typeface="Noto Sans CJK JP"/>
                <a:ea typeface="Noto Sans CJK JP"/>
              </a:rPr>
              <a:t>法令・当局資料を優先。政府発表の原則合意／将来施行／未確認事項を明記。</a:t>
            </a:r>
          </a:p>
          <a:p>
            <a:pPr>
              <a:lnSpc>
                <a:spcPct val="113000"/>
              </a:lnSpc>
              <a:spcAft>
                <a:spcPts val="300"/>
              </a:spcAft>
            </a:pPr>
            <a:r>
              <a:rPr sz="1200" b="0">
                <a:solidFill>
                  <a:srgbClr val="56677C"/>
                </a:solidFill>
                <a:latin typeface="Noto Sans CJK JP"/>
                <a:ea typeface="Noto Sans CJK JP"/>
              </a:rPr>
              <a:t>OEM名は分析対象の例。個社が恩典を取得したことを示すものではない。</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3004596" cy="118872"/>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972800" cy="228600"/>
          </a:xfrm>
          <a:prstGeom prst="rect">
            <a:avLst/>
          </a:prstGeom>
          <a:noFill/>
        </p:spPr>
        <p:txBody>
          <a:bodyPr wrap="square" lIns="0" rIns="0" tIns="0" bIns="0">
            <a:spAutoFit/>
          </a:bodyPr>
          <a:lstStyle/>
          <a:p>
            <a:pPr>
              <a:lnSpc>
                <a:spcPct val="113000"/>
              </a:lnSpc>
              <a:spcAft>
                <a:spcPts val="300"/>
              </a:spcAft>
            </a:pPr>
            <a:r>
              <a:rPr sz="1000" b="1">
                <a:solidFill>
                  <a:srgbClr val="007F82"/>
                </a:solidFill>
                <a:latin typeface="Noto Sans CJK JP"/>
                <a:ea typeface="Noto Sans CJK JP"/>
              </a:rPr>
              <a:t>ANALYTICAL FRAMEWORK</a:t>
            </a:r>
          </a:p>
        </p:txBody>
      </p:sp>
      <p:sp>
        <p:nvSpPr>
          <p:cNvPr id="4" name="TextBox 3"/>
          <p:cNvSpPr txBox="1"/>
          <p:nvPr/>
        </p:nvSpPr>
        <p:spPr>
          <a:xfrm>
            <a:off x="502920" y="685800"/>
            <a:ext cx="12024360" cy="566928"/>
          </a:xfrm>
          <a:prstGeom prst="rect">
            <a:avLst/>
          </a:prstGeom>
          <a:noFill/>
        </p:spPr>
        <p:txBody>
          <a:bodyPr wrap="square" lIns="0" rIns="0" tIns="0" bIns="0">
            <a:spAutoFit/>
          </a:bodyPr>
          <a:lstStyle/>
          <a:p>
            <a:pPr>
              <a:lnSpc>
                <a:spcPct val="113000"/>
              </a:lnSpc>
              <a:spcAft>
                <a:spcPts val="300"/>
              </a:spcAft>
            </a:pPr>
            <a:r>
              <a:rPr sz="2800" b="1">
                <a:solidFill>
                  <a:srgbClr val="172B4D"/>
                </a:solidFill>
                <a:latin typeface="Noto Sans CJK JP"/>
                <a:ea typeface="Noto Sans CJK JP"/>
              </a:rPr>
              <a:t>κ・λを読む前に、価格・供給・発売日を分ける</a:t>
            </a:r>
          </a:p>
        </p:txBody>
      </p:sp>
      <p:sp>
        <p:nvSpPr>
          <p:cNvPr id="5" name="TextBox 4"/>
          <p:cNvSpPr txBox="1"/>
          <p:nvPr/>
        </p:nvSpPr>
        <p:spPr>
          <a:xfrm>
            <a:off x="502920" y="1335024"/>
            <a:ext cx="11978640" cy="438912"/>
          </a:xfrm>
          <a:prstGeom prst="rect">
            <a:avLst/>
          </a:prstGeom>
          <a:noFill/>
        </p:spPr>
        <p:txBody>
          <a:bodyPr wrap="square" lIns="0" rIns="0" tIns="0" bIns="0">
            <a:spAutoFit/>
          </a:bodyPr>
          <a:lstStyle/>
          <a:p>
            <a:pPr>
              <a:lnSpc>
                <a:spcPct val="113000"/>
              </a:lnSpc>
              <a:spcAft>
                <a:spcPts val="300"/>
              </a:spcAft>
            </a:pPr>
            <a:r>
              <a:rPr sz="1600" b="0">
                <a:solidFill>
                  <a:srgbClr val="56677C"/>
                </a:solidFill>
                <a:latin typeface="Noto Sans CJK JP"/>
                <a:ea typeface="Noto Sans CJK JP"/>
              </a:rPr>
              <a:t>κ＝浸透速度、λ＝減衰速度。政策の変更をすべてκ・λの変化に押し込まない。</a:t>
            </a:r>
          </a:p>
        </p:txBody>
      </p:sp>
      <p:sp>
        <p:nvSpPr>
          <p:cNvPr id="6" name="Rectangle 5"/>
          <p:cNvSpPr/>
          <p:nvPr/>
        </p:nvSpPr>
        <p:spPr>
          <a:xfrm>
            <a:off x="502920" y="7114032"/>
            <a:ext cx="11978640" cy="10972"/>
          </a:xfrm>
          <a:prstGeom prst="rect">
            <a:avLst/>
          </a:prstGeom>
          <a:solidFill>
            <a:srgbClr val="D9E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7178040"/>
            <a:ext cx="10972800" cy="109728"/>
          </a:xfrm>
          <a:prstGeom prst="rect">
            <a:avLst/>
          </a:prstGeom>
          <a:noFill/>
        </p:spPr>
        <p:txBody>
          <a:bodyPr wrap="square" lIns="0" rIns="0" tIns="0" bIns="0">
            <a:spAutoFit/>
          </a:bodyPr>
          <a:lstStyle/>
          <a:p>
            <a:pPr>
              <a:lnSpc>
                <a:spcPct val="113000"/>
              </a:lnSpc>
              <a:spcAft>
                <a:spcPts val="300"/>
              </a:spcAft>
            </a:pPr>
            <a:r>
              <a:rPr sz="800" b="0">
                <a:solidFill>
                  <a:srgbClr val="56677C"/>
                </a:solidFill>
                <a:latin typeface="Noto Sans CJK JP"/>
                <a:ea typeface="Noto Sans CJK JP"/>
              </a:rPr>
              <a:t>東南アジア自動車制度｜公開一次情報の確認日：2026-10-06｜影響・矢印は分析仮説</a:t>
            </a:r>
          </a:p>
        </p:txBody>
      </p:sp>
      <p:sp>
        <p:nvSpPr>
          <p:cNvPr id="8" name="TextBox 7"/>
          <p:cNvSpPr txBox="1"/>
          <p:nvPr/>
        </p:nvSpPr>
        <p:spPr>
          <a:xfrm>
            <a:off x="12024360" y="7159752"/>
            <a:ext cx="457200" cy="137160"/>
          </a:xfrm>
          <a:prstGeom prst="rect">
            <a:avLst/>
          </a:prstGeom>
          <a:noFill/>
        </p:spPr>
        <p:txBody>
          <a:bodyPr wrap="square" lIns="0" rIns="0" tIns="0" bIns="0">
            <a:spAutoFit/>
          </a:bodyPr>
          <a:lstStyle/>
          <a:p>
            <a:pPr>
              <a:lnSpc>
                <a:spcPct val="113000"/>
              </a:lnSpc>
              <a:spcAft>
                <a:spcPts val="300"/>
              </a:spcAft>
            </a:pPr>
            <a:r>
              <a:rPr sz="900" b="0">
                <a:solidFill>
                  <a:srgbClr val="56677C"/>
                </a:solidFill>
                <a:latin typeface="Noto Sans CJK JP"/>
                <a:ea typeface="Noto Sans CJK JP"/>
              </a:rPr>
              <a:t>02</a:t>
            </a:r>
          </a:p>
        </p:txBody>
      </p:sp>
      <p:sp>
        <p:nvSpPr>
          <p:cNvPr id="9" name="TextBox 8"/>
          <p:cNvSpPr txBox="1"/>
          <p:nvPr/>
        </p:nvSpPr>
        <p:spPr>
          <a:xfrm>
            <a:off x="640080" y="1956816"/>
            <a:ext cx="7315200" cy="548640"/>
          </a:xfrm>
          <a:prstGeom prst="rect">
            <a:avLst/>
          </a:prstGeom>
          <a:noFill/>
        </p:spPr>
        <p:txBody>
          <a:bodyPr wrap="square" lIns="0" rIns="0" tIns="0" bIns="0">
            <a:spAutoFit/>
          </a:bodyPr>
          <a:lstStyle/>
          <a:p>
            <a:pPr>
              <a:lnSpc>
                <a:spcPct val="113000"/>
              </a:lnSpc>
              <a:spcAft>
                <a:spcPts val="300"/>
              </a:spcAft>
            </a:pPr>
            <a:r>
              <a:rPr sz="2400" b="1">
                <a:solidFill>
                  <a:srgbClr val="172B4D"/>
                </a:solidFill>
                <a:latin typeface="Noto Sans CJK JP"/>
                <a:ea typeface="Noto Sans CJK JP"/>
              </a:rPr>
              <a:t>基本形（推定時の提案）　s(t) = A (1 − e⁻κᵗ) e⁻λᵗ</a:t>
            </a:r>
          </a:p>
        </p:txBody>
      </p:sp>
      <p:sp>
        <p:nvSpPr>
          <p:cNvPr id="10" name="TextBox 9"/>
          <p:cNvSpPr txBox="1"/>
          <p:nvPr/>
        </p:nvSpPr>
        <p:spPr>
          <a:xfrm>
            <a:off x="640080" y="2596896"/>
            <a:ext cx="11704320" cy="640080"/>
          </a:xfrm>
          <a:prstGeom prst="rect">
            <a:avLst/>
          </a:prstGeom>
          <a:noFill/>
        </p:spPr>
        <p:txBody>
          <a:bodyPr wrap="square" lIns="0" rIns="0" tIns="0" bIns="0">
            <a:spAutoFit/>
          </a:bodyPr>
          <a:lstStyle/>
          <a:p>
            <a:pPr>
              <a:lnSpc>
                <a:spcPct val="113000"/>
              </a:lnSpc>
              <a:spcAft>
                <a:spcPts val="300"/>
              </a:spcAft>
            </a:pPr>
            <a:r>
              <a:rPr sz="1500" b="0">
                <a:solidFill>
                  <a:srgbClr val="56677C"/>
                </a:solidFill>
                <a:latin typeface="Noto Sans CJK JP"/>
                <a:ea typeface="Noto Sans CJK JP"/>
              </a:rPr>
              <a:t>s：国別・モデル別の月次販売シェア　t：発売後の月数</a:t>
            </a:r>
          </a:p>
          <a:p>
            <a:pPr>
              <a:lnSpc>
                <a:spcPct val="113000"/>
              </a:lnSpc>
              <a:spcAft>
                <a:spcPts val="300"/>
              </a:spcAft>
            </a:pPr>
            <a:r>
              <a:rPr sz="1500" b="0">
                <a:solidFill>
                  <a:srgbClr val="56677C"/>
                </a:solidFill>
                <a:latin typeface="Noto Sans CJK JP"/>
                <a:ea typeface="Noto Sans CJK JP"/>
              </a:rPr>
              <a:t>A：販売規模　κ・λ：月⁻¹。政策終了は暦月のイベントで、モデル年齢tと別。</a:t>
            </a:r>
          </a:p>
        </p:txBody>
      </p:sp>
      <p:sp>
        <p:nvSpPr>
          <p:cNvPr id="11" name="Rectangle 10"/>
          <p:cNvSpPr/>
          <p:nvPr/>
        </p:nvSpPr>
        <p:spPr>
          <a:xfrm>
            <a:off x="640080" y="3401568"/>
            <a:ext cx="11704320" cy="539496"/>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3483864"/>
            <a:ext cx="2743200" cy="365760"/>
          </a:xfrm>
          <a:prstGeom prst="rect">
            <a:avLst/>
          </a:prstGeom>
          <a:noFill/>
        </p:spPr>
        <p:txBody>
          <a:bodyPr wrap="square" lIns="0" rIns="0" tIns="0" bIns="0">
            <a:spAutoFit/>
          </a:bodyPr>
          <a:lstStyle/>
          <a:p>
            <a:pPr>
              <a:lnSpc>
                <a:spcPct val="113000"/>
              </a:lnSpc>
              <a:spcAft>
                <a:spcPts val="300"/>
              </a:spcAft>
            </a:pPr>
            <a:r>
              <a:rPr sz="1600" b="1">
                <a:solidFill>
                  <a:srgbClr val="007F82"/>
                </a:solidFill>
                <a:latin typeface="Noto Sans CJK JP"/>
                <a:ea typeface="Noto Sans CJK JP"/>
              </a:rPr>
              <a:t>価格優遇・減税</a:t>
            </a:r>
          </a:p>
        </p:txBody>
      </p:sp>
      <p:sp>
        <p:nvSpPr>
          <p:cNvPr id="13" name="TextBox 12"/>
          <p:cNvSpPr txBox="1"/>
          <p:nvPr/>
        </p:nvSpPr>
        <p:spPr>
          <a:xfrm>
            <a:off x="3566160" y="3483864"/>
            <a:ext cx="3246120" cy="365760"/>
          </a:xfrm>
          <a:prstGeom prst="rect">
            <a:avLst/>
          </a:prstGeom>
          <a:noFill/>
        </p:spPr>
        <p:txBody>
          <a:bodyPr wrap="square" lIns="0" rIns="0" tIns="0" bIns="0">
            <a:spAutoFit/>
          </a:bodyPr>
          <a:lstStyle/>
          <a:p>
            <a:pPr>
              <a:lnSpc>
                <a:spcPct val="113000"/>
              </a:lnSpc>
              <a:spcAft>
                <a:spcPts val="300"/>
              </a:spcAft>
            </a:pPr>
            <a:r>
              <a:rPr sz="1500" b="0">
                <a:solidFill>
                  <a:srgbClr val="172B4D"/>
                </a:solidFill>
                <a:latin typeface="Noto Sans CJK JP"/>
                <a:ea typeface="Noto Sans CJK JP"/>
              </a:rPr>
              <a:t>購入総額が下がる</a:t>
            </a:r>
          </a:p>
        </p:txBody>
      </p:sp>
      <p:sp>
        <p:nvSpPr>
          <p:cNvPr id="14" name="TextBox 13"/>
          <p:cNvSpPr txBox="1"/>
          <p:nvPr/>
        </p:nvSpPr>
        <p:spPr>
          <a:xfrm>
            <a:off x="7040880" y="3483864"/>
            <a:ext cx="5120640" cy="393192"/>
          </a:xfrm>
          <a:prstGeom prst="rect">
            <a:avLst/>
          </a:prstGeom>
          <a:noFill/>
        </p:spPr>
        <p:txBody>
          <a:bodyPr wrap="square" lIns="0" rIns="0" tIns="0" bIns="0">
            <a:spAutoFit/>
          </a:bodyPr>
          <a:lstStyle/>
          <a:p>
            <a:pPr>
              <a:lnSpc>
                <a:spcPct val="113000"/>
              </a:lnSpc>
              <a:spcAft>
                <a:spcPts val="300"/>
              </a:spcAft>
            </a:pPr>
            <a:r>
              <a:rPr sz="1480" b="0">
                <a:solidFill>
                  <a:srgbClr val="172B4D"/>
                </a:solidFill>
                <a:latin typeface="Noto Sans CJK JP"/>
                <a:ea typeface="Noto Sans CJK JP"/>
              </a:rPr>
              <a:t>A↑が基本。立ち上がりが速まるならκ↑</a:t>
            </a:r>
          </a:p>
        </p:txBody>
      </p:sp>
      <p:sp>
        <p:nvSpPr>
          <p:cNvPr id="15" name="Rectangle 14"/>
          <p:cNvSpPr/>
          <p:nvPr/>
        </p:nvSpPr>
        <p:spPr>
          <a:xfrm>
            <a:off x="640080" y="3995928"/>
            <a:ext cx="11704320" cy="5394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4672" y="4078224"/>
            <a:ext cx="2743200" cy="365760"/>
          </a:xfrm>
          <a:prstGeom prst="rect">
            <a:avLst/>
          </a:prstGeom>
          <a:noFill/>
        </p:spPr>
        <p:txBody>
          <a:bodyPr wrap="square" lIns="0" rIns="0" tIns="0" bIns="0">
            <a:spAutoFit/>
          </a:bodyPr>
          <a:lstStyle/>
          <a:p>
            <a:pPr>
              <a:lnSpc>
                <a:spcPct val="113000"/>
              </a:lnSpc>
              <a:spcAft>
                <a:spcPts val="300"/>
              </a:spcAft>
            </a:pPr>
            <a:r>
              <a:rPr sz="1600" b="1">
                <a:solidFill>
                  <a:srgbClr val="007F82"/>
                </a:solidFill>
                <a:latin typeface="Noto Sans CJK JP"/>
                <a:ea typeface="Noto Sans CJK JP"/>
              </a:rPr>
              <a:t>輸入許可・工場稼働条件</a:t>
            </a:r>
          </a:p>
        </p:txBody>
      </p:sp>
      <p:sp>
        <p:nvSpPr>
          <p:cNvPr id="17" name="TextBox 16"/>
          <p:cNvSpPr txBox="1"/>
          <p:nvPr/>
        </p:nvSpPr>
        <p:spPr>
          <a:xfrm>
            <a:off x="3566160" y="4078224"/>
            <a:ext cx="3246120" cy="365760"/>
          </a:xfrm>
          <a:prstGeom prst="rect">
            <a:avLst/>
          </a:prstGeom>
          <a:noFill/>
        </p:spPr>
        <p:txBody>
          <a:bodyPr wrap="square" lIns="0" rIns="0" tIns="0" bIns="0">
            <a:spAutoFit/>
          </a:bodyPr>
          <a:lstStyle/>
          <a:p>
            <a:pPr>
              <a:lnSpc>
                <a:spcPct val="113000"/>
              </a:lnSpc>
              <a:spcAft>
                <a:spcPts val="300"/>
              </a:spcAft>
            </a:pPr>
            <a:r>
              <a:rPr sz="1500" b="0">
                <a:solidFill>
                  <a:srgbClr val="172B4D"/>
                </a:solidFill>
                <a:latin typeface="Noto Sans CJK JP"/>
                <a:ea typeface="Noto Sans CJK JP"/>
              </a:rPr>
              <a:t>発売遅延／納車待ち／供給断</a:t>
            </a:r>
          </a:p>
        </p:txBody>
      </p:sp>
      <p:sp>
        <p:nvSpPr>
          <p:cNvPr id="18" name="TextBox 17"/>
          <p:cNvSpPr txBox="1"/>
          <p:nvPr/>
        </p:nvSpPr>
        <p:spPr>
          <a:xfrm>
            <a:off x="7040880" y="4078224"/>
            <a:ext cx="5120640" cy="393192"/>
          </a:xfrm>
          <a:prstGeom prst="rect">
            <a:avLst/>
          </a:prstGeom>
          <a:noFill/>
        </p:spPr>
        <p:txBody>
          <a:bodyPr wrap="square" lIns="0" rIns="0" tIns="0" bIns="0">
            <a:spAutoFit/>
          </a:bodyPr>
          <a:lstStyle/>
          <a:p>
            <a:pPr>
              <a:lnSpc>
                <a:spcPct val="113000"/>
              </a:lnSpc>
              <a:spcAft>
                <a:spcPts val="300"/>
              </a:spcAft>
            </a:pPr>
            <a:r>
              <a:rPr sz="1480" b="0">
                <a:solidFill>
                  <a:srgbClr val="172B4D"/>
                </a:solidFill>
                <a:latin typeface="Noto Sans CJK JP"/>
                <a:ea typeface="Noto Sans CJK JP"/>
              </a:rPr>
              <a:t>発売日・供給変数が基本。κ↓とは限らない</a:t>
            </a:r>
          </a:p>
        </p:txBody>
      </p:sp>
      <p:sp>
        <p:nvSpPr>
          <p:cNvPr id="19" name="Rectangle 18"/>
          <p:cNvSpPr/>
          <p:nvPr/>
        </p:nvSpPr>
        <p:spPr>
          <a:xfrm>
            <a:off x="640080" y="4590288"/>
            <a:ext cx="11704320" cy="539496"/>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672" y="4672584"/>
            <a:ext cx="2743200" cy="365760"/>
          </a:xfrm>
          <a:prstGeom prst="rect">
            <a:avLst/>
          </a:prstGeom>
          <a:noFill/>
        </p:spPr>
        <p:txBody>
          <a:bodyPr wrap="square" lIns="0" rIns="0" tIns="0" bIns="0">
            <a:spAutoFit/>
          </a:bodyPr>
          <a:lstStyle/>
          <a:p>
            <a:pPr>
              <a:lnSpc>
                <a:spcPct val="113000"/>
              </a:lnSpc>
              <a:spcAft>
                <a:spcPts val="300"/>
              </a:spcAft>
            </a:pPr>
            <a:r>
              <a:rPr sz="1600" b="1">
                <a:solidFill>
                  <a:srgbClr val="007F82"/>
                </a:solidFill>
                <a:latin typeface="Noto Sans CJK JP"/>
                <a:ea typeface="Noto Sans CJK JP"/>
              </a:rPr>
              <a:t>優遇期限・登録期限</a:t>
            </a:r>
          </a:p>
        </p:txBody>
      </p:sp>
      <p:sp>
        <p:nvSpPr>
          <p:cNvPr id="21" name="TextBox 20"/>
          <p:cNvSpPr txBox="1"/>
          <p:nvPr/>
        </p:nvSpPr>
        <p:spPr>
          <a:xfrm>
            <a:off x="3566160" y="4672584"/>
            <a:ext cx="3246120" cy="365760"/>
          </a:xfrm>
          <a:prstGeom prst="rect">
            <a:avLst/>
          </a:prstGeom>
          <a:noFill/>
        </p:spPr>
        <p:txBody>
          <a:bodyPr wrap="square" lIns="0" rIns="0" tIns="0" bIns="0">
            <a:spAutoFit/>
          </a:bodyPr>
          <a:lstStyle/>
          <a:p>
            <a:pPr>
              <a:lnSpc>
                <a:spcPct val="113000"/>
              </a:lnSpc>
              <a:spcAft>
                <a:spcPts val="300"/>
              </a:spcAft>
            </a:pPr>
            <a:r>
              <a:rPr sz="1500" b="0">
                <a:solidFill>
                  <a:srgbClr val="172B4D"/>
                </a:solidFill>
                <a:latin typeface="Noto Sans CJK JP"/>
                <a:ea typeface="Noto Sans CJK JP"/>
              </a:rPr>
              <a:t>駆け込み／反動減</a:t>
            </a:r>
          </a:p>
        </p:txBody>
      </p:sp>
      <p:sp>
        <p:nvSpPr>
          <p:cNvPr id="22" name="TextBox 21"/>
          <p:cNvSpPr txBox="1"/>
          <p:nvPr/>
        </p:nvSpPr>
        <p:spPr>
          <a:xfrm>
            <a:off x="7040880" y="4672584"/>
            <a:ext cx="5120640" cy="393192"/>
          </a:xfrm>
          <a:prstGeom prst="rect">
            <a:avLst/>
          </a:prstGeom>
          <a:noFill/>
        </p:spPr>
        <p:txBody>
          <a:bodyPr wrap="square" lIns="0" rIns="0" tIns="0" bIns="0">
            <a:spAutoFit/>
          </a:bodyPr>
          <a:lstStyle/>
          <a:p>
            <a:pPr>
              <a:lnSpc>
                <a:spcPct val="113000"/>
              </a:lnSpc>
              <a:spcAft>
                <a:spcPts val="300"/>
              </a:spcAft>
            </a:pPr>
            <a:r>
              <a:rPr sz="1480" b="0">
                <a:solidFill>
                  <a:srgbClr val="172B4D"/>
                </a:solidFill>
                <a:latin typeface="Noto Sans CJK JP"/>
                <a:ea typeface="Noto Sans CJK JP"/>
              </a:rPr>
              <a:t>政策イベント。無調整だとκ・λが過大になり得る</a:t>
            </a:r>
          </a:p>
        </p:txBody>
      </p:sp>
      <p:sp>
        <p:nvSpPr>
          <p:cNvPr id="23" name="Rectangle 22"/>
          <p:cNvSpPr/>
          <p:nvPr/>
        </p:nvSpPr>
        <p:spPr>
          <a:xfrm>
            <a:off x="640080" y="5184648"/>
            <a:ext cx="11704320" cy="5394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4672" y="5266944"/>
            <a:ext cx="2743200" cy="365760"/>
          </a:xfrm>
          <a:prstGeom prst="rect">
            <a:avLst/>
          </a:prstGeom>
          <a:noFill/>
        </p:spPr>
        <p:txBody>
          <a:bodyPr wrap="square" lIns="0" rIns="0" tIns="0" bIns="0">
            <a:spAutoFit/>
          </a:bodyPr>
          <a:lstStyle/>
          <a:p>
            <a:pPr>
              <a:lnSpc>
                <a:spcPct val="113000"/>
              </a:lnSpc>
              <a:spcAft>
                <a:spcPts val="300"/>
              </a:spcAft>
            </a:pPr>
            <a:r>
              <a:rPr sz="1600" b="1">
                <a:solidFill>
                  <a:srgbClr val="007F82"/>
                </a:solidFill>
                <a:latin typeface="Noto Sans CJK JP"/>
                <a:ea typeface="Noto Sans CJK JP"/>
              </a:rPr>
              <a:t>現地化・サービス網</a:t>
            </a:r>
          </a:p>
        </p:txBody>
      </p:sp>
      <p:sp>
        <p:nvSpPr>
          <p:cNvPr id="25" name="TextBox 24"/>
          <p:cNvSpPr txBox="1"/>
          <p:nvPr/>
        </p:nvSpPr>
        <p:spPr>
          <a:xfrm>
            <a:off x="3566160" y="5266944"/>
            <a:ext cx="3246120" cy="365760"/>
          </a:xfrm>
          <a:prstGeom prst="rect">
            <a:avLst/>
          </a:prstGeom>
          <a:noFill/>
        </p:spPr>
        <p:txBody>
          <a:bodyPr wrap="square" lIns="0" rIns="0" tIns="0" bIns="0">
            <a:spAutoFit/>
          </a:bodyPr>
          <a:lstStyle/>
          <a:p>
            <a:pPr>
              <a:lnSpc>
                <a:spcPct val="113000"/>
              </a:lnSpc>
              <a:spcAft>
                <a:spcPts val="300"/>
              </a:spcAft>
            </a:pPr>
            <a:r>
              <a:rPr sz="1500" b="0">
                <a:solidFill>
                  <a:srgbClr val="172B4D"/>
                </a:solidFill>
                <a:latin typeface="Noto Sans CJK JP"/>
                <a:ea typeface="Noto Sans CJK JP"/>
              </a:rPr>
              <a:t>価格・補修・供給が安定</a:t>
            </a:r>
          </a:p>
        </p:txBody>
      </p:sp>
      <p:sp>
        <p:nvSpPr>
          <p:cNvPr id="26" name="TextBox 25"/>
          <p:cNvSpPr txBox="1"/>
          <p:nvPr/>
        </p:nvSpPr>
        <p:spPr>
          <a:xfrm>
            <a:off x="7040880" y="5266944"/>
            <a:ext cx="5120640" cy="393192"/>
          </a:xfrm>
          <a:prstGeom prst="rect">
            <a:avLst/>
          </a:prstGeom>
          <a:noFill/>
        </p:spPr>
        <p:txBody>
          <a:bodyPr wrap="square" lIns="0" rIns="0" tIns="0" bIns="0">
            <a:spAutoFit/>
          </a:bodyPr>
          <a:lstStyle/>
          <a:p>
            <a:pPr>
              <a:lnSpc>
                <a:spcPct val="113000"/>
              </a:lnSpc>
              <a:spcAft>
                <a:spcPts val="300"/>
              </a:spcAft>
            </a:pPr>
            <a:r>
              <a:rPr sz="1480" b="0">
                <a:solidFill>
                  <a:srgbClr val="172B4D"/>
                </a:solidFill>
                <a:latin typeface="Noto Sans CJK JP"/>
                <a:ea typeface="Noto Sans CJK JP"/>
              </a:rPr>
              <a:t>販売が持続すればλ↓。ただし品質・競争次第</a:t>
            </a:r>
          </a:p>
        </p:txBody>
      </p:sp>
      <p:sp>
        <p:nvSpPr>
          <p:cNvPr id="27" name="TextBox 26"/>
          <p:cNvSpPr txBox="1"/>
          <p:nvPr/>
        </p:nvSpPr>
        <p:spPr>
          <a:xfrm>
            <a:off x="640080" y="6016752"/>
            <a:ext cx="11704320" cy="640080"/>
          </a:xfrm>
          <a:prstGeom prst="rect">
            <a:avLst/>
          </a:prstGeom>
          <a:noFill/>
        </p:spPr>
        <p:txBody>
          <a:bodyPr wrap="square" lIns="0" rIns="0" tIns="0" bIns="0">
            <a:spAutoFit/>
          </a:bodyPr>
          <a:lstStyle/>
          <a:p>
            <a:pPr>
              <a:lnSpc>
                <a:spcPct val="113000"/>
              </a:lnSpc>
              <a:spcAft>
                <a:spcPts val="300"/>
              </a:spcAft>
            </a:pPr>
            <a:r>
              <a:rPr sz="1700" b="1">
                <a:solidFill>
                  <a:srgbClr val="172B4D"/>
                </a:solidFill>
                <a:latin typeface="Noto Sans CJK JP"/>
                <a:ea typeface="Noto Sans CJK JP"/>
              </a:rPr>
              <a:t>同じ制度でも、国籍より「BEV/HEV」「輸入/現地組立」「優遇参加/非参加」で反応が違う。</a:t>
            </a:r>
          </a:p>
          <a:p>
            <a:pPr>
              <a:lnSpc>
                <a:spcPct val="113000"/>
              </a:lnSpc>
              <a:spcAft>
                <a:spcPts val="300"/>
              </a:spcAft>
            </a:pPr>
            <a:r>
              <a:rPr sz="1700" b="1">
                <a:solidFill>
                  <a:srgbClr val="172B4D"/>
                </a:solidFill>
                <a:latin typeface="Noto Sans CJK JP"/>
                <a:ea typeface="Noto Sans CJK JP"/>
              </a:rPr>
              <a:t>発売前の障壁はまず投入時期へ、発売後の販売持続はλへ、という順番で切り分ける。</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3004596" cy="118872"/>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972800" cy="228600"/>
          </a:xfrm>
          <a:prstGeom prst="rect">
            <a:avLst/>
          </a:prstGeom>
          <a:noFill/>
        </p:spPr>
        <p:txBody>
          <a:bodyPr wrap="square" lIns="0" rIns="0" tIns="0" bIns="0">
            <a:spAutoFit/>
          </a:bodyPr>
          <a:lstStyle/>
          <a:p>
            <a:pPr>
              <a:lnSpc>
                <a:spcPct val="113000"/>
              </a:lnSpc>
              <a:spcAft>
                <a:spcPts val="300"/>
              </a:spcAft>
            </a:pPr>
            <a:r>
              <a:rPr sz="1000" b="1">
                <a:solidFill>
                  <a:srgbClr val="007F82"/>
                </a:solidFill>
                <a:latin typeface="Noto Sans CJK JP"/>
                <a:ea typeface="Noto Sans CJK JP"/>
              </a:rPr>
              <a:t>CROSS-BORDER CONDITIONS</a:t>
            </a:r>
          </a:p>
        </p:txBody>
      </p:sp>
      <p:sp>
        <p:nvSpPr>
          <p:cNvPr id="4" name="TextBox 3"/>
          <p:cNvSpPr txBox="1"/>
          <p:nvPr/>
        </p:nvSpPr>
        <p:spPr>
          <a:xfrm>
            <a:off x="502920" y="685800"/>
            <a:ext cx="12024360" cy="566928"/>
          </a:xfrm>
          <a:prstGeom prst="rect">
            <a:avLst/>
          </a:prstGeom>
          <a:noFill/>
        </p:spPr>
        <p:txBody>
          <a:bodyPr wrap="square" lIns="0" rIns="0" tIns="0" bIns="0">
            <a:spAutoFit/>
          </a:bodyPr>
          <a:lstStyle/>
          <a:p>
            <a:pPr>
              <a:lnSpc>
                <a:spcPct val="113000"/>
              </a:lnSpc>
              <a:spcAft>
                <a:spcPts val="300"/>
              </a:spcAft>
            </a:pPr>
            <a:r>
              <a:rPr sz="2800" b="1">
                <a:solidFill>
                  <a:srgbClr val="172B4D"/>
                </a:solidFill>
                <a:latin typeface="Noto Sans CJK JP"/>
                <a:ea typeface="Noto Sans CJK JP"/>
              </a:rPr>
              <a:t>域内共通：ブランド国籍と、関税上の原産国は異なる</a:t>
            </a:r>
          </a:p>
        </p:txBody>
      </p:sp>
      <p:sp>
        <p:nvSpPr>
          <p:cNvPr id="5" name="TextBox 4"/>
          <p:cNvSpPr txBox="1"/>
          <p:nvPr/>
        </p:nvSpPr>
        <p:spPr>
          <a:xfrm>
            <a:off x="502920" y="1335024"/>
            <a:ext cx="11978640" cy="438912"/>
          </a:xfrm>
          <a:prstGeom prst="rect">
            <a:avLst/>
          </a:prstGeom>
          <a:noFill/>
        </p:spPr>
        <p:txBody>
          <a:bodyPr wrap="square" lIns="0" rIns="0" tIns="0" bIns="0">
            <a:spAutoFit/>
          </a:bodyPr>
          <a:lstStyle/>
          <a:p>
            <a:pPr>
              <a:lnSpc>
                <a:spcPct val="113000"/>
              </a:lnSpc>
              <a:spcAft>
                <a:spcPts val="300"/>
              </a:spcAft>
            </a:pPr>
            <a:r>
              <a:rPr sz="1600" b="0">
                <a:solidFill>
                  <a:srgbClr val="56677C"/>
                </a:solidFill>
                <a:latin typeface="Noto Sans CJK JP"/>
                <a:ea typeface="Noto Sans CJK JP"/>
              </a:rPr>
              <a:t>「中国系OEMだから中国原産」「タイで組み立てれば自動的に関税0％」とは判断しない。</a:t>
            </a:r>
          </a:p>
        </p:txBody>
      </p:sp>
      <p:sp>
        <p:nvSpPr>
          <p:cNvPr id="6" name="Rectangle 5"/>
          <p:cNvSpPr/>
          <p:nvPr/>
        </p:nvSpPr>
        <p:spPr>
          <a:xfrm>
            <a:off x="502920" y="7114032"/>
            <a:ext cx="11978640" cy="10972"/>
          </a:xfrm>
          <a:prstGeom prst="rect">
            <a:avLst/>
          </a:prstGeom>
          <a:solidFill>
            <a:srgbClr val="D9E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7178040"/>
            <a:ext cx="10972800" cy="109728"/>
          </a:xfrm>
          <a:prstGeom prst="rect">
            <a:avLst/>
          </a:prstGeom>
          <a:noFill/>
        </p:spPr>
        <p:txBody>
          <a:bodyPr wrap="square" lIns="0" rIns="0" tIns="0" bIns="0">
            <a:spAutoFit/>
          </a:bodyPr>
          <a:lstStyle/>
          <a:p>
            <a:pPr>
              <a:lnSpc>
                <a:spcPct val="113000"/>
              </a:lnSpc>
              <a:spcAft>
                <a:spcPts val="300"/>
              </a:spcAft>
            </a:pPr>
            <a:r>
              <a:rPr sz="800" b="0">
                <a:solidFill>
                  <a:srgbClr val="56677C"/>
                </a:solidFill>
                <a:latin typeface="Noto Sans CJK JP"/>
                <a:ea typeface="Noto Sans CJK JP"/>
              </a:rPr>
              <a:t>東南アジア自動車制度｜公開一次情報の確認日：2026-10-06｜影響・矢印は分析仮説</a:t>
            </a:r>
          </a:p>
        </p:txBody>
      </p:sp>
      <p:sp>
        <p:nvSpPr>
          <p:cNvPr id="8" name="TextBox 7"/>
          <p:cNvSpPr txBox="1"/>
          <p:nvPr/>
        </p:nvSpPr>
        <p:spPr>
          <a:xfrm>
            <a:off x="12024360" y="7159752"/>
            <a:ext cx="457200" cy="137160"/>
          </a:xfrm>
          <a:prstGeom prst="rect">
            <a:avLst/>
          </a:prstGeom>
          <a:noFill/>
        </p:spPr>
        <p:txBody>
          <a:bodyPr wrap="square" lIns="0" rIns="0" tIns="0" bIns="0">
            <a:spAutoFit/>
          </a:bodyPr>
          <a:lstStyle/>
          <a:p>
            <a:pPr>
              <a:lnSpc>
                <a:spcPct val="113000"/>
              </a:lnSpc>
              <a:spcAft>
                <a:spcPts val="300"/>
              </a:spcAft>
            </a:pPr>
            <a:r>
              <a:rPr sz="900" b="0">
                <a:solidFill>
                  <a:srgbClr val="56677C"/>
                </a:solidFill>
                <a:latin typeface="Noto Sans CJK JP"/>
                <a:ea typeface="Noto Sans CJK JP"/>
              </a:rPr>
              <a:t>03</a:t>
            </a:r>
          </a:p>
        </p:txBody>
      </p:sp>
      <p:sp>
        <p:nvSpPr>
          <p:cNvPr id="9" name="Rectangle 8"/>
          <p:cNvSpPr/>
          <p:nvPr/>
        </p:nvSpPr>
        <p:spPr>
          <a:xfrm>
            <a:off x="640080" y="1965960"/>
            <a:ext cx="11704320" cy="978408"/>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0392" y="2084831"/>
            <a:ext cx="3657600" cy="548640"/>
          </a:xfrm>
          <a:prstGeom prst="rect">
            <a:avLst/>
          </a:prstGeom>
          <a:noFill/>
        </p:spPr>
        <p:txBody>
          <a:bodyPr wrap="square" lIns="0" rIns="0" tIns="0" bIns="0">
            <a:spAutoFit/>
          </a:bodyPr>
          <a:lstStyle/>
          <a:p>
            <a:pPr>
              <a:lnSpc>
                <a:spcPct val="113000"/>
              </a:lnSpc>
              <a:spcAft>
                <a:spcPts val="300"/>
              </a:spcAft>
            </a:pPr>
            <a:r>
              <a:rPr sz="1900" b="1">
                <a:solidFill>
                  <a:srgbClr val="007F82"/>
                </a:solidFill>
                <a:latin typeface="Noto Sans CJK JP"/>
                <a:ea typeface="Noto Sans CJK JP"/>
              </a:rPr>
              <a:t>ATIGAの原産地ルール [1,2]</a:t>
            </a:r>
          </a:p>
        </p:txBody>
      </p:sp>
      <p:sp>
        <p:nvSpPr>
          <p:cNvPr id="11" name="TextBox 10"/>
          <p:cNvSpPr txBox="1"/>
          <p:nvPr/>
        </p:nvSpPr>
        <p:spPr>
          <a:xfrm>
            <a:off x="4572000" y="2093976"/>
            <a:ext cx="7498079" cy="713232"/>
          </a:xfrm>
          <a:prstGeom prst="rect">
            <a:avLst/>
          </a:prstGeom>
          <a:noFill/>
        </p:spPr>
        <p:txBody>
          <a:bodyPr wrap="square" lIns="0" rIns="0" tIns="0" bIns="0">
            <a:spAutoFit/>
          </a:bodyPr>
          <a:lstStyle/>
          <a:p>
            <a:pPr>
              <a:lnSpc>
                <a:spcPct val="113000"/>
              </a:lnSpc>
              <a:spcAft>
                <a:spcPts val="300"/>
              </a:spcAft>
            </a:pPr>
            <a:r>
              <a:rPr sz="1600" b="0">
                <a:solidFill>
                  <a:srgbClr val="172B4D"/>
                </a:solidFill>
                <a:latin typeface="Noto Sans CJK JP"/>
                <a:ea typeface="Noto Sans CJK JP"/>
              </a:rPr>
              <a:t>一般則は域内付加価値RVC40％以上または関税分類変更等。品目別ルールを優先し、原産証明・直接輸送などの条件を確認する。</a:t>
            </a:r>
          </a:p>
        </p:txBody>
      </p:sp>
      <p:sp>
        <p:nvSpPr>
          <p:cNvPr id="12" name="Rectangle 11"/>
          <p:cNvSpPr/>
          <p:nvPr/>
        </p:nvSpPr>
        <p:spPr>
          <a:xfrm>
            <a:off x="640080" y="3044952"/>
            <a:ext cx="11704320" cy="978408"/>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163824"/>
            <a:ext cx="3657600" cy="548640"/>
          </a:xfrm>
          <a:prstGeom prst="rect">
            <a:avLst/>
          </a:prstGeom>
          <a:noFill/>
        </p:spPr>
        <p:txBody>
          <a:bodyPr wrap="square" lIns="0" rIns="0" tIns="0" bIns="0">
            <a:spAutoFit/>
          </a:bodyPr>
          <a:lstStyle/>
          <a:p>
            <a:pPr>
              <a:lnSpc>
                <a:spcPct val="113000"/>
              </a:lnSpc>
              <a:spcAft>
                <a:spcPts val="300"/>
              </a:spcAft>
            </a:pPr>
            <a:r>
              <a:rPr sz="1900" b="1">
                <a:solidFill>
                  <a:srgbClr val="007F82"/>
                </a:solidFill>
                <a:latin typeface="Noto Sans CJK JP"/>
                <a:ea typeface="Noto Sans CJK JP"/>
              </a:rPr>
              <a:t>中国系OEMのASEAN工場</a:t>
            </a:r>
          </a:p>
        </p:txBody>
      </p:sp>
      <p:sp>
        <p:nvSpPr>
          <p:cNvPr id="14" name="TextBox 13"/>
          <p:cNvSpPr txBox="1"/>
          <p:nvPr/>
        </p:nvSpPr>
        <p:spPr>
          <a:xfrm>
            <a:off x="4572000" y="3172968"/>
            <a:ext cx="7498079" cy="713232"/>
          </a:xfrm>
          <a:prstGeom prst="rect">
            <a:avLst/>
          </a:prstGeom>
          <a:noFill/>
        </p:spPr>
        <p:txBody>
          <a:bodyPr wrap="square" lIns="0" rIns="0" tIns="0" bIns="0">
            <a:spAutoFit/>
          </a:bodyPr>
          <a:lstStyle/>
          <a:p>
            <a:pPr>
              <a:lnSpc>
                <a:spcPct val="113000"/>
              </a:lnSpc>
              <a:spcAft>
                <a:spcPts val="300"/>
              </a:spcAft>
            </a:pPr>
            <a:r>
              <a:rPr sz="1600" b="0">
                <a:solidFill>
                  <a:srgbClr val="172B4D"/>
                </a:solidFill>
                <a:latin typeface="Noto Sans CJK JP"/>
                <a:ea typeface="Noto Sans CJK JP"/>
              </a:rPr>
              <a:t>域内生産で原産資格を満たせばATIGA恩典を利用し得る。中国製CBUは別の協定・MFN・車種別優遇を照合する。</a:t>
            </a:r>
          </a:p>
        </p:txBody>
      </p:sp>
      <p:sp>
        <p:nvSpPr>
          <p:cNvPr id="15" name="Rectangle 14"/>
          <p:cNvSpPr/>
          <p:nvPr/>
        </p:nvSpPr>
        <p:spPr>
          <a:xfrm>
            <a:off x="640080" y="4123944"/>
            <a:ext cx="11704320" cy="978408"/>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 y="4242816"/>
            <a:ext cx="3657600" cy="548640"/>
          </a:xfrm>
          <a:prstGeom prst="rect">
            <a:avLst/>
          </a:prstGeom>
          <a:noFill/>
        </p:spPr>
        <p:txBody>
          <a:bodyPr wrap="square" lIns="0" rIns="0" tIns="0" bIns="0">
            <a:spAutoFit/>
          </a:bodyPr>
          <a:lstStyle/>
          <a:p>
            <a:pPr>
              <a:lnSpc>
                <a:spcPct val="113000"/>
              </a:lnSpc>
              <a:spcAft>
                <a:spcPts val="300"/>
              </a:spcAft>
            </a:pPr>
            <a:r>
              <a:rPr sz="1900" b="1">
                <a:solidFill>
                  <a:srgbClr val="007F82"/>
                </a:solidFill>
                <a:latin typeface="Noto Sans CJK JP"/>
                <a:ea typeface="Noto Sans CJK JP"/>
              </a:rPr>
              <a:t>国産化率と原産地資格は別</a:t>
            </a:r>
          </a:p>
        </p:txBody>
      </p:sp>
      <p:sp>
        <p:nvSpPr>
          <p:cNvPr id="17" name="TextBox 16"/>
          <p:cNvSpPr txBox="1"/>
          <p:nvPr/>
        </p:nvSpPr>
        <p:spPr>
          <a:xfrm>
            <a:off x="4572000" y="4251959"/>
            <a:ext cx="7498079" cy="713232"/>
          </a:xfrm>
          <a:prstGeom prst="rect">
            <a:avLst/>
          </a:prstGeom>
          <a:noFill/>
        </p:spPr>
        <p:txBody>
          <a:bodyPr wrap="square" lIns="0" rIns="0" tIns="0" bIns="0">
            <a:spAutoFit/>
          </a:bodyPr>
          <a:lstStyle/>
          <a:p>
            <a:pPr>
              <a:lnSpc>
                <a:spcPct val="113000"/>
              </a:lnSpc>
              <a:spcAft>
                <a:spcPts val="300"/>
              </a:spcAft>
            </a:pPr>
            <a:r>
              <a:rPr sz="1600" b="0">
                <a:solidFill>
                  <a:srgbClr val="172B4D"/>
                </a:solidFill>
                <a:latin typeface="Noto Sans CJK JP"/>
                <a:ea typeface="Noto Sans CJK JP"/>
              </a:rPr>
              <a:t>インドネシアのTKDN、タイの恩典向けローカルコンテンツ、ATIGAのRVCは目的・計算が異なる。40％という数字だけで共通化しない。</a:t>
            </a:r>
          </a:p>
        </p:txBody>
      </p:sp>
      <p:sp>
        <p:nvSpPr>
          <p:cNvPr id="18" name="TextBox 17"/>
          <p:cNvSpPr txBox="1"/>
          <p:nvPr/>
        </p:nvSpPr>
        <p:spPr>
          <a:xfrm>
            <a:off x="640080" y="5358384"/>
            <a:ext cx="11704320" cy="438912"/>
          </a:xfrm>
          <a:prstGeom prst="rect">
            <a:avLst/>
          </a:prstGeom>
          <a:noFill/>
        </p:spPr>
        <p:txBody>
          <a:bodyPr wrap="square" lIns="0" rIns="0" tIns="0" bIns="0">
            <a:spAutoFit/>
          </a:bodyPr>
          <a:lstStyle/>
          <a:p>
            <a:pPr>
              <a:lnSpc>
                <a:spcPct val="113000"/>
              </a:lnSpc>
              <a:spcAft>
                <a:spcPts val="300"/>
              </a:spcAft>
            </a:pPr>
            <a:r>
              <a:rPr sz="1800" b="1">
                <a:solidFill>
                  <a:srgbClr val="172B4D"/>
                </a:solidFill>
                <a:latin typeface="Noto Sans CJK JP"/>
                <a:ea typeface="Noto Sans CJK JP"/>
              </a:rPr>
              <a:t>分析上の追加キー：OEM国籍 × 生産国 × 販売国 × 型式・HS × 原産資格 × 優遇参加</a:t>
            </a:r>
          </a:p>
        </p:txBody>
      </p:sp>
      <p:sp>
        <p:nvSpPr>
          <p:cNvPr id="19" name="TextBox 18"/>
          <p:cNvSpPr txBox="1"/>
          <p:nvPr/>
        </p:nvSpPr>
        <p:spPr>
          <a:xfrm>
            <a:off x="548640" y="5861304"/>
            <a:ext cx="11887200" cy="182880"/>
          </a:xfrm>
          <a:prstGeom prst="rect">
            <a:avLst/>
          </a:prstGeom>
          <a:noFill/>
        </p:spPr>
        <p:txBody>
          <a:bodyPr wrap="square" lIns="0" rIns="0" tIns="0" bIns="0">
            <a:spAutoFit/>
          </a:bodyPr>
          <a:lstStyle/>
          <a:p>
            <a:pPr>
              <a:lnSpc>
                <a:spcPct val="113000"/>
              </a:lnSpc>
              <a:spcAft>
                <a:spcPts val="300"/>
              </a:spcAft>
            </a:pPr>
            <a:r>
              <a:rPr sz="930" b="1">
                <a:solidFill>
                  <a:srgbClr val="56677C"/>
                </a:solidFill>
                <a:latin typeface="Noto Sans CJK JP"/>
                <a:ea typeface="Noto Sans CJK JP"/>
              </a:rPr>
              <a:t>一次情報｜番号は制度欄に対応。URLをクリックして原文を開く。</a:t>
            </a:r>
          </a:p>
        </p:txBody>
      </p:sp>
      <p:sp>
        <p:nvSpPr>
          <p:cNvPr id="20" name="TextBox 19"/>
          <p:cNvSpPr txBox="1"/>
          <p:nvPr/>
        </p:nvSpPr>
        <p:spPr>
          <a:xfrm>
            <a:off x="548640" y="6080760"/>
            <a:ext cx="3429000" cy="274320"/>
          </a:xfrm>
          <a:prstGeom prst="rect">
            <a:avLst/>
          </a:prstGeom>
          <a:noFill/>
        </p:spPr>
        <p:txBody>
          <a:bodyPr wrap="square" lIns="0" rIns="0" tIns="0" bIns="0">
            <a:spAutoFit/>
          </a:bodyPr>
          <a:lstStyle/>
          <a:p>
            <a:pPr>
              <a:lnSpc>
                <a:spcPct val="113000"/>
              </a:lnSpc>
              <a:spcAft>
                <a:spcPts val="300"/>
              </a:spcAft>
            </a:pPr>
            <a:r>
              <a:rPr sz="960" b="1">
                <a:solidFill>
                  <a:srgbClr val="56677C"/>
                </a:solidFill>
                <a:latin typeface="Noto Sans CJK JP"/>
                <a:ea typeface="Noto Sans CJK JP"/>
              </a:rPr>
              <a:t>[1] ASEAN｜ATIGA・関連附属書</a:t>
            </a:r>
          </a:p>
        </p:txBody>
      </p:sp>
      <p:sp>
        <p:nvSpPr>
          <p:cNvPr id="21" name="TextBox 20"/>
          <p:cNvSpPr txBox="1"/>
          <p:nvPr/>
        </p:nvSpPr>
        <p:spPr>
          <a:xfrm>
            <a:off x="4023360" y="6080760"/>
            <a:ext cx="8412480" cy="420624"/>
          </a:xfrm>
          <a:prstGeom prst="rect">
            <a:avLst/>
          </a:prstGeom>
          <a:noFill/>
        </p:spPr>
        <p:txBody>
          <a:bodyPr wrap="square" lIns="0" rIns="0" tIns="0" bIns="0">
            <a:spAutoFit/>
          </a:bodyPr>
          <a:lstStyle/>
          <a:p>
            <a:pPr>
              <a:lnSpc>
                <a:spcPct val="113000"/>
              </a:lnSpc>
              <a:spcAft>
                <a:spcPts val="300"/>
              </a:spcAft>
            </a:pPr>
            <a:r>
              <a:rPr sz="940" b="0">
                <a:solidFill>
                  <a:srgbClr val="2164A5"/>
                </a:solidFill>
                <a:latin typeface="Noto Sans CJK JP"/>
                <a:ea typeface="Noto Sans CJK JP"/>
                <a:hlinkClick r:id="rId2"/>
              </a:rPr>
              <a:t>https://asean.org/asean-trade-in-goods-agreement-atiga/</a:t>
            </a:r>
          </a:p>
        </p:txBody>
      </p:sp>
      <p:sp>
        <p:nvSpPr>
          <p:cNvPr id="22" name="TextBox 21"/>
          <p:cNvSpPr txBox="1"/>
          <p:nvPr/>
        </p:nvSpPr>
        <p:spPr>
          <a:xfrm>
            <a:off x="548640" y="6510528"/>
            <a:ext cx="3429000" cy="274320"/>
          </a:xfrm>
          <a:prstGeom prst="rect">
            <a:avLst/>
          </a:prstGeom>
          <a:noFill/>
        </p:spPr>
        <p:txBody>
          <a:bodyPr wrap="square" lIns="0" rIns="0" tIns="0" bIns="0">
            <a:spAutoFit/>
          </a:bodyPr>
          <a:lstStyle/>
          <a:p>
            <a:pPr>
              <a:lnSpc>
                <a:spcPct val="113000"/>
              </a:lnSpc>
              <a:spcAft>
                <a:spcPts val="300"/>
              </a:spcAft>
            </a:pPr>
            <a:r>
              <a:rPr sz="960" b="1">
                <a:solidFill>
                  <a:srgbClr val="56677C"/>
                </a:solidFill>
                <a:latin typeface="Noto Sans CJK JP"/>
                <a:ea typeface="Noto Sans CJK JP"/>
              </a:rPr>
              <a:t>[2] ASEAN｜原産地ルール</a:t>
            </a:r>
          </a:p>
        </p:txBody>
      </p:sp>
      <p:sp>
        <p:nvSpPr>
          <p:cNvPr id="23" name="TextBox 22"/>
          <p:cNvSpPr txBox="1"/>
          <p:nvPr/>
        </p:nvSpPr>
        <p:spPr>
          <a:xfrm>
            <a:off x="4023360" y="6510528"/>
            <a:ext cx="8412480" cy="420624"/>
          </a:xfrm>
          <a:prstGeom prst="rect">
            <a:avLst/>
          </a:prstGeom>
          <a:noFill/>
        </p:spPr>
        <p:txBody>
          <a:bodyPr wrap="square" lIns="0" rIns="0" tIns="0" bIns="0">
            <a:spAutoFit/>
          </a:bodyPr>
          <a:lstStyle/>
          <a:p>
            <a:pPr>
              <a:lnSpc>
                <a:spcPct val="113000"/>
              </a:lnSpc>
              <a:spcAft>
                <a:spcPts val="300"/>
              </a:spcAft>
            </a:pPr>
            <a:r>
              <a:rPr sz="940" b="0">
                <a:solidFill>
                  <a:srgbClr val="2164A5"/>
                </a:solidFill>
                <a:latin typeface="Noto Sans CJK JP"/>
                <a:ea typeface="Noto Sans CJK JP"/>
                <a:hlinkClick r:id="rId3"/>
              </a:rPr>
              <a:t>https://asean.org/our-communities/economic-community/rules-of-origin/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3004596" cy="118872"/>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972800" cy="228600"/>
          </a:xfrm>
          <a:prstGeom prst="rect">
            <a:avLst/>
          </a:prstGeom>
          <a:noFill/>
        </p:spPr>
        <p:txBody>
          <a:bodyPr wrap="square" lIns="0" rIns="0" tIns="0" bIns="0">
            <a:spAutoFit/>
          </a:bodyPr>
          <a:lstStyle/>
          <a:p>
            <a:pPr>
              <a:lnSpc>
                <a:spcPct val="113000"/>
              </a:lnSpc>
              <a:spcAft>
                <a:spcPts val="300"/>
              </a:spcAft>
            </a:pPr>
            <a:r>
              <a:rPr sz="1000" b="1">
                <a:solidFill>
                  <a:srgbClr val="007F82"/>
                </a:solidFill>
                <a:latin typeface="Noto Sans CJK JP"/>
                <a:ea typeface="Noto Sans CJK JP"/>
              </a:rPr>
              <a:t>THAILAND</a:t>
            </a:r>
          </a:p>
        </p:txBody>
      </p:sp>
      <p:sp>
        <p:nvSpPr>
          <p:cNvPr id="4" name="TextBox 3"/>
          <p:cNvSpPr txBox="1"/>
          <p:nvPr/>
        </p:nvSpPr>
        <p:spPr>
          <a:xfrm>
            <a:off x="502920" y="685800"/>
            <a:ext cx="12024360" cy="566928"/>
          </a:xfrm>
          <a:prstGeom prst="rect">
            <a:avLst/>
          </a:prstGeom>
          <a:noFill/>
        </p:spPr>
        <p:txBody>
          <a:bodyPr wrap="square" lIns="0" rIns="0" tIns="0" bIns="0">
            <a:spAutoFit/>
          </a:bodyPr>
          <a:lstStyle/>
          <a:p>
            <a:pPr>
              <a:lnSpc>
                <a:spcPct val="113000"/>
              </a:lnSpc>
              <a:spcAft>
                <a:spcPts val="300"/>
              </a:spcAft>
            </a:pPr>
            <a:r>
              <a:rPr sz="2800" b="1">
                <a:solidFill>
                  <a:srgbClr val="172B4D"/>
                </a:solidFill>
                <a:latin typeface="Noto Sans CJK JP"/>
                <a:ea typeface="Noto Sans CJK JP"/>
              </a:rPr>
              <a:t>タイ｜輸入優遇にはBEVの現地生産義務が付く</a:t>
            </a:r>
          </a:p>
        </p:txBody>
      </p:sp>
      <p:sp>
        <p:nvSpPr>
          <p:cNvPr id="5" name="TextBox 4"/>
          <p:cNvSpPr txBox="1"/>
          <p:nvPr/>
        </p:nvSpPr>
        <p:spPr>
          <a:xfrm>
            <a:off x="502920" y="1335024"/>
            <a:ext cx="11978640" cy="438912"/>
          </a:xfrm>
          <a:prstGeom prst="rect">
            <a:avLst/>
          </a:prstGeom>
          <a:noFill/>
        </p:spPr>
        <p:txBody>
          <a:bodyPr wrap="square" lIns="0" rIns="0" tIns="0" bIns="0">
            <a:spAutoFit/>
          </a:bodyPr>
          <a:lstStyle/>
          <a:p>
            <a:pPr>
              <a:lnSpc>
                <a:spcPct val="113000"/>
              </a:lnSpc>
              <a:spcAft>
                <a:spcPts val="300"/>
              </a:spcAft>
            </a:pPr>
            <a:r>
              <a:rPr sz="1600" b="0">
                <a:solidFill>
                  <a:srgbClr val="56677C"/>
                </a:solidFill>
                <a:latin typeface="Noto Sans CJK JP"/>
                <a:ea typeface="Noto Sans CJK JP"/>
              </a:rPr>
              <a:t>「HEVを1台販売→2台生産」ではなく、優遇対象BEVの輸入台数が分母。</a:t>
            </a:r>
          </a:p>
        </p:txBody>
      </p:sp>
      <p:sp>
        <p:nvSpPr>
          <p:cNvPr id="6" name="Rectangle 5"/>
          <p:cNvSpPr/>
          <p:nvPr/>
        </p:nvSpPr>
        <p:spPr>
          <a:xfrm>
            <a:off x="502920" y="7114032"/>
            <a:ext cx="11978640" cy="10972"/>
          </a:xfrm>
          <a:prstGeom prst="rect">
            <a:avLst/>
          </a:prstGeom>
          <a:solidFill>
            <a:srgbClr val="D9E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7178040"/>
            <a:ext cx="10972800" cy="109728"/>
          </a:xfrm>
          <a:prstGeom prst="rect">
            <a:avLst/>
          </a:prstGeom>
          <a:noFill/>
        </p:spPr>
        <p:txBody>
          <a:bodyPr wrap="square" lIns="0" rIns="0" tIns="0" bIns="0">
            <a:spAutoFit/>
          </a:bodyPr>
          <a:lstStyle/>
          <a:p>
            <a:pPr>
              <a:lnSpc>
                <a:spcPct val="113000"/>
              </a:lnSpc>
              <a:spcAft>
                <a:spcPts val="300"/>
              </a:spcAft>
            </a:pPr>
            <a:r>
              <a:rPr sz="800" b="0">
                <a:solidFill>
                  <a:srgbClr val="56677C"/>
                </a:solidFill>
                <a:latin typeface="Noto Sans CJK JP"/>
                <a:ea typeface="Noto Sans CJK JP"/>
              </a:rPr>
              <a:t>東南アジア自動車制度｜公開一次情報の確認日：2026-10-06｜影響・矢印は分析仮説</a:t>
            </a:r>
          </a:p>
        </p:txBody>
      </p:sp>
      <p:sp>
        <p:nvSpPr>
          <p:cNvPr id="8" name="TextBox 7"/>
          <p:cNvSpPr txBox="1"/>
          <p:nvPr/>
        </p:nvSpPr>
        <p:spPr>
          <a:xfrm>
            <a:off x="12024360" y="7159752"/>
            <a:ext cx="457200" cy="137160"/>
          </a:xfrm>
          <a:prstGeom prst="rect">
            <a:avLst/>
          </a:prstGeom>
          <a:noFill/>
        </p:spPr>
        <p:txBody>
          <a:bodyPr wrap="square" lIns="0" rIns="0" tIns="0" bIns="0">
            <a:spAutoFit/>
          </a:bodyPr>
          <a:lstStyle/>
          <a:p>
            <a:pPr>
              <a:lnSpc>
                <a:spcPct val="113000"/>
              </a:lnSpc>
              <a:spcAft>
                <a:spcPts val="300"/>
              </a:spcAft>
            </a:pPr>
            <a:r>
              <a:rPr sz="900" b="0">
                <a:solidFill>
                  <a:srgbClr val="56677C"/>
                </a:solidFill>
                <a:latin typeface="Noto Sans CJK JP"/>
                <a:ea typeface="Noto Sans CJK JP"/>
              </a:rPr>
              <a:t>04</a:t>
            </a:r>
          </a:p>
        </p:txBody>
      </p:sp>
      <p:sp>
        <p:nvSpPr>
          <p:cNvPr id="9" name="TextBox 8"/>
          <p:cNvSpPr txBox="1"/>
          <p:nvPr/>
        </p:nvSpPr>
        <p:spPr>
          <a:xfrm>
            <a:off x="548640" y="1810512"/>
            <a:ext cx="7955279" cy="228600"/>
          </a:xfrm>
          <a:prstGeom prst="rect">
            <a:avLst/>
          </a:prstGeom>
          <a:noFill/>
        </p:spPr>
        <p:txBody>
          <a:bodyPr wrap="square" lIns="0" rIns="0" tIns="0" bIns="0">
            <a:spAutoFit/>
          </a:bodyPr>
          <a:lstStyle/>
          <a:p>
            <a:pPr>
              <a:lnSpc>
                <a:spcPct val="113000"/>
              </a:lnSpc>
              <a:spcAft>
                <a:spcPts val="300"/>
              </a:spcAft>
            </a:pPr>
            <a:r>
              <a:rPr sz="1100" b="1">
                <a:solidFill>
                  <a:srgbClr val="007F82"/>
                </a:solidFill>
                <a:latin typeface="Noto Sans CJK JP"/>
                <a:ea typeface="Noto Sans CJK JP"/>
              </a:rPr>
              <a:t>制度・対象・期間（政府／当局が公表した事実）</a:t>
            </a:r>
          </a:p>
        </p:txBody>
      </p:sp>
      <p:sp>
        <p:nvSpPr>
          <p:cNvPr id="10" name="TextBox 9"/>
          <p:cNvSpPr txBox="1"/>
          <p:nvPr/>
        </p:nvSpPr>
        <p:spPr>
          <a:xfrm>
            <a:off x="8778240" y="1810512"/>
            <a:ext cx="3657600" cy="228600"/>
          </a:xfrm>
          <a:prstGeom prst="rect">
            <a:avLst/>
          </a:prstGeom>
          <a:noFill/>
        </p:spPr>
        <p:txBody>
          <a:bodyPr wrap="square" lIns="0" rIns="0" tIns="0" bIns="0">
            <a:spAutoFit/>
          </a:bodyPr>
          <a:lstStyle/>
          <a:p>
            <a:pPr>
              <a:lnSpc>
                <a:spcPct val="113000"/>
              </a:lnSpc>
              <a:spcAft>
                <a:spcPts val="300"/>
              </a:spcAft>
            </a:pPr>
            <a:r>
              <a:rPr sz="1100" b="1">
                <a:solidFill>
                  <a:srgbClr val="2164A5"/>
                </a:solidFill>
                <a:latin typeface="Noto Sans CJK JP"/>
                <a:ea typeface="Noto Sans CJK JP"/>
              </a:rPr>
              <a:t>OEMへの影響（以下は分析上の推論）</a:t>
            </a:r>
          </a:p>
        </p:txBody>
      </p:sp>
      <p:sp>
        <p:nvSpPr>
          <p:cNvPr id="11" name="Rectangle 10"/>
          <p:cNvSpPr/>
          <p:nvPr/>
        </p:nvSpPr>
        <p:spPr>
          <a:xfrm>
            <a:off x="548640" y="2048256"/>
            <a:ext cx="7863840" cy="969264"/>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641080" y="2048256"/>
            <a:ext cx="3840480" cy="969264"/>
          </a:xfrm>
          <a:prstGeom prst="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 y="2130552"/>
            <a:ext cx="7498079" cy="265176"/>
          </a:xfrm>
          <a:prstGeom prst="rect">
            <a:avLst/>
          </a:prstGeom>
          <a:noFill/>
        </p:spPr>
        <p:txBody>
          <a:bodyPr wrap="square" lIns="0" rIns="0" tIns="0" bIns="0">
            <a:spAutoFit/>
          </a:bodyPr>
          <a:lstStyle/>
          <a:p>
            <a:pPr>
              <a:lnSpc>
                <a:spcPct val="113000"/>
              </a:lnSpc>
              <a:spcAft>
                <a:spcPts val="300"/>
              </a:spcAft>
            </a:pPr>
            <a:r>
              <a:rPr sz="1600" b="1">
                <a:solidFill>
                  <a:srgbClr val="007F82"/>
                </a:solidFill>
                <a:latin typeface="Noto Sans CJK JP"/>
                <a:ea typeface="Noto Sans CJK JP"/>
              </a:rPr>
              <a:t>EV3.5：輸入と生産の交換条件 [1]</a:t>
            </a:r>
          </a:p>
        </p:txBody>
      </p:sp>
      <p:sp>
        <p:nvSpPr>
          <p:cNvPr id="14" name="TextBox 13"/>
          <p:cNvSpPr txBox="1"/>
          <p:nvPr/>
        </p:nvSpPr>
        <p:spPr>
          <a:xfrm>
            <a:off x="713232" y="2423160"/>
            <a:ext cx="7498079" cy="594360"/>
          </a:xfrm>
          <a:prstGeom prst="rect">
            <a:avLst/>
          </a:prstGeom>
          <a:noFill/>
        </p:spPr>
        <p:txBody>
          <a:bodyPr wrap="square" lIns="0" rIns="0" tIns="0" bIns="0">
            <a:spAutoFit/>
          </a:bodyPr>
          <a:lstStyle/>
          <a:p>
            <a:pPr>
              <a:lnSpc>
                <a:spcPct val="113000"/>
              </a:lnSpc>
              <a:spcAft>
                <a:spcPts val="300"/>
              </a:spcAft>
            </a:pPr>
            <a:r>
              <a:rPr sz="1400" b="0">
                <a:solidFill>
                  <a:srgbClr val="172B4D"/>
                </a:solidFill>
                <a:latin typeface="Noto Sans CJK JP"/>
                <a:ea typeface="Noto Sans CJK JP"/>
              </a:rPr>
              <a:t>2024–25年の優遇対象BEV輸入に対し、2026年までに生産する場合は1：2、2027年までの場合は1：3。全OEM・全販売への一律義務ではない。</a:t>
            </a:r>
          </a:p>
        </p:txBody>
      </p:sp>
      <p:sp>
        <p:nvSpPr>
          <p:cNvPr id="15" name="TextBox 14"/>
          <p:cNvSpPr txBox="1"/>
          <p:nvPr/>
        </p:nvSpPr>
        <p:spPr>
          <a:xfrm>
            <a:off x="8796528" y="2121408"/>
            <a:ext cx="3566160" cy="274320"/>
          </a:xfrm>
          <a:prstGeom prst="rect">
            <a:avLst/>
          </a:prstGeom>
          <a:noFill/>
        </p:spPr>
        <p:txBody>
          <a:bodyPr wrap="square" lIns="0" rIns="0" tIns="0" bIns="0">
            <a:spAutoFit/>
          </a:bodyPr>
          <a:lstStyle/>
          <a:p>
            <a:pPr>
              <a:lnSpc>
                <a:spcPct val="113000"/>
              </a:lnSpc>
              <a:spcAft>
                <a:spcPts val="300"/>
              </a:spcAft>
            </a:pPr>
            <a:r>
              <a:rPr sz="1350" b="1">
                <a:solidFill>
                  <a:srgbClr val="2164A5"/>
                </a:solidFill>
                <a:latin typeface="Noto Sans CJK JP"/>
                <a:ea typeface="Noto Sans CJK JP"/>
              </a:rPr>
              <a:t>優遇を使う中国系BEV OEM</a:t>
            </a:r>
          </a:p>
        </p:txBody>
      </p:sp>
      <p:sp>
        <p:nvSpPr>
          <p:cNvPr id="16" name="TextBox 15"/>
          <p:cNvSpPr txBox="1"/>
          <p:nvPr/>
        </p:nvSpPr>
        <p:spPr>
          <a:xfrm>
            <a:off x="8796528" y="2377440"/>
            <a:ext cx="3511296" cy="630936"/>
          </a:xfrm>
          <a:prstGeom prst="rect">
            <a:avLst/>
          </a:prstGeom>
          <a:noFill/>
        </p:spPr>
        <p:txBody>
          <a:bodyPr wrap="square" lIns="0" rIns="0" tIns="0" bIns="0">
            <a:spAutoFit/>
          </a:bodyPr>
          <a:lstStyle/>
          <a:p>
            <a:pPr>
              <a:lnSpc>
                <a:spcPct val="113000"/>
              </a:lnSpc>
              <a:spcAft>
                <a:spcPts val="300"/>
              </a:spcAft>
            </a:pPr>
            <a:r>
              <a:rPr sz="1250" b="0">
                <a:solidFill>
                  <a:srgbClr val="172B4D"/>
                </a:solidFill>
                <a:latin typeface="Noto Sans CJK JP"/>
                <a:ea typeface="Noto Sans CJK JP"/>
              </a:rPr>
              <a:t>現地工場・資金が必要。輸入先行の初速と、その後の増産・在庫負担を分けて見る。</a:t>
            </a:r>
          </a:p>
        </p:txBody>
      </p:sp>
      <p:sp>
        <p:nvSpPr>
          <p:cNvPr id="17" name="Rectangle 16"/>
          <p:cNvSpPr/>
          <p:nvPr/>
        </p:nvSpPr>
        <p:spPr>
          <a:xfrm>
            <a:off x="548640" y="3072384"/>
            <a:ext cx="7863840" cy="969264"/>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641080" y="3072384"/>
            <a:ext cx="3840480" cy="969264"/>
          </a:xfrm>
          <a:prstGeom prst="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3232" y="3154680"/>
            <a:ext cx="7498079" cy="265176"/>
          </a:xfrm>
          <a:prstGeom prst="rect">
            <a:avLst/>
          </a:prstGeom>
          <a:noFill/>
        </p:spPr>
        <p:txBody>
          <a:bodyPr wrap="square" lIns="0" rIns="0" tIns="0" bIns="0">
            <a:spAutoFit/>
          </a:bodyPr>
          <a:lstStyle/>
          <a:p>
            <a:pPr>
              <a:lnSpc>
                <a:spcPct val="113000"/>
              </a:lnSpc>
              <a:spcAft>
                <a:spcPts val="300"/>
              </a:spcAft>
            </a:pPr>
            <a:r>
              <a:rPr sz="1600" b="1">
                <a:solidFill>
                  <a:srgbClr val="007F82"/>
                </a:solidFill>
                <a:latin typeface="Noto Sans CJK JP"/>
                <a:ea typeface="Noto Sans CJK JP"/>
              </a:rPr>
              <a:t>輸出の加算・補助金支払い条件 [2]</a:t>
            </a:r>
          </a:p>
        </p:txBody>
      </p:sp>
      <p:sp>
        <p:nvSpPr>
          <p:cNvPr id="20" name="TextBox 19"/>
          <p:cNvSpPr txBox="1"/>
          <p:nvPr/>
        </p:nvSpPr>
        <p:spPr>
          <a:xfrm>
            <a:off x="713232" y="3447288"/>
            <a:ext cx="7498079" cy="594360"/>
          </a:xfrm>
          <a:prstGeom prst="rect">
            <a:avLst/>
          </a:prstGeom>
          <a:noFill/>
        </p:spPr>
        <p:txBody>
          <a:bodyPr wrap="square" lIns="0" rIns="0" tIns="0" bIns="0">
            <a:spAutoFit/>
          </a:bodyPr>
          <a:lstStyle/>
          <a:p>
            <a:pPr>
              <a:lnSpc>
                <a:spcPct val="113000"/>
              </a:lnSpc>
              <a:spcAft>
                <a:spcPts val="300"/>
              </a:spcAft>
            </a:pPr>
            <a:r>
              <a:rPr sz="1400" b="0">
                <a:solidFill>
                  <a:srgbClr val="172B4D"/>
                </a:solidFill>
                <a:latin typeface="Noto Sans CJK JP"/>
                <a:ea typeface="Noto Sans CJK JP"/>
              </a:rPr>
              <a:t>輸出向け現地生産1台を1.5台として算入。補助金支払いは生産義務の達成状況に連動。EV3.5の国内車登録期限は2028年1月へ延長。</a:t>
            </a:r>
          </a:p>
        </p:txBody>
      </p:sp>
      <p:sp>
        <p:nvSpPr>
          <p:cNvPr id="21" name="TextBox 20"/>
          <p:cNvSpPr txBox="1"/>
          <p:nvPr/>
        </p:nvSpPr>
        <p:spPr>
          <a:xfrm>
            <a:off x="8796528" y="3145536"/>
            <a:ext cx="3566160" cy="274320"/>
          </a:xfrm>
          <a:prstGeom prst="rect">
            <a:avLst/>
          </a:prstGeom>
          <a:noFill/>
        </p:spPr>
        <p:txBody>
          <a:bodyPr wrap="square" lIns="0" rIns="0" tIns="0" bIns="0">
            <a:spAutoFit/>
          </a:bodyPr>
          <a:lstStyle/>
          <a:p>
            <a:pPr>
              <a:lnSpc>
                <a:spcPct val="113000"/>
              </a:lnSpc>
              <a:spcAft>
                <a:spcPts val="300"/>
              </a:spcAft>
            </a:pPr>
            <a:r>
              <a:rPr sz="1350" b="1">
                <a:solidFill>
                  <a:srgbClr val="2164A5"/>
                </a:solidFill>
                <a:latin typeface="Noto Sans CJK JP"/>
                <a:ea typeface="Noto Sans CJK JP"/>
              </a:rPr>
              <a:t>輸出できるOEM</a:t>
            </a:r>
          </a:p>
        </p:txBody>
      </p:sp>
      <p:sp>
        <p:nvSpPr>
          <p:cNvPr id="22" name="TextBox 21"/>
          <p:cNvSpPr txBox="1"/>
          <p:nvPr/>
        </p:nvSpPr>
        <p:spPr>
          <a:xfrm>
            <a:off x="8796528" y="3401568"/>
            <a:ext cx="3511296" cy="630936"/>
          </a:xfrm>
          <a:prstGeom prst="rect">
            <a:avLst/>
          </a:prstGeom>
          <a:noFill/>
        </p:spPr>
        <p:txBody>
          <a:bodyPr wrap="square" lIns="0" rIns="0" tIns="0" bIns="0">
            <a:spAutoFit/>
          </a:bodyPr>
          <a:lstStyle/>
          <a:p>
            <a:pPr>
              <a:lnSpc>
                <a:spcPct val="113000"/>
              </a:lnSpc>
              <a:spcAft>
                <a:spcPts val="300"/>
              </a:spcAft>
            </a:pPr>
            <a:r>
              <a:rPr sz="1250" b="0">
                <a:solidFill>
                  <a:srgbClr val="172B4D"/>
                </a:solidFill>
                <a:latin typeface="Noto Sans CJK JP"/>
                <a:ea typeface="Noto Sans CJK JP"/>
              </a:rPr>
              <a:t>生産義務を国内販売だけで消化しなくてよい。輸出先があるほど国内での値下げ圧力を緩め得る。</a:t>
            </a:r>
          </a:p>
        </p:txBody>
      </p:sp>
      <p:sp>
        <p:nvSpPr>
          <p:cNvPr id="23" name="Rectangle 22"/>
          <p:cNvSpPr/>
          <p:nvPr/>
        </p:nvSpPr>
        <p:spPr>
          <a:xfrm>
            <a:off x="548640" y="4096512"/>
            <a:ext cx="7863840" cy="969264"/>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641080" y="4096512"/>
            <a:ext cx="3840480" cy="969264"/>
          </a:xfrm>
          <a:prstGeom prst="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3232" y="4178808"/>
            <a:ext cx="7498079" cy="265176"/>
          </a:xfrm>
          <a:prstGeom prst="rect">
            <a:avLst/>
          </a:prstGeom>
          <a:noFill/>
        </p:spPr>
        <p:txBody>
          <a:bodyPr wrap="square" lIns="0" rIns="0" tIns="0" bIns="0">
            <a:spAutoFit/>
          </a:bodyPr>
          <a:lstStyle/>
          <a:p>
            <a:pPr>
              <a:lnSpc>
                <a:spcPct val="113000"/>
              </a:lnSpc>
              <a:spcAft>
                <a:spcPts val="300"/>
              </a:spcAft>
            </a:pPr>
            <a:r>
              <a:rPr sz="1600" b="1">
                <a:solidFill>
                  <a:srgbClr val="007F82"/>
                </a:solidFill>
                <a:latin typeface="Noto Sans CJK JP"/>
                <a:ea typeface="Noto Sans CJK JP"/>
              </a:rPr>
              <a:t>2026年9月：税制再編に原則合意 [3]</a:t>
            </a:r>
          </a:p>
        </p:txBody>
      </p:sp>
      <p:sp>
        <p:nvSpPr>
          <p:cNvPr id="26" name="TextBox 25"/>
          <p:cNvSpPr txBox="1"/>
          <p:nvPr/>
        </p:nvSpPr>
        <p:spPr>
          <a:xfrm>
            <a:off x="713232" y="4471416"/>
            <a:ext cx="7498079" cy="594360"/>
          </a:xfrm>
          <a:prstGeom prst="rect">
            <a:avLst/>
          </a:prstGeom>
          <a:noFill/>
        </p:spPr>
        <p:txBody>
          <a:bodyPr wrap="square" lIns="0" rIns="0" tIns="0" bIns="0">
            <a:spAutoFit/>
          </a:bodyPr>
          <a:lstStyle/>
          <a:p>
            <a:pPr>
              <a:lnSpc>
                <a:spcPct val="113000"/>
              </a:lnSpc>
              <a:spcAft>
                <a:spcPts val="300"/>
              </a:spcAft>
            </a:pPr>
            <a:r>
              <a:rPr sz="1400" b="0">
                <a:solidFill>
                  <a:srgbClr val="172B4D"/>
                </a:solidFill>
                <a:latin typeface="Noto Sans CJK JP"/>
                <a:ea typeface="Noto Sans CJK JP"/>
              </a:rPr>
              <a:t>現地投資・組立・調達・雇用で税負担を差別化する方向。HEV/PHEVも含む。原則合意の段階であり、新税率の施行確定とは扱わない。</a:t>
            </a:r>
          </a:p>
        </p:txBody>
      </p:sp>
      <p:sp>
        <p:nvSpPr>
          <p:cNvPr id="27" name="TextBox 26"/>
          <p:cNvSpPr txBox="1"/>
          <p:nvPr/>
        </p:nvSpPr>
        <p:spPr>
          <a:xfrm>
            <a:off x="8796528" y="4169664"/>
            <a:ext cx="3566160" cy="274320"/>
          </a:xfrm>
          <a:prstGeom prst="rect">
            <a:avLst/>
          </a:prstGeom>
          <a:noFill/>
        </p:spPr>
        <p:txBody>
          <a:bodyPr wrap="square" lIns="0" rIns="0" tIns="0" bIns="0">
            <a:spAutoFit/>
          </a:bodyPr>
          <a:lstStyle/>
          <a:p>
            <a:pPr>
              <a:lnSpc>
                <a:spcPct val="113000"/>
              </a:lnSpc>
              <a:spcAft>
                <a:spcPts val="300"/>
              </a:spcAft>
            </a:pPr>
            <a:r>
              <a:rPr sz="1350" b="1">
                <a:solidFill>
                  <a:srgbClr val="2164A5"/>
                </a:solidFill>
                <a:latin typeface="Noto Sans CJK JP"/>
                <a:ea typeface="Noto Sans CJK JP"/>
              </a:rPr>
              <a:t>日系HEV・既存生産拠点</a:t>
            </a:r>
          </a:p>
        </p:txBody>
      </p:sp>
      <p:sp>
        <p:nvSpPr>
          <p:cNvPr id="28" name="TextBox 27"/>
          <p:cNvSpPr txBox="1"/>
          <p:nvPr/>
        </p:nvSpPr>
        <p:spPr>
          <a:xfrm>
            <a:off x="8796528" y="4425696"/>
            <a:ext cx="3511296" cy="630936"/>
          </a:xfrm>
          <a:prstGeom prst="rect">
            <a:avLst/>
          </a:prstGeom>
          <a:noFill/>
        </p:spPr>
        <p:txBody>
          <a:bodyPr wrap="square" lIns="0" rIns="0" tIns="0" bIns="0">
            <a:spAutoFit/>
          </a:bodyPr>
          <a:lstStyle/>
          <a:p>
            <a:pPr>
              <a:lnSpc>
                <a:spcPct val="113000"/>
              </a:lnSpc>
              <a:spcAft>
                <a:spcPts val="300"/>
              </a:spcAft>
            </a:pPr>
            <a:r>
              <a:rPr sz="1250" b="0">
                <a:solidFill>
                  <a:srgbClr val="172B4D"/>
                </a:solidFill>
                <a:latin typeface="Noto Sans CJK JP"/>
                <a:ea typeface="Noto Sans CJK JP"/>
              </a:rPr>
              <a:t>BEV生産倍率をHEVに適用しない。既存の工場・調達網の価値が税制上も高まる可能性。</a:t>
            </a:r>
          </a:p>
        </p:txBody>
      </p:sp>
      <p:sp>
        <p:nvSpPr>
          <p:cNvPr id="29" name="TextBox 28"/>
          <p:cNvSpPr txBox="1"/>
          <p:nvPr/>
        </p:nvSpPr>
        <p:spPr>
          <a:xfrm>
            <a:off x="594360" y="5157216"/>
            <a:ext cx="11814048" cy="320040"/>
          </a:xfrm>
          <a:prstGeom prst="rect">
            <a:avLst/>
          </a:prstGeom>
          <a:noFill/>
        </p:spPr>
        <p:txBody>
          <a:bodyPr wrap="square" lIns="0" rIns="0" tIns="0" bIns="0">
            <a:spAutoFit/>
          </a:bodyPr>
          <a:lstStyle/>
          <a:p>
            <a:pPr>
              <a:lnSpc>
                <a:spcPct val="113000"/>
              </a:lnSpc>
              <a:spcAft>
                <a:spcPts val="300"/>
              </a:spcAft>
            </a:pPr>
            <a:r>
              <a:rPr sz="1080" b="0">
                <a:solidFill>
                  <a:srgbClr val="B57A14"/>
                </a:solidFill>
                <a:latin typeface="Noto Sans CJK JP"/>
                <a:ea typeface="Noto Sans CJK JP"/>
              </a:rPr>
              <a:t>分析：生産義務→国内の供給過剰→値下げは条件付きの仮説。輸出実績・補助金受領・在庫を併せて確認。</a:t>
            </a:r>
          </a:p>
        </p:txBody>
      </p:sp>
      <p:sp>
        <p:nvSpPr>
          <p:cNvPr id="30" name="TextBox 29"/>
          <p:cNvSpPr txBox="1"/>
          <p:nvPr/>
        </p:nvSpPr>
        <p:spPr>
          <a:xfrm>
            <a:off x="548640" y="5504688"/>
            <a:ext cx="11887200" cy="182880"/>
          </a:xfrm>
          <a:prstGeom prst="rect">
            <a:avLst/>
          </a:prstGeom>
          <a:noFill/>
        </p:spPr>
        <p:txBody>
          <a:bodyPr wrap="square" lIns="0" rIns="0" tIns="0" bIns="0">
            <a:spAutoFit/>
          </a:bodyPr>
          <a:lstStyle/>
          <a:p>
            <a:pPr>
              <a:lnSpc>
                <a:spcPct val="113000"/>
              </a:lnSpc>
              <a:spcAft>
                <a:spcPts val="300"/>
              </a:spcAft>
            </a:pPr>
            <a:r>
              <a:rPr sz="930" b="1">
                <a:solidFill>
                  <a:srgbClr val="56677C"/>
                </a:solidFill>
                <a:latin typeface="Noto Sans CJK JP"/>
                <a:ea typeface="Noto Sans CJK JP"/>
              </a:rPr>
              <a:t>一次情報｜番号は制度欄に対応。URLをクリックして原文を開く。</a:t>
            </a:r>
          </a:p>
        </p:txBody>
      </p:sp>
      <p:sp>
        <p:nvSpPr>
          <p:cNvPr id="31" name="TextBox 30"/>
          <p:cNvSpPr txBox="1"/>
          <p:nvPr/>
        </p:nvSpPr>
        <p:spPr>
          <a:xfrm>
            <a:off x="548640" y="5724144"/>
            <a:ext cx="3429000" cy="274320"/>
          </a:xfrm>
          <a:prstGeom prst="rect">
            <a:avLst/>
          </a:prstGeom>
          <a:noFill/>
        </p:spPr>
        <p:txBody>
          <a:bodyPr wrap="square" lIns="0" rIns="0" tIns="0" bIns="0">
            <a:spAutoFit/>
          </a:bodyPr>
          <a:lstStyle/>
          <a:p>
            <a:pPr>
              <a:lnSpc>
                <a:spcPct val="113000"/>
              </a:lnSpc>
              <a:spcAft>
                <a:spcPts val="300"/>
              </a:spcAft>
            </a:pPr>
            <a:r>
              <a:rPr sz="960" b="1">
                <a:solidFill>
                  <a:srgbClr val="56677C"/>
                </a:solidFill>
                <a:latin typeface="Noto Sans CJK JP"/>
                <a:ea typeface="Noto Sans CJK JP"/>
              </a:rPr>
              <a:t>[1] BOI｜EV3.5 原制度（1頁）</a:t>
            </a:r>
          </a:p>
        </p:txBody>
      </p:sp>
      <p:sp>
        <p:nvSpPr>
          <p:cNvPr id="32" name="TextBox 31"/>
          <p:cNvSpPr txBox="1"/>
          <p:nvPr/>
        </p:nvSpPr>
        <p:spPr>
          <a:xfrm>
            <a:off x="4023360" y="5724144"/>
            <a:ext cx="8412480" cy="420624"/>
          </a:xfrm>
          <a:prstGeom prst="rect">
            <a:avLst/>
          </a:prstGeom>
          <a:noFill/>
        </p:spPr>
        <p:txBody>
          <a:bodyPr wrap="square" lIns="0" rIns="0" tIns="0" bIns="0">
            <a:spAutoFit/>
          </a:bodyPr>
          <a:lstStyle/>
          <a:p>
            <a:pPr>
              <a:lnSpc>
                <a:spcPct val="113000"/>
              </a:lnSpc>
              <a:spcAft>
                <a:spcPts val="300"/>
              </a:spcAft>
            </a:pPr>
            <a:r>
              <a:rPr sz="940" b="0">
                <a:solidFill>
                  <a:srgbClr val="2164A5"/>
                </a:solidFill>
                <a:latin typeface="Noto Sans CJK JP"/>
                <a:ea typeface="Noto Sans CJK JP"/>
                <a:hlinkClick r:id="rId2"/>
              </a:rPr>
              <a:t>https://www.boi.go.th/upload/content/EV%203.5ENG.pdf</a:t>
            </a:r>
          </a:p>
        </p:txBody>
      </p:sp>
      <p:sp>
        <p:nvSpPr>
          <p:cNvPr id="33" name="TextBox 32"/>
          <p:cNvSpPr txBox="1"/>
          <p:nvPr/>
        </p:nvSpPr>
        <p:spPr>
          <a:xfrm>
            <a:off x="548640" y="6153912"/>
            <a:ext cx="3429000" cy="274320"/>
          </a:xfrm>
          <a:prstGeom prst="rect">
            <a:avLst/>
          </a:prstGeom>
          <a:noFill/>
        </p:spPr>
        <p:txBody>
          <a:bodyPr wrap="square" lIns="0" rIns="0" tIns="0" bIns="0">
            <a:spAutoFit/>
          </a:bodyPr>
          <a:lstStyle/>
          <a:p>
            <a:pPr>
              <a:lnSpc>
                <a:spcPct val="113000"/>
              </a:lnSpc>
              <a:spcAft>
                <a:spcPts val="300"/>
              </a:spcAft>
            </a:pPr>
            <a:r>
              <a:rPr sz="960" b="1">
                <a:solidFill>
                  <a:srgbClr val="56677C"/>
                </a:solidFill>
                <a:latin typeface="Noto Sans CJK JP"/>
                <a:ea typeface="Noto Sans CJK JP"/>
              </a:rPr>
              <a:t>[2] BOI｜改正決定 2025-11-25</a:t>
            </a:r>
          </a:p>
        </p:txBody>
      </p:sp>
      <p:sp>
        <p:nvSpPr>
          <p:cNvPr id="34" name="TextBox 33"/>
          <p:cNvSpPr txBox="1"/>
          <p:nvPr/>
        </p:nvSpPr>
        <p:spPr>
          <a:xfrm>
            <a:off x="4023360" y="6153912"/>
            <a:ext cx="8412480" cy="420624"/>
          </a:xfrm>
          <a:prstGeom prst="rect">
            <a:avLst/>
          </a:prstGeom>
          <a:noFill/>
        </p:spPr>
        <p:txBody>
          <a:bodyPr wrap="square" lIns="0" rIns="0" tIns="0" bIns="0">
            <a:spAutoFit/>
          </a:bodyPr>
          <a:lstStyle/>
          <a:p>
            <a:pPr>
              <a:lnSpc>
                <a:spcPct val="113000"/>
              </a:lnSpc>
              <a:spcAft>
                <a:spcPts val="300"/>
              </a:spcAft>
            </a:pPr>
            <a:r>
              <a:rPr sz="940" b="0">
                <a:solidFill>
                  <a:srgbClr val="2164A5"/>
                </a:solidFill>
                <a:latin typeface="Noto Sans CJK JP"/>
                <a:ea typeface="Noto Sans CJK JP"/>
                <a:hlinkClick r:id="rId3"/>
              </a:rPr>
              <a:t>https://www.boi.go.th/upload/content/PR168_2568EN.pdf</a:t>
            </a:r>
          </a:p>
        </p:txBody>
      </p:sp>
      <p:sp>
        <p:nvSpPr>
          <p:cNvPr id="35" name="TextBox 34"/>
          <p:cNvSpPr txBox="1"/>
          <p:nvPr/>
        </p:nvSpPr>
        <p:spPr>
          <a:xfrm>
            <a:off x="548640" y="6583679"/>
            <a:ext cx="3429000" cy="274320"/>
          </a:xfrm>
          <a:prstGeom prst="rect">
            <a:avLst/>
          </a:prstGeom>
          <a:noFill/>
        </p:spPr>
        <p:txBody>
          <a:bodyPr wrap="square" lIns="0" rIns="0" tIns="0" bIns="0">
            <a:spAutoFit/>
          </a:bodyPr>
          <a:lstStyle/>
          <a:p>
            <a:pPr>
              <a:lnSpc>
                <a:spcPct val="113000"/>
              </a:lnSpc>
              <a:spcAft>
                <a:spcPts val="300"/>
              </a:spcAft>
            </a:pPr>
            <a:r>
              <a:rPr sz="960" b="1">
                <a:solidFill>
                  <a:srgbClr val="56677C"/>
                </a:solidFill>
                <a:latin typeface="Noto Sans CJK JP"/>
                <a:ea typeface="Noto Sans CJK JP"/>
              </a:rPr>
              <a:t>[3] BOI/OSOS｜原則合意 2026-09-10</a:t>
            </a:r>
          </a:p>
        </p:txBody>
      </p:sp>
      <p:sp>
        <p:nvSpPr>
          <p:cNvPr id="36" name="TextBox 35"/>
          <p:cNvSpPr txBox="1"/>
          <p:nvPr/>
        </p:nvSpPr>
        <p:spPr>
          <a:xfrm>
            <a:off x="4023360" y="6583679"/>
            <a:ext cx="8412480" cy="420624"/>
          </a:xfrm>
          <a:prstGeom prst="rect">
            <a:avLst/>
          </a:prstGeom>
          <a:noFill/>
        </p:spPr>
        <p:txBody>
          <a:bodyPr wrap="square" lIns="0" rIns="0" tIns="0" bIns="0">
            <a:spAutoFit/>
          </a:bodyPr>
          <a:lstStyle/>
          <a:p>
            <a:pPr>
              <a:lnSpc>
                <a:spcPct val="113000"/>
              </a:lnSpc>
              <a:spcAft>
                <a:spcPts val="300"/>
              </a:spcAft>
            </a:pPr>
            <a:r>
              <a:rPr sz="940" b="0">
                <a:solidFill>
                  <a:srgbClr val="2164A5"/>
                </a:solidFill>
                <a:latin typeface="Noto Sans CJK JP"/>
                <a:ea typeface="Noto Sans CJK JP"/>
                <a:hlinkClick r:id="rId4"/>
              </a:rPr>
              <a:t>https://osos.boi.go.th/EN/news/2475/Thailand-Overhauls-Vehicle-Excise-Tax-as-EVs-Capture-55-of</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3004596" cy="118872"/>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972800" cy="228600"/>
          </a:xfrm>
          <a:prstGeom prst="rect">
            <a:avLst/>
          </a:prstGeom>
          <a:noFill/>
        </p:spPr>
        <p:txBody>
          <a:bodyPr wrap="square" lIns="0" rIns="0" tIns="0" bIns="0">
            <a:spAutoFit/>
          </a:bodyPr>
          <a:lstStyle/>
          <a:p>
            <a:pPr>
              <a:lnSpc>
                <a:spcPct val="113000"/>
              </a:lnSpc>
              <a:spcAft>
                <a:spcPts val="300"/>
              </a:spcAft>
            </a:pPr>
            <a:r>
              <a:rPr sz="1000" b="1">
                <a:solidFill>
                  <a:srgbClr val="007F82"/>
                </a:solidFill>
                <a:latin typeface="Noto Sans CJK JP"/>
                <a:ea typeface="Noto Sans CJK JP"/>
              </a:rPr>
              <a:t>INDONESIA</a:t>
            </a:r>
          </a:p>
        </p:txBody>
      </p:sp>
      <p:sp>
        <p:nvSpPr>
          <p:cNvPr id="4" name="TextBox 3"/>
          <p:cNvSpPr txBox="1"/>
          <p:nvPr/>
        </p:nvSpPr>
        <p:spPr>
          <a:xfrm>
            <a:off x="502920" y="685800"/>
            <a:ext cx="12024360" cy="566928"/>
          </a:xfrm>
          <a:prstGeom prst="rect">
            <a:avLst/>
          </a:prstGeom>
          <a:noFill/>
        </p:spPr>
        <p:txBody>
          <a:bodyPr wrap="square" lIns="0" rIns="0" tIns="0" bIns="0">
            <a:spAutoFit/>
          </a:bodyPr>
          <a:lstStyle/>
          <a:p>
            <a:pPr>
              <a:lnSpc>
                <a:spcPct val="113000"/>
              </a:lnSpc>
              <a:spcAft>
                <a:spcPts val="300"/>
              </a:spcAft>
            </a:pPr>
            <a:r>
              <a:rPr sz="2800" b="1">
                <a:solidFill>
                  <a:srgbClr val="172B4D"/>
                </a:solidFill>
                <a:latin typeface="Noto Sans CJK JP"/>
                <a:ea typeface="Noto Sans CJK JP"/>
              </a:rPr>
              <a:t>インドネシア｜BEV輸入の優遇は、現地生産と国産化への橋渡し</a:t>
            </a:r>
          </a:p>
        </p:txBody>
      </p:sp>
      <p:sp>
        <p:nvSpPr>
          <p:cNvPr id="5" name="TextBox 4"/>
          <p:cNvSpPr txBox="1"/>
          <p:nvPr/>
        </p:nvSpPr>
        <p:spPr>
          <a:xfrm>
            <a:off x="502920" y="1335024"/>
            <a:ext cx="11978640" cy="438912"/>
          </a:xfrm>
          <a:prstGeom prst="rect">
            <a:avLst/>
          </a:prstGeom>
          <a:noFill/>
        </p:spPr>
        <p:txBody>
          <a:bodyPr wrap="square" lIns="0" rIns="0" tIns="0" bIns="0">
            <a:spAutoFit/>
          </a:bodyPr>
          <a:lstStyle/>
          <a:p>
            <a:pPr>
              <a:lnSpc>
                <a:spcPct val="113000"/>
              </a:lnSpc>
              <a:spcAft>
                <a:spcPts val="300"/>
              </a:spcAft>
            </a:pPr>
            <a:r>
              <a:rPr sz="1600" b="0">
                <a:solidFill>
                  <a:srgbClr val="56677C"/>
                </a:solidFill>
                <a:latin typeface="Noto Sans CJK JP"/>
                <a:ea typeface="Noto Sans CJK JP"/>
              </a:rPr>
              <a:t>生産量だけでなく、TKDN（国産化率）の達成が継続供給の制約になる。</a:t>
            </a:r>
          </a:p>
        </p:txBody>
      </p:sp>
      <p:sp>
        <p:nvSpPr>
          <p:cNvPr id="6" name="Rectangle 5"/>
          <p:cNvSpPr/>
          <p:nvPr/>
        </p:nvSpPr>
        <p:spPr>
          <a:xfrm>
            <a:off x="502920" y="7114032"/>
            <a:ext cx="11978640" cy="10972"/>
          </a:xfrm>
          <a:prstGeom prst="rect">
            <a:avLst/>
          </a:prstGeom>
          <a:solidFill>
            <a:srgbClr val="D9E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7178040"/>
            <a:ext cx="10972800" cy="109728"/>
          </a:xfrm>
          <a:prstGeom prst="rect">
            <a:avLst/>
          </a:prstGeom>
          <a:noFill/>
        </p:spPr>
        <p:txBody>
          <a:bodyPr wrap="square" lIns="0" rIns="0" tIns="0" bIns="0">
            <a:spAutoFit/>
          </a:bodyPr>
          <a:lstStyle/>
          <a:p>
            <a:pPr>
              <a:lnSpc>
                <a:spcPct val="113000"/>
              </a:lnSpc>
              <a:spcAft>
                <a:spcPts val="300"/>
              </a:spcAft>
            </a:pPr>
            <a:r>
              <a:rPr sz="800" b="0">
                <a:solidFill>
                  <a:srgbClr val="56677C"/>
                </a:solidFill>
                <a:latin typeface="Noto Sans CJK JP"/>
                <a:ea typeface="Noto Sans CJK JP"/>
              </a:rPr>
              <a:t>東南アジア自動車制度｜公開一次情報の確認日：2026-10-06｜影響・矢印は分析仮説</a:t>
            </a:r>
          </a:p>
        </p:txBody>
      </p:sp>
      <p:sp>
        <p:nvSpPr>
          <p:cNvPr id="8" name="TextBox 7"/>
          <p:cNvSpPr txBox="1"/>
          <p:nvPr/>
        </p:nvSpPr>
        <p:spPr>
          <a:xfrm>
            <a:off x="12024360" y="7159752"/>
            <a:ext cx="457200" cy="137160"/>
          </a:xfrm>
          <a:prstGeom prst="rect">
            <a:avLst/>
          </a:prstGeom>
          <a:noFill/>
        </p:spPr>
        <p:txBody>
          <a:bodyPr wrap="square" lIns="0" rIns="0" tIns="0" bIns="0">
            <a:spAutoFit/>
          </a:bodyPr>
          <a:lstStyle/>
          <a:p>
            <a:pPr>
              <a:lnSpc>
                <a:spcPct val="113000"/>
              </a:lnSpc>
              <a:spcAft>
                <a:spcPts val="300"/>
              </a:spcAft>
            </a:pPr>
            <a:r>
              <a:rPr sz="900" b="0">
                <a:solidFill>
                  <a:srgbClr val="56677C"/>
                </a:solidFill>
                <a:latin typeface="Noto Sans CJK JP"/>
                <a:ea typeface="Noto Sans CJK JP"/>
              </a:rPr>
              <a:t>05</a:t>
            </a:r>
          </a:p>
        </p:txBody>
      </p:sp>
      <p:sp>
        <p:nvSpPr>
          <p:cNvPr id="9" name="TextBox 8"/>
          <p:cNvSpPr txBox="1"/>
          <p:nvPr/>
        </p:nvSpPr>
        <p:spPr>
          <a:xfrm>
            <a:off x="548640" y="1810512"/>
            <a:ext cx="7955279" cy="228600"/>
          </a:xfrm>
          <a:prstGeom prst="rect">
            <a:avLst/>
          </a:prstGeom>
          <a:noFill/>
        </p:spPr>
        <p:txBody>
          <a:bodyPr wrap="square" lIns="0" rIns="0" tIns="0" bIns="0">
            <a:spAutoFit/>
          </a:bodyPr>
          <a:lstStyle/>
          <a:p>
            <a:pPr>
              <a:lnSpc>
                <a:spcPct val="113000"/>
              </a:lnSpc>
              <a:spcAft>
                <a:spcPts val="300"/>
              </a:spcAft>
            </a:pPr>
            <a:r>
              <a:rPr sz="1100" b="1">
                <a:solidFill>
                  <a:srgbClr val="007F82"/>
                </a:solidFill>
                <a:latin typeface="Noto Sans CJK JP"/>
                <a:ea typeface="Noto Sans CJK JP"/>
              </a:rPr>
              <a:t>制度・対象・期間（政府／当局が公表した事実）</a:t>
            </a:r>
          </a:p>
        </p:txBody>
      </p:sp>
      <p:sp>
        <p:nvSpPr>
          <p:cNvPr id="10" name="TextBox 9"/>
          <p:cNvSpPr txBox="1"/>
          <p:nvPr/>
        </p:nvSpPr>
        <p:spPr>
          <a:xfrm>
            <a:off x="8778240" y="1810512"/>
            <a:ext cx="3657600" cy="228600"/>
          </a:xfrm>
          <a:prstGeom prst="rect">
            <a:avLst/>
          </a:prstGeom>
          <a:noFill/>
        </p:spPr>
        <p:txBody>
          <a:bodyPr wrap="square" lIns="0" rIns="0" tIns="0" bIns="0">
            <a:spAutoFit/>
          </a:bodyPr>
          <a:lstStyle/>
          <a:p>
            <a:pPr>
              <a:lnSpc>
                <a:spcPct val="113000"/>
              </a:lnSpc>
              <a:spcAft>
                <a:spcPts val="300"/>
              </a:spcAft>
            </a:pPr>
            <a:r>
              <a:rPr sz="1100" b="1">
                <a:solidFill>
                  <a:srgbClr val="2164A5"/>
                </a:solidFill>
                <a:latin typeface="Noto Sans CJK JP"/>
                <a:ea typeface="Noto Sans CJK JP"/>
              </a:rPr>
              <a:t>OEMへの影響（以下は分析上の推論）</a:t>
            </a:r>
          </a:p>
        </p:txBody>
      </p:sp>
      <p:sp>
        <p:nvSpPr>
          <p:cNvPr id="11" name="Rectangle 10"/>
          <p:cNvSpPr/>
          <p:nvPr/>
        </p:nvSpPr>
        <p:spPr>
          <a:xfrm>
            <a:off x="548640" y="2048256"/>
            <a:ext cx="7863840" cy="969264"/>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641080" y="2048256"/>
            <a:ext cx="3840480" cy="969264"/>
          </a:xfrm>
          <a:prstGeom prst="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 y="2130552"/>
            <a:ext cx="7498079" cy="265176"/>
          </a:xfrm>
          <a:prstGeom prst="rect">
            <a:avLst/>
          </a:prstGeom>
          <a:noFill/>
        </p:spPr>
        <p:txBody>
          <a:bodyPr wrap="square" lIns="0" rIns="0" tIns="0" bIns="0">
            <a:spAutoFit/>
          </a:bodyPr>
          <a:lstStyle/>
          <a:p>
            <a:pPr>
              <a:lnSpc>
                <a:spcPct val="113000"/>
              </a:lnSpc>
              <a:spcAft>
                <a:spcPts val="300"/>
              </a:spcAft>
            </a:pPr>
            <a:r>
              <a:rPr sz="1600" b="1">
                <a:solidFill>
                  <a:srgbClr val="007F82"/>
                </a:solidFill>
                <a:latin typeface="Noto Sans CJK JP"/>
                <a:ea typeface="Noto Sans CJK JP"/>
              </a:rPr>
              <a:t>四輪BEVの国産化率：TKDN [1]</a:t>
            </a:r>
          </a:p>
        </p:txBody>
      </p:sp>
      <p:sp>
        <p:nvSpPr>
          <p:cNvPr id="14" name="TextBox 13"/>
          <p:cNvSpPr txBox="1"/>
          <p:nvPr/>
        </p:nvSpPr>
        <p:spPr>
          <a:xfrm>
            <a:off x="713232" y="2423160"/>
            <a:ext cx="7498079" cy="594360"/>
          </a:xfrm>
          <a:prstGeom prst="rect">
            <a:avLst/>
          </a:prstGeom>
          <a:noFill/>
        </p:spPr>
        <p:txBody>
          <a:bodyPr wrap="square" lIns="0" rIns="0" tIns="0" bIns="0">
            <a:spAutoFit/>
          </a:bodyPr>
          <a:lstStyle/>
          <a:p>
            <a:pPr>
              <a:lnSpc>
                <a:spcPct val="113000"/>
              </a:lnSpc>
              <a:spcAft>
                <a:spcPts val="300"/>
              </a:spcAft>
            </a:pPr>
            <a:r>
              <a:rPr sz="1400" b="0">
                <a:solidFill>
                  <a:srgbClr val="172B4D"/>
                </a:solidFill>
                <a:latin typeface="Noto Sans CJK JP"/>
                <a:ea typeface="Noto Sans CJK JP"/>
              </a:rPr>
              <a:t>大統領令79/2023 第8条：2022–26年は40％以上、2027–29年は60％以上、2030年以降は80％以上。計算方法は工業省規則による。</a:t>
            </a:r>
          </a:p>
        </p:txBody>
      </p:sp>
      <p:sp>
        <p:nvSpPr>
          <p:cNvPr id="15" name="TextBox 14"/>
          <p:cNvSpPr txBox="1"/>
          <p:nvPr/>
        </p:nvSpPr>
        <p:spPr>
          <a:xfrm>
            <a:off x="8796528" y="2121408"/>
            <a:ext cx="3566160" cy="274320"/>
          </a:xfrm>
          <a:prstGeom prst="rect">
            <a:avLst/>
          </a:prstGeom>
          <a:noFill/>
        </p:spPr>
        <p:txBody>
          <a:bodyPr wrap="square" lIns="0" rIns="0" tIns="0" bIns="0">
            <a:spAutoFit/>
          </a:bodyPr>
          <a:lstStyle/>
          <a:p>
            <a:pPr>
              <a:lnSpc>
                <a:spcPct val="113000"/>
              </a:lnSpc>
              <a:spcAft>
                <a:spcPts val="300"/>
              </a:spcAft>
            </a:pPr>
            <a:r>
              <a:rPr sz="1350" b="1">
                <a:solidFill>
                  <a:srgbClr val="2164A5"/>
                </a:solidFill>
                <a:latin typeface="Noto Sans CJK JP"/>
                <a:ea typeface="Noto Sans CJK JP"/>
              </a:rPr>
              <a:t>輸入先行のBEV新規参入者</a:t>
            </a:r>
          </a:p>
        </p:txBody>
      </p:sp>
      <p:sp>
        <p:nvSpPr>
          <p:cNvPr id="16" name="TextBox 15"/>
          <p:cNvSpPr txBox="1"/>
          <p:nvPr/>
        </p:nvSpPr>
        <p:spPr>
          <a:xfrm>
            <a:off x="8796528" y="2377440"/>
            <a:ext cx="3511296" cy="630936"/>
          </a:xfrm>
          <a:prstGeom prst="rect">
            <a:avLst/>
          </a:prstGeom>
          <a:noFill/>
        </p:spPr>
        <p:txBody>
          <a:bodyPr wrap="square" lIns="0" rIns="0" tIns="0" bIns="0">
            <a:spAutoFit/>
          </a:bodyPr>
          <a:lstStyle/>
          <a:p>
            <a:pPr>
              <a:lnSpc>
                <a:spcPct val="113000"/>
              </a:lnSpc>
              <a:spcAft>
                <a:spcPts val="300"/>
              </a:spcAft>
            </a:pPr>
            <a:r>
              <a:rPr sz="1250" b="0">
                <a:solidFill>
                  <a:srgbClr val="172B4D"/>
                </a:solidFill>
                <a:latin typeface="Noto Sans CJK JP"/>
                <a:ea typeface="Noto Sans CJK JP"/>
              </a:rPr>
              <a:t>BYD・Geely・VinFast等を分析する際は、個社の優遇承認・工場稼働を確認。輸入だけで成長を延長しにくい。</a:t>
            </a:r>
          </a:p>
        </p:txBody>
      </p:sp>
      <p:sp>
        <p:nvSpPr>
          <p:cNvPr id="17" name="Rectangle 16"/>
          <p:cNvSpPr/>
          <p:nvPr/>
        </p:nvSpPr>
        <p:spPr>
          <a:xfrm>
            <a:off x="548640" y="3072384"/>
            <a:ext cx="7863840" cy="969264"/>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641080" y="3072384"/>
            <a:ext cx="3840480" cy="969264"/>
          </a:xfrm>
          <a:prstGeom prst="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3232" y="3154680"/>
            <a:ext cx="7498079" cy="265176"/>
          </a:xfrm>
          <a:prstGeom prst="rect">
            <a:avLst/>
          </a:prstGeom>
          <a:noFill/>
        </p:spPr>
        <p:txBody>
          <a:bodyPr wrap="square" lIns="0" rIns="0" tIns="0" bIns="0">
            <a:spAutoFit/>
          </a:bodyPr>
          <a:lstStyle/>
          <a:p>
            <a:pPr>
              <a:lnSpc>
                <a:spcPct val="113000"/>
              </a:lnSpc>
              <a:spcAft>
                <a:spcPts val="300"/>
              </a:spcAft>
            </a:pPr>
            <a:r>
              <a:rPr sz="1600" b="1">
                <a:solidFill>
                  <a:srgbClr val="007F82"/>
                </a:solidFill>
                <a:latin typeface="Noto Sans CJK JP"/>
                <a:ea typeface="Noto Sans CJK JP"/>
              </a:rPr>
              <a:t>輸入優遇の利用には生産コミット [2]</a:t>
            </a:r>
          </a:p>
        </p:txBody>
      </p:sp>
      <p:sp>
        <p:nvSpPr>
          <p:cNvPr id="20" name="TextBox 19"/>
          <p:cNvSpPr txBox="1"/>
          <p:nvPr/>
        </p:nvSpPr>
        <p:spPr>
          <a:xfrm>
            <a:off x="713232" y="3447288"/>
            <a:ext cx="7498079" cy="594360"/>
          </a:xfrm>
          <a:prstGeom prst="rect">
            <a:avLst/>
          </a:prstGeom>
          <a:noFill/>
        </p:spPr>
        <p:txBody>
          <a:bodyPr wrap="square" lIns="0" rIns="0" tIns="0" bIns="0">
            <a:spAutoFit/>
          </a:bodyPr>
          <a:lstStyle/>
          <a:p>
            <a:pPr>
              <a:lnSpc>
                <a:spcPct val="113000"/>
              </a:lnSpc>
              <a:spcAft>
                <a:spcPts val="300"/>
              </a:spcAft>
            </a:pPr>
            <a:r>
              <a:rPr sz="1400" b="0">
                <a:solidFill>
                  <a:srgbClr val="172B4D"/>
                </a:solidFill>
                <a:latin typeface="Noto Sans CJK JP"/>
                <a:ea typeface="Noto Sans CJK JP"/>
              </a:rPr>
              <a:t>規則6/2023：輸入等と少なくとも同数量・同等の技術仕様を現地生産。2026年1月1日までに商業生産可能、2027年末までに生産。銀行保証・未達制裁を規定。</a:t>
            </a:r>
          </a:p>
        </p:txBody>
      </p:sp>
      <p:sp>
        <p:nvSpPr>
          <p:cNvPr id="21" name="TextBox 20"/>
          <p:cNvSpPr txBox="1"/>
          <p:nvPr/>
        </p:nvSpPr>
        <p:spPr>
          <a:xfrm>
            <a:off x="8796528" y="3145536"/>
            <a:ext cx="3566160" cy="274320"/>
          </a:xfrm>
          <a:prstGeom prst="rect">
            <a:avLst/>
          </a:prstGeom>
          <a:noFill/>
        </p:spPr>
        <p:txBody>
          <a:bodyPr wrap="square" lIns="0" rIns="0" tIns="0" bIns="0">
            <a:spAutoFit/>
          </a:bodyPr>
          <a:lstStyle/>
          <a:p>
            <a:pPr>
              <a:lnSpc>
                <a:spcPct val="113000"/>
              </a:lnSpc>
              <a:spcAft>
                <a:spcPts val="300"/>
              </a:spcAft>
            </a:pPr>
            <a:r>
              <a:rPr sz="1350" b="1">
                <a:solidFill>
                  <a:srgbClr val="2164A5"/>
                </a:solidFill>
                <a:latin typeface="Noto Sans CJK JP"/>
                <a:ea typeface="Noto Sans CJK JP"/>
              </a:rPr>
              <a:t>現地電池・部品を確保するOEM</a:t>
            </a:r>
          </a:p>
        </p:txBody>
      </p:sp>
      <p:sp>
        <p:nvSpPr>
          <p:cNvPr id="22" name="TextBox 21"/>
          <p:cNvSpPr txBox="1"/>
          <p:nvPr/>
        </p:nvSpPr>
        <p:spPr>
          <a:xfrm>
            <a:off x="8796528" y="3401568"/>
            <a:ext cx="3511296" cy="630936"/>
          </a:xfrm>
          <a:prstGeom prst="rect">
            <a:avLst/>
          </a:prstGeom>
          <a:noFill/>
        </p:spPr>
        <p:txBody>
          <a:bodyPr wrap="square" lIns="0" rIns="0" tIns="0" bIns="0">
            <a:spAutoFit/>
          </a:bodyPr>
          <a:lstStyle/>
          <a:p>
            <a:pPr>
              <a:lnSpc>
                <a:spcPct val="113000"/>
              </a:lnSpc>
              <a:spcAft>
                <a:spcPts val="300"/>
              </a:spcAft>
            </a:pPr>
            <a:r>
              <a:rPr sz="1250" b="0">
                <a:solidFill>
                  <a:srgbClr val="172B4D"/>
                </a:solidFill>
                <a:latin typeface="Noto Sans CJK JP"/>
                <a:ea typeface="Noto Sans CJK JP"/>
              </a:rPr>
              <a:t>2027年の60％基準に対応しやすい。電池を含む調達網が、価格と供給継続の差を生む。</a:t>
            </a:r>
          </a:p>
        </p:txBody>
      </p:sp>
      <p:sp>
        <p:nvSpPr>
          <p:cNvPr id="23" name="Rectangle 22"/>
          <p:cNvSpPr/>
          <p:nvPr/>
        </p:nvSpPr>
        <p:spPr>
          <a:xfrm>
            <a:off x="548640" y="4096512"/>
            <a:ext cx="7863840" cy="969264"/>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641080" y="4096512"/>
            <a:ext cx="3840480" cy="969264"/>
          </a:xfrm>
          <a:prstGeom prst="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3232" y="4178808"/>
            <a:ext cx="7498079" cy="265176"/>
          </a:xfrm>
          <a:prstGeom prst="rect">
            <a:avLst/>
          </a:prstGeom>
          <a:noFill/>
        </p:spPr>
        <p:txBody>
          <a:bodyPr wrap="square" lIns="0" rIns="0" tIns="0" bIns="0">
            <a:spAutoFit/>
          </a:bodyPr>
          <a:lstStyle/>
          <a:p>
            <a:pPr>
              <a:lnSpc>
                <a:spcPct val="113000"/>
              </a:lnSpc>
              <a:spcAft>
                <a:spcPts val="300"/>
              </a:spcAft>
            </a:pPr>
            <a:r>
              <a:rPr sz="1600" b="1">
                <a:solidFill>
                  <a:srgbClr val="007F82"/>
                </a:solidFill>
                <a:latin typeface="Noto Sans CJK JP"/>
                <a:ea typeface="Noto Sans CJK JP"/>
              </a:rPr>
              <a:t>2025年優遇を2026年に自動延長しない [1,3]</a:t>
            </a:r>
          </a:p>
        </p:txBody>
      </p:sp>
      <p:sp>
        <p:nvSpPr>
          <p:cNvPr id="26" name="TextBox 25"/>
          <p:cNvSpPr txBox="1"/>
          <p:nvPr/>
        </p:nvSpPr>
        <p:spPr>
          <a:xfrm>
            <a:off x="713232" y="4471416"/>
            <a:ext cx="7498079" cy="594360"/>
          </a:xfrm>
          <a:prstGeom prst="rect">
            <a:avLst/>
          </a:prstGeom>
          <a:noFill/>
        </p:spPr>
        <p:txBody>
          <a:bodyPr wrap="square" lIns="0" rIns="0" tIns="0" bIns="0">
            <a:spAutoFit/>
          </a:bodyPr>
          <a:lstStyle/>
          <a:p>
            <a:pPr>
              <a:lnSpc>
                <a:spcPct val="113000"/>
              </a:lnSpc>
              <a:spcAft>
                <a:spcPts val="300"/>
              </a:spcAft>
            </a:pPr>
            <a:r>
              <a:rPr sz="1400" b="0">
                <a:solidFill>
                  <a:srgbClr val="172B4D"/>
                </a:solidFill>
                <a:latin typeface="Noto Sans CJK JP"/>
                <a:ea typeface="Noto Sans CJK JP"/>
              </a:rPr>
              <a:t>CBU輸入の特例期間は2025年末まで。PPN・HEV向けPPnBMの政府負担も2025年度規則。2026年の税恩典は別年度の成立規則を要確認。</a:t>
            </a:r>
          </a:p>
        </p:txBody>
      </p:sp>
      <p:sp>
        <p:nvSpPr>
          <p:cNvPr id="27" name="TextBox 26"/>
          <p:cNvSpPr txBox="1"/>
          <p:nvPr/>
        </p:nvSpPr>
        <p:spPr>
          <a:xfrm>
            <a:off x="8796528" y="4169664"/>
            <a:ext cx="3566160" cy="274320"/>
          </a:xfrm>
          <a:prstGeom prst="rect">
            <a:avLst/>
          </a:prstGeom>
          <a:noFill/>
        </p:spPr>
        <p:txBody>
          <a:bodyPr wrap="square" lIns="0" rIns="0" tIns="0" bIns="0">
            <a:spAutoFit/>
          </a:bodyPr>
          <a:lstStyle/>
          <a:p>
            <a:pPr>
              <a:lnSpc>
                <a:spcPct val="113000"/>
              </a:lnSpc>
              <a:spcAft>
                <a:spcPts val="300"/>
              </a:spcAft>
            </a:pPr>
            <a:r>
              <a:rPr sz="1350" b="1">
                <a:solidFill>
                  <a:srgbClr val="2164A5"/>
                </a:solidFill>
                <a:latin typeface="Noto Sans CJK JP"/>
                <a:ea typeface="Noto Sans CJK JP"/>
              </a:rPr>
              <a:t>日系HEV・既存組立OEM</a:t>
            </a:r>
          </a:p>
        </p:txBody>
      </p:sp>
      <p:sp>
        <p:nvSpPr>
          <p:cNvPr id="28" name="TextBox 27"/>
          <p:cNvSpPr txBox="1"/>
          <p:nvPr/>
        </p:nvSpPr>
        <p:spPr>
          <a:xfrm>
            <a:off x="8796528" y="4425696"/>
            <a:ext cx="3511296" cy="630936"/>
          </a:xfrm>
          <a:prstGeom prst="rect">
            <a:avLst/>
          </a:prstGeom>
          <a:noFill/>
        </p:spPr>
        <p:txBody>
          <a:bodyPr wrap="square" lIns="0" rIns="0" tIns="0" bIns="0">
            <a:spAutoFit/>
          </a:bodyPr>
          <a:lstStyle/>
          <a:p>
            <a:pPr>
              <a:lnSpc>
                <a:spcPct val="113000"/>
              </a:lnSpc>
              <a:spcAft>
                <a:spcPts val="300"/>
              </a:spcAft>
            </a:pPr>
            <a:r>
              <a:rPr sz="1250" b="0">
                <a:solidFill>
                  <a:srgbClr val="172B4D"/>
                </a:solidFill>
                <a:latin typeface="Noto Sans CJK JP"/>
                <a:ea typeface="Noto Sans CJK JP"/>
              </a:rPr>
              <a:t>BEVのTKDN達成をそのままHEVに適用しない。HEVの税区分と年度別恩典を別に確認する。</a:t>
            </a:r>
          </a:p>
        </p:txBody>
      </p:sp>
      <p:sp>
        <p:nvSpPr>
          <p:cNvPr id="29" name="TextBox 28"/>
          <p:cNvSpPr txBox="1"/>
          <p:nvPr/>
        </p:nvSpPr>
        <p:spPr>
          <a:xfrm>
            <a:off x="594360" y="5157216"/>
            <a:ext cx="11814048" cy="320040"/>
          </a:xfrm>
          <a:prstGeom prst="rect">
            <a:avLst/>
          </a:prstGeom>
          <a:noFill/>
        </p:spPr>
        <p:txBody>
          <a:bodyPr wrap="square" lIns="0" rIns="0" tIns="0" bIns="0">
            <a:spAutoFit/>
          </a:bodyPr>
          <a:lstStyle/>
          <a:p>
            <a:pPr>
              <a:lnSpc>
                <a:spcPct val="113000"/>
              </a:lnSpc>
              <a:spcAft>
                <a:spcPts val="300"/>
              </a:spcAft>
            </a:pPr>
            <a:r>
              <a:rPr sz="1080" b="0">
                <a:solidFill>
                  <a:srgbClr val="B57A14"/>
                </a:solidFill>
                <a:latin typeface="Noto Sans CJK JP"/>
                <a:ea typeface="Noto Sans CJK JP"/>
              </a:rPr>
              <a:t>分析：工場の稼働遅れは発売後の販売曲線より「発売時期・供給断」を変え得る。国産化成功時のλ低下は仮説。</a:t>
            </a:r>
          </a:p>
        </p:txBody>
      </p:sp>
      <p:sp>
        <p:nvSpPr>
          <p:cNvPr id="30" name="TextBox 29"/>
          <p:cNvSpPr txBox="1"/>
          <p:nvPr/>
        </p:nvSpPr>
        <p:spPr>
          <a:xfrm>
            <a:off x="548640" y="5504688"/>
            <a:ext cx="11887200" cy="182880"/>
          </a:xfrm>
          <a:prstGeom prst="rect">
            <a:avLst/>
          </a:prstGeom>
          <a:noFill/>
        </p:spPr>
        <p:txBody>
          <a:bodyPr wrap="square" lIns="0" rIns="0" tIns="0" bIns="0">
            <a:spAutoFit/>
          </a:bodyPr>
          <a:lstStyle/>
          <a:p>
            <a:pPr>
              <a:lnSpc>
                <a:spcPct val="113000"/>
              </a:lnSpc>
              <a:spcAft>
                <a:spcPts val="300"/>
              </a:spcAft>
            </a:pPr>
            <a:r>
              <a:rPr sz="930" b="1">
                <a:solidFill>
                  <a:srgbClr val="56677C"/>
                </a:solidFill>
                <a:latin typeface="Noto Sans CJK JP"/>
                <a:ea typeface="Noto Sans CJK JP"/>
              </a:rPr>
              <a:t>一次情報｜番号は制度欄に対応。URLをクリックして原文を開く。</a:t>
            </a:r>
          </a:p>
        </p:txBody>
      </p:sp>
      <p:sp>
        <p:nvSpPr>
          <p:cNvPr id="31" name="TextBox 30"/>
          <p:cNvSpPr txBox="1"/>
          <p:nvPr/>
        </p:nvSpPr>
        <p:spPr>
          <a:xfrm>
            <a:off x="548640" y="5724144"/>
            <a:ext cx="3429000" cy="274320"/>
          </a:xfrm>
          <a:prstGeom prst="rect">
            <a:avLst/>
          </a:prstGeom>
          <a:noFill/>
        </p:spPr>
        <p:txBody>
          <a:bodyPr wrap="square" lIns="0" rIns="0" tIns="0" bIns="0">
            <a:spAutoFit/>
          </a:bodyPr>
          <a:lstStyle/>
          <a:p>
            <a:pPr>
              <a:lnSpc>
                <a:spcPct val="113000"/>
              </a:lnSpc>
              <a:spcAft>
                <a:spcPts val="300"/>
              </a:spcAft>
            </a:pPr>
            <a:r>
              <a:rPr sz="960" b="1">
                <a:solidFill>
                  <a:srgbClr val="56677C"/>
                </a:solidFill>
                <a:latin typeface="Noto Sans CJK JP"/>
                <a:ea typeface="Noto Sans CJK JP"/>
              </a:rPr>
              <a:t>[1] 税務当局｜大統領令79/2023</a:t>
            </a:r>
          </a:p>
        </p:txBody>
      </p:sp>
      <p:sp>
        <p:nvSpPr>
          <p:cNvPr id="32" name="TextBox 31"/>
          <p:cNvSpPr txBox="1"/>
          <p:nvPr/>
        </p:nvSpPr>
        <p:spPr>
          <a:xfrm>
            <a:off x="4023360" y="5724144"/>
            <a:ext cx="8412480" cy="420624"/>
          </a:xfrm>
          <a:prstGeom prst="rect">
            <a:avLst/>
          </a:prstGeom>
          <a:noFill/>
        </p:spPr>
        <p:txBody>
          <a:bodyPr wrap="square" lIns="0" rIns="0" tIns="0" bIns="0">
            <a:spAutoFit/>
          </a:bodyPr>
          <a:lstStyle/>
          <a:p>
            <a:pPr>
              <a:lnSpc>
                <a:spcPct val="113000"/>
              </a:lnSpc>
              <a:spcAft>
                <a:spcPts val="300"/>
              </a:spcAft>
            </a:pPr>
            <a:r>
              <a:rPr sz="940" b="0">
                <a:solidFill>
                  <a:srgbClr val="2164A5"/>
                </a:solidFill>
                <a:latin typeface="Noto Sans CJK JP"/>
                <a:ea typeface="Noto Sans CJK JP"/>
                <a:hlinkClick r:id="rId2"/>
              </a:rPr>
              <a:t>https://pajak.go.id/id/peraturan/perubahan-atas-peraturan-presiden-nomor-55-tahun-2019-tentang-percepatan-program</a:t>
            </a:r>
          </a:p>
        </p:txBody>
      </p:sp>
      <p:sp>
        <p:nvSpPr>
          <p:cNvPr id="33" name="TextBox 32"/>
          <p:cNvSpPr txBox="1"/>
          <p:nvPr/>
        </p:nvSpPr>
        <p:spPr>
          <a:xfrm>
            <a:off x="548640" y="6153912"/>
            <a:ext cx="3429000" cy="274320"/>
          </a:xfrm>
          <a:prstGeom prst="rect">
            <a:avLst/>
          </a:prstGeom>
          <a:noFill/>
        </p:spPr>
        <p:txBody>
          <a:bodyPr wrap="square" lIns="0" rIns="0" tIns="0" bIns="0">
            <a:spAutoFit/>
          </a:bodyPr>
          <a:lstStyle/>
          <a:p>
            <a:pPr>
              <a:lnSpc>
                <a:spcPct val="113000"/>
              </a:lnSpc>
              <a:spcAft>
                <a:spcPts val="300"/>
              </a:spcAft>
            </a:pPr>
            <a:r>
              <a:rPr sz="960" b="1">
                <a:solidFill>
                  <a:srgbClr val="56677C"/>
                </a:solidFill>
                <a:latin typeface="Noto Sans CJK JP"/>
                <a:ea typeface="Noto Sans CJK JP"/>
              </a:rPr>
              <a:t>[2] BKPM｜規則6/2023 英訳</a:t>
            </a:r>
          </a:p>
        </p:txBody>
      </p:sp>
      <p:sp>
        <p:nvSpPr>
          <p:cNvPr id="34" name="TextBox 33"/>
          <p:cNvSpPr txBox="1"/>
          <p:nvPr/>
        </p:nvSpPr>
        <p:spPr>
          <a:xfrm>
            <a:off x="4023360" y="6153912"/>
            <a:ext cx="8412480" cy="420624"/>
          </a:xfrm>
          <a:prstGeom prst="rect">
            <a:avLst/>
          </a:prstGeom>
          <a:noFill/>
        </p:spPr>
        <p:txBody>
          <a:bodyPr wrap="square" lIns="0" rIns="0" tIns="0" bIns="0">
            <a:spAutoFit/>
          </a:bodyPr>
          <a:lstStyle/>
          <a:p>
            <a:pPr>
              <a:lnSpc>
                <a:spcPct val="113000"/>
              </a:lnSpc>
              <a:spcAft>
                <a:spcPts val="300"/>
              </a:spcAft>
            </a:pPr>
            <a:r>
              <a:rPr sz="940" b="0">
                <a:solidFill>
                  <a:srgbClr val="2164A5"/>
                </a:solidFill>
                <a:latin typeface="Noto Sans CJK JP"/>
                <a:ea typeface="Noto Sans CJK JP"/>
                <a:hlinkClick r:id="rId3"/>
              </a:rPr>
              <a:t>https://jdih-storage.bkpm.go.id/jdih/userfiles/documents/2024/4/2023Permeninvest006English.pdf</a:t>
            </a:r>
          </a:p>
        </p:txBody>
      </p:sp>
      <p:sp>
        <p:nvSpPr>
          <p:cNvPr id="35" name="TextBox 34"/>
          <p:cNvSpPr txBox="1"/>
          <p:nvPr/>
        </p:nvSpPr>
        <p:spPr>
          <a:xfrm>
            <a:off x="548640" y="6583679"/>
            <a:ext cx="3429000" cy="274320"/>
          </a:xfrm>
          <a:prstGeom prst="rect">
            <a:avLst/>
          </a:prstGeom>
          <a:noFill/>
        </p:spPr>
        <p:txBody>
          <a:bodyPr wrap="square" lIns="0" rIns="0" tIns="0" bIns="0">
            <a:spAutoFit/>
          </a:bodyPr>
          <a:lstStyle/>
          <a:p>
            <a:pPr>
              <a:lnSpc>
                <a:spcPct val="113000"/>
              </a:lnSpc>
              <a:spcAft>
                <a:spcPts val="300"/>
              </a:spcAft>
            </a:pPr>
            <a:r>
              <a:rPr sz="960" b="1">
                <a:solidFill>
                  <a:srgbClr val="56677C"/>
                </a:solidFill>
                <a:latin typeface="Noto Sans CJK JP"/>
                <a:ea typeface="Noto Sans CJK JP"/>
              </a:rPr>
              <a:t>[3] 財務省｜PMK12/2025</a:t>
            </a:r>
          </a:p>
        </p:txBody>
      </p:sp>
      <p:sp>
        <p:nvSpPr>
          <p:cNvPr id="36" name="TextBox 35"/>
          <p:cNvSpPr txBox="1"/>
          <p:nvPr/>
        </p:nvSpPr>
        <p:spPr>
          <a:xfrm>
            <a:off x="4023360" y="6583679"/>
            <a:ext cx="8412480" cy="420624"/>
          </a:xfrm>
          <a:prstGeom prst="rect">
            <a:avLst/>
          </a:prstGeom>
          <a:noFill/>
        </p:spPr>
        <p:txBody>
          <a:bodyPr wrap="square" lIns="0" rIns="0" tIns="0" bIns="0">
            <a:spAutoFit/>
          </a:bodyPr>
          <a:lstStyle/>
          <a:p>
            <a:pPr>
              <a:lnSpc>
                <a:spcPct val="113000"/>
              </a:lnSpc>
              <a:spcAft>
                <a:spcPts val="300"/>
              </a:spcAft>
            </a:pPr>
            <a:r>
              <a:rPr sz="940" b="0">
                <a:solidFill>
                  <a:srgbClr val="2164A5"/>
                </a:solidFill>
                <a:latin typeface="Noto Sans CJK JP"/>
                <a:ea typeface="Noto Sans CJK JP"/>
                <a:hlinkClick r:id="rId4"/>
              </a:rPr>
              <a:t>https://jdih.kemenkeu.go.id/dok/pmk-12-tahun-2025/files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3004596" cy="118872"/>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972800" cy="228600"/>
          </a:xfrm>
          <a:prstGeom prst="rect">
            <a:avLst/>
          </a:prstGeom>
          <a:noFill/>
        </p:spPr>
        <p:txBody>
          <a:bodyPr wrap="square" lIns="0" rIns="0" tIns="0" bIns="0">
            <a:spAutoFit/>
          </a:bodyPr>
          <a:lstStyle/>
          <a:p>
            <a:pPr>
              <a:lnSpc>
                <a:spcPct val="113000"/>
              </a:lnSpc>
              <a:spcAft>
                <a:spcPts val="300"/>
              </a:spcAft>
            </a:pPr>
            <a:r>
              <a:rPr sz="1000" b="1">
                <a:solidFill>
                  <a:srgbClr val="007F82"/>
                </a:solidFill>
                <a:latin typeface="Noto Sans CJK JP"/>
                <a:ea typeface="Noto Sans CJK JP"/>
              </a:rPr>
              <a:t>MALAYSIA</a:t>
            </a:r>
          </a:p>
        </p:txBody>
      </p:sp>
      <p:sp>
        <p:nvSpPr>
          <p:cNvPr id="4" name="TextBox 3"/>
          <p:cNvSpPr txBox="1"/>
          <p:nvPr/>
        </p:nvSpPr>
        <p:spPr>
          <a:xfrm>
            <a:off x="502920" y="685800"/>
            <a:ext cx="12024360" cy="566928"/>
          </a:xfrm>
          <a:prstGeom prst="rect">
            <a:avLst/>
          </a:prstGeom>
          <a:noFill/>
        </p:spPr>
        <p:txBody>
          <a:bodyPr wrap="square" lIns="0" rIns="0" tIns="0" bIns="0">
            <a:spAutoFit/>
          </a:bodyPr>
          <a:lstStyle/>
          <a:p>
            <a:pPr>
              <a:lnSpc>
                <a:spcPct val="113000"/>
              </a:lnSpc>
              <a:spcAft>
                <a:spcPts val="300"/>
              </a:spcAft>
            </a:pPr>
            <a:r>
              <a:rPr sz="2800" b="1">
                <a:solidFill>
                  <a:srgbClr val="172B4D"/>
                </a:solidFill>
                <a:latin typeface="Noto Sans CJK JP"/>
                <a:ea typeface="Noto Sans CJK JP"/>
              </a:rPr>
              <a:t>マレーシア｜低価格CBUの拡販から、CKDと輸出への転換を要求</a:t>
            </a:r>
          </a:p>
        </p:txBody>
      </p:sp>
      <p:sp>
        <p:nvSpPr>
          <p:cNvPr id="5" name="TextBox 4"/>
          <p:cNvSpPr txBox="1"/>
          <p:nvPr/>
        </p:nvSpPr>
        <p:spPr>
          <a:xfrm>
            <a:off x="502920" y="1335024"/>
            <a:ext cx="11978640" cy="438912"/>
          </a:xfrm>
          <a:prstGeom prst="rect">
            <a:avLst/>
          </a:prstGeom>
          <a:noFill/>
        </p:spPr>
        <p:txBody>
          <a:bodyPr wrap="square" lIns="0" rIns="0" tIns="0" bIns="0">
            <a:spAutoFit/>
          </a:bodyPr>
          <a:lstStyle/>
          <a:p>
            <a:pPr>
              <a:lnSpc>
                <a:spcPct val="113000"/>
              </a:lnSpc>
              <a:spcAft>
                <a:spcPts val="300"/>
              </a:spcAft>
            </a:pPr>
            <a:r>
              <a:rPr sz="1600" b="0">
                <a:solidFill>
                  <a:srgbClr val="56677C"/>
                </a:solidFill>
                <a:latin typeface="Noto Sans CJK JP"/>
                <a:ea typeface="Noto Sans CJK JP"/>
              </a:rPr>
              <a:t>2026年の変更を反映。CIF輸入価格、店頭OTR価格、個社の販売枠は別の条件。</a:t>
            </a:r>
          </a:p>
        </p:txBody>
      </p:sp>
      <p:sp>
        <p:nvSpPr>
          <p:cNvPr id="6" name="Rectangle 5"/>
          <p:cNvSpPr/>
          <p:nvPr/>
        </p:nvSpPr>
        <p:spPr>
          <a:xfrm>
            <a:off x="502920" y="7114032"/>
            <a:ext cx="11978640" cy="10972"/>
          </a:xfrm>
          <a:prstGeom prst="rect">
            <a:avLst/>
          </a:prstGeom>
          <a:solidFill>
            <a:srgbClr val="D9E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7178040"/>
            <a:ext cx="10972800" cy="109728"/>
          </a:xfrm>
          <a:prstGeom prst="rect">
            <a:avLst/>
          </a:prstGeom>
          <a:noFill/>
        </p:spPr>
        <p:txBody>
          <a:bodyPr wrap="square" lIns="0" rIns="0" tIns="0" bIns="0">
            <a:spAutoFit/>
          </a:bodyPr>
          <a:lstStyle/>
          <a:p>
            <a:pPr>
              <a:lnSpc>
                <a:spcPct val="113000"/>
              </a:lnSpc>
              <a:spcAft>
                <a:spcPts val="300"/>
              </a:spcAft>
            </a:pPr>
            <a:r>
              <a:rPr sz="800" b="0">
                <a:solidFill>
                  <a:srgbClr val="56677C"/>
                </a:solidFill>
                <a:latin typeface="Noto Sans CJK JP"/>
                <a:ea typeface="Noto Sans CJK JP"/>
              </a:rPr>
              <a:t>東南アジア自動車制度｜公開一次情報の確認日：2026-10-06｜影響・矢印は分析仮説</a:t>
            </a:r>
          </a:p>
        </p:txBody>
      </p:sp>
      <p:sp>
        <p:nvSpPr>
          <p:cNvPr id="8" name="TextBox 7"/>
          <p:cNvSpPr txBox="1"/>
          <p:nvPr/>
        </p:nvSpPr>
        <p:spPr>
          <a:xfrm>
            <a:off x="12024360" y="7159752"/>
            <a:ext cx="457200" cy="137160"/>
          </a:xfrm>
          <a:prstGeom prst="rect">
            <a:avLst/>
          </a:prstGeom>
          <a:noFill/>
        </p:spPr>
        <p:txBody>
          <a:bodyPr wrap="square" lIns="0" rIns="0" tIns="0" bIns="0">
            <a:spAutoFit/>
          </a:bodyPr>
          <a:lstStyle/>
          <a:p>
            <a:pPr>
              <a:lnSpc>
                <a:spcPct val="113000"/>
              </a:lnSpc>
              <a:spcAft>
                <a:spcPts val="300"/>
              </a:spcAft>
            </a:pPr>
            <a:r>
              <a:rPr sz="900" b="0">
                <a:solidFill>
                  <a:srgbClr val="56677C"/>
                </a:solidFill>
                <a:latin typeface="Noto Sans CJK JP"/>
                <a:ea typeface="Noto Sans CJK JP"/>
              </a:rPr>
              <a:t>06</a:t>
            </a:r>
          </a:p>
        </p:txBody>
      </p:sp>
      <p:sp>
        <p:nvSpPr>
          <p:cNvPr id="9" name="TextBox 8"/>
          <p:cNvSpPr txBox="1"/>
          <p:nvPr/>
        </p:nvSpPr>
        <p:spPr>
          <a:xfrm>
            <a:off x="548640" y="1810512"/>
            <a:ext cx="7955279" cy="228600"/>
          </a:xfrm>
          <a:prstGeom prst="rect">
            <a:avLst/>
          </a:prstGeom>
          <a:noFill/>
        </p:spPr>
        <p:txBody>
          <a:bodyPr wrap="square" lIns="0" rIns="0" tIns="0" bIns="0">
            <a:spAutoFit/>
          </a:bodyPr>
          <a:lstStyle/>
          <a:p>
            <a:pPr>
              <a:lnSpc>
                <a:spcPct val="113000"/>
              </a:lnSpc>
              <a:spcAft>
                <a:spcPts val="300"/>
              </a:spcAft>
            </a:pPr>
            <a:r>
              <a:rPr sz="1100" b="1">
                <a:solidFill>
                  <a:srgbClr val="007F82"/>
                </a:solidFill>
                <a:latin typeface="Noto Sans CJK JP"/>
                <a:ea typeface="Noto Sans CJK JP"/>
              </a:rPr>
              <a:t>制度・対象・期間（政府／当局が公表した事実）</a:t>
            </a:r>
          </a:p>
        </p:txBody>
      </p:sp>
      <p:sp>
        <p:nvSpPr>
          <p:cNvPr id="10" name="TextBox 9"/>
          <p:cNvSpPr txBox="1"/>
          <p:nvPr/>
        </p:nvSpPr>
        <p:spPr>
          <a:xfrm>
            <a:off x="8778240" y="1810512"/>
            <a:ext cx="3657600" cy="228600"/>
          </a:xfrm>
          <a:prstGeom prst="rect">
            <a:avLst/>
          </a:prstGeom>
          <a:noFill/>
        </p:spPr>
        <p:txBody>
          <a:bodyPr wrap="square" lIns="0" rIns="0" tIns="0" bIns="0">
            <a:spAutoFit/>
          </a:bodyPr>
          <a:lstStyle/>
          <a:p>
            <a:pPr>
              <a:lnSpc>
                <a:spcPct val="113000"/>
              </a:lnSpc>
              <a:spcAft>
                <a:spcPts val="300"/>
              </a:spcAft>
            </a:pPr>
            <a:r>
              <a:rPr sz="1100" b="1">
                <a:solidFill>
                  <a:srgbClr val="2164A5"/>
                </a:solidFill>
                <a:latin typeface="Noto Sans CJK JP"/>
                <a:ea typeface="Noto Sans CJK JP"/>
              </a:rPr>
              <a:t>OEMへの影響（以下は分析上の推論）</a:t>
            </a:r>
          </a:p>
        </p:txBody>
      </p:sp>
      <p:sp>
        <p:nvSpPr>
          <p:cNvPr id="11" name="Rectangle 10"/>
          <p:cNvSpPr/>
          <p:nvPr/>
        </p:nvSpPr>
        <p:spPr>
          <a:xfrm>
            <a:off x="548640" y="2048256"/>
            <a:ext cx="7863840" cy="969264"/>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641080" y="2048256"/>
            <a:ext cx="3840480" cy="969264"/>
          </a:xfrm>
          <a:prstGeom prst="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 y="2130552"/>
            <a:ext cx="7498079" cy="265176"/>
          </a:xfrm>
          <a:prstGeom prst="rect">
            <a:avLst/>
          </a:prstGeom>
          <a:noFill/>
        </p:spPr>
        <p:txBody>
          <a:bodyPr wrap="square" lIns="0" rIns="0" tIns="0" bIns="0">
            <a:spAutoFit/>
          </a:bodyPr>
          <a:lstStyle/>
          <a:p>
            <a:pPr>
              <a:lnSpc>
                <a:spcPct val="113000"/>
              </a:lnSpc>
              <a:spcAft>
                <a:spcPts val="300"/>
              </a:spcAft>
            </a:pPr>
            <a:r>
              <a:rPr sz="1600" b="1">
                <a:solidFill>
                  <a:srgbClr val="007F82"/>
                </a:solidFill>
                <a:latin typeface="Noto Sans CJK JP"/>
                <a:ea typeface="Noto Sans CJK JP"/>
              </a:rPr>
              <a:t>2026年7月1日以降のCBU条件 [1]</a:t>
            </a:r>
          </a:p>
        </p:txBody>
      </p:sp>
      <p:sp>
        <p:nvSpPr>
          <p:cNvPr id="14" name="TextBox 13"/>
          <p:cNvSpPr txBox="1"/>
          <p:nvPr/>
        </p:nvSpPr>
        <p:spPr>
          <a:xfrm>
            <a:off x="713232" y="2423160"/>
            <a:ext cx="7498079" cy="594360"/>
          </a:xfrm>
          <a:prstGeom prst="rect">
            <a:avLst/>
          </a:prstGeom>
          <a:noFill/>
        </p:spPr>
        <p:txBody>
          <a:bodyPr wrap="square" lIns="0" rIns="0" tIns="0" bIns="0">
            <a:spAutoFit/>
          </a:bodyPr>
          <a:lstStyle/>
          <a:p>
            <a:pPr>
              <a:lnSpc>
                <a:spcPct val="113000"/>
              </a:lnSpc>
              <a:spcAft>
                <a:spcPts val="300"/>
              </a:spcAft>
            </a:pPr>
            <a:r>
              <a:rPr sz="1400" b="0">
                <a:solidFill>
                  <a:srgbClr val="172B4D"/>
                </a:solidFill>
                <a:latin typeface="Noto Sans CJK JP"/>
                <a:ea typeface="Noto Sans CJK JP"/>
              </a:rPr>
              <a:t>MITI：新規輸入EV CBUはCIF価格RM200,000以上、モーター出力180kW以上。既存在庫・港湾在庫・輸送中在庫は特例条件で売り切りを認める。</a:t>
            </a:r>
          </a:p>
        </p:txBody>
      </p:sp>
      <p:sp>
        <p:nvSpPr>
          <p:cNvPr id="15" name="TextBox 14"/>
          <p:cNvSpPr txBox="1"/>
          <p:nvPr/>
        </p:nvSpPr>
        <p:spPr>
          <a:xfrm>
            <a:off x="8796528" y="2121408"/>
            <a:ext cx="3566160" cy="274320"/>
          </a:xfrm>
          <a:prstGeom prst="rect">
            <a:avLst/>
          </a:prstGeom>
          <a:noFill/>
        </p:spPr>
        <p:txBody>
          <a:bodyPr wrap="square" lIns="0" rIns="0" tIns="0" bIns="0">
            <a:spAutoFit/>
          </a:bodyPr>
          <a:lstStyle/>
          <a:p>
            <a:pPr>
              <a:lnSpc>
                <a:spcPct val="113000"/>
              </a:lnSpc>
              <a:spcAft>
                <a:spcPts val="300"/>
              </a:spcAft>
            </a:pPr>
            <a:r>
              <a:rPr sz="1350" b="1">
                <a:solidFill>
                  <a:srgbClr val="2164A5"/>
                </a:solidFill>
                <a:latin typeface="Noto Sans CJK JP"/>
                <a:ea typeface="Noto Sans CJK JP"/>
              </a:rPr>
              <a:t>安価な中国製CBUを輸入するOEM</a:t>
            </a:r>
          </a:p>
        </p:txBody>
      </p:sp>
      <p:sp>
        <p:nvSpPr>
          <p:cNvPr id="16" name="TextBox 15"/>
          <p:cNvSpPr txBox="1"/>
          <p:nvPr/>
        </p:nvSpPr>
        <p:spPr>
          <a:xfrm>
            <a:off x="8796528" y="2377440"/>
            <a:ext cx="3511296" cy="630936"/>
          </a:xfrm>
          <a:prstGeom prst="rect">
            <a:avLst/>
          </a:prstGeom>
          <a:noFill/>
        </p:spPr>
        <p:txBody>
          <a:bodyPr wrap="square" lIns="0" rIns="0" tIns="0" bIns="0">
            <a:spAutoFit/>
          </a:bodyPr>
          <a:lstStyle/>
          <a:p>
            <a:pPr>
              <a:lnSpc>
                <a:spcPct val="113000"/>
              </a:lnSpc>
              <a:spcAft>
                <a:spcPts val="300"/>
              </a:spcAft>
            </a:pPr>
            <a:r>
              <a:rPr sz="1250" b="0">
                <a:solidFill>
                  <a:srgbClr val="172B4D"/>
                </a:solidFill>
                <a:latin typeface="Noto Sans CJK JP"/>
                <a:ea typeface="Noto Sans CJK JP"/>
              </a:rPr>
              <a:t>新規輸入で従来の低価格帯を維持しにくい。既存在庫の売上と、新条件の下での補充を分けて見る。</a:t>
            </a:r>
          </a:p>
        </p:txBody>
      </p:sp>
      <p:sp>
        <p:nvSpPr>
          <p:cNvPr id="17" name="Rectangle 16"/>
          <p:cNvSpPr/>
          <p:nvPr/>
        </p:nvSpPr>
        <p:spPr>
          <a:xfrm>
            <a:off x="548640" y="3072384"/>
            <a:ext cx="7863840" cy="969264"/>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641080" y="3072384"/>
            <a:ext cx="3840480" cy="969264"/>
          </a:xfrm>
          <a:prstGeom prst="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3232" y="3154680"/>
            <a:ext cx="7498079" cy="265176"/>
          </a:xfrm>
          <a:prstGeom prst="rect">
            <a:avLst/>
          </a:prstGeom>
          <a:noFill/>
        </p:spPr>
        <p:txBody>
          <a:bodyPr wrap="square" lIns="0" rIns="0" tIns="0" bIns="0">
            <a:spAutoFit/>
          </a:bodyPr>
          <a:lstStyle/>
          <a:p>
            <a:pPr>
              <a:lnSpc>
                <a:spcPct val="113000"/>
              </a:lnSpc>
              <a:spcAft>
                <a:spcPts val="300"/>
              </a:spcAft>
            </a:pPr>
            <a:r>
              <a:rPr sz="1600" b="1">
                <a:solidFill>
                  <a:srgbClr val="007F82"/>
                </a:solidFill>
                <a:latin typeface="Noto Sans CJK JP"/>
                <a:ea typeface="Noto Sans CJK JP"/>
              </a:rPr>
              <a:t>CKD優遇と試験輸入枠 [2]</a:t>
            </a:r>
          </a:p>
        </p:txBody>
      </p:sp>
      <p:sp>
        <p:nvSpPr>
          <p:cNvPr id="20" name="TextBox 19"/>
          <p:cNvSpPr txBox="1"/>
          <p:nvPr/>
        </p:nvSpPr>
        <p:spPr>
          <a:xfrm>
            <a:off x="713232" y="3447288"/>
            <a:ext cx="7498079" cy="594360"/>
          </a:xfrm>
          <a:prstGeom prst="rect">
            <a:avLst/>
          </a:prstGeom>
          <a:noFill/>
        </p:spPr>
        <p:txBody>
          <a:bodyPr wrap="square" lIns="0" rIns="0" tIns="0" bIns="0">
            <a:spAutoFit/>
          </a:bodyPr>
          <a:lstStyle/>
          <a:p>
            <a:pPr>
              <a:lnSpc>
                <a:spcPct val="113000"/>
              </a:lnSpc>
              <a:spcAft>
                <a:spcPts val="300"/>
              </a:spcAft>
            </a:pPr>
            <a:r>
              <a:rPr sz="1400" b="0">
                <a:solidFill>
                  <a:srgbClr val="172B4D"/>
                </a:solidFill>
                <a:latin typeface="Noto Sans CJK JP"/>
                <a:ea typeface="Noto Sans CJK JP"/>
              </a:rPr>
              <a:t>CKD EVの物品税・売上税免除は2027年末まで。AP MRA EVは組立承認等が必要で、乗用車は原則1モデル200台の一回限りの試験輸入枠。</a:t>
            </a:r>
          </a:p>
        </p:txBody>
      </p:sp>
      <p:sp>
        <p:nvSpPr>
          <p:cNvPr id="21" name="TextBox 20"/>
          <p:cNvSpPr txBox="1"/>
          <p:nvPr/>
        </p:nvSpPr>
        <p:spPr>
          <a:xfrm>
            <a:off x="8796528" y="3145536"/>
            <a:ext cx="3566160" cy="274320"/>
          </a:xfrm>
          <a:prstGeom prst="rect">
            <a:avLst/>
          </a:prstGeom>
          <a:noFill/>
        </p:spPr>
        <p:txBody>
          <a:bodyPr wrap="square" lIns="0" rIns="0" tIns="0" bIns="0">
            <a:spAutoFit/>
          </a:bodyPr>
          <a:lstStyle/>
          <a:p>
            <a:pPr>
              <a:lnSpc>
                <a:spcPct val="113000"/>
              </a:lnSpc>
              <a:spcAft>
                <a:spcPts val="300"/>
              </a:spcAft>
            </a:pPr>
            <a:r>
              <a:rPr sz="1350" b="1">
                <a:solidFill>
                  <a:srgbClr val="2164A5"/>
                </a:solidFill>
                <a:latin typeface="Noto Sans CJK JP"/>
                <a:ea typeface="Noto Sans CJK JP"/>
              </a:rPr>
              <a:t>既存CKD設備を使えるOEM</a:t>
            </a:r>
          </a:p>
        </p:txBody>
      </p:sp>
      <p:sp>
        <p:nvSpPr>
          <p:cNvPr id="22" name="TextBox 21"/>
          <p:cNvSpPr txBox="1"/>
          <p:nvPr/>
        </p:nvSpPr>
        <p:spPr>
          <a:xfrm>
            <a:off x="8796528" y="3401568"/>
            <a:ext cx="3511296" cy="630936"/>
          </a:xfrm>
          <a:prstGeom prst="rect">
            <a:avLst/>
          </a:prstGeom>
          <a:noFill/>
        </p:spPr>
        <p:txBody>
          <a:bodyPr wrap="square" lIns="0" rIns="0" tIns="0" bIns="0">
            <a:spAutoFit/>
          </a:bodyPr>
          <a:lstStyle/>
          <a:p>
            <a:pPr>
              <a:lnSpc>
                <a:spcPct val="113000"/>
              </a:lnSpc>
              <a:spcAft>
                <a:spcPts val="300"/>
              </a:spcAft>
            </a:pPr>
            <a:r>
              <a:rPr sz="1250" b="0">
                <a:solidFill>
                  <a:srgbClr val="172B4D"/>
                </a:solidFill>
                <a:latin typeface="Noto Sans CJK JP"/>
                <a:ea typeface="Noto Sans CJK JP"/>
              </a:rPr>
              <a:t>新設拠点との条件差が重要。組立移行の早さ、承認モデル、200台の試験枠を個別に確認する。</a:t>
            </a:r>
          </a:p>
        </p:txBody>
      </p:sp>
      <p:sp>
        <p:nvSpPr>
          <p:cNvPr id="23" name="Rectangle 22"/>
          <p:cNvSpPr/>
          <p:nvPr/>
        </p:nvSpPr>
        <p:spPr>
          <a:xfrm>
            <a:off x="548640" y="4096512"/>
            <a:ext cx="7863840" cy="969264"/>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641080" y="4096512"/>
            <a:ext cx="3840480" cy="969264"/>
          </a:xfrm>
          <a:prstGeom prst="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3232" y="4178808"/>
            <a:ext cx="7498079" cy="265176"/>
          </a:xfrm>
          <a:prstGeom prst="rect">
            <a:avLst/>
          </a:prstGeom>
          <a:noFill/>
        </p:spPr>
        <p:txBody>
          <a:bodyPr wrap="square" lIns="0" rIns="0" tIns="0" bIns="0">
            <a:spAutoFit/>
          </a:bodyPr>
          <a:lstStyle/>
          <a:p>
            <a:pPr>
              <a:lnSpc>
                <a:spcPct val="113000"/>
              </a:lnSpc>
              <a:spcAft>
                <a:spcPts val="300"/>
              </a:spcAft>
            </a:pPr>
            <a:r>
              <a:rPr sz="1600" b="1">
                <a:solidFill>
                  <a:srgbClr val="007F82"/>
                </a:solidFill>
                <a:latin typeface="Noto Sans CJK JP"/>
                <a:ea typeface="Noto Sans CJK JP"/>
              </a:rPr>
              <a:t>新設工場の国内販売・付加価値条件 [3]</a:t>
            </a:r>
          </a:p>
        </p:txBody>
      </p:sp>
      <p:sp>
        <p:nvSpPr>
          <p:cNvPr id="26" name="TextBox 25"/>
          <p:cNvSpPr txBox="1"/>
          <p:nvPr/>
        </p:nvSpPr>
        <p:spPr>
          <a:xfrm>
            <a:off x="713232" y="4471416"/>
            <a:ext cx="7498079" cy="594360"/>
          </a:xfrm>
          <a:prstGeom prst="rect">
            <a:avLst/>
          </a:prstGeom>
          <a:noFill/>
        </p:spPr>
        <p:txBody>
          <a:bodyPr wrap="square" lIns="0" rIns="0" tIns="0" bIns="0">
            <a:spAutoFit/>
          </a:bodyPr>
          <a:lstStyle/>
          <a:p>
            <a:pPr>
              <a:lnSpc>
                <a:spcPct val="113000"/>
              </a:lnSpc>
              <a:spcAft>
                <a:spcPts val="300"/>
              </a:spcAft>
            </a:pPr>
            <a:r>
              <a:rPr sz="1400" b="0">
                <a:solidFill>
                  <a:srgbClr val="172B4D"/>
                </a:solidFill>
                <a:latin typeface="Noto Sans CJK JP"/>
                <a:ea typeface="Noto Sans CJK JP"/>
              </a:rPr>
              <a:t>MITIが公表したBYDの承認例：国内年10,000台（計画能力の20％）、国内CKDの最低OTR RM100,000。車体・塗装・組付けの現地工程が必要。</a:t>
            </a:r>
          </a:p>
        </p:txBody>
      </p:sp>
      <p:sp>
        <p:nvSpPr>
          <p:cNvPr id="27" name="TextBox 26"/>
          <p:cNvSpPr txBox="1"/>
          <p:nvPr/>
        </p:nvSpPr>
        <p:spPr>
          <a:xfrm>
            <a:off x="8796528" y="4169664"/>
            <a:ext cx="3566160" cy="274320"/>
          </a:xfrm>
          <a:prstGeom prst="rect">
            <a:avLst/>
          </a:prstGeom>
          <a:noFill/>
        </p:spPr>
        <p:txBody>
          <a:bodyPr wrap="square" lIns="0" rIns="0" tIns="0" bIns="0">
            <a:spAutoFit/>
          </a:bodyPr>
          <a:lstStyle/>
          <a:p>
            <a:pPr>
              <a:lnSpc>
                <a:spcPct val="113000"/>
              </a:lnSpc>
              <a:spcAft>
                <a:spcPts val="300"/>
              </a:spcAft>
            </a:pPr>
            <a:r>
              <a:rPr sz="1350" b="1">
                <a:solidFill>
                  <a:srgbClr val="2164A5"/>
                </a:solidFill>
                <a:latin typeface="Noto Sans CJK JP"/>
                <a:ea typeface="Noto Sans CJK JP"/>
              </a:rPr>
              <a:t>新設・輸出志向のOEM</a:t>
            </a:r>
          </a:p>
        </p:txBody>
      </p:sp>
      <p:sp>
        <p:nvSpPr>
          <p:cNvPr id="28" name="TextBox 27"/>
          <p:cNvSpPr txBox="1"/>
          <p:nvPr/>
        </p:nvSpPr>
        <p:spPr>
          <a:xfrm>
            <a:off x="8796528" y="4425696"/>
            <a:ext cx="3511296" cy="630936"/>
          </a:xfrm>
          <a:prstGeom prst="rect">
            <a:avLst/>
          </a:prstGeom>
          <a:noFill/>
        </p:spPr>
        <p:txBody>
          <a:bodyPr wrap="square" lIns="0" rIns="0" tIns="0" bIns="0">
            <a:spAutoFit/>
          </a:bodyPr>
          <a:lstStyle/>
          <a:p>
            <a:pPr>
              <a:lnSpc>
                <a:spcPct val="113000"/>
              </a:lnSpc>
              <a:spcAft>
                <a:spcPts val="300"/>
              </a:spcAft>
            </a:pPr>
            <a:r>
              <a:rPr sz="1250" b="0">
                <a:solidFill>
                  <a:srgbClr val="172B4D"/>
                </a:solidFill>
                <a:latin typeface="Noto Sans CJK JP"/>
                <a:ea typeface="Noto Sans CJK JP"/>
              </a:rPr>
              <a:t>BYDの国内年10,000台は個社の条件。他社にも同じ上限が付くとは限らない。</a:t>
            </a:r>
          </a:p>
        </p:txBody>
      </p:sp>
      <p:sp>
        <p:nvSpPr>
          <p:cNvPr id="29" name="TextBox 28"/>
          <p:cNvSpPr txBox="1"/>
          <p:nvPr/>
        </p:nvSpPr>
        <p:spPr>
          <a:xfrm>
            <a:off x="594360" y="5157216"/>
            <a:ext cx="11814048" cy="320040"/>
          </a:xfrm>
          <a:prstGeom prst="rect">
            <a:avLst/>
          </a:prstGeom>
          <a:noFill/>
        </p:spPr>
        <p:txBody>
          <a:bodyPr wrap="square" lIns="0" rIns="0" tIns="0" bIns="0">
            <a:spAutoFit/>
          </a:bodyPr>
          <a:lstStyle/>
          <a:p>
            <a:pPr>
              <a:lnSpc>
                <a:spcPct val="113000"/>
              </a:lnSpc>
              <a:spcAft>
                <a:spcPts val="300"/>
              </a:spcAft>
            </a:pPr>
            <a:r>
              <a:rPr sz="1080" b="0">
                <a:solidFill>
                  <a:srgbClr val="B57A14"/>
                </a:solidFill>
                <a:latin typeface="Noto Sans CJK JP"/>
                <a:ea typeface="Noto Sans CJK JP"/>
              </a:rPr>
              <a:t>分析：低価格CBUの供給終了はA低下・供給断を生み得る。CKDへの移行でκ・λが同時に改善するとは限らない。</a:t>
            </a:r>
          </a:p>
        </p:txBody>
      </p:sp>
      <p:sp>
        <p:nvSpPr>
          <p:cNvPr id="30" name="TextBox 29"/>
          <p:cNvSpPr txBox="1"/>
          <p:nvPr/>
        </p:nvSpPr>
        <p:spPr>
          <a:xfrm>
            <a:off x="548640" y="5504688"/>
            <a:ext cx="11887200" cy="182880"/>
          </a:xfrm>
          <a:prstGeom prst="rect">
            <a:avLst/>
          </a:prstGeom>
          <a:noFill/>
        </p:spPr>
        <p:txBody>
          <a:bodyPr wrap="square" lIns="0" rIns="0" tIns="0" bIns="0">
            <a:spAutoFit/>
          </a:bodyPr>
          <a:lstStyle/>
          <a:p>
            <a:pPr>
              <a:lnSpc>
                <a:spcPct val="113000"/>
              </a:lnSpc>
              <a:spcAft>
                <a:spcPts val="300"/>
              </a:spcAft>
            </a:pPr>
            <a:r>
              <a:rPr sz="930" b="1">
                <a:solidFill>
                  <a:srgbClr val="56677C"/>
                </a:solidFill>
                <a:latin typeface="Noto Sans CJK JP"/>
                <a:ea typeface="Noto Sans CJK JP"/>
              </a:rPr>
              <a:t>一次情報｜番号は制度欄に対応。URLをクリックして原文を開く。</a:t>
            </a:r>
          </a:p>
        </p:txBody>
      </p:sp>
      <p:sp>
        <p:nvSpPr>
          <p:cNvPr id="31" name="TextBox 30"/>
          <p:cNvSpPr txBox="1"/>
          <p:nvPr/>
        </p:nvSpPr>
        <p:spPr>
          <a:xfrm>
            <a:off x="548640" y="5724144"/>
            <a:ext cx="3429000" cy="274320"/>
          </a:xfrm>
          <a:prstGeom prst="rect">
            <a:avLst/>
          </a:prstGeom>
          <a:noFill/>
        </p:spPr>
        <p:txBody>
          <a:bodyPr wrap="square" lIns="0" rIns="0" tIns="0" bIns="0">
            <a:spAutoFit/>
          </a:bodyPr>
          <a:lstStyle/>
          <a:p>
            <a:pPr>
              <a:lnSpc>
                <a:spcPct val="113000"/>
              </a:lnSpc>
              <a:spcAft>
                <a:spcPts val="300"/>
              </a:spcAft>
            </a:pPr>
            <a:r>
              <a:rPr sz="960" b="1">
                <a:solidFill>
                  <a:srgbClr val="56677C"/>
                </a:solidFill>
                <a:latin typeface="Noto Sans CJK JP"/>
                <a:ea typeface="Noto Sans CJK JP"/>
              </a:rPr>
              <a:t>[1] MITI｜CBU条件 2026-05-06</a:t>
            </a:r>
          </a:p>
        </p:txBody>
      </p:sp>
      <p:sp>
        <p:nvSpPr>
          <p:cNvPr id="32" name="TextBox 31"/>
          <p:cNvSpPr txBox="1"/>
          <p:nvPr/>
        </p:nvSpPr>
        <p:spPr>
          <a:xfrm>
            <a:off x="4023360" y="5724144"/>
            <a:ext cx="8412480" cy="420624"/>
          </a:xfrm>
          <a:prstGeom prst="rect">
            <a:avLst/>
          </a:prstGeom>
          <a:noFill/>
        </p:spPr>
        <p:txBody>
          <a:bodyPr wrap="square" lIns="0" rIns="0" tIns="0" bIns="0">
            <a:spAutoFit/>
          </a:bodyPr>
          <a:lstStyle/>
          <a:p>
            <a:pPr>
              <a:lnSpc>
                <a:spcPct val="113000"/>
              </a:lnSpc>
              <a:spcAft>
                <a:spcPts val="300"/>
              </a:spcAft>
            </a:pPr>
            <a:r>
              <a:rPr sz="940" b="0">
                <a:solidFill>
                  <a:srgbClr val="2164A5"/>
                </a:solidFill>
                <a:latin typeface="Noto Sans CJK JP"/>
                <a:ea typeface="Noto Sans CJK JP"/>
                <a:hlinkClick r:id="rId2"/>
              </a:rPr>
              <a:t>https://www.miti.gov.my/miti/resources/Media%20Release/SIARAN_MEDIA_PENAMATAN_PENGECUALIAN_KHAS_6_Mei_2026_edited.pdf</a:t>
            </a:r>
          </a:p>
        </p:txBody>
      </p:sp>
      <p:sp>
        <p:nvSpPr>
          <p:cNvPr id="33" name="TextBox 32"/>
          <p:cNvSpPr txBox="1"/>
          <p:nvPr/>
        </p:nvSpPr>
        <p:spPr>
          <a:xfrm>
            <a:off x="548640" y="6153912"/>
            <a:ext cx="3429000" cy="274320"/>
          </a:xfrm>
          <a:prstGeom prst="rect">
            <a:avLst/>
          </a:prstGeom>
          <a:noFill/>
        </p:spPr>
        <p:txBody>
          <a:bodyPr wrap="square" lIns="0" rIns="0" tIns="0" bIns="0">
            <a:spAutoFit/>
          </a:bodyPr>
          <a:lstStyle/>
          <a:p>
            <a:pPr>
              <a:lnSpc>
                <a:spcPct val="113000"/>
              </a:lnSpc>
              <a:spcAft>
                <a:spcPts val="300"/>
              </a:spcAft>
            </a:pPr>
            <a:r>
              <a:rPr sz="960" b="1">
                <a:solidFill>
                  <a:srgbClr val="56677C"/>
                </a:solidFill>
                <a:latin typeface="Noto Sans CJK JP"/>
                <a:ea typeface="Noto Sans CJK JP"/>
              </a:rPr>
              <a:t>[2] MITI｜AP MRA EV 2026 指針</a:t>
            </a:r>
          </a:p>
        </p:txBody>
      </p:sp>
      <p:sp>
        <p:nvSpPr>
          <p:cNvPr id="34" name="TextBox 33"/>
          <p:cNvSpPr txBox="1"/>
          <p:nvPr/>
        </p:nvSpPr>
        <p:spPr>
          <a:xfrm>
            <a:off x="4023360" y="6153912"/>
            <a:ext cx="8412480" cy="420624"/>
          </a:xfrm>
          <a:prstGeom prst="rect">
            <a:avLst/>
          </a:prstGeom>
          <a:noFill/>
        </p:spPr>
        <p:txBody>
          <a:bodyPr wrap="square" lIns="0" rIns="0" tIns="0" bIns="0">
            <a:spAutoFit/>
          </a:bodyPr>
          <a:lstStyle/>
          <a:p>
            <a:pPr>
              <a:lnSpc>
                <a:spcPct val="113000"/>
              </a:lnSpc>
              <a:spcAft>
                <a:spcPts val="300"/>
              </a:spcAft>
            </a:pPr>
            <a:r>
              <a:rPr sz="940" b="0">
                <a:solidFill>
                  <a:srgbClr val="2164A5"/>
                </a:solidFill>
                <a:latin typeface="Noto Sans CJK JP"/>
                <a:ea typeface="Noto Sans CJK JP"/>
                <a:hlinkClick r:id="rId3"/>
              </a:rPr>
              <a:t>https://www.miti.gov.my/miti/resources/Approve%20Permit/Guidelines/GP_AP_MRA_EV_1_JAN_2026.pdf</a:t>
            </a:r>
          </a:p>
        </p:txBody>
      </p:sp>
      <p:sp>
        <p:nvSpPr>
          <p:cNvPr id="35" name="TextBox 34"/>
          <p:cNvSpPr txBox="1"/>
          <p:nvPr/>
        </p:nvSpPr>
        <p:spPr>
          <a:xfrm>
            <a:off x="548640" y="6583679"/>
            <a:ext cx="3429000" cy="274320"/>
          </a:xfrm>
          <a:prstGeom prst="rect">
            <a:avLst/>
          </a:prstGeom>
          <a:noFill/>
        </p:spPr>
        <p:txBody>
          <a:bodyPr wrap="square" lIns="0" rIns="0" tIns="0" bIns="0">
            <a:spAutoFit/>
          </a:bodyPr>
          <a:lstStyle/>
          <a:p>
            <a:pPr>
              <a:lnSpc>
                <a:spcPct val="113000"/>
              </a:lnSpc>
              <a:spcAft>
                <a:spcPts val="300"/>
              </a:spcAft>
            </a:pPr>
            <a:r>
              <a:rPr sz="960" b="1">
                <a:solidFill>
                  <a:srgbClr val="56677C"/>
                </a:solidFill>
                <a:latin typeface="Noto Sans CJK JP"/>
                <a:ea typeface="Noto Sans CJK JP"/>
              </a:rPr>
              <a:t>[3] MITI｜工場承認説明 2026-03-31</a:t>
            </a:r>
          </a:p>
        </p:txBody>
      </p:sp>
      <p:sp>
        <p:nvSpPr>
          <p:cNvPr id="36" name="TextBox 35"/>
          <p:cNvSpPr txBox="1"/>
          <p:nvPr/>
        </p:nvSpPr>
        <p:spPr>
          <a:xfrm>
            <a:off x="4023360" y="6583679"/>
            <a:ext cx="8412480" cy="420624"/>
          </a:xfrm>
          <a:prstGeom prst="rect">
            <a:avLst/>
          </a:prstGeom>
          <a:noFill/>
        </p:spPr>
        <p:txBody>
          <a:bodyPr wrap="square" lIns="0" rIns="0" tIns="0" bIns="0">
            <a:spAutoFit/>
          </a:bodyPr>
          <a:lstStyle/>
          <a:p>
            <a:pPr>
              <a:lnSpc>
                <a:spcPct val="113000"/>
              </a:lnSpc>
              <a:spcAft>
                <a:spcPts val="300"/>
              </a:spcAft>
            </a:pPr>
            <a:r>
              <a:rPr sz="940" b="0">
                <a:solidFill>
                  <a:srgbClr val="2164A5"/>
                </a:solidFill>
                <a:latin typeface="Noto Sans CJK JP"/>
                <a:ea typeface="Noto Sans CJK JP"/>
                <a:hlinkClick r:id="rId4"/>
              </a:rPr>
              <a:t>https://www.miti.gov.my/miti/resources/Media%20Release/PR_MITI_REAFFIRMS_COMMITMENT_TO_SUSTAINABLE_AUTOMOTIVE_GROWTH_latest.pdf</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3004596" cy="118872"/>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972800" cy="228600"/>
          </a:xfrm>
          <a:prstGeom prst="rect">
            <a:avLst/>
          </a:prstGeom>
          <a:noFill/>
        </p:spPr>
        <p:txBody>
          <a:bodyPr wrap="square" lIns="0" rIns="0" tIns="0" bIns="0">
            <a:spAutoFit/>
          </a:bodyPr>
          <a:lstStyle/>
          <a:p>
            <a:pPr>
              <a:lnSpc>
                <a:spcPct val="113000"/>
              </a:lnSpc>
              <a:spcAft>
                <a:spcPts val="300"/>
              </a:spcAft>
            </a:pPr>
            <a:r>
              <a:rPr sz="1000" b="1">
                <a:solidFill>
                  <a:srgbClr val="007F82"/>
                </a:solidFill>
                <a:latin typeface="Noto Sans CJK JP"/>
                <a:ea typeface="Noto Sans CJK JP"/>
              </a:rPr>
              <a:t>VIETNAM</a:t>
            </a:r>
          </a:p>
        </p:txBody>
      </p:sp>
      <p:sp>
        <p:nvSpPr>
          <p:cNvPr id="4" name="TextBox 3"/>
          <p:cNvSpPr txBox="1"/>
          <p:nvPr/>
        </p:nvSpPr>
        <p:spPr>
          <a:xfrm>
            <a:off x="502920" y="685800"/>
            <a:ext cx="12024360" cy="566928"/>
          </a:xfrm>
          <a:prstGeom prst="rect">
            <a:avLst/>
          </a:prstGeom>
          <a:noFill/>
        </p:spPr>
        <p:txBody>
          <a:bodyPr wrap="square" lIns="0" rIns="0" tIns="0" bIns="0">
            <a:spAutoFit/>
          </a:bodyPr>
          <a:lstStyle/>
          <a:p>
            <a:pPr>
              <a:lnSpc>
                <a:spcPct val="113000"/>
              </a:lnSpc>
              <a:spcAft>
                <a:spcPts val="300"/>
              </a:spcAft>
            </a:pPr>
            <a:r>
              <a:rPr sz="2800" b="1">
                <a:solidFill>
                  <a:srgbClr val="172B4D"/>
                </a:solidFill>
                <a:latin typeface="Noto Sans CJK JP"/>
                <a:ea typeface="Noto Sans CJK JP"/>
              </a:rPr>
              <a:t>ベトナム｜BEVの登録料優遇は2030年末まで継続が確定</a:t>
            </a:r>
          </a:p>
        </p:txBody>
      </p:sp>
      <p:sp>
        <p:nvSpPr>
          <p:cNvPr id="5" name="TextBox 4"/>
          <p:cNvSpPr txBox="1"/>
          <p:nvPr/>
        </p:nvSpPr>
        <p:spPr>
          <a:xfrm>
            <a:off x="502920" y="1335024"/>
            <a:ext cx="11978640" cy="438912"/>
          </a:xfrm>
          <a:prstGeom prst="rect">
            <a:avLst/>
          </a:prstGeom>
          <a:noFill/>
        </p:spPr>
        <p:txBody>
          <a:bodyPr wrap="square" lIns="0" rIns="0" tIns="0" bIns="0">
            <a:spAutoFit/>
          </a:bodyPr>
          <a:lstStyle/>
          <a:p>
            <a:pPr>
              <a:lnSpc>
                <a:spcPct val="113000"/>
              </a:lnSpc>
              <a:spcAft>
                <a:spcPts val="300"/>
              </a:spcAft>
            </a:pPr>
            <a:r>
              <a:rPr sz="1600" b="0">
                <a:solidFill>
                  <a:srgbClr val="56677C"/>
                </a:solidFill>
                <a:latin typeface="Noto Sans CJK JP"/>
                <a:ea typeface="Noto Sans CJK JP"/>
              </a:rPr>
              <a:t>2027年に登録料0％が終わるという従来の前提は、2026年6月の公布で変わった。</a:t>
            </a:r>
          </a:p>
        </p:txBody>
      </p:sp>
      <p:sp>
        <p:nvSpPr>
          <p:cNvPr id="6" name="Rectangle 5"/>
          <p:cNvSpPr/>
          <p:nvPr/>
        </p:nvSpPr>
        <p:spPr>
          <a:xfrm>
            <a:off x="502920" y="7114032"/>
            <a:ext cx="11978640" cy="10972"/>
          </a:xfrm>
          <a:prstGeom prst="rect">
            <a:avLst/>
          </a:prstGeom>
          <a:solidFill>
            <a:srgbClr val="D9E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7178040"/>
            <a:ext cx="10972800" cy="109728"/>
          </a:xfrm>
          <a:prstGeom prst="rect">
            <a:avLst/>
          </a:prstGeom>
          <a:noFill/>
        </p:spPr>
        <p:txBody>
          <a:bodyPr wrap="square" lIns="0" rIns="0" tIns="0" bIns="0">
            <a:spAutoFit/>
          </a:bodyPr>
          <a:lstStyle/>
          <a:p>
            <a:pPr>
              <a:lnSpc>
                <a:spcPct val="113000"/>
              </a:lnSpc>
              <a:spcAft>
                <a:spcPts val="300"/>
              </a:spcAft>
            </a:pPr>
            <a:r>
              <a:rPr sz="800" b="0">
                <a:solidFill>
                  <a:srgbClr val="56677C"/>
                </a:solidFill>
                <a:latin typeface="Noto Sans CJK JP"/>
                <a:ea typeface="Noto Sans CJK JP"/>
              </a:rPr>
              <a:t>東南アジア自動車制度｜公開一次情報の確認日：2026-10-06｜影響・矢印は分析仮説</a:t>
            </a:r>
          </a:p>
        </p:txBody>
      </p:sp>
      <p:sp>
        <p:nvSpPr>
          <p:cNvPr id="8" name="TextBox 7"/>
          <p:cNvSpPr txBox="1"/>
          <p:nvPr/>
        </p:nvSpPr>
        <p:spPr>
          <a:xfrm>
            <a:off x="12024360" y="7159752"/>
            <a:ext cx="457200" cy="137160"/>
          </a:xfrm>
          <a:prstGeom prst="rect">
            <a:avLst/>
          </a:prstGeom>
          <a:noFill/>
        </p:spPr>
        <p:txBody>
          <a:bodyPr wrap="square" lIns="0" rIns="0" tIns="0" bIns="0">
            <a:spAutoFit/>
          </a:bodyPr>
          <a:lstStyle/>
          <a:p>
            <a:pPr>
              <a:lnSpc>
                <a:spcPct val="113000"/>
              </a:lnSpc>
              <a:spcAft>
                <a:spcPts val="300"/>
              </a:spcAft>
            </a:pPr>
            <a:r>
              <a:rPr sz="900" b="0">
                <a:solidFill>
                  <a:srgbClr val="56677C"/>
                </a:solidFill>
                <a:latin typeface="Noto Sans CJK JP"/>
                <a:ea typeface="Noto Sans CJK JP"/>
              </a:rPr>
              <a:t>07</a:t>
            </a:r>
          </a:p>
        </p:txBody>
      </p:sp>
      <p:sp>
        <p:nvSpPr>
          <p:cNvPr id="9" name="TextBox 8"/>
          <p:cNvSpPr txBox="1"/>
          <p:nvPr/>
        </p:nvSpPr>
        <p:spPr>
          <a:xfrm>
            <a:off x="548640" y="1810512"/>
            <a:ext cx="7955279" cy="228600"/>
          </a:xfrm>
          <a:prstGeom prst="rect">
            <a:avLst/>
          </a:prstGeom>
          <a:noFill/>
        </p:spPr>
        <p:txBody>
          <a:bodyPr wrap="square" lIns="0" rIns="0" tIns="0" bIns="0">
            <a:spAutoFit/>
          </a:bodyPr>
          <a:lstStyle/>
          <a:p>
            <a:pPr>
              <a:lnSpc>
                <a:spcPct val="113000"/>
              </a:lnSpc>
              <a:spcAft>
                <a:spcPts val="300"/>
              </a:spcAft>
            </a:pPr>
            <a:r>
              <a:rPr sz="1100" b="1">
                <a:solidFill>
                  <a:srgbClr val="007F82"/>
                </a:solidFill>
                <a:latin typeface="Noto Sans CJK JP"/>
                <a:ea typeface="Noto Sans CJK JP"/>
              </a:rPr>
              <a:t>制度・対象・期間（政府／当局が公表した事実）</a:t>
            </a:r>
          </a:p>
        </p:txBody>
      </p:sp>
      <p:sp>
        <p:nvSpPr>
          <p:cNvPr id="10" name="TextBox 9"/>
          <p:cNvSpPr txBox="1"/>
          <p:nvPr/>
        </p:nvSpPr>
        <p:spPr>
          <a:xfrm>
            <a:off x="8778240" y="1810512"/>
            <a:ext cx="3657600" cy="228600"/>
          </a:xfrm>
          <a:prstGeom prst="rect">
            <a:avLst/>
          </a:prstGeom>
          <a:noFill/>
        </p:spPr>
        <p:txBody>
          <a:bodyPr wrap="square" lIns="0" rIns="0" tIns="0" bIns="0">
            <a:spAutoFit/>
          </a:bodyPr>
          <a:lstStyle/>
          <a:p>
            <a:pPr>
              <a:lnSpc>
                <a:spcPct val="113000"/>
              </a:lnSpc>
              <a:spcAft>
                <a:spcPts val="300"/>
              </a:spcAft>
            </a:pPr>
            <a:r>
              <a:rPr sz="1100" b="1">
                <a:solidFill>
                  <a:srgbClr val="2164A5"/>
                </a:solidFill>
                <a:latin typeface="Noto Sans CJK JP"/>
                <a:ea typeface="Noto Sans CJK JP"/>
              </a:rPr>
              <a:t>OEMへの影響（以下は分析上の推論）</a:t>
            </a:r>
          </a:p>
        </p:txBody>
      </p:sp>
      <p:sp>
        <p:nvSpPr>
          <p:cNvPr id="11" name="Rectangle 10"/>
          <p:cNvSpPr/>
          <p:nvPr/>
        </p:nvSpPr>
        <p:spPr>
          <a:xfrm>
            <a:off x="548640" y="2048256"/>
            <a:ext cx="7863840" cy="969264"/>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641080" y="2048256"/>
            <a:ext cx="3840480" cy="969264"/>
          </a:xfrm>
          <a:prstGeom prst="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 y="2130552"/>
            <a:ext cx="7498079" cy="265176"/>
          </a:xfrm>
          <a:prstGeom prst="rect">
            <a:avLst/>
          </a:prstGeom>
          <a:noFill/>
        </p:spPr>
        <p:txBody>
          <a:bodyPr wrap="square" lIns="0" rIns="0" tIns="0" bIns="0">
            <a:spAutoFit/>
          </a:bodyPr>
          <a:lstStyle/>
          <a:p>
            <a:pPr>
              <a:lnSpc>
                <a:spcPct val="113000"/>
              </a:lnSpc>
              <a:spcAft>
                <a:spcPts val="300"/>
              </a:spcAft>
            </a:pPr>
            <a:r>
              <a:rPr sz="1600" b="1">
                <a:solidFill>
                  <a:srgbClr val="007F82"/>
                </a:solidFill>
                <a:latin typeface="Noto Sans CJK JP"/>
                <a:ea typeface="Noto Sans CJK JP"/>
              </a:rPr>
              <a:t>現行：BEVの初回登録料0％ [1]</a:t>
            </a:r>
          </a:p>
        </p:txBody>
      </p:sp>
      <p:sp>
        <p:nvSpPr>
          <p:cNvPr id="14" name="TextBox 13"/>
          <p:cNvSpPr txBox="1"/>
          <p:nvPr/>
        </p:nvSpPr>
        <p:spPr>
          <a:xfrm>
            <a:off x="713232" y="2423160"/>
            <a:ext cx="7498079" cy="594360"/>
          </a:xfrm>
          <a:prstGeom prst="rect">
            <a:avLst/>
          </a:prstGeom>
          <a:noFill/>
        </p:spPr>
        <p:txBody>
          <a:bodyPr wrap="square" lIns="0" rIns="0" tIns="0" bIns="0">
            <a:spAutoFit/>
          </a:bodyPr>
          <a:lstStyle/>
          <a:p>
            <a:pPr>
              <a:lnSpc>
                <a:spcPct val="113000"/>
              </a:lnSpc>
              <a:spcAft>
                <a:spcPts val="300"/>
              </a:spcAft>
            </a:pPr>
            <a:r>
              <a:rPr sz="1400" b="0">
                <a:solidFill>
                  <a:srgbClr val="172B4D"/>
                </a:solidFill>
                <a:latin typeface="Noto Sans CJK JP"/>
                <a:ea typeface="Noto Sans CJK JP"/>
              </a:rPr>
              <a:t>政令51/2025：2027年2月28日まで0％。BEV（バッテリー電気自動車）の初回登録が対象で、HEV全般への免除ではない。</a:t>
            </a:r>
          </a:p>
        </p:txBody>
      </p:sp>
      <p:sp>
        <p:nvSpPr>
          <p:cNvPr id="15" name="TextBox 14"/>
          <p:cNvSpPr txBox="1"/>
          <p:nvPr/>
        </p:nvSpPr>
        <p:spPr>
          <a:xfrm>
            <a:off x="8796528" y="2121408"/>
            <a:ext cx="3566160" cy="274320"/>
          </a:xfrm>
          <a:prstGeom prst="rect">
            <a:avLst/>
          </a:prstGeom>
          <a:noFill/>
        </p:spPr>
        <p:txBody>
          <a:bodyPr wrap="square" lIns="0" rIns="0" tIns="0" bIns="0">
            <a:spAutoFit/>
          </a:bodyPr>
          <a:lstStyle/>
          <a:p>
            <a:pPr>
              <a:lnSpc>
                <a:spcPct val="113000"/>
              </a:lnSpc>
              <a:spcAft>
                <a:spcPts val="300"/>
              </a:spcAft>
            </a:pPr>
            <a:r>
              <a:rPr sz="1350" b="1">
                <a:solidFill>
                  <a:srgbClr val="2164A5"/>
                </a:solidFill>
                <a:latin typeface="Noto Sans CJK JP"/>
                <a:ea typeface="Noto Sans CJK JP"/>
              </a:rPr>
              <a:t>VinFast・中国系BEV OEM</a:t>
            </a:r>
          </a:p>
        </p:txBody>
      </p:sp>
      <p:sp>
        <p:nvSpPr>
          <p:cNvPr id="16" name="TextBox 15"/>
          <p:cNvSpPr txBox="1"/>
          <p:nvPr/>
        </p:nvSpPr>
        <p:spPr>
          <a:xfrm>
            <a:off x="8796528" y="2377440"/>
            <a:ext cx="3511296" cy="630936"/>
          </a:xfrm>
          <a:prstGeom prst="rect">
            <a:avLst/>
          </a:prstGeom>
          <a:noFill/>
        </p:spPr>
        <p:txBody>
          <a:bodyPr wrap="square" lIns="0" rIns="0" tIns="0" bIns="0">
            <a:spAutoFit/>
          </a:bodyPr>
          <a:lstStyle/>
          <a:p>
            <a:pPr>
              <a:lnSpc>
                <a:spcPct val="113000"/>
              </a:lnSpc>
              <a:spcAft>
                <a:spcPts val="300"/>
              </a:spcAft>
            </a:pPr>
            <a:r>
              <a:rPr sz="1250" b="0">
                <a:solidFill>
                  <a:srgbClr val="172B4D"/>
                </a:solidFill>
                <a:latin typeface="Noto Sans CJK JP"/>
                <a:ea typeface="Noto Sans CJK JP"/>
              </a:rPr>
              <a:t>登録料上は同じBEV優遇を受け得る。充電・保証・販売網の差を、税制による差と混同しない。</a:t>
            </a:r>
          </a:p>
        </p:txBody>
      </p:sp>
      <p:sp>
        <p:nvSpPr>
          <p:cNvPr id="17" name="Rectangle 16"/>
          <p:cNvSpPr/>
          <p:nvPr/>
        </p:nvSpPr>
        <p:spPr>
          <a:xfrm>
            <a:off x="548640" y="3072384"/>
            <a:ext cx="7863840" cy="969264"/>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641080" y="3072384"/>
            <a:ext cx="3840480" cy="969264"/>
          </a:xfrm>
          <a:prstGeom prst="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3232" y="3154680"/>
            <a:ext cx="7498079" cy="265176"/>
          </a:xfrm>
          <a:prstGeom prst="rect">
            <a:avLst/>
          </a:prstGeom>
          <a:noFill/>
        </p:spPr>
        <p:txBody>
          <a:bodyPr wrap="square" lIns="0" rIns="0" tIns="0" bIns="0">
            <a:spAutoFit/>
          </a:bodyPr>
          <a:lstStyle/>
          <a:p>
            <a:pPr>
              <a:lnSpc>
                <a:spcPct val="113000"/>
              </a:lnSpc>
              <a:spcAft>
                <a:spcPts val="300"/>
              </a:spcAft>
            </a:pPr>
            <a:r>
              <a:rPr sz="1600" b="1">
                <a:solidFill>
                  <a:srgbClr val="007F82"/>
                </a:solidFill>
                <a:latin typeface="Noto Sans CJK JP"/>
                <a:ea typeface="Noto Sans CJK JP"/>
              </a:rPr>
              <a:t>公布済み・将来施行：2030年まで0％ [2]</a:t>
            </a:r>
          </a:p>
        </p:txBody>
      </p:sp>
      <p:sp>
        <p:nvSpPr>
          <p:cNvPr id="20" name="TextBox 19"/>
          <p:cNvSpPr txBox="1"/>
          <p:nvPr/>
        </p:nvSpPr>
        <p:spPr>
          <a:xfrm>
            <a:off x="713232" y="3447288"/>
            <a:ext cx="7498079" cy="594360"/>
          </a:xfrm>
          <a:prstGeom prst="rect">
            <a:avLst/>
          </a:prstGeom>
          <a:noFill/>
        </p:spPr>
        <p:txBody>
          <a:bodyPr wrap="square" lIns="0" rIns="0" tIns="0" bIns="0">
            <a:spAutoFit/>
          </a:bodyPr>
          <a:lstStyle/>
          <a:p>
            <a:pPr>
              <a:lnSpc>
                <a:spcPct val="113000"/>
              </a:lnSpc>
              <a:spcAft>
                <a:spcPts val="300"/>
              </a:spcAft>
            </a:pPr>
            <a:r>
              <a:rPr sz="1400" b="0">
                <a:solidFill>
                  <a:srgbClr val="172B4D"/>
                </a:solidFill>
                <a:latin typeface="Noto Sans CJK JP"/>
                <a:ea typeface="Noto Sans CJK JP"/>
              </a:rPr>
              <a:t>政令202/2026を2026年6月8日に公布。2027年3月1日施行、2030年12月31日まで初回登録料0％を継続。旧政令を置換する。</a:t>
            </a:r>
          </a:p>
        </p:txBody>
      </p:sp>
      <p:sp>
        <p:nvSpPr>
          <p:cNvPr id="21" name="TextBox 20"/>
          <p:cNvSpPr txBox="1"/>
          <p:nvPr/>
        </p:nvSpPr>
        <p:spPr>
          <a:xfrm>
            <a:off x="8796528" y="3145536"/>
            <a:ext cx="3566160" cy="274320"/>
          </a:xfrm>
          <a:prstGeom prst="rect">
            <a:avLst/>
          </a:prstGeom>
          <a:noFill/>
        </p:spPr>
        <p:txBody>
          <a:bodyPr wrap="square" lIns="0" rIns="0" tIns="0" bIns="0">
            <a:spAutoFit/>
          </a:bodyPr>
          <a:lstStyle/>
          <a:p>
            <a:pPr>
              <a:lnSpc>
                <a:spcPct val="113000"/>
              </a:lnSpc>
              <a:spcAft>
                <a:spcPts val="300"/>
              </a:spcAft>
            </a:pPr>
            <a:r>
              <a:rPr sz="1350" b="1">
                <a:solidFill>
                  <a:srgbClr val="2164A5"/>
                </a:solidFill>
                <a:latin typeface="Noto Sans CJK JP"/>
                <a:ea typeface="Noto Sans CJK JP"/>
              </a:rPr>
              <a:t>長期にモデルを育てるOEM</a:t>
            </a:r>
          </a:p>
        </p:txBody>
      </p:sp>
      <p:sp>
        <p:nvSpPr>
          <p:cNvPr id="22" name="TextBox 21"/>
          <p:cNvSpPr txBox="1"/>
          <p:nvPr/>
        </p:nvSpPr>
        <p:spPr>
          <a:xfrm>
            <a:off x="8796528" y="3401568"/>
            <a:ext cx="3511296" cy="630936"/>
          </a:xfrm>
          <a:prstGeom prst="rect">
            <a:avLst/>
          </a:prstGeom>
          <a:noFill/>
        </p:spPr>
        <p:txBody>
          <a:bodyPr wrap="square" lIns="0" rIns="0" tIns="0" bIns="0">
            <a:spAutoFit/>
          </a:bodyPr>
          <a:lstStyle/>
          <a:p>
            <a:pPr>
              <a:lnSpc>
                <a:spcPct val="113000"/>
              </a:lnSpc>
              <a:spcAft>
                <a:spcPts val="300"/>
              </a:spcAft>
            </a:pPr>
            <a:r>
              <a:rPr sz="1250" b="0">
                <a:solidFill>
                  <a:srgbClr val="172B4D"/>
                </a:solidFill>
                <a:latin typeface="Noto Sans CJK JP"/>
                <a:ea typeface="Noto Sans CJK JP"/>
              </a:rPr>
              <a:t>登録料優遇の期限が延び、投資回収の見通しが改善し得る。2027年の駆け込み・反動を当然視しない。</a:t>
            </a:r>
          </a:p>
        </p:txBody>
      </p:sp>
      <p:sp>
        <p:nvSpPr>
          <p:cNvPr id="23" name="Rectangle 22"/>
          <p:cNvSpPr/>
          <p:nvPr/>
        </p:nvSpPr>
        <p:spPr>
          <a:xfrm>
            <a:off x="548640" y="4096512"/>
            <a:ext cx="7863840" cy="969264"/>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641080" y="4096512"/>
            <a:ext cx="3840480" cy="969264"/>
          </a:xfrm>
          <a:prstGeom prst="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3232" y="4178808"/>
            <a:ext cx="7498079" cy="265176"/>
          </a:xfrm>
          <a:prstGeom prst="rect">
            <a:avLst/>
          </a:prstGeom>
          <a:noFill/>
        </p:spPr>
        <p:txBody>
          <a:bodyPr wrap="square" lIns="0" rIns="0" tIns="0" bIns="0">
            <a:spAutoFit/>
          </a:bodyPr>
          <a:lstStyle/>
          <a:p>
            <a:pPr>
              <a:lnSpc>
                <a:spcPct val="113000"/>
              </a:lnSpc>
              <a:spcAft>
                <a:spcPts val="300"/>
              </a:spcAft>
            </a:pPr>
            <a:r>
              <a:rPr sz="1600" b="1">
                <a:solidFill>
                  <a:srgbClr val="007F82"/>
                </a:solidFill>
                <a:latin typeface="Noto Sans CJK JP"/>
                <a:ea typeface="Noto Sans CJK JP"/>
              </a:rPr>
              <a:t>HEV等には別の特別消費税区分 [3]</a:t>
            </a:r>
          </a:p>
        </p:txBody>
      </p:sp>
      <p:sp>
        <p:nvSpPr>
          <p:cNvPr id="26" name="TextBox 25"/>
          <p:cNvSpPr txBox="1"/>
          <p:nvPr/>
        </p:nvSpPr>
        <p:spPr>
          <a:xfrm>
            <a:off x="713232" y="4471416"/>
            <a:ext cx="7498079" cy="594360"/>
          </a:xfrm>
          <a:prstGeom prst="rect">
            <a:avLst/>
          </a:prstGeom>
          <a:noFill/>
        </p:spPr>
        <p:txBody>
          <a:bodyPr wrap="square" lIns="0" rIns="0" tIns="0" bIns="0">
            <a:spAutoFit/>
          </a:bodyPr>
          <a:lstStyle/>
          <a:p>
            <a:pPr>
              <a:lnSpc>
                <a:spcPct val="113000"/>
              </a:lnSpc>
              <a:spcAft>
                <a:spcPts val="300"/>
              </a:spcAft>
            </a:pPr>
            <a:r>
              <a:rPr sz="1400" b="0">
                <a:solidFill>
                  <a:srgbClr val="172B4D"/>
                </a:solidFill>
                <a:latin typeface="Noto Sans CJK JP"/>
                <a:ea typeface="Noto Sans CJK JP"/>
              </a:rPr>
              <a:t>特別消費税法の2026年統合版：政府の定めるガソリン・電気併用車等は同種車の税率の70％。BEV免除とは別で、型式の適格条件を確認する。</a:t>
            </a:r>
          </a:p>
        </p:txBody>
      </p:sp>
      <p:sp>
        <p:nvSpPr>
          <p:cNvPr id="27" name="TextBox 26"/>
          <p:cNvSpPr txBox="1"/>
          <p:nvPr/>
        </p:nvSpPr>
        <p:spPr>
          <a:xfrm>
            <a:off x="8796528" y="4169664"/>
            <a:ext cx="3566160" cy="274320"/>
          </a:xfrm>
          <a:prstGeom prst="rect">
            <a:avLst/>
          </a:prstGeom>
          <a:noFill/>
        </p:spPr>
        <p:txBody>
          <a:bodyPr wrap="square" lIns="0" rIns="0" tIns="0" bIns="0">
            <a:spAutoFit/>
          </a:bodyPr>
          <a:lstStyle/>
          <a:p>
            <a:pPr>
              <a:lnSpc>
                <a:spcPct val="113000"/>
              </a:lnSpc>
              <a:spcAft>
                <a:spcPts val="300"/>
              </a:spcAft>
            </a:pPr>
            <a:r>
              <a:rPr sz="1350" b="1">
                <a:solidFill>
                  <a:srgbClr val="2164A5"/>
                </a:solidFill>
                <a:latin typeface="Noto Sans CJK JP"/>
                <a:ea typeface="Noto Sans CJK JP"/>
              </a:rPr>
              <a:t>日系HEV OEM</a:t>
            </a:r>
          </a:p>
        </p:txBody>
      </p:sp>
      <p:sp>
        <p:nvSpPr>
          <p:cNvPr id="28" name="TextBox 27"/>
          <p:cNvSpPr txBox="1"/>
          <p:nvPr/>
        </p:nvSpPr>
        <p:spPr>
          <a:xfrm>
            <a:off x="8796528" y="4425696"/>
            <a:ext cx="3511296" cy="630936"/>
          </a:xfrm>
          <a:prstGeom prst="rect">
            <a:avLst/>
          </a:prstGeom>
          <a:noFill/>
        </p:spPr>
        <p:txBody>
          <a:bodyPr wrap="square" lIns="0" rIns="0" tIns="0" bIns="0">
            <a:spAutoFit/>
          </a:bodyPr>
          <a:lstStyle/>
          <a:p>
            <a:pPr>
              <a:lnSpc>
                <a:spcPct val="113000"/>
              </a:lnSpc>
              <a:spcAft>
                <a:spcPts val="300"/>
              </a:spcAft>
            </a:pPr>
            <a:r>
              <a:rPr sz="1250" b="0">
                <a:solidFill>
                  <a:srgbClr val="172B4D"/>
                </a:solidFill>
                <a:latin typeface="Noto Sans CJK JP"/>
                <a:ea typeface="Noto Sans CJK JP"/>
              </a:rPr>
              <a:t>HEVも適格な税区分ならICE比で有利。BEVとHEVの購入総額・利便性を別々に比較する。</a:t>
            </a:r>
          </a:p>
        </p:txBody>
      </p:sp>
      <p:sp>
        <p:nvSpPr>
          <p:cNvPr id="29" name="TextBox 28"/>
          <p:cNvSpPr txBox="1"/>
          <p:nvPr/>
        </p:nvSpPr>
        <p:spPr>
          <a:xfrm>
            <a:off x="594360" y="5157216"/>
            <a:ext cx="11814048" cy="320040"/>
          </a:xfrm>
          <a:prstGeom prst="rect">
            <a:avLst/>
          </a:prstGeom>
          <a:noFill/>
        </p:spPr>
        <p:txBody>
          <a:bodyPr wrap="square" lIns="0" rIns="0" tIns="0" bIns="0">
            <a:spAutoFit/>
          </a:bodyPr>
          <a:lstStyle/>
          <a:p>
            <a:pPr>
              <a:lnSpc>
                <a:spcPct val="113000"/>
              </a:lnSpc>
              <a:spcAft>
                <a:spcPts val="300"/>
              </a:spcAft>
            </a:pPr>
            <a:r>
              <a:rPr sz="1080" b="0">
                <a:solidFill>
                  <a:srgbClr val="B57A14"/>
                </a:solidFill>
                <a:latin typeface="Noto Sans CJK JP"/>
                <a:ea typeface="Noto Sans CJK JP"/>
              </a:rPr>
              <a:t>分析：優遇の延長はBEVのA・持続性を支え得るが、個別モデルのλを下げる因果は販売データで検証する。</a:t>
            </a:r>
          </a:p>
        </p:txBody>
      </p:sp>
      <p:sp>
        <p:nvSpPr>
          <p:cNvPr id="30" name="TextBox 29"/>
          <p:cNvSpPr txBox="1"/>
          <p:nvPr/>
        </p:nvSpPr>
        <p:spPr>
          <a:xfrm>
            <a:off x="548640" y="5504688"/>
            <a:ext cx="11887200" cy="182880"/>
          </a:xfrm>
          <a:prstGeom prst="rect">
            <a:avLst/>
          </a:prstGeom>
          <a:noFill/>
        </p:spPr>
        <p:txBody>
          <a:bodyPr wrap="square" lIns="0" rIns="0" tIns="0" bIns="0">
            <a:spAutoFit/>
          </a:bodyPr>
          <a:lstStyle/>
          <a:p>
            <a:pPr>
              <a:lnSpc>
                <a:spcPct val="113000"/>
              </a:lnSpc>
              <a:spcAft>
                <a:spcPts val="300"/>
              </a:spcAft>
            </a:pPr>
            <a:r>
              <a:rPr sz="930" b="1">
                <a:solidFill>
                  <a:srgbClr val="56677C"/>
                </a:solidFill>
                <a:latin typeface="Noto Sans CJK JP"/>
                <a:ea typeface="Noto Sans CJK JP"/>
              </a:rPr>
              <a:t>一次情報｜番号は制度欄に対応。URLをクリックして原文を開く。</a:t>
            </a:r>
          </a:p>
        </p:txBody>
      </p:sp>
      <p:sp>
        <p:nvSpPr>
          <p:cNvPr id="31" name="TextBox 30"/>
          <p:cNvSpPr txBox="1"/>
          <p:nvPr/>
        </p:nvSpPr>
        <p:spPr>
          <a:xfrm>
            <a:off x="548640" y="5724144"/>
            <a:ext cx="3429000" cy="274320"/>
          </a:xfrm>
          <a:prstGeom prst="rect">
            <a:avLst/>
          </a:prstGeom>
          <a:noFill/>
        </p:spPr>
        <p:txBody>
          <a:bodyPr wrap="square" lIns="0" rIns="0" tIns="0" bIns="0">
            <a:spAutoFit/>
          </a:bodyPr>
          <a:lstStyle/>
          <a:p>
            <a:pPr>
              <a:lnSpc>
                <a:spcPct val="113000"/>
              </a:lnSpc>
              <a:spcAft>
                <a:spcPts val="300"/>
              </a:spcAft>
            </a:pPr>
            <a:r>
              <a:rPr sz="960" b="1">
                <a:solidFill>
                  <a:srgbClr val="56677C"/>
                </a:solidFill>
                <a:latin typeface="Noto Sans CJK JP"/>
                <a:ea typeface="Noto Sans CJK JP"/>
              </a:rPr>
              <a:t>[1] 政府｜政令51/2025 説明</a:t>
            </a:r>
          </a:p>
        </p:txBody>
      </p:sp>
      <p:sp>
        <p:nvSpPr>
          <p:cNvPr id="32" name="TextBox 31"/>
          <p:cNvSpPr txBox="1"/>
          <p:nvPr/>
        </p:nvSpPr>
        <p:spPr>
          <a:xfrm>
            <a:off x="4023360" y="5724144"/>
            <a:ext cx="8412480" cy="420624"/>
          </a:xfrm>
          <a:prstGeom prst="rect">
            <a:avLst/>
          </a:prstGeom>
          <a:noFill/>
        </p:spPr>
        <p:txBody>
          <a:bodyPr wrap="square" lIns="0" rIns="0" tIns="0" bIns="0">
            <a:spAutoFit/>
          </a:bodyPr>
          <a:lstStyle/>
          <a:p>
            <a:pPr>
              <a:lnSpc>
                <a:spcPct val="113000"/>
              </a:lnSpc>
              <a:spcAft>
                <a:spcPts val="300"/>
              </a:spcAft>
            </a:pPr>
            <a:r>
              <a:rPr sz="940" b="0">
                <a:solidFill>
                  <a:srgbClr val="2164A5"/>
                </a:solidFill>
                <a:latin typeface="Noto Sans CJK JP"/>
                <a:ea typeface="Noto Sans CJK JP"/>
                <a:hlinkClick r:id="rId2"/>
              </a:rPr>
              <a:t>https://xaydungchinhsach.chinhphu.vn/nghi-dinh-so-51-2025-nd-cp-sua-doi-bo-sung-quy-dinh-ve-le-phi-truoc-ba-119250302081211221.htm</a:t>
            </a:r>
          </a:p>
        </p:txBody>
      </p:sp>
      <p:sp>
        <p:nvSpPr>
          <p:cNvPr id="33" name="TextBox 32"/>
          <p:cNvSpPr txBox="1"/>
          <p:nvPr/>
        </p:nvSpPr>
        <p:spPr>
          <a:xfrm>
            <a:off x="548640" y="6153912"/>
            <a:ext cx="3429000" cy="274320"/>
          </a:xfrm>
          <a:prstGeom prst="rect">
            <a:avLst/>
          </a:prstGeom>
          <a:noFill/>
        </p:spPr>
        <p:txBody>
          <a:bodyPr wrap="square" lIns="0" rIns="0" tIns="0" bIns="0">
            <a:spAutoFit/>
          </a:bodyPr>
          <a:lstStyle/>
          <a:p>
            <a:pPr>
              <a:lnSpc>
                <a:spcPct val="113000"/>
              </a:lnSpc>
              <a:spcAft>
                <a:spcPts val="300"/>
              </a:spcAft>
            </a:pPr>
            <a:r>
              <a:rPr sz="960" b="1">
                <a:solidFill>
                  <a:srgbClr val="56677C"/>
                </a:solidFill>
                <a:latin typeface="Noto Sans CJK JP"/>
                <a:ea typeface="Noto Sans CJK JP"/>
              </a:rPr>
              <a:t>[2] 官報｜政令202/2026</a:t>
            </a:r>
          </a:p>
        </p:txBody>
      </p:sp>
      <p:sp>
        <p:nvSpPr>
          <p:cNvPr id="34" name="TextBox 33"/>
          <p:cNvSpPr txBox="1"/>
          <p:nvPr/>
        </p:nvSpPr>
        <p:spPr>
          <a:xfrm>
            <a:off x="4023360" y="6153912"/>
            <a:ext cx="8412480" cy="420624"/>
          </a:xfrm>
          <a:prstGeom prst="rect">
            <a:avLst/>
          </a:prstGeom>
          <a:noFill/>
        </p:spPr>
        <p:txBody>
          <a:bodyPr wrap="square" lIns="0" rIns="0" tIns="0" bIns="0">
            <a:spAutoFit/>
          </a:bodyPr>
          <a:lstStyle/>
          <a:p>
            <a:pPr>
              <a:lnSpc>
                <a:spcPct val="113000"/>
              </a:lnSpc>
              <a:spcAft>
                <a:spcPts val="300"/>
              </a:spcAft>
            </a:pPr>
            <a:r>
              <a:rPr sz="940" b="0">
                <a:solidFill>
                  <a:srgbClr val="2164A5"/>
                </a:solidFill>
                <a:latin typeface="Noto Sans CJK JP"/>
                <a:ea typeface="Noto Sans CJK JP"/>
                <a:hlinkClick r:id="rId3"/>
              </a:rPr>
              <a:t>https://congbao.chinhphu.vn/van-ban/nghi-dinh-so-202-2026-nd-cp-469730.htm</a:t>
            </a:r>
          </a:p>
        </p:txBody>
      </p:sp>
      <p:sp>
        <p:nvSpPr>
          <p:cNvPr id="35" name="TextBox 34"/>
          <p:cNvSpPr txBox="1"/>
          <p:nvPr/>
        </p:nvSpPr>
        <p:spPr>
          <a:xfrm>
            <a:off x="548640" y="6583679"/>
            <a:ext cx="3429000" cy="274320"/>
          </a:xfrm>
          <a:prstGeom prst="rect">
            <a:avLst/>
          </a:prstGeom>
          <a:noFill/>
        </p:spPr>
        <p:txBody>
          <a:bodyPr wrap="square" lIns="0" rIns="0" tIns="0" bIns="0">
            <a:spAutoFit/>
          </a:bodyPr>
          <a:lstStyle/>
          <a:p>
            <a:pPr>
              <a:lnSpc>
                <a:spcPct val="113000"/>
              </a:lnSpc>
              <a:spcAft>
                <a:spcPts val="300"/>
              </a:spcAft>
            </a:pPr>
            <a:r>
              <a:rPr sz="960" b="1">
                <a:solidFill>
                  <a:srgbClr val="56677C"/>
                </a:solidFill>
                <a:latin typeface="Noto Sans CJK JP"/>
                <a:ea typeface="Noto Sans CJK JP"/>
              </a:rPr>
              <a:t>[3] 国会事務局｜111/VBHN 2026</a:t>
            </a:r>
          </a:p>
        </p:txBody>
      </p:sp>
      <p:sp>
        <p:nvSpPr>
          <p:cNvPr id="36" name="TextBox 35"/>
          <p:cNvSpPr txBox="1"/>
          <p:nvPr/>
        </p:nvSpPr>
        <p:spPr>
          <a:xfrm>
            <a:off x="4023360" y="6583679"/>
            <a:ext cx="8412480" cy="420624"/>
          </a:xfrm>
          <a:prstGeom prst="rect">
            <a:avLst/>
          </a:prstGeom>
          <a:noFill/>
        </p:spPr>
        <p:txBody>
          <a:bodyPr wrap="square" lIns="0" rIns="0" tIns="0" bIns="0">
            <a:spAutoFit/>
          </a:bodyPr>
          <a:lstStyle/>
          <a:p>
            <a:pPr>
              <a:lnSpc>
                <a:spcPct val="113000"/>
              </a:lnSpc>
              <a:spcAft>
                <a:spcPts val="300"/>
              </a:spcAft>
            </a:pPr>
            <a:r>
              <a:rPr sz="940" b="0">
                <a:solidFill>
                  <a:srgbClr val="2164A5"/>
                </a:solidFill>
                <a:latin typeface="Noto Sans CJK JP"/>
                <a:ea typeface="Noto Sans CJK JP"/>
                <a:hlinkClick r:id="rId4"/>
              </a:rPr>
              <a:t>https://datafiles.chinhphu.vn/cpp/files/vbpq/2026/5/111-vbhn-vpqh.pdf</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3004596" cy="118872"/>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972800" cy="228600"/>
          </a:xfrm>
          <a:prstGeom prst="rect">
            <a:avLst/>
          </a:prstGeom>
          <a:noFill/>
        </p:spPr>
        <p:txBody>
          <a:bodyPr wrap="square" lIns="0" rIns="0" tIns="0" bIns="0">
            <a:spAutoFit/>
          </a:bodyPr>
          <a:lstStyle/>
          <a:p>
            <a:pPr>
              <a:lnSpc>
                <a:spcPct val="113000"/>
              </a:lnSpc>
              <a:spcAft>
                <a:spcPts val="300"/>
              </a:spcAft>
            </a:pPr>
            <a:r>
              <a:rPr sz="1000" b="1">
                <a:solidFill>
                  <a:srgbClr val="007F82"/>
                </a:solidFill>
                <a:latin typeface="Noto Sans CJK JP"/>
                <a:ea typeface="Noto Sans CJK JP"/>
              </a:rPr>
              <a:t>PHILIPPINES</a:t>
            </a:r>
          </a:p>
        </p:txBody>
      </p:sp>
      <p:sp>
        <p:nvSpPr>
          <p:cNvPr id="4" name="TextBox 3"/>
          <p:cNvSpPr txBox="1"/>
          <p:nvPr/>
        </p:nvSpPr>
        <p:spPr>
          <a:xfrm>
            <a:off x="502920" y="685800"/>
            <a:ext cx="12024360" cy="566928"/>
          </a:xfrm>
          <a:prstGeom prst="rect">
            <a:avLst/>
          </a:prstGeom>
          <a:noFill/>
        </p:spPr>
        <p:txBody>
          <a:bodyPr wrap="square" lIns="0" rIns="0" tIns="0" bIns="0">
            <a:spAutoFit/>
          </a:bodyPr>
          <a:lstStyle/>
          <a:p>
            <a:pPr>
              <a:lnSpc>
                <a:spcPct val="113000"/>
              </a:lnSpc>
              <a:spcAft>
                <a:spcPts val="300"/>
              </a:spcAft>
            </a:pPr>
            <a:r>
              <a:rPr sz="2800" b="1">
                <a:solidFill>
                  <a:srgbClr val="172B4D"/>
                </a:solidFill>
                <a:latin typeface="Noto Sans CJK JP"/>
                <a:ea typeface="Noto Sans CJK JP"/>
              </a:rPr>
              <a:t>フィリピン｜関税0％はBEVだけでなくHEV・PHEVも後押し</a:t>
            </a:r>
          </a:p>
        </p:txBody>
      </p:sp>
      <p:sp>
        <p:nvSpPr>
          <p:cNvPr id="5" name="TextBox 4"/>
          <p:cNvSpPr txBox="1"/>
          <p:nvPr/>
        </p:nvSpPr>
        <p:spPr>
          <a:xfrm>
            <a:off x="502920" y="1335024"/>
            <a:ext cx="11978640" cy="438912"/>
          </a:xfrm>
          <a:prstGeom prst="rect">
            <a:avLst/>
          </a:prstGeom>
          <a:noFill/>
        </p:spPr>
        <p:txBody>
          <a:bodyPr wrap="square" lIns="0" rIns="0" tIns="0" bIns="0">
            <a:spAutoFit/>
          </a:bodyPr>
          <a:lstStyle/>
          <a:p>
            <a:pPr>
              <a:lnSpc>
                <a:spcPct val="113000"/>
              </a:lnSpc>
              <a:spcAft>
                <a:spcPts val="300"/>
              </a:spcAft>
            </a:pPr>
            <a:r>
              <a:rPr sz="1600" b="0">
                <a:solidFill>
                  <a:srgbClr val="56677C"/>
                </a:solidFill>
                <a:latin typeface="Noto Sans CJK JP"/>
                <a:ea typeface="Noto Sans CJK JP"/>
              </a:rPr>
              <a:t>輸入しやすさと、物品税上の車種認定を分けて考える。</a:t>
            </a:r>
          </a:p>
        </p:txBody>
      </p:sp>
      <p:sp>
        <p:nvSpPr>
          <p:cNvPr id="6" name="Rectangle 5"/>
          <p:cNvSpPr/>
          <p:nvPr/>
        </p:nvSpPr>
        <p:spPr>
          <a:xfrm>
            <a:off x="502920" y="7114032"/>
            <a:ext cx="11978640" cy="10972"/>
          </a:xfrm>
          <a:prstGeom prst="rect">
            <a:avLst/>
          </a:prstGeom>
          <a:solidFill>
            <a:srgbClr val="D9E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7178040"/>
            <a:ext cx="10972800" cy="109728"/>
          </a:xfrm>
          <a:prstGeom prst="rect">
            <a:avLst/>
          </a:prstGeom>
          <a:noFill/>
        </p:spPr>
        <p:txBody>
          <a:bodyPr wrap="square" lIns="0" rIns="0" tIns="0" bIns="0">
            <a:spAutoFit/>
          </a:bodyPr>
          <a:lstStyle/>
          <a:p>
            <a:pPr>
              <a:lnSpc>
                <a:spcPct val="113000"/>
              </a:lnSpc>
              <a:spcAft>
                <a:spcPts val="300"/>
              </a:spcAft>
            </a:pPr>
            <a:r>
              <a:rPr sz="800" b="0">
                <a:solidFill>
                  <a:srgbClr val="56677C"/>
                </a:solidFill>
                <a:latin typeface="Noto Sans CJK JP"/>
                <a:ea typeface="Noto Sans CJK JP"/>
              </a:rPr>
              <a:t>東南アジア自動車制度｜公開一次情報の確認日：2026-10-06｜影響・矢印は分析仮説</a:t>
            </a:r>
          </a:p>
        </p:txBody>
      </p:sp>
      <p:sp>
        <p:nvSpPr>
          <p:cNvPr id="8" name="TextBox 7"/>
          <p:cNvSpPr txBox="1"/>
          <p:nvPr/>
        </p:nvSpPr>
        <p:spPr>
          <a:xfrm>
            <a:off x="12024360" y="7159752"/>
            <a:ext cx="457200" cy="137160"/>
          </a:xfrm>
          <a:prstGeom prst="rect">
            <a:avLst/>
          </a:prstGeom>
          <a:noFill/>
        </p:spPr>
        <p:txBody>
          <a:bodyPr wrap="square" lIns="0" rIns="0" tIns="0" bIns="0">
            <a:spAutoFit/>
          </a:bodyPr>
          <a:lstStyle/>
          <a:p>
            <a:pPr>
              <a:lnSpc>
                <a:spcPct val="113000"/>
              </a:lnSpc>
              <a:spcAft>
                <a:spcPts val="300"/>
              </a:spcAft>
            </a:pPr>
            <a:r>
              <a:rPr sz="900" b="0">
                <a:solidFill>
                  <a:srgbClr val="56677C"/>
                </a:solidFill>
                <a:latin typeface="Noto Sans CJK JP"/>
                <a:ea typeface="Noto Sans CJK JP"/>
              </a:rPr>
              <a:t>08</a:t>
            </a:r>
          </a:p>
        </p:txBody>
      </p:sp>
      <p:sp>
        <p:nvSpPr>
          <p:cNvPr id="9" name="TextBox 8"/>
          <p:cNvSpPr txBox="1"/>
          <p:nvPr/>
        </p:nvSpPr>
        <p:spPr>
          <a:xfrm>
            <a:off x="548640" y="1810512"/>
            <a:ext cx="7955279" cy="228600"/>
          </a:xfrm>
          <a:prstGeom prst="rect">
            <a:avLst/>
          </a:prstGeom>
          <a:noFill/>
        </p:spPr>
        <p:txBody>
          <a:bodyPr wrap="square" lIns="0" rIns="0" tIns="0" bIns="0">
            <a:spAutoFit/>
          </a:bodyPr>
          <a:lstStyle/>
          <a:p>
            <a:pPr>
              <a:lnSpc>
                <a:spcPct val="113000"/>
              </a:lnSpc>
              <a:spcAft>
                <a:spcPts val="300"/>
              </a:spcAft>
            </a:pPr>
            <a:r>
              <a:rPr sz="1100" b="1">
                <a:solidFill>
                  <a:srgbClr val="007F82"/>
                </a:solidFill>
                <a:latin typeface="Noto Sans CJK JP"/>
                <a:ea typeface="Noto Sans CJK JP"/>
              </a:rPr>
              <a:t>制度・対象・期間（政府／当局が公表した事実）</a:t>
            </a:r>
          </a:p>
        </p:txBody>
      </p:sp>
      <p:sp>
        <p:nvSpPr>
          <p:cNvPr id="10" name="TextBox 9"/>
          <p:cNvSpPr txBox="1"/>
          <p:nvPr/>
        </p:nvSpPr>
        <p:spPr>
          <a:xfrm>
            <a:off x="8778240" y="1810512"/>
            <a:ext cx="3657600" cy="228600"/>
          </a:xfrm>
          <a:prstGeom prst="rect">
            <a:avLst/>
          </a:prstGeom>
          <a:noFill/>
        </p:spPr>
        <p:txBody>
          <a:bodyPr wrap="square" lIns="0" rIns="0" tIns="0" bIns="0">
            <a:spAutoFit/>
          </a:bodyPr>
          <a:lstStyle/>
          <a:p>
            <a:pPr>
              <a:lnSpc>
                <a:spcPct val="113000"/>
              </a:lnSpc>
              <a:spcAft>
                <a:spcPts val="300"/>
              </a:spcAft>
            </a:pPr>
            <a:r>
              <a:rPr sz="1100" b="1">
                <a:solidFill>
                  <a:srgbClr val="2164A5"/>
                </a:solidFill>
                <a:latin typeface="Noto Sans CJK JP"/>
                <a:ea typeface="Noto Sans CJK JP"/>
              </a:rPr>
              <a:t>OEMへの影響（以下は分析上の推論）</a:t>
            </a:r>
          </a:p>
        </p:txBody>
      </p:sp>
      <p:sp>
        <p:nvSpPr>
          <p:cNvPr id="11" name="Rectangle 10"/>
          <p:cNvSpPr/>
          <p:nvPr/>
        </p:nvSpPr>
        <p:spPr>
          <a:xfrm>
            <a:off x="548640" y="2048256"/>
            <a:ext cx="7863840" cy="969264"/>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641080" y="2048256"/>
            <a:ext cx="3840480" cy="969264"/>
          </a:xfrm>
          <a:prstGeom prst="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 y="2130552"/>
            <a:ext cx="7498079" cy="265176"/>
          </a:xfrm>
          <a:prstGeom prst="rect">
            <a:avLst/>
          </a:prstGeom>
          <a:noFill/>
        </p:spPr>
        <p:txBody>
          <a:bodyPr wrap="square" lIns="0" rIns="0" tIns="0" bIns="0">
            <a:spAutoFit/>
          </a:bodyPr>
          <a:lstStyle/>
          <a:p>
            <a:pPr>
              <a:lnSpc>
                <a:spcPct val="113000"/>
              </a:lnSpc>
              <a:spcAft>
                <a:spcPts val="300"/>
              </a:spcAft>
            </a:pPr>
            <a:r>
              <a:rPr sz="1600" b="1">
                <a:solidFill>
                  <a:srgbClr val="007F82"/>
                </a:solidFill>
                <a:latin typeface="Noto Sans CJK JP"/>
                <a:ea typeface="Noto Sans CJK JP"/>
              </a:rPr>
              <a:t>EO62：対象関税を2028年まで0％ [1]</a:t>
            </a:r>
          </a:p>
        </p:txBody>
      </p:sp>
      <p:sp>
        <p:nvSpPr>
          <p:cNvPr id="14" name="TextBox 13"/>
          <p:cNvSpPr txBox="1"/>
          <p:nvPr/>
        </p:nvSpPr>
        <p:spPr>
          <a:xfrm>
            <a:off x="713232" y="2423160"/>
            <a:ext cx="7498079" cy="594360"/>
          </a:xfrm>
          <a:prstGeom prst="rect">
            <a:avLst/>
          </a:prstGeom>
          <a:noFill/>
        </p:spPr>
        <p:txBody>
          <a:bodyPr wrap="square" lIns="0" rIns="0" tIns="0" bIns="0">
            <a:spAutoFit/>
          </a:bodyPr>
          <a:lstStyle/>
          <a:p>
            <a:pPr>
              <a:lnSpc>
                <a:spcPct val="113000"/>
              </a:lnSpc>
              <a:spcAft>
                <a:spcPts val="300"/>
              </a:spcAft>
            </a:pPr>
            <a:r>
              <a:rPr sz="1400" b="0">
                <a:solidFill>
                  <a:srgbClr val="172B4D"/>
                </a:solidFill>
                <a:latin typeface="Noto Sans CJK JP"/>
                <a:ea typeface="Noto Sans CJK JP"/>
              </a:rPr>
              <a:t>対象のBEV・HEV・PHEVと一定の部品のMFN関税を0％にする。車種・HS番号ごとの適用であり、VATなど全税の免除を意味しない。</a:t>
            </a:r>
          </a:p>
        </p:txBody>
      </p:sp>
      <p:sp>
        <p:nvSpPr>
          <p:cNvPr id="15" name="TextBox 14"/>
          <p:cNvSpPr txBox="1"/>
          <p:nvPr/>
        </p:nvSpPr>
        <p:spPr>
          <a:xfrm>
            <a:off x="8796528" y="2121408"/>
            <a:ext cx="3566160" cy="274320"/>
          </a:xfrm>
          <a:prstGeom prst="rect">
            <a:avLst/>
          </a:prstGeom>
          <a:noFill/>
        </p:spPr>
        <p:txBody>
          <a:bodyPr wrap="square" lIns="0" rIns="0" tIns="0" bIns="0">
            <a:spAutoFit/>
          </a:bodyPr>
          <a:lstStyle/>
          <a:p>
            <a:pPr>
              <a:lnSpc>
                <a:spcPct val="113000"/>
              </a:lnSpc>
              <a:spcAft>
                <a:spcPts val="300"/>
              </a:spcAft>
            </a:pPr>
            <a:r>
              <a:rPr sz="1350" b="1">
                <a:solidFill>
                  <a:srgbClr val="2164A5"/>
                </a:solidFill>
                <a:latin typeface="Noto Sans CJK JP"/>
                <a:ea typeface="Noto Sans CJK JP"/>
              </a:rPr>
              <a:t>中国系BEV・PHEV OEM</a:t>
            </a:r>
          </a:p>
        </p:txBody>
      </p:sp>
      <p:sp>
        <p:nvSpPr>
          <p:cNvPr id="16" name="TextBox 15"/>
          <p:cNvSpPr txBox="1"/>
          <p:nvPr/>
        </p:nvSpPr>
        <p:spPr>
          <a:xfrm>
            <a:off x="8796528" y="2377440"/>
            <a:ext cx="3511296" cy="630936"/>
          </a:xfrm>
          <a:prstGeom prst="rect">
            <a:avLst/>
          </a:prstGeom>
          <a:noFill/>
        </p:spPr>
        <p:txBody>
          <a:bodyPr wrap="square" lIns="0" rIns="0" tIns="0" bIns="0">
            <a:spAutoFit/>
          </a:bodyPr>
          <a:lstStyle/>
          <a:p>
            <a:pPr>
              <a:lnSpc>
                <a:spcPct val="113000"/>
              </a:lnSpc>
              <a:spcAft>
                <a:spcPts val="300"/>
              </a:spcAft>
            </a:pPr>
            <a:r>
              <a:rPr sz="1250" b="0">
                <a:solidFill>
                  <a:srgbClr val="172B4D"/>
                </a:solidFill>
                <a:latin typeface="Noto Sans CJK JP"/>
                <a:ea typeface="Noto Sans CJK JP"/>
              </a:rPr>
              <a:t>CBUでモデルを追加しやすい可能性。現地工場の有無だけで参入速度を判断しない。</a:t>
            </a:r>
          </a:p>
        </p:txBody>
      </p:sp>
      <p:sp>
        <p:nvSpPr>
          <p:cNvPr id="17" name="Rectangle 16"/>
          <p:cNvSpPr/>
          <p:nvPr/>
        </p:nvSpPr>
        <p:spPr>
          <a:xfrm>
            <a:off x="548640" y="3072384"/>
            <a:ext cx="7863840" cy="969264"/>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641080" y="3072384"/>
            <a:ext cx="3840480" cy="969264"/>
          </a:xfrm>
          <a:prstGeom prst="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3232" y="3154680"/>
            <a:ext cx="7498079" cy="265176"/>
          </a:xfrm>
          <a:prstGeom prst="rect">
            <a:avLst/>
          </a:prstGeom>
          <a:noFill/>
        </p:spPr>
        <p:txBody>
          <a:bodyPr wrap="square" lIns="0" rIns="0" tIns="0" bIns="0">
            <a:spAutoFit/>
          </a:bodyPr>
          <a:lstStyle/>
          <a:p>
            <a:pPr>
              <a:lnSpc>
                <a:spcPct val="113000"/>
              </a:lnSpc>
              <a:spcAft>
                <a:spcPts val="300"/>
              </a:spcAft>
            </a:pPr>
            <a:r>
              <a:rPr sz="1600" b="1">
                <a:solidFill>
                  <a:srgbClr val="007F82"/>
                </a:solidFill>
                <a:latin typeface="Noto Sans CJK JP"/>
                <a:ea typeface="Noto Sans CJK JP"/>
              </a:rPr>
              <a:t>物品税：BEV免除、HEV等は50％ [2]</a:t>
            </a:r>
          </a:p>
        </p:txBody>
      </p:sp>
      <p:sp>
        <p:nvSpPr>
          <p:cNvPr id="20" name="TextBox 19"/>
          <p:cNvSpPr txBox="1"/>
          <p:nvPr/>
        </p:nvSpPr>
        <p:spPr>
          <a:xfrm>
            <a:off x="713232" y="3447288"/>
            <a:ext cx="7498079" cy="594360"/>
          </a:xfrm>
          <a:prstGeom prst="rect">
            <a:avLst/>
          </a:prstGeom>
          <a:noFill/>
        </p:spPr>
        <p:txBody>
          <a:bodyPr wrap="square" lIns="0" rIns="0" tIns="0" bIns="0">
            <a:spAutoFit/>
          </a:bodyPr>
          <a:lstStyle/>
          <a:p>
            <a:pPr>
              <a:lnSpc>
                <a:spcPct val="113000"/>
              </a:lnSpc>
              <a:spcAft>
                <a:spcPts val="300"/>
              </a:spcAft>
            </a:pPr>
            <a:r>
              <a:rPr sz="1400" b="0">
                <a:solidFill>
                  <a:srgbClr val="172B4D"/>
                </a:solidFill>
                <a:latin typeface="Noto Sans CJK JP"/>
                <a:ea typeface="Noto Sans CJK JP"/>
              </a:rPr>
              <a:t>BIR RR1/2025：純電気車は物品税免除、適格なハイブリッド車は通常適用税の50％。DOEのElectric Vehicle Recognition Listで分類を確認する。</a:t>
            </a:r>
          </a:p>
        </p:txBody>
      </p:sp>
      <p:sp>
        <p:nvSpPr>
          <p:cNvPr id="21" name="TextBox 20"/>
          <p:cNvSpPr txBox="1"/>
          <p:nvPr/>
        </p:nvSpPr>
        <p:spPr>
          <a:xfrm>
            <a:off x="8796528" y="3145536"/>
            <a:ext cx="3566160" cy="274320"/>
          </a:xfrm>
          <a:prstGeom prst="rect">
            <a:avLst/>
          </a:prstGeom>
          <a:noFill/>
        </p:spPr>
        <p:txBody>
          <a:bodyPr wrap="square" lIns="0" rIns="0" tIns="0" bIns="0">
            <a:spAutoFit/>
          </a:bodyPr>
          <a:lstStyle/>
          <a:p>
            <a:pPr>
              <a:lnSpc>
                <a:spcPct val="113000"/>
              </a:lnSpc>
              <a:spcAft>
                <a:spcPts val="300"/>
              </a:spcAft>
            </a:pPr>
            <a:r>
              <a:rPr sz="1350" b="1">
                <a:solidFill>
                  <a:srgbClr val="2164A5"/>
                </a:solidFill>
                <a:latin typeface="Noto Sans CJK JP"/>
                <a:ea typeface="Noto Sans CJK JP"/>
              </a:rPr>
              <a:t>Toyota等の日系HEV OEM</a:t>
            </a:r>
          </a:p>
        </p:txBody>
      </p:sp>
      <p:sp>
        <p:nvSpPr>
          <p:cNvPr id="22" name="TextBox 21"/>
          <p:cNvSpPr txBox="1"/>
          <p:nvPr/>
        </p:nvSpPr>
        <p:spPr>
          <a:xfrm>
            <a:off x="8796528" y="3401568"/>
            <a:ext cx="3511296" cy="630936"/>
          </a:xfrm>
          <a:prstGeom prst="rect">
            <a:avLst/>
          </a:prstGeom>
          <a:noFill/>
        </p:spPr>
        <p:txBody>
          <a:bodyPr wrap="square" lIns="0" rIns="0" tIns="0" bIns="0">
            <a:spAutoFit/>
          </a:bodyPr>
          <a:lstStyle/>
          <a:p>
            <a:pPr>
              <a:lnSpc>
                <a:spcPct val="113000"/>
              </a:lnSpc>
              <a:spcAft>
                <a:spcPts val="300"/>
              </a:spcAft>
            </a:pPr>
            <a:r>
              <a:rPr sz="1250" b="0">
                <a:solidFill>
                  <a:srgbClr val="172B4D"/>
                </a:solidFill>
                <a:latin typeface="Noto Sans CJK JP"/>
                <a:ea typeface="Noto Sans CJK JP"/>
              </a:rPr>
              <a:t>関税優遇をBEVだけの追い風と見なさない。HEVも税負担を抑えながら既存需要を取り込める。</a:t>
            </a:r>
          </a:p>
        </p:txBody>
      </p:sp>
      <p:sp>
        <p:nvSpPr>
          <p:cNvPr id="23" name="Rectangle 22"/>
          <p:cNvSpPr/>
          <p:nvPr/>
        </p:nvSpPr>
        <p:spPr>
          <a:xfrm>
            <a:off x="548640" y="4096512"/>
            <a:ext cx="7863840" cy="969264"/>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641080" y="4096512"/>
            <a:ext cx="3840480" cy="969264"/>
          </a:xfrm>
          <a:prstGeom prst="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3232" y="4178808"/>
            <a:ext cx="7498079" cy="265176"/>
          </a:xfrm>
          <a:prstGeom prst="rect">
            <a:avLst/>
          </a:prstGeom>
          <a:noFill/>
        </p:spPr>
        <p:txBody>
          <a:bodyPr wrap="square" lIns="0" rIns="0" tIns="0" bIns="0">
            <a:spAutoFit/>
          </a:bodyPr>
          <a:lstStyle/>
          <a:p>
            <a:pPr>
              <a:lnSpc>
                <a:spcPct val="113000"/>
              </a:lnSpc>
              <a:spcAft>
                <a:spcPts val="300"/>
              </a:spcAft>
            </a:pPr>
            <a:r>
              <a:rPr sz="1600" b="1">
                <a:solidFill>
                  <a:srgbClr val="007F82"/>
                </a:solidFill>
                <a:latin typeface="Noto Sans CJK JP"/>
                <a:ea typeface="Noto Sans CJK JP"/>
              </a:rPr>
              <a:t>中国系輸入BEVと日系HEVが競合 [1,2]</a:t>
            </a:r>
          </a:p>
        </p:txBody>
      </p:sp>
      <p:sp>
        <p:nvSpPr>
          <p:cNvPr id="26" name="TextBox 25"/>
          <p:cNvSpPr txBox="1"/>
          <p:nvPr/>
        </p:nvSpPr>
        <p:spPr>
          <a:xfrm>
            <a:off x="713232" y="4471416"/>
            <a:ext cx="7498079" cy="594360"/>
          </a:xfrm>
          <a:prstGeom prst="rect">
            <a:avLst/>
          </a:prstGeom>
          <a:noFill/>
        </p:spPr>
        <p:txBody>
          <a:bodyPr wrap="square" lIns="0" rIns="0" tIns="0" bIns="0">
            <a:spAutoFit/>
          </a:bodyPr>
          <a:lstStyle/>
          <a:p>
            <a:pPr>
              <a:lnSpc>
                <a:spcPct val="113000"/>
              </a:lnSpc>
              <a:spcAft>
                <a:spcPts val="300"/>
              </a:spcAft>
            </a:pPr>
            <a:r>
              <a:rPr sz="1400" b="0">
                <a:solidFill>
                  <a:srgbClr val="172B4D"/>
                </a:solidFill>
                <a:latin typeface="Noto Sans CJK JP"/>
                <a:ea typeface="Noto Sans CJK JP"/>
              </a:rPr>
              <a:t>上記の関税0％自体にはタイ型の輸入台数連動の生産倍率を規定していない。国籍より、対象型式・車種分類・適用HSが恩典を決める。</a:t>
            </a:r>
          </a:p>
        </p:txBody>
      </p:sp>
      <p:sp>
        <p:nvSpPr>
          <p:cNvPr id="27" name="TextBox 26"/>
          <p:cNvSpPr txBox="1"/>
          <p:nvPr/>
        </p:nvSpPr>
        <p:spPr>
          <a:xfrm>
            <a:off x="8796528" y="4169664"/>
            <a:ext cx="3566160" cy="274320"/>
          </a:xfrm>
          <a:prstGeom prst="rect">
            <a:avLst/>
          </a:prstGeom>
          <a:noFill/>
        </p:spPr>
        <p:txBody>
          <a:bodyPr wrap="square" lIns="0" rIns="0" tIns="0" bIns="0">
            <a:spAutoFit/>
          </a:bodyPr>
          <a:lstStyle/>
          <a:p>
            <a:pPr>
              <a:lnSpc>
                <a:spcPct val="113000"/>
              </a:lnSpc>
              <a:spcAft>
                <a:spcPts val="300"/>
              </a:spcAft>
            </a:pPr>
            <a:r>
              <a:rPr sz="1350" b="1">
                <a:solidFill>
                  <a:srgbClr val="2164A5"/>
                </a:solidFill>
                <a:latin typeface="Noto Sans CJK JP"/>
                <a:ea typeface="Noto Sans CJK JP"/>
              </a:rPr>
              <a:t>MHEVを含む各社</a:t>
            </a:r>
          </a:p>
        </p:txBody>
      </p:sp>
      <p:sp>
        <p:nvSpPr>
          <p:cNvPr id="28" name="TextBox 27"/>
          <p:cNvSpPr txBox="1"/>
          <p:nvPr/>
        </p:nvSpPr>
        <p:spPr>
          <a:xfrm>
            <a:off x="8796528" y="4425696"/>
            <a:ext cx="3511296" cy="630936"/>
          </a:xfrm>
          <a:prstGeom prst="rect">
            <a:avLst/>
          </a:prstGeom>
          <a:noFill/>
        </p:spPr>
        <p:txBody>
          <a:bodyPr wrap="square" lIns="0" rIns="0" tIns="0" bIns="0">
            <a:spAutoFit/>
          </a:bodyPr>
          <a:lstStyle/>
          <a:p>
            <a:pPr>
              <a:lnSpc>
                <a:spcPct val="113000"/>
              </a:lnSpc>
              <a:spcAft>
                <a:spcPts val="300"/>
              </a:spcAft>
            </a:pPr>
            <a:r>
              <a:rPr sz="1250" b="0">
                <a:solidFill>
                  <a:srgbClr val="172B4D"/>
                </a:solidFill>
                <a:latin typeface="Noto Sans CJK JP"/>
                <a:ea typeface="Noto Sans CJK JP"/>
              </a:rPr>
              <a:t>「ハイブリッド」の商品名だけでは物品税恩典を判定できない。DOEの認定型式を照合する。</a:t>
            </a:r>
          </a:p>
        </p:txBody>
      </p:sp>
      <p:sp>
        <p:nvSpPr>
          <p:cNvPr id="29" name="TextBox 28"/>
          <p:cNvSpPr txBox="1"/>
          <p:nvPr/>
        </p:nvSpPr>
        <p:spPr>
          <a:xfrm>
            <a:off x="594360" y="5157216"/>
            <a:ext cx="11814048" cy="320040"/>
          </a:xfrm>
          <a:prstGeom prst="rect">
            <a:avLst/>
          </a:prstGeom>
          <a:noFill/>
        </p:spPr>
        <p:txBody>
          <a:bodyPr wrap="square" lIns="0" rIns="0" tIns="0" bIns="0">
            <a:spAutoFit/>
          </a:bodyPr>
          <a:lstStyle/>
          <a:p>
            <a:pPr>
              <a:lnSpc>
                <a:spcPct val="113000"/>
              </a:lnSpc>
              <a:spcAft>
                <a:spcPts val="300"/>
              </a:spcAft>
            </a:pPr>
            <a:r>
              <a:rPr sz="1080" b="0">
                <a:solidFill>
                  <a:srgbClr val="B57A14"/>
                </a:solidFill>
                <a:latin typeface="Noto Sans CJK JP"/>
                <a:ea typeface="Noto Sans CJK JP"/>
              </a:rPr>
              <a:t>分析：輸入障壁低下→κ上昇は供給・販売網が整う場合。輸入モデル増加→λ上昇は競合投入が増える場合。</a:t>
            </a:r>
          </a:p>
        </p:txBody>
      </p:sp>
      <p:sp>
        <p:nvSpPr>
          <p:cNvPr id="30" name="TextBox 29"/>
          <p:cNvSpPr txBox="1"/>
          <p:nvPr/>
        </p:nvSpPr>
        <p:spPr>
          <a:xfrm>
            <a:off x="548640" y="5504688"/>
            <a:ext cx="11887200" cy="182880"/>
          </a:xfrm>
          <a:prstGeom prst="rect">
            <a:avLst/>
          </a:prstGeom>
          <a:noFill/>
        </p:spPr>
        <p:txBody>
          <a:bodyPr wrap="square" lIns="0" rIns="0" tIns="0" bIns="0">
            <a:spAutoFit/>
          </a:bodyPr>
          <a:lstStyle/>
          <a:p>
            <a:pPr>
              <a:lnSpc>
                <a:spcPct val="113000"/>
              </a:lnSpc>
              <a:spcAft>
                <a:spcPts val="300"/>
              </a:spcAft>
            </a:pPr>
            <a:r>
              <a:rPr sz="930" b="1">
                <a:solidFill>
                  <a:srgbClr val="56677C"/>
                </a:solidFill>
                <a:latin typeface="Noto Sans CJK JP"/>
                <a:ea typeface="Noto Sans CJK JP"/>
              </a:rPr>
              <a:t>一次情報｜番号は制度欄に対応。URLをクリックして原文を開く。</a:t>
            </a:r>
          </a:p>
        </p:txBody>
      </p:sp>
      <p:sp>
        <p:nvSpPr>
          <p:cNvPr id="31" name="TextBox 30"/>
          <p:cNvSpPr txBox="1"/>
          <p:nvPr/>
        </p:nvSpPr>
        <p:spPr>
          <a:xfrm>
            <a:off x="548640" y="5724144"/>
            <a:ext cx="3429000" cy="274320"/>
          </a:xfrm>
          <a:prstGeom prst="rect">
            <a:avLst/>
          </a:prstGeom>
          <a:noFill/>
        </p:spPr>
        <p:txBody>
          <a:bodyPr wrap="square" lIns="0" rIns="0" tIns="0" bIns="0">
            <a:spAutoFit/>
          </a:bodyPr>
          <a:lstStyle/>
          <a:p>
            <a:pPr>
              <a:lnSpc>
                <a:spcPct val="113000"/>
              </a:lnSpc>
              <a:spcAft>
                <a:spcPts val="300"/>
              </a:spcAft>
            </a:pPr>
            <a:r>
              <a:rPr sz="960" b="1">
                <a:solidFill>
                  <a:srgbClr val="56677C"/>
                </a:solidFill>
                <a:latin typeface="Noto Sans CJK JP"/>
                <a:ea typeface="Noto Sans CJK JP"/>
              </a:rPr>
              <a:t>[1] 税関｜EO62 原文 2024-06-20</a:t>
            </a:r>
          </a:p>
        </p:txBody>
      </p:sp>
      <p:sp>
        <p:nvSpPr>
          <p:cNvPr id="32" name="TextBox 31"/>
          <p:cNvSpPr txBox="1"/>
          <p:nvPr/>
        </p:nvSpPr>
        <p:spPr>
          <a:xfrm>
            <a:off x="4023360" y="5724144"/>
            <a:ext cx="8412480" cy="420624"/>
          </a:xfrm>
          <a:prstGeom prst="rect">
            <a:avLst/>
          </a:prstGeom>
          <a:noFill/>
        </p:spPr>
        <p:txBody>
          <a:bodyPr wrap="square" lIns="0" rIns="0" tIns="0" bIns="0">
            <a:spAutoFit/>
          </a:bodyPr>
          <a:lstStyle/>
          <a:p>
            <a:pPr>
              <a:lnSpc>
                <a:spcPct val="113000"/>
              </a:lnSpc>
              <a:spcAft>
                <a:spcPts val="300"/>
              </a:spcAft>
            </a:pPr>
            <a:r>
              <a:rPr sz="940" b="0">
                <a:solidFill>
                  <a:srgbClr val="2164A5"/>
                </a:solidFill>
                <a:latin typeface="Noto Sans CJK JP"/>
                <a:ea typeface="Noto Sans CJK JP"/>
                <a:hlinkClick r:id="rId2"/>
              </a:rPr>
              <a:t>https://customs.gov.ph/wp-content/uploads/2024/07/20240620-EO-62-FRM.pdf</a:t>
            </a:r>
          </a:p>
        </p:txBody>
      </p:sp>
      <p:sp>
        <p:nvSpPr>
          <p:cNvPr id="33" name="TextBox 32"/>
          <p:cNvSpPr txBox="1"/>
          <p:nvPr/>
        </p:nvSpPr>
        <p:spPr>
          <a:xfrm>
            <a:off x="548640" y="6153912"/>
            <a:ext cx="3429000" cy="274320"/>
          </a:xfrm>
          <a:prstGeom prst="rect">
            <a:avLst/>
          </a:prstGeom>
          <a:noFill/>
        </p:spPr>
        <p:txBody>
          <a:bodyPr wrap="square" lIns="0" rIns="0" tIns="0" bIns="0">
            <a:spAutoFit/>
          </a:bodyPr>
          <a:lstStyle/>
          <a:p>
            <a:pPr>
              <a:lnSpc>
                <a:spcPct val="113000"/>
              </a:lnSpc>
              <a:spcAft>
                <a:spcPts val="300"/>
              </a:spcAft>
            </a:pPr>
            <a:r>
              <a:rPr sz="960" b="1">
                <a:solidFill>
                  <a:srgbClr val="56677C"/>
                </a:solidFill>
                <a:latin typeface="Noto Sans CJK JP"/>
                <a:ea typeface="Noto Sans CJK JP"/>
              </a:rPr>
              <a:t>[2] BIR｜RR1/2025（1頁）</a:t>
            </a:r>
          </a:p>
        </p:txBody>
      </p:sp>
      <p:sp>
        <p:nvSpPr>
          <p:cNvPr id="34" name="TextBox 33"/>
          <p:cNvSpPr txBox="1"/>
          <p:nvPr/>
        </p:nvSpPr>
        <p:spPr>
          <a:xfrm>
            <a:off x="4023360" y="6153912"/>
            <a:ext cx="8412480" cy="420624"/>
          </a:xfrm>
          <a:prstGeom prst="rect">
            <a:avLst/>
          </a:prstGeom>
          <a:noFill/>
        </p:spPr>
        <p:txBody>
          <a:bodyPr wrap="square" lIns="0" rIns="0" tIns="0" bIns="0">
            <a:spAutoFit/>
          </a:bodyPr>
          <a:lstStyle/>
          <a:p>
            <a:pPr>
              <a:lnSpc>
                <a:spcPct val="113000"/>
              </a:lnSpc>
              <a:spcAft>
                <a:spcPts val="300"/>
              </a:spcAft>
            </a:pPr>
            <a:r>
              <a:rPr sz="940" b="0">
                <a:solidFill>
                  <a:srgbClr val="2164A5"/>
                </a:solidFill>
                <a:latin typeface="Noto Sans CJK JP"/>
                <a:ea typeface="Noto Sans CJK JP"/>
                <a:hlinkClick r:id="rId3"/>
              </a:rPr>
              <a:t>https://bir-cdn.bir.gov.ph/BIR/pdf/RR%20No.%201-2025.pdf</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3004596" cy="118872"/>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972800" cy="228600"/>
          </a:xfrm>
          <a:prstGeom prst="rect">
            <a:avLst/>
          </a:prstGeom>
          <a:noFill/>
        </p:spPr>
        <p:txBody>
          <a:bodyPr wrap="square" lIns="0" rIns="0" tIns="0" bIns="0">
            <a:spAutoFit/>
          </a:bodyPr>
          <a:lstStyle/>
          <a:p>
            <a:pPr>
              <a:lnSpc>
                <a:spcPct val="113000"/>
              </a:lnSpc>
              <a:spcAft>
                <a:spcPts val="300"/>
              </a:spcAft>
            </a:pPr>
            <a:r>
              <a:rPr sz="1000" b="1">
                <a:solidFill>
                  <a:srgbClr val="007F82"/>
                </a:solidFill>
                <a:latin typeface="Noto Sans CJK JP"/>
                <a:ea typeface="Noto Sans CJK JP"/>
              </a:rPr>
              <a:t>SINGAPORE</a:t>
            </a:r>
          </a:p>
        </p:txBody>
      </p:sp>
      <p:sp>
        <p:nvSpPr>
          <p:cNvPr id="4" name="TextBox 3"/>
          <p:cNvSpPr txBox="1"/>
          <p:nvPr/>
        </p:nvSpPr>
        <p:spPr>
          <a:xfrm>
            <a:off x="502920" y="685800"/>
            <a:ext cx="12024360" cy="566928"/>
          </a:xfrm>
          <a:prstGeom prst="rect">
            <a:avLst/>
          </a:prstGeom>
          <a:noFill/>
        </p:spPr>
        <p:txBody>
          <a:bodyPr wrap="square" lIns="0" rIns="0" tIns="0" bIns="0">
            <a:spAutoFit/>
          </a:bodyPr>
          <a:lstStyle/>
          <a:p>
            <a:pPr>
              <a:lnSpc>
                <a:spcPct val="113000"/>
              </a:lnSpc>
              <a:spcAft>
                <a:spcPts val="300"/>
              </a:spcAft>
            </a:pPr>
            <a:r>
              <a:rPr sz="2800" b="1">
                <a:solidFill>
                  <a:srgbClr val="172B4D"/>
                </a:solidFill>
                <a:latin typeface="Noto Sans CJK JP"/>
                <a:ea typeface="Noto Sans CJK JP"/>
              </a:rPr>
              <a:t>シンガポール｜補助よりもCOE枠・出力区分が販売の上限を決める</a:t>
            </a:r>
          </a:p>
        </p:txBody>
      </p:sp>
      <p:sp>
        <p:nvSpPr>
          <p:cNvPr id="5" name="TextBox 4"/>
          <p:cNvSpPr txBox="1"/>
          <p:nvPr/>
        </p:nvSpPr>
        <p:spPr>
          <a:xfrm>
            <a:off x="502920" y="1335024"/>
            <a:ext cx="11978640" cy="438912"/>
          </a:xfrm>
          <a:prstGeom prst="rect">
            <a:avLst/>
          </a:prstGeom>
          <a:noFill/>
        </p:spPr>
        <p:txBody>
          <a:bodyPr wrap="square" lIns="0" rIns="0" tIns="0" bIns="0">
            <a:spAutoFit/>
          </a:bodyPr>
          <a:lstStyle/>
          <a:p>
            <a:pPr>
              <a:lnSpc>
                <a:spcPct val="113000"/>
              </a:lnSpc>
              <a:spcAft>
                <a:spcPts val="300"/>
              </a:spcAft>
            </a:pPr>
            <a:r>
              <a:rPr sz="1600" b="0">
                <a:solidFill>
                  <a:srgbClr val="56677C"/>
                </a:solidFill>
                <a:latin typeface="Noto Sans CJK JP"/>
                <a:ea typeface="Noto Sans CJK JP"/>
              </a:rPr>
              <a:t>2026年と2027年でBEVの購入時恩典が縮小。国籍より出力・排出性能で分かれる。</a:t>
            </a:r>
          </a:p>
        </p:txBody>
      </p:sp>
      <p:sp>
        <p:nvSpPr>
          <p:cNvPr id="6" name="Rectangle 5"/>
          <p:cNvSpPr/>
          <p:nvPr/>
        </p:nvSpPr>
        <p:spPr>
          <a:xfrm>
            <a:off x="502920" y="7114032"/>
            <a:ext cx="11978640" cy="10972"/>
          </a:xfrm>
          <a:prstGeom prst="rect">
            <a:avLst/>
          </a:prstGeom>
          <a:solidFill>
            <a:srgbClr val="D9E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7178040"/>
            <a:ext cx="10972800" cy="109728"/>
          </a:xfrm>
          <a:prstGeom prst="rect">
            <a:avLst/>
          </a:prstGeom>
          <a:noFill/>
        </p:spPr>
        <p:txBody>
          <a:bodyPr wrap="square" lIns="0" rIns="0" tIns="0" bIns="0">
            <a:spAutoFit/>
          </a:bodyPr>
          <a:lstStyle/>
          <a:p>
            <a:pPr>
              <a:lnSpc>
                <a:spcPct val="113000"/>
              </a:lnSpc>
              <a:spcAft>
                <a:spcPts val="300"/>
              </a:spcAft>
            </a:pPr>
            <a:r>
              <a:rPr sz="800" b="0">
                <a:solidFill>
                  <a:srgbClr val="56677C"/>
                </a:solidFill>
                <a:latin typeface="Noto Sans CJK JP"/>
                <a:ea typeface="Noto Sans CJK JP"/>
              </a:rPr>
              <a:t>東南アジア自動車制度｜公開一次情報の確認日：2026-10-06｜影響・矢印は分析仮説</a:t>
            </a:r>
          </a:p>
        </p:txBody>
      </p:sp>
      <p:sp>
        <p:nvSpPr>
          <p:cNvPr id="8" name="TextBox 7"/>
          <p:cNvSpPr txBox="1"/>
          <p:nvPr/>
        </p:nvSpPr>
        <p:spPr>
          <a:xfrm>
            <a:off x="12024360" y="7159752"/>
            <a:ext cx="457200" cy="137160"/>
          </a:xfrm>
          <a:prstGeom prst="rect">
            <a:avLst/>
          </a:prstGeom>
          <a:noFill/>
        </p:spPr>
        <p:txBody>
          <a:bodyPr wrap="square" lIns="0" rIns="0" tIns="0" bIns="0">
            <a:spAutoFit/>
          </a:bodyPr>
          <a:lstStyle/>
          <a:p>
            <a:pPr>
              <a:lnSpc>
                <a:spcPct val="113000"/>
              </a:lnSpc>
              <a:spcAft>
                <a:spcPts val="300"/>
              </a:spcAft>
            </a:pPr>
            <a:r>
              <a:rPr sz="900" b="0">
                <a:solidFill>
                  <a:srgbClr val="56677C"/>
                </a:solidFill>
                <a:latin typeface="Noto Sans CJK JP"/>
                <a:ea typeface="Noto Sans CJK JP"/>
              </a:rPr>
              <a:t>09</a:t>
            </a:r>
          </a:p>
        </p:txBody>
      </p:sp>
      <p:sp>
        <p:nvSpPr>
          <p:cNvPr id="9" name="TextBox 8"/>
          <p:cNvSpPr txBox="1"/>
          <p:nvPr/>
        </p:nvSpPr>
        <p:spPr>
          <a:xfrm>
            <a:off x="548640" y="1810512"/>
            <a:ext cx="7955279" cy="228600"/>
          </a:xfrm>
          <a:prstGeom prst="rect">
            <a:avLst/>
          </a:prstGeom>
          <a:noFill/>
        </p:spPr>
        <p:txBody>
          <a:bodyPr wrap="square" lIns="0" rIns="0" tIns="0" bIns="0">
            <a:spAutoFit/>
          </a:bodyPr>
          <a:lstStyle/>
          <a:p>
            <a:pPr>
              <a:lnSpc>
                <a:spcPct val="113000"/>
              </a:lnSpc>
              <a:spcAft>
                <a:spcPts val="300"/>
              </a:spcAft>
            </a:pPr>
            <a:r>
              <a:rPr sz="1100" b="1">
                <a:solidFill>
                  <a:srgbClr val="007F82"/>
                </a:solidFill>
                <a:latin typeface="Noto Sans CJK JP"/>
                <a:ea typeface="Noto Sans CJK JP"/>
              </a:rPr>
              <a:t>制度・対象・期間（政府／当局が公表した事実）</a:t>
            </a:r>
          </a:p>
        </p:txBody>
      </p:sp>
      <p:sp>
        <p:nvSpPr>
          <p:cNvPr id="10" name="TextBox 9"/>
          <p:cNvSpPr txBox="1"/>
          <p:nvPr/>
        </p:nvSpPr>
        <p:spPr>
          <a:xfrm>
            <a:off x="8778240" y="1810512"/>
            <a:ext cx="3657600" cy="228600"/>
          </a:xfrm>
          <a:prstGeom prst="rect">
            <a:avLst/>
          </a:prstGeom>
          <a:noFill/>
        </p:spPr>
        <p:txBody>
          <a:bodyPr wrap="square" lIns="0" rIns="0" tIns="0" bIns="0">
            <a:spAutoFit/>
          </a:bodyPr>
          <a:lstStyle/>
          <a:p>
            <a:pPr>
              <a:lnSpc>
                <a:spcPct val="113000"/>
              </a:lnSpc>
              <a:spcAft>
                <a:spcPts val="300"/>
              </a:spcAft>
            </a:pPr>
            <a:r>
              <a:rPr sz="1100" b="1">
                <a:solidFill>
                  <a:srgbClr val="2164A5"/>
                </a:solidFill>
                <a:latin typeface="Noto Sans CJK JP"/>
                <a:ea typeface="Noto Sans CJK JP"/>
              </a:rPr>
              <a:t>OEMへの影響（以下は分析上の推論）</a:t>
            </a:r>
          </a:p>
        </p:txBody>
      </p:sp>
      <p:sp>
        <p:nvSpPr>
          <p:cNvPr id="11" name="Rectangle 10"/>
          <p:cNvSpPr/>
          <p:nvPr/>
        </p:nvSpPr>
        <p:spPr>
          <a:xfrm>
            <a:off x="548640" y="2048256"/>
            <a:ext cx="7863840" cy="969264"/>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641080" y="2048256"/>
            <a:ext cx="3840480" cy="969264"/>
          </a:xfrm>
          <a:prstGeom prst="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 y="2130552"/>
            <a:ext cx="7498079" cy="265176"/>
          </a:xfrm>
          <a:prstGeom prst="rect">
            <a:avLst/>
          </a:prstGeom>
          <a:noFill/>
        </p:spPr>
        <p:txBody>
          <a:bodyPr wrap="square" lIns="0" rIns="0" tIns="0" bIns="0">
            <a:spAutoFit/>
          </a:bodyPr>
          <a:lstStyle/>
          <a:p>
            <a:pPr>
              <a:lnSpc>
                <a:spcPct val="113000"/>
              </a:lnSpc>
              <a:spcAft>
                <a:spcPts val="300"/>
              </a:spcAft>
            </a:pPr>
            <a:r>
              <a:rPr sz="1600" b="1">
                <a:solidFill>
                  <a:srgbClr val="007F82"/>
                </a:solidFill>
                <a:latin typeface="Noto Sans CJK JP"/>
                <a:ea typeface="Noto Sans CJK JP"/>
              </a:rPr>
              <a:t>COE：登録に必要な枠を入札 [1]</a:t>
            </a:r>
          </a:p>
        </p:txBody>
      </p:sp>
      <p:sp>
        <p:nvSpPr>
          <p:cNvPr id="14" name="TextBox 13"/>
          <p:cNvSpPr txBox="1"/>
          <p:nvPr/>
        </p:nvSpPr>
        <p:spPr>
          <a:xfrm>
            <a:off x="713232" y="2423160"/>
            <a:ext cx="7498079" cy="594360"/>
          </a:xfrm>
          <a:prstGeom prst="rect">
            <a:avLst/>
          </a:prstGeom>
          <a:noFill/>
        </p:spPr>
        <p:txBody>
          <a:bodyPr wrap="square" lIns="0" rIns="0" tIns="0" bIns="0">
            <a:spAutoFit/>
          </a:bodyPr>
          <a:lstStyle/>
          <a:p>
            <a:pPr>
              <a:lnSpc>
                <a:spcPct val="113000"/>
              </a:lnSpc>
              <a:spcAft>
                <a:spcPts val="300"/>
              </a:spcAft>
            </a:pPr>
            <a:r>
              <a:rPr sz="1400" b="0">
                <a:solidFill>
                  <a:srgbClr val="172B4D"/>
                </a:solidFill>
                <a:latin typeface="Noto Sans CJK JP"/>
                <a:ea typeface="Noto Sans CJK JP"/>
              </a:rPr>
              <a:t>VQSが新規登録数を制限し、COE枠は四半期ごとに更新。BEVは最大出力110kW以下がCategory A、超えるとB。価格差も確認する。</a:t>
            </a:r>
          </a:p>
        </p:txBody>
      </p:sp>
      <p:sp>
        <p:nvSpPr>
          <p:cNvPr id="15" name="TextBox 14"/>
          <p:cNvSpPr txBox="1"/>
          <p:nvPr/>
        </p:nvSpPr>
        <p:spPr>
          <a:xfrm>
            <a:off x="8796528" y="2121408"/>
            <a:ext cx="3566160" cy="274320"/>
          </a:xfrm>
          <a:prstGeom prst="rect">
            <a:avLst/>
          </a:prstGeom>
          <a:noFill/>
        </p:spPr>
        <p:txBody>
          <a:bodyPr wrap="square" lIns="0" rIns="0" tIns="0" bIns="0">
            <a:spAutoFit/>
          </a:bodyPr>
          <a:lstStyle/>
          <a:p>
            <a:pPr>
              <a:lnSpc>
                <a:spcPct val="113000"/>
              </a:lnSpc>
              <a:spcAft>
                <a:spcPts val="300"/>
              </a:spcAft>
            </a:pPr>
            <a:r>
              <a:rPr sz="1350" b="1">
                <a:solidFill>
                  <a:srgbClr val="2164A5"/>
                </a:solidFill>
                <a:latin typeface="Noto Sans CJK JP"/>
                <a:ea typeface="Noto Sans CJK JP"/>
              </a:rPr>
              <a:t>110kW以下のBEVを持つOEM</a:t>
            </a:r>
          </a:p>
        </p:txBody>
      </p:sp>
      <p:sp>
        <p:nvSpPr>
          <p:cNvPr id="16" name="TextBox 15"/>
          <p:cNvSpPr txBox="1"/>
          <p:nvPr/>
        </p:nvSpPr>
        <p:spPr>
          <a:xfrm>
            <a:off x="8796528" y="2377440"/>
            <a:ext cx="3511296" cy="630936"/>
          </a:xfrm>
          <a:prstGeom prst="rect">
            <a:avLst/>
          </a:prstGeom>
          <a:noFill/>
        </p:spPr>
        <p:txBody>
          <a:bodyPr wrap="square" lIns="0" rIns="0" tIns="0" bIns="0">
            <a:spAutoFit/>
          </a:bodyPr>
          <a:lstStyle/>
          <a:p>
            <a:pPr>
              <a:lnSpc>
                <a:spcPct val="113000"/>
              </a:lnSpc>
              <a:spcAft>
                <a:spcPts val="300"/>
              </a:spcAft>
            </a:pPr>
            <a:r>
              <a:rPr sz="1250" b="0">
                <a:solidFill>
                  <a:srgbClr val="172B4D"/>
                </a:solidFill>
                <a:latin typeface="Noto Sans CJK JP"/>
                <a:ea typeface="Noto Sans CJK JP"/>
              </a:rPr>
              <a:t>Category A向け仕様が参入の鍵。高出力の同名海外仕様と、現地認定仕様を分ける。</a:t>
            </a:r>
          </a:p>
        </p:txBody>
      </p:sp>
      <p:sp>
        <p:nvSpPr>
          <p:cNvPr id="17" name="Rectangle 16"/>
          <p:cNvSpPr/>
          <p:nvPr/>
        </p:nvSpPr>
        <p:spPr>
          <a:xfrm>
            <a:off x="548640" y="3072384"/>
            <a:ext cx="7863840" cy="969264"/>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641080" y="3072384"/>
            <a:ext cx="3840480" cy="969264"/>
          </a:xfrm>
          <a:prstGeom prst="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3232" y="3154680"/>
            <a:ext cx="7498079" cy="265176"/>
          </a:xfrm>
          <a:prstGeom prst="rect">
            <a:avLst/>
          </a:prstGeom>
          <a:noFill/>
        </p:spPr>
        <p:txBody>
          <a:bodyPr wrap="square" lIns="0" rIns="0" tIns="0" bIns="0">
            <a:spAutoFit/>
          </a:bodyPr>
          <a:lstStyle/>
          <a:p>
            <a:pPr>
              <a:lnSpc>
                <a:spcPct val="113000"/>
              </a:lnSpc>
              <a:spcAft>
                <a:spcPts val="300"/>
              </a:spcAft>
            </a:pPr>
            <a:r>
              <a:rPr sz="1600" b="1">
                <a:solidFill>
                  <a:srgbClr val="007F82"/>
                </a:solidFill>
                <a:latin typeface="Noto Sans CJK JP"/>
                <a:ea typeface="Noto Sans CJK JP"/>
              </a:rPr>
              <a:t>2026年：EEAI上限S$7,500 [2]</a:t>
            </a:r>
          </a:p>
        </p:txBody>
      </p:sp>
      <p:sp>
        <p:nvSpPr>
          <p:cNvPr id="20" name="TextBox 19"/>
          <p:cNvSpPr txBox="1"/>
          <p:nvPr/>
        </p:nvSpPr>
        <p:spPr>
          <a:xfrm>
            <a:off x="713232" y="3447288"/>
            <a:ext cx="7498079" cy="594360"/>
          </a:xfrm>
          <a:prstGeom prst="rect">
            <a:avLst/>
          </a:prstGeom>
          <a:noFill/>
        </p:spPr>
        <p:txBody>
          <a:bodyPr wrap="square" lIns="0" rIns="0" tIns="0" bIns="0">
            <a:spAutoFit/>
          </a:bodyPr>
          <a:lstStyle/>
          <a:p>
            <a:pPr>
              <a:lnSpc>
                <a:spcPct val="113000"/>
              </a:lnSpc>
              <a:spcAft>
                <a:spcPts val="300"/>
              </a:spcAft>
            </a:pPr>
            <a:r>
              <a:rPr sz="1400" b="0">
                <a:solidFill>
                  <a:srgbClr val="172B4D"/>
                </a:solidFill>
                <a:latin typeface="Noto Sans CJK JP"/>
                <a:ea typeface="Noto Sans CJK JP"/>
              </a:rPr>
              <a:t>BEVのARFを45％減免、上限S$7,500。VESと合計で最大S$30,000。EEAIは2026年末終了、2027年の合計恩典は最大S$20,000。</a:t>
            </a:r>
          </a:p>
        </p:txBody>
      </p:sp>
      <p:sp>
        <p:nvSpPr>
          <p:cNvPr id="21" name="TextBox 20"/>
          <p:cNvSpPr txBox="1"/>
          <p:nvPr/>
        </p:nvSpPr>
        <p:spPr>
          <a:xfrm>
            <a:off x="8796528" y="3145536"/>
            <a:ext cx="3566160" cy="274320"/>
          </a:xfrm>
          <a:prstGeom prst="rect">
            <a:avLst/>
          </a:prstGeom>
          <a:noFill/>
        </p:spPr>
        <p:txBody>
          <a:bodyPr wrap="square" lIns="0" rIns="0" tIns="0" bIns="0">
            <a:spAutoFit/>
          </a:bodyPr>
          <a:lstStyle/>
          <a:p>
            <a:pPr>
              <a:lnSpc>
                <a:spcPct val="113000"/>
              </a:lnSpc>
              <a:spcAft>
                <a:spcPts val="300"/>
              </a:spcAft>
            </a:pPr>
            <a:r>
              <a:rPr sz="1350" b="1">
                <a:solidFill>
                  <a:srgbClr val="2164A5"/>
                </a:solidFill>
                <a:latin typeface="Noto Sans CJK JP"/>
                <a:ea typeface="Noto Sans CJK JP"/>
              </a:rPr>
              <a:t>2026年に販売するBEV OEM</a:t>
            </a:r>
          </a:p>
        </p:txBody>
      </p:sp>
      <p:sp>
        <p:nvSpPr>
          <p:cNvPr id="22" name="TextBox 21"/>
          <p:cNvSpPr txBox="1"/>
          <p:nvPr/>
        </p:nvSpPr>
        <p:spPr>
          <a:xfrm>
            <a:off x="8796528" y="3401568"/>
            <a:ext cx="3511296" cy="630936"/>
          </a:xfrm>
          <a:prstGeom prst="rect">
            <a:avLst/>
          </a:prstGeom>
          <a:noFill/>
        </p:spPr>
        <p:txBody>
          <a:bodyPr wrap="square" lIns="0" rIns="0" tIns="0" bIns="0">
            <a:spAutoFit/>
          </a:bodyPr>
          <a:lstStyle/>
          <a:p>
            <a:pPr>
              <a:lnSpc>
                <a:spcPct val="113000"/>
              </a:lnSpc>
              <a:spcAft>
                <a:spcPts val="300"/>
              </a:spcAft>
            </a:pPr>
            <a:r>
              <a:rPr sz="1250" b="0">
                <a:solidFill>
                  <a:srgbClr val="172B4D"/>
                </a:solidFill>
                <a:latin typeface="Noto Sans CJK JP"/>
                <a:ea typeface="Noto Sans CJK JP"/>
              </a:rPr>
              <a:t>年末へ購入が前倒しされる可能性。COE価格上昇が減税効果を相殺し得る。</a:t>
            </a:r>
          </a:p>
        </p:txBody>
      </p:sp>
      <p:sp>
        <p:nvSpPr>
          <p:cNvPr id="23" name="Rectangle 22"/>
          <p:cNvSpPr/>
          <p:nvPr/>
        </p:nvSpPr>
        <p:spPr>
          <a:xfrm>
            <a:off x="548640" y="4096512"/>
            <a:ext cx="7863840" cy="969264"/>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641080" y="4096512"/>
            <a:ext cx="3840480" cy="969264"/>
          </a:xfrm>
          <a:prstGeom prst="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3232" y="4178808"/>
            <a:ext cx="7498079" cy="265176"/>
          </a:xfrm>
          <a:prstGeom prst="rect">
            <a:avLst/>
          </a:prstGeom>
          <a:noFill/>
        </p:spPr>
        <p:txBody>
          <a:bodyPr wrap="square" lIns="0" rIns="0" tIns="0" bIns="0">
            <a:spAutoFit/>
          </a:bodyPr>
          <a:lstStyle/>
          <a:p>
            <a:pPr>
              <a:lnSpc>
                <a:spcPct val="113000"/>
              </a:lnSpc>
              <a:spcAft>
                <a:spcPts val="300"/>
              </a:spcAft>
            </a:pPr>
            <a:r>
              <a:rPr sz="1600" b="1">
                <a:solidFill>
                  <a:srgbClr val="007F82"/>
                </a:solidFill>
                <a:latin typeface="Noto Sans CJK JP"/>
                <a:ea typeface="Noto Sans CJK JP"/>
              </a:rPr>
              <a:t>2026–27年のVES・2030年の方向 [2]</a:t>
            </a:r>
          </a:p>
        </p:txBody>
      </p:sp>
      <p:sp>
        <p:nvSpPr>
          <p:cNvPr id="26" name="TextBox 25"/>
          <p:cNvSpPr txBox="1"/>
          <p:nvPr/>
        </p:nvSpPr>
        <p:spPr>
          <a:xfrm>
            <a:off x="713232" y="4471416"/>
            <a:ext cx="7498079" cy="594360"/>
          </a:xfrm>
          <a:prstGeom prst="rect">
            <a:avLst/>
          </a:prstGeom>
          <a:noFill/>
        </p:spPr>
        <p:txBody>
          <a:bodyPr wrap="square" lIns="0" rIns="0" tIns="0" bIns="0">
            <a:spAutoFit/>
          </a:bodyPr>
          <a:lstStyle/>
          <a:p>
            <a:pPr>
              <a:lnSpc>
                <a:spcPct val="113000"/>
              </a:lnSpc>
              <a:spcAft>
                <a:spcPts val="300"/>
              </a:spcAft>
            </a:pPr>
            <a:r>
              <a:rPr sz="1400" b="0">
                <a:solidFill>
                  <a:srgbClr val="172B4D"/>
                </a:solidFill>
                <a:latin typeface="Noto Sans CJK JP"/>
                <a:ea typeface="Noto Sans CJK JP"/>
              </a:rPr>
              <a:t>VESを2027年末まで延長しバンド・加減額を改定。2030年から新規登録をよりクリーンな車へ移行する方針で、ハイブリッドも含む。</a:t>
            </a:r>
          </a:p>
        </p:txBody>
      </p:sp>
      <p:sp>
        <p:nvSpPr>
          <p:cNvPr id="27" name="TextBox 26"/>
          <p:cNvSpPr txBox="1"/>
          <p:nvPr/>
        </p:nvSpPr>
        <p:spPr>
          <a:xfrm>
            <a:off x="8796528" y="4169664"/>
            <a:ext cx="3566160" cy="274320"/>
          </a:xfrm>
          <a:prstGeom prst="rect">
            <a:avLst/>
          </a:prstGeom>
          <a:noFill/>
        </p:spPr>
        <p:txBody>
          <a:bodyPr wrap="square" lIns="0" rIns="0" tIns="0" bIns="0">
            <a:spAutoFit/>
          </a:bodyPr>
          <a:lstStyle/>
          <a:p>
            <a:pPr>
              <a:lnSpc>
                <a:spcPct val="113000"/>
              </a:lnSpc>
              <a:spcAft>
                <a:spcPts val="300"/>
              </a:spcAft>
            </a:pPr>
            <a:r>
              <a:rPr sz="1350" b="1">
                <a:solidFill>
                  <a:srgbClr val="2164A5"/>
                </a:solidFill>
                <a:latin typeface="Noto Sans CJK JP"/>
                <a:ea typeface="Noto Sans CJK JP"/>
              </a:rPr>
              <a:t>高出力BEV・日系HEV OEM</a:t>
            </a:r>
          </a:p>
        </p:txBody>
      </p:sp>
      <p:sp>
        <p:nvSpPr>
          <p:cNvPr id="28" name="TextBox 27"/>
          <p:cNvSpPr txBox="1"/>
          <p:nvPr/>
        </p:nvSpPr>
        <p:spPr>
          <a:xfrm>
            <a:off x="8796528" y="4425696"/>
            <a:ext cx="3511296" cy="630936"/>
          </a:xfrm>
          <a:prstGeom prst="rect">
            <a:avLst/>
          </a:prstGeom>
          <a:noFill/>
        </p:spPr>
        <p:txBody>
          <a:bodyPr wrap="square" lIns="0" rIns="0" tIns="0" bIns="0">
            <a:spAutoFit/>
          </a:bodyPr>
          <a:lstStyle/>
          <a:p>
            <a:pPr>
              <a:lnSpc>
                <a:spcPct val="113000"/>
              </a:lnSpc>
              <a:spcAft>
                <a:spcPts val="300"/>
              </a:spcAft>
            </a:pPr>
            <a:r>
              <a:rPr sz="1250" b="0">
                <a:solidFill>
                  <a:srgbClr val="172B4D"/>
                </a:solidFill>
                <a:latin typeface="Noto Sans CJK JP"/>
                <a:ea typeface="Noto Sans CJK JP"/>
              </a:rPr>
              <a:t>COE・VES・ARFを含む購入総額で競う。恩典縮小だけでHEV優位は決まらない。</a:t>
            </a:r>
          </a:p>
        </p:txBody>
      </p:sp>
      <p:sp>
        <p:nvSpPr>
          <p:cNvPr id="29" name="TextBox 28"/>
          <p:cNvSpPr txBox="1"/>
          <p:nvPr/>
        </p:nvSpPr>
        <p:spPr>
          <a:xfrm>
            <a:off x="594360" y="5157216"/>
            <a:ext cx="11814048" cy="320040"/>
          </a:xfrm>
          <a:prstGeom prst="rect">
            <a:avLst/>
          </a:prstGeom>
          <a:noFill/>
        </p:spPr>
        <p:txBody>
          <a:bodyPr wrap="square" lIns="0" rIns="0" tIns="0" bIns="0">
            <a:spAutoFit/>
          </a:bodyPr>
          <a:lstStyle/>
          <a:p>
            <a:pPr>
              <a:lnSpc>
                <a:spcPct val="113000"/>
              </a:lnSpc>
              <a:spcAft>
                <a:spcPts val="300"/>
              </a:spcAft>
            </a:pPr>
            <a:r>
              <a:rPr sz="1080" b="0">
                <a:solidFill>
                  <a:srgbClr val="B57A14"/>
                </a:solidFill>
                <a:latin typeface="Noto Sans CJK JP"/>
                <a:ea typeface="Noto Sans CJK JP"/>
              </a:rPr>
              <a:t>分析：COE枠は市場規模Aに直結。年末の駆け込みと年初の反動をλ＝製品の陳腐化と読み替えない。</a:t>
            </a:r>
          </a:p>
        </p:txBody>
      </p:sp>
      <p:sp>
        <p:nvSpPr>
          <p:cNvPr id="30" name="TextBox 29"/>
          <p:cNvSpPr txBox="1"/>
          <p:nvPr/>
        </p:nvSpPr>
        <p:spPr>
          <a:xfrm>
            <a:off x="548640" y="5504688"/>
            <a:ext cx="11887200" cy="182880"/>
          </a:xfrm>
          <a:prstGeom prst="rect">
            <a:avLst/>
          </a:prstGeom>
          <a:noFill/>
        </p:spPr>
        <p:txBody>
          <a:bodyPr wrap="square" lIns="0" rIns="0" tIns="0" bIns="0">
            <a:spAutoFit/>
          </a:bodyPr>
          <a:lstStyle/>
          <a:p>
            <a:pPr>
              <a:lnSpc>
                <a:spcPct val="113000"/>
              </a:lnSpc>
              <a:spcAft>
                <a:spcPts val="300"/>
              </a:spcAft>
            </a:pPr>
            <a:r>
              <a:rPr sz="930" b="1">
                <a:solidFill>
                  <a:srgbClr val="56677C"/>
                </a:solidFill>
                <a:latin typeface="Noto Sans CJK JP"/>
                <a:ea typeface="Noto Sans CJK JP"/>
              </a:rPr>
              <a:t>一次情報｜番号は制度欄に対応。URLをクリックして原文を開く。</a:t>
            </a:r>
          </a:p>
        </p:txBody>
      </p:sp>
      <p:sp>
        <p:nvSpPr>
          <p:cNvPr id="31" name="TextBox 30"/>
          <p:cNvSpPr txBox="1"/>
          <p:nvPr/>
        </p:nvSpPr>
        <p:spPr>
          <a:xfrm>
            <a:off x="548640" y="5724144"/>
            <a:ext cx="3429000" cy="274320"/>
          </a:xfrm>
          <a:prstGeom prst="rect">
            <a:avLst/>
          </a:prstGeom>
          <a:noFill/>
        </p:spPr>
        <p:txBody>
          <a:bodyPr wrap="square" lIns="0" rIns="0" tIns="0" bIns="0">
            <a:spAutoFit/>
          </a:bodyPr>
          <a:lstStyle/>
          <a:p>
            <a:pPr>
              <a:lnSpc>
                <a:spcPct val="113000"/>
              </a:lnSpc>
              <a:spcAft>
                <a:spcPts val="300"/>
              </a:spcAft>
            </a:pPr>
            <a:r>
              <a:rPr sz="960" b="1">
                <a:solidFill>
                  <a:srgbClr val="56677C"/>
                </a:solidFill>
                <a:latin typeface="Noto Sans CJK JP"/>
                <a:ea typeface="Noto Sans CJK JP"/>
              </a:rPr>
              <a:t>[1] LTA｜COE制度・110kW区分</a:t>
            </a:r>
          </a:p>
        </p:txBody>
      </p:sp>
      <p:sp>
        <p:nvSpPr>
          <p:cNvPr id="32" name="TextBox 31"/>
          <p:cNvSpPr txBox="1"/>
          <p:nvPr/>
        </p:nvSpPr>
        <p:spPr>
          <a:xfrm>
            <a:off x="4023360" y="5724144"/>
            <a:ext cx="8412480" cy="420624"/>
          </a:xfrm>
          <a:prstGeom prst="rect">
            <a:avLst/>
          </a:prstGeom>
          <a:noFill/>
        </p:spPr>
        <p:txBody>
          <a:bodyPr wrap="square" lIns="0" rIns="0" tIns="0" bIns="0">
            <a:spAutoFit/>
          </a:bodyPr>
          <a:lstStyle/>
          <a:p>
            <a:pPr>
              <a:lnSpc>
                <a:spcPct val="113000"/>
              </a:lnSpc>
              <a:spcAft>
                <a:spcPts val="300"/>
              </a:spcAft>
            </a:pPr>
            <a:r>
              <a:rPr sz="940" b="0">
                <a:solidFill>
                  <a:srgbClr val="2164A5"/>
                </a:solidFill>
                <a:latin typeface="Noto Sans CJK JP"/>
                <a:ea typeface="Noto Sans CJK JP"/>
                <a:hlinkClick r:id="rId2"/>
              </a:rPr>
              <a:t>https://onemotoring.lta.gov.sg/content/onemotoring/home/buying/upfront-vehicle-costs/certificate-of-entitlement--coe-.html</a:t>
            </a:r>
          </a:p>
        </p:txBody>
      </p:sp>
      <p:sp>
        <p:nvSpPr>
          <p:cNvPr id="33" name="TextBox 32"/>
          <p:cNvSpPr txBox="1"/>
          <p:nvPr/>
        </p:nvSpPr>
        <p:spPr>
          <a:xfrm>
            <a:off x="548640" y="6153912"/>
            <a:ext cx="3429000" cy="274320"/>
          </a:xfrm>
          <a:prstGeom prst="rect">
            <a:avLst/>
          </a:prstGeom>
          <a:noFill/>
        </p:spPr>
        <p:txBody>
          <a:bodyPr wrap="square" lIns="0" rIns="0" tIns="0" bIns="0">
            <a:spAutoFit/>
          </a:bodyPr>
          <a:lstStyle/>
          <a:p>
            <a:pPr>
              <a:lnSpc>
                <a:spcPct val="113000"/>
              </a:lnSpc>
              <a:spcAft>
                <a:spcPts val="300"/>
              </a:spcAft>
            </a:pPr>
            <a:r>
              <a:rPr sz="960" b="1">
                <a:solidFill>
                  <a:srgbClr val="56677C"/>
                </a:solidFill>
                <a:latin typeface="Noto Sans CJK JP"/>
                <a:ea typeface="Noto Sans CJK JP"/>
              </a:rPr>
              <a:t>[2] LTA/NEA｜2026–27年恩典</a:t>
            </a:r>
          </a:p>
        </p:txBody>
      </p:sp>
      <p:sp>
        <p:nvSpPr>
          <p:cNvPr id="34" name="TextBox 33"/>
          <p:cNvSpPr txBox="1"/>
          <p:nvPr/>
        </p:nvSpPr>
        <p:spPr>
          <a:xfrm>
            <a:off x="4023360" y="6153912"/>
            <a:ext cx="8412480" cy="420624"/>
          </a:xfrm>
          <a:prstGeom prst="rect">
            <a:avLst/>
          </a:prstGeom>
          <a:noFill/>
        </p:spPr>
        <p:txBody>
          <a:bodyPr wrap="square" lIns="0" rIns="0" tIns="0" bIns="0">
            <a:spAutoFit/>
          </a:bodyPr>
          <a:lstStyle/>
          <a:p>
            <a:pPr>
              <a:lnSpc>
                <a:spcPct val="113000"/>
              </a:lnSpc>
              <a:spcAft>
                <a:spcPts val="300"/>
              </a:spcAft>
            </a:pPr>
            <a:r>
              <a:rPr sz="940" b="0">
                <a:solidFill>
                  <a:srgbClr val="2164A5"/>
                </a:solidFill>
                <a:latin typeface="Noto Sans CJK JP"/>
                <a:ea typeface="Noto Sans CJK JP"/>
                <a:hlinkClick r:id="rId3"/>
              </a:rPr>
              <a:t>https://www.lta.gov.sg/content/ltagov/en/newsroom/2025/9/news-releases/extension_of_ves_and_eeai_to_support_vehicle_electrification.html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3004596" cy="118872"/>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972800" cy="228600"/>
          </a:xfrm>
          <a:prstGeom prst="rect">
            <a:avLst/>
          </a:prstGeom>
          <a:noFill/>
        </p:spPr>
        <p:txBody>
          <a:bodyPr wrap="square" lIns="0" rIns="0" tIns="0" bIns="0">
            <a:spAutoFit/>
          </a:bodyPr>
          <a:lstStyle/>
          <a:p>
            <a:pPr>
              <a:lnSpc>
                <a:spcPct val="113000"/>
              </a:lnSpc>
              <a:spcAft>
                <a:spcPts val="300"/>
              </a:spcAft>
            </a:pPr>
            <a:r>
              <a:rPr sz="1000" b="1">
                <a:solidFill>
                  <a:srgbClr val="007F82"/>
                </a:solidFill>
                <a:latin typeface="Noto Sans CJK JP"/>
                <a:ea typeface="Noto Sans CJK JP"/>
              </a:rPr>
              <a:t>CAMBODIA</a:t>
            </a:r>
          </a:p>
        </p:txBody>
      </p:sp>
      <p:sp>
        <p:nvSpPr>
          <p:cNvPr id="4" name="TextBox 3"/>
          <p:cNvSpPr txBox="1"/>
          <p:nvPr/>
        </p:nvSpPr>
        <p:spPr>
          <a:xfrm>
            <a:off x="502920" y="685800"/>
            <a:ext cx="12024360" cy="566928"/>
          </a:xfrm>
          <a:prstGeom prst="rect">
            <a:avLst/>
          </a:prstGeom>
          <a:noFill/>
        </p:spPr>
        <p:txBody>
          <a:bodyPr wrap="square" lIns="0" rIns="0" tIns="0" bIns="0">
            <a:spAutoFit/>
          </a:bodyPr>
          <a:lstStyle/>
          <a:p>
            <a:pPr>
              <a:lnSpc>
                <a:spcPct val="113000"/>
              </a:lnSpc>
              <a:spcAft>
                <a:spcPts val="300"/>
              </a:spcAft>
            </a:pPr>
            <a:r>
              <a:rPr sz="2800" b="1">
                <a:solidFill>
                  <a:srgbClr val="172B4D"/>
                </a:solidFill>
                <a:latin typeface="Noto Sans CJK JP"/>
                <a:ea typeface="Noto Sans CJK JP"/>
              </a:rPr>
              <a:t>カンボジア｜EV関連の税軽減はあるが、HSごとの適用確認が必要</a:t>
            </a:r>
          </a:p>
        </p:txBody>
      </p:sp>
      <p:sp>
        <p:nvSpPr>
          <p:cNvPr id="5" name="TextBox 4"/>
          <p:cNvSpPr txBox="1"/>
          <p:nvPr/>
        </p:nvSpPr>
        <p:spPr>
          <a:xfrm>
            <a:off x="502920" y="1335024"/>
            <a:ext cx="11978640" cy="438912"/>
          </a:xfrm>
          <a:prstGeom prst="rect">
            <a:avLst/>
          </a:prstGeom>
          <a:noFill/>
        </p:spPr>
        <p:txBody>
          <a:bodyPr wrap="square" lIns="0" rIns="0" tIns="0" bIns="0">
            <a:spAutoFit/>
          </a:bodyPr>
          <a:lstStyle/>
          <a:p>
            <a:pPr>
              <a:lnSpc>
                <a:spcPct val="113000"/>
              </a:lnSpc>
              <a:spcAft>
                <a:spcPts val="300"/>
              </a:spcAft>
            </a:pPr>
            <a:r>
              <a:rPr sz="1600" b="0">
                <a:solidFill>
                  <a:srgbClr val="56677C"/>
                </a:solidFill>
                <a:latin typeface="Noto Sans CJK JP"/>
                <a:ea typeface="Noto Sans CJK JP"/>
              </a:rPr>
              <a:t>乗用BEV・HEVトラック・充電器に同じ税率を当てはめない。</a:t>
            </a:r>
          </a:p>
        </p:txBody>
      </p:sp>
      <p:sp>
        <p:nvSpPr>
          <p:cNvPr id="6" name="Rectangle 5"/>
          <p:cNvSpPr/>
          <p:nvPr/>
        </p:nvSpPr>
        <p:spPr>
          <a:xfrm>
            <a:off x="502920" y="7114032"/>
            <a:ext cx="11978640" cy="10972"/>
          </a:xfrm>
          <a:prstGeom prst="rect">
            <a:avLst/>
          </a:prstGeom>
          <a:solidFill>
            <a:srgbClr val="D9E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7178040"/>
            <a:ext cx="10972800" cy="109728"/>
          </a:xfrm>
          <a:prstGeom prst="rect">
            <a:avLst/>
          </a:prstGeom>
          <a:noFill/>
        </p:spPr>
        <p:txBody>
          <a:bodyPr wrap="square" lIns="0" rIns="0" tIns="0" bIns="0">
            <a:spAutoFit/>
          </a:bodyPr>
          <a:lstStyle/>
          <a:p>
            <a:pPr>
              <a:lnSpc>
                <a:spcPct val="113000"/>
              </a:lnSpc>
              <a:spcAft>
                <a:spcPts val="300"/>
              </a:spcAft>
            </a:pPr>
            <a:r>
              <a:rPr sz="800" b="0">
                <a:solidFill>
                  <a:srgbClr val="56677C"/>
                </a:solidFill>
                <a:latin typeface="Noto Sans CJK JP"/>
                <a:ea typeface="Noto Sans CJK JP"/>
              </a:rPr>
              <a:t>東南アジア自動車制度｜公開一次情報の確認日：2026-10-06｜影響・矢印は分析仮説</a:t>
            </a:r>
          </a:p>
        </p:txBody>
      </p:sp>
      <p:sp>
        <p:nvSpPr>
          <p:cNvPr id="8" name="TextBox 7"/>
          <p:cNvSpPr txBox="1"/>
          <p:nvPr/>
        </p:nvSpPr>
        <p:spPr>
          <a:xfrm>
            <a:off x="12024360" y="7159752"/>
            <a:ext cx="457200" cy="137160"/>
          </a:xfrm>
          <a:prstGeom prst="rect">
            <a:avLst/>
          </a:prstGeom>
          <a:noFill/>
        </p:spPr>
        <p:txBody>
          <a:bodyPr wrap="square" lIns="0" rIns="0" tIns="0" bIns="0">
            <a:spAutoFit/>
          </a:bodyPr>
          <a:lstStyle/>
          <a:p>
            <a:pPr>
              <a:lnSpc>
                <a:spcPct val="113000"/>
              </a:lnSpc>
              <a:spcAft>
                <a:spcPts val="300"/>
              </a:spcAft>
            </a:pPr>
            <a:r>
              <a:rPr sz="900" b="0">
                <a:solidFill>
                  <a:srgbClr val="56677C"/>
                </a:solidFill>
                <a:latin typeface="Noto Sans CJK JP"/>
                <a:ea typeface="Noto Sans CJK JP"/>
              </a:rPr>
              <a:t>10</a:t>
            </a:r>
          </a:p>
        </p:txBody>
      </p:sp>
      <p:sp>
        <p:nvSpPr>
          <p:cNvPr id="9" name="TextBox 8"/>
          <p:cNvSpPr txBox="1"/>
          <p:nvPr/>
        </p:nvSpPr>
        <p:spPr>
          <a:xfrm>
            <a:off x="548640" y="1810512"/>
            <a:ext cx="7955279" cy="228600"/>
          </a:xfrm>
          <a:prstGeom prst="rect">
            <a:avLst/>
          </a:prstGeom>
          <a:noFill/>
        </p:spPr>
        <p:txBody>
          <a:bodyPr wrap="square" lIns="0" rIns="0" tIns="0" bIns="0">
            <a:spAutoFit/>
          </a:bodyPr>
          <a:lstStyle/>
          <a:p>
            <a:pPr>
              <a:lnSpc>
                <a:spcPct val="113000"/>
              </a:lnSpc>
              <a:spcAft>
                <a:spcPts val="300"/>
              </a:spcAft>
            </a:pPr>
            <a:r>
              <a:rPr sz="1100" b="1">
                <a:solidFill>
                  <a:srgbClr val="007F82"/>
                </a:solidFill>
                <a:latin typeface="Noto Sans CJK JP"/>
                <a:ea typeface="Noto Sans CJK JP"/>
              </a:rPr>
              <a:t>制度・対象・期間（政府／当局が公表した事実）</a:t>
            </a:r>
          </a:p>
        </p:txBody>
      </p:sp>
      <p:sp>
        <p:nvSpPr>
          <p:cNvPr id="10" name="TextBox 9"/>
          <p:cNvSpPr txBox="1"/>
          <p:nvPr/>
        </p:nvSpPr>
        <p:spPr>
          <a:xfrm>
            <a:off x="8778240" y="1810512"/>
            <a:ext cx="3657600" cy="228600"/>
          </a:xfrm>
          <a:prstGeom prst="rect">
            <a:avLst/>
          </a:prstGeom>
          <a:noFill/>
        </p:spPr>
        <p:txBody>
          <a:bodyPr wrap="square" lIns="0" rIns="0" tIns="0" bIns="0">
            <a:spAutoFit/>
          </a:bodyPr>
          <a:lstStyle/>
          <a:p>
            <a:pPr>
              <a:lnSpc>
                <a:spcPct val="113000"/>
              </a:lnSpc>
              <a:spcAft>
                <a:spcPts val="300"/>
              </a:spcAft>
            </a:pPr>
            <a:r>
              <a:rPr sz="1100" b="1">
                <a:solidFill>
                  <a:srgbClr val="2164A5"/>
                </a:solidFill>
                <a:latin typeface="Noto Sans CJK JP"/>
                <a:ea typeface="Noto Sans CJK JP"/>
              </a:rPr>
              <a:t>OEMへの影響（以下は分析上の推論）</a:t>
            </a:r>
          </a:p>
        </p:txBody>
      </p:sp>
      <p:sp>
        <p:nvSpPr>
          <p:cNvPr id="11" name="Rectangle 10"/>
          <p:cNvSpPr/>
          <p:nvPr/>
        </p:nvSpPr>
        <p:spPr>
          <a:xfrm>
            <a:off x="548640" y="2048256"/>
            <a:ext cx="7863840" cy="969264"/>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641080" y="2048256"/>
            <a:ext cx="3840480" cy="969264"/>
          </a:xfrm>
          <a:prstGeom prst="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 y="2130552"/>
            <a:ext cx="7498079" cy="265176"/>
          </a:xfrm>
          <a:prstGeom prst="rect">
            <a:avLst/>
          </a:prstGeom>
          <a:noFill/>
        </p:spPr>
        <p:txBody>
          <a:bodyPr wrap="square" lIns="0" rIns="0" tIns="0" bIns="0">
            <a:spAutoFit/>
          </a:bodyPr>
          <a:lstStyle/>
          <a:p>
            <a:pPr>
              <a:lnSpc>
                <a:spcPct val="113000"/>
              </a:lnSpc>
              <a:spcAft>
                <a:spcPts val="300"/>
              </a:spcAft>
            </a:pPr>
            <a:r>
              <a:rPr sz="1600" b="1">
                <a:solidFill>
                  <a:srgbClr val="007F82"/>
                </a:solidFill>
                <a:latin typeface="Noto Sans CJK JP"/>
                <a:ea typeface="Noto Sans CJK JP"/>
              </a:rPr>
              <a:t>2026年4月1日：関税等を改定 [1]</a:t>
            </a:r>
          </a:p>
        </p:txBody>
      </p:sp>
      <p:sp>
        <p:nvSpPr>
          <p:cNvPr id="14" name="TextBox 13"/>
          <p:cNvSpPr txBox="1"/>
          <p:nvPr/>
        </p:nvSpPr>
        <p:spPr>
          <a:xfrm>
            <a:off x="713232" y="2423160"/>
            <a:ext cx="7498079" cy="594360"/>
          </a:xfrm>
          <a:prstGeom prst="rect">
            <a:avLst/>
          </a:prstGeom>
          <a:noFill/>
        </p:spPr>
        <p:txBody>
          <a:bodyPr wrap="square" lIns="0" rIns="0" tIns="0" bIns="0">
            <a:spAutoFit/>
          </a:bodyPr>
          <a:lstStyle/>
          <a:p>
            <a:pPr>
              <a:lnSpc>
                <a:spcPct val="113000"/>
              </a:lnSpc>
              <a:spcAft>
                <a:spcPts val="300"/>
              </a:spcAft>
            </a:pPr>
            <a:r>
              <a:rPr sz="1400" b="0">
                <a:solidFill>
                  <a:srgbClr val="172B4D"/>
                </a:solidFill>
                <a:latin typeface="Noto Sans CJK JP"/>
                <a:ea typeface="Noto Sans CJK JP"/>
              </a:rPr>
              <a:t>財務省公表の政令は、充電器・EV用モーター・HEV/PHEV/EVトラック等の関税・輸出税調整を掲載。品目別付表が適用の根拠。</a:t>
            </a:r>
          </a:p>
        </p:txBody>
      </p:sp>
      <p:sp>
        <p:nvSpPr>
          <p:cNvPr id="15" name="TextBox 14"/>
          <p:cNvSpPr txBox="1"/>
          <p:nvPr/>
        </p:nvSpPr>
        <p:spPr>
          <a:xfrm>
            <a:off x="8796528" y="2121408"/>
            <a:ext cx="3566160" cy="274320"/>
          </a:xfrm>
          <a:prstGeom prst="rect">
            <a:avLst/>
          </a:prstGeom>
          <a:noFill/>
        </p:spPr>
        <p:txBody>
          <a:bodyPr wrap="square" lIns="0" rIns="0" tIns="0" bIns="0">
            <a:spAutoFit/>
          </a:bodyPr>
          <a:lstStyle/>
          <a:p>
            <a:pPr>
              <a:lnSpc>
                <a:spcPct val="113000"/>
              </a:lnSpc>
              <a:spcAft>
                <a:spcPts val="300"/>
              </a:spcAft>
            </a:pPr>
            <a:r>
              <a:rPr sz="1350" b="1">
                <a:solidFill>
                  <a:srgbClr val="2164A5"/>
                </a:solidFill>
                <a:latin typeface="Noto Sans CJK JP"/>
                <a:ea typeface="Noto Sans CJK JP"/>
              </a:rPr>
              <a:t>中国系BEV・現地組立OEM</a:t>
            </a:r>
          </a:p>
        </p:txBody>
      </p:sp>
      <p:sp>
        <p:nvSpPr>
          <p:cNvPr id="16" name="TextBox 15"/>
          <p:cNvSpPr txBox="1"/>
          <p:nvPr/>
        </p:nvSpPr>
        <p:spPr>
          <a:xfrm>
            <a:off x="8796528" y="2377440"/>
            <a:ext cx="3511296" cy="630936"/>
          </a:xfrm>
          <a:prstGeom prst="rect">
            <a:avLst/>
          </a:prstGeom>
          <a:noFill/>
        </p:spPr>
        <p:txBody>
          <a:bodyPr wrap="square" lIns="0" rIns="0" tIns="0" bIns="0">
            <a:spAutoFit/>
          </a:bodyPr>
          <a:lstStyle/>
          <a:p>
            <a:pPr>
              <a:lnSpc>
                <a:spcPct val="113000"/>
              </a:lnSpc>
              <a:spcAft>
                <a:spcPts val="300"/>
              </a:spcAft>
            </a:pPr>
            <a:r>
              <a:rPr sz="1250" b="0">
                <a:solidFill>
                  <a:srgbClr val="172B4D"/>
                </a:solidFill>
                <a:latin typeface="Noto Sans CJK JP"/>
                <a:ea typeface="Noto Sans CJK JP"/>
              </a:rPr>
              <a:t>対象品目なら調達・充電設備のコストを下げ得る。自社乗用車のHSと税額をまず確定する。</a:t>
            </a:r>
          </a:p>
        </p:txBody>
      </p:sp>
      <p:sp>
        <p:nvSpPr>
          <p:cNvPr id="17" name="Rectangle 16"/>
          <p:cNvSpPr/>
          <p:nvPr/>
        </p:nvSpPr>
        <p:spPr>
          <a:xfrm>
            <a:off x="548640" y="3072384"/>
            <a:ext cx="7863840" cy="969264"/>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641080" y="3072384"/>
            <a:ext cx="3840480" cy="969264"/>
          </a:xfrm>
          <a:prstGeom prst="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3232" y="3154680"/>
            <a:ext cx="7498079" cy="265176"/>
          </a:xfrm>
          <a:prstGeom prst="rect">
            <a:avLst/>
          </a:prstGeom>
          <a:noFill/>
        </p:spPr>
        <p:txBody>
          <a:bodyPr wrap="square" lIns="0" rIns="0" tIns="0" bIns="0">
            <a:spAutoFit/>
          </a:bodyPr>
          <a:lstStyle/>
          <a:p>
            <a:pPr>
              <a:lnSpc>
                <a:spcPct val="113000"/>
              </a:lnSpc>
              <a:spcAft>
                <a:spcPts val="300"/>
              </a:spcAft>
            </a:pPr>
            <a:r>
              <a:rPr sz="1600" b="1">
                <a:solidFill>
                  <a:srgbClr val="007F82"/>
                </a:solidFill>
                <a:latin typeface="Noto Sans CJK JP"/>
                <a:ea typeface="Noto Sans CJK JP"/>
              </a:rPr>
              <a:t>EV分野への追加優遇を政府が公表 [2]</a:t>
            </a:r>
          </a:p>
        </p:txBody>
      </p:sp>
      <p:sp>
        <p:nvSpPr>
          <p:cNvPr id="20" name="TextBox 19"/>
          <p:cNvSpPr txBox="1"/>
          <p:nvPr/>
        </p:nvSpPr>
        <p:spPr>
          <a:xfrm>
            <a:off x="713232" y="3447288"/>
            <a:ext cx="7498079" cy="594360"/>
          </a:xfrm>
          <a:prstGeom prst="rect">
            <a:avLst/>
          </a:prstGeom>
          <a:noFill/>
        </p:spPr>
        <p:txBody>
          <a:bodyPr wrap="square" lIns="0" rIns="0" tIns="0" bIns="0">
            <a:spAutoFit/>
          </a:bodyPr>
          <a:lstStyle/>
          <a:p>
            <a:pPr>
              <a:lnSpc>
                <a:spcPct val="113000"/>
              </a:lnSpc>
              <a:spcAft>
                <a:spcPts val="300"/>
              </a:spcAft>
            </a:pPr>
            <a:r>
              <a:rPr sz="1400" b="0">
                <a:solidFill>
                  <a:srgbClr val="172B4D"/>
                </a:solidFill>
                <a:latin typeface="Noto Sans CJK JP"/>
                <a:ea typeface="Noto Sans CJK JP"/>
              </a:rPr>
              <a:t>政府通信AKPはEV・充電器・リチウム電池等の関税削減を説明。一部品目は15–35％から0％。全乗用EVが一律0％とは読まない。</a:t>
            </a:r>
          </a:p>
        </p:txBody>
      </p:sp>
      <p:sp>
        <p:nvSpPr>
          <p:cNvPr id="21" name="TextBox 20"/>
          <p:cNvSpPr txBox="1"/>
          <p:nvPr/>
        </p:nvSpPr>
        <p:spPr>
          <a:xfrm>
            <a:off x="8796528" y="3145536"/>
            <a:ext cx="3566160" cy="274320"/>
          </a:xfrm>
          <a:prstGeom prst="rect">
            <a:avLst/>
          </a:prstGeom>
          <a:noFill/>
        </p:spPr>
        <p:txBody>
          <a:bodyPr wrap="square" lIns="0" rIns="0" tIns="0" bIns="0">
            <a:spAutoFit/>
          </a:bodyPr>
          <a:lstStyle/>
          <a:p>
            <a:pPr>
              <a:lnSpc>
                <a:spcPct val="113000"/>
              </a:lnSpc>
              <a:spcAft>
                <a:spcPts val="300"/>
              </a:spcAft>
            </a:pPr>
            <a:r>
              <a:rPr sz="1350" b="1">
                <a:solidFill>
                  <a:srgbClr val="2164A5"/>
                </a:solidFill>
                <a:latin typeface="Noto Sans CJK JP"/>
                <a:ea typeface="Noto Sans CJK JP"/>
              </a:rPr>
              <a:t>日系ICE・HEV OEM</a:t>
            </a:r>
          </a:p>
        </p:txBody>
      </p:sp>
      <p:sp>
        <p:nvSpPr>
          <p:cNvPr id="22" name="TextBox 21"/>
          <p:cNvSpPr txBox="1"/>
          <p:nvPr/>
        </p:nvSpPr>
        <p:spPr>
          <a:xfrm>
            <a:off x="8796528" y="3401568"/>
            <a:ext cx="3511296" cy="630936"/>
          </a:xfrm>
          <a:prstGeom prst="rect">
            <a:avLst/>
          </a:prstGeom>
          <a:noFill/>
        </p:spPr>
        <p:txBody>
          <a:bodyPr wrap="square" lIns="0" rIns="0" tIns="0" bIns="0">
            <a:spAutoFit/>
          </a:bodyPr>
          <a:lstStyle/>
          <a:p>
            <a:pPr>
              <a:lnSpc>
                <a:spcPct val="113000"/>
              </a:lnSpc>
              <a:spcAft>
                <a:spcPts val="300"/>
              </a:spcAft>
            </a:pPr>
            <a:r>
              <a:rPr sz="1250" b="0">
                <a:solidFill>
                  <a:srgbClr val="172B4D"/>
                </a:solidFill>
                <a:latin typeface="Noto Sans CJK JP"/>
                <a:ea typeface="Noto Sans CJK JP"/>
              </a:rPr>
              <a:t>EV向け恩典との差を購入総額で評価。HEVトラックの記載をHEV乗用車へ横展開しない。</a:t>
            </a:r>
          </a:p>
        </p:txBody>
      </p:sp>
      <p:sp>
        <p:nvSpPr>
          <p:cNvPr id="23" name="Rectangle 22"/>
          <p:cNvSpPr/>
          <p:nvPr/>
        </p:nvSpPr>
        <p:spPr>
          <a:xfrm>
            <a:off x="548640" y="4096512"/>
            <a:ext cx="7863840" cy="969264"/>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641080" y="4096512"/>
            <a:ext cx="3840480" cy="969264"/>
          </a:xfrm>
          <a:prstGeom prst="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3232" y="4178808"/>
            <a:ext cx="7498079" cy="265176"/>
          </a:xfrm>
          <a:prstGeom prst="rect">
            <a:avLst/>
          </a:prstGeom>
          <a:noFill/>
        </p:spPr>
        <p:txBody>
          <a:bodyPr wrap="square" lIns="0" rIns="0" tIns="0" bIns="0">
            <a:spAutoFit/>
          </a:bodyPr>
          <a:lstStyle/>
          <a:p>
            <a:pPr>
              <a:lnSpc>
                <a:spcPct val="113000"/>
              </a:lnSpc>
              <a:spcAft>
                <a:spcPts val="300"/>
              </a:spcAft>
            </a:pPr>
            <a:r>
              <a:rPr sz="1600" b="1">
                <a:solidFill>
                  <a:srgbClr val="007F82"/>
                </a:solidFill>
                <a:latin typeface="Noto Sans CJK JP"/>
                <a:ea typeface="Noto Sans CJK JP"/>
              </a:rPr>
              <a:t>2024–30年EV政策：投資と供給網 [2]</a:t>
            </a:r>
          </a:p>
        </p:txBody>
      </p:sp>
      <p:sp>
        <p:nvSpPr>
          <p:cNvPr id="26" name="TextBox 25"/>
          <p:cNvSpPr txBox="1"/>
          <p:nvPr/>
        </p:nvSpPr>
        <p:spPr>
          <a:xfrm>
            <a:off x="713232" y="4471416"/>
            <a:ext cx="7498079" cy="594360"/>
          </a:xfrm>
          <a:prstGeom prst="rect">
            <a:avLst/>
          </a:prstGeom>
          <a:noFill/>
        </p:spPr>
        <p:txBody>
          <a:bodyPr wrap="square" lIns="0" rIns="0" tIns="0" bIns="0">
            <a:spAutoFit/>
          </a:bodyPr>
          <a:lstStyle/>
          <a:p>
            <a:pPr>
              <a:lnSpc>
                <a:spcPct val="113000"/>
              </a:lnSpc>
              <a:spcAft>
                <a:spcPts val="300"/>
              </a:spcAft>
            </a:pPr>
            <a:r>
              <a:rPr sz="1400" b="0">
                <a:solidFill>
                  <a:srgbClr val="172B4D"/>
                </a:solidFill>
                <a:latin typeface="Noto Sans CJK JP"/>
                <a:ea typeface="Noto Sans CJK JP"/>
              </a:rPr>
              <a:t>EV組立・電池・充電インフラへの投資優遇が政策の柱。優遇は認定投資・対象品目の条件を伴うため、輸入販売と製造投資を分ける。</a:t>
            </a:r>
          </a:p>
        </p:txBody>
      </p:sp>
      <p:sp>
        <p:nvSpPr>
          <p:cNvPr id="27" name="TextBox 26"/>
          <p:cNvSpPr txBox="1"/>
          <p:nvPr/>
        </p:nvSpPr>
        <p:spPr>
          <a:xfrm>
            <a:off x="8796528" y="4169664"/>
            <a:ext cx="3566160" cy="274320"/>
          </a:xfrm>
          <a:prstGeom prst="rect">
            <a:avLst/>
          </a:prstGeom>
          <a:noFill/>
        </p:spPr>
        <p:txBody>
          <a:bodyPr wrap="square" lIns="0" rIns="0" tIns="0" bIns="0">
            <a:spAutoFit/>
          </a:bodyPr>
          <a:lstStyle/>
          <a:p>
            <a:pPr>
              <a:lnSpc>
                <a:spcPct val="113000"/>
              </a:lnSpc>
              <a:spcAft>
                <a:spcPts val="300"/>
              </a:spcAft>
            </a:pPr>
            <a:r>
              <a:rPr sz="1350" b="1">
                <a:solidFill>
                  <a:srgbClr val="2164A5"/>
                </a:solidFill>
                <a:latin typeface="Noto Sans CJK JP"/>
                <a:ea typeface="Noto Sans CJK JP"/>
              </a:rPr>
              <a:t>充電・サービスを整えるOEM</a:t>
            </a:r>
          </a:p>
        </p:txBody>
      </p:sp>
      <p:sp>
        <p:nvSpPr>
          <p:cNvPr id="28" name="TextBox 27"/>
          <p:cNvSpPr txBox="1"/>
          <p:nvPr/>
        </p:nvSpPr>
        <p:spPr>
          <a:xfrm>
            <a:off x="8796528" y="4425696"/>
            <a:ext cx="3511296" cy="630936"/>
          </a:xfrm>
          <a:prstGeom prst="rect">
            <a:avLst/>
          </a:prstGeom>
          <a:noFill/>
        </p:spPr>
        <p:txBody>
          <a:bodyPr wrap="square" lIns="0" rIns="0" tIns="0" bIns="0">
            <a:spAutoFit/>
          </a:bodyPr>
          <a:lstStyle/>
          <a:p>
            <a:pPr>
              <a:lnSpc>
                <a:spcPct val="113000"/>
              </a:lnSpc>
              <a:spcAft>
                <a:spcPts val="300"/>
              </a:spcAft>
            </a:pPr>
            <a:r>
              <a:rPr sz="1250" b="0">
                <a:solidFill>
                  <a:srgbClr val="172B4D"/>
                </a:solidFill>
                <a:latin typeface="Noto Sans CJK JP"/>
                <a:ea typeface="Noto Sans CJK JP"/>
              </a:rPr>
              <a:t>販売開始後の不安を減らし得る。優遇だけで継続販売が成立するとは限らない。</a:t>
            </a:r>
          </a:p>
        </p:txBody>
      </p:sp>
      <p:sp>
        <p:nvSpPr>
          <p:cNvPr id="29" name="TextBox 28"/>
          <p:cNvSpPr txBox="1"/>
          <p:nvPr/>
        </p:nvSpPr>
        <p:spPr>
          <a:xfrm>
            <a:off x="594360" y="5157216"/>
            <a:ext cx="11814048" cy="320040"/>
          </a:xfrm>
          <a:prstGeom prst="rect">
            <a:avLst/>
          </a:prstGeom>
          <a:noFill/>
        </p:spPr>
        <p:txBody>
          <a:bodyPr wrap="square" lIns="0" rIns="0" tIns="0" bIns="0">
            <a:spAutoFit/>
          </a:bodyPr>
          <a:lstStyle/>
          <a:p>
            <a:pPr>
              <a:lnSpc>
                <a:spcPct val="113000"/>
              </a:lnSpc>
              <a:spcAft>
                <a:spcPts val="300"/>
              </a:spcAft>
            </a:pPr>
            <a:r>
              <a:rPr sz="1080" b="0">
                <a:solidFill>
                  <a:srgbClr val="B57A14"/>
                </a:solidFill>
                <a:latin typeface="Noto Sans CJK JP"/>
                <a:ea typeface="Noto Sans CJK JP"/>
              </a:rPr>
              <a:t>確認限界：本資料では乗用車全型式のHS別税率を確定していない。税率仮定でκ・λの大きさを数値化しない。</a:t>
            </a:r>
          </a:p>
        </p:txBody>
      </p:sp>
      <p:sp>
        <p:nvSpPr>
          <p:cNvPr id="30" name="TextBox 29"/>
          <p:cNvSpPr txBox="1"/>
          <p:nvPr/>
        </p:nvSpPr>
        <p:spPr>
          <a:xfrm>
            <a:off x="548640" y="5504688"/>
            <a:ext cx="11887200" cy="182880"/>
          </a:xfrm>
          <a:prstGeom prst="rect">
            <a:avLst/>
          </a:prstGeom>
          <a:noFill/>
        </p:spPr>
        <p:txBody>
          <a:bodyPr wrap="square" lIns="0" rIns="0" tIns="0" bIns="0">
            <a:spAutoFit/>
          </a:bodyPr>
          <a:lstStyle/>
          <a:p>
            <a:pPr>
              <a:lnSpc>
                <a:spcPct val="113000"/>
              </a:lnSpc>
              <a:spcAft>
                <a:spcPts val="300"/>
              </a:spcAft>
            </a:pPr>
            <a:r>
              <a:rPr sz="930" b="1">
                <a:solidFill>
                  <a:srgbClr val="56677C"/>
                </a:solidFill>
                <a:latin typeface="Noto Sans CJK JP"/>
                <a:ea typeface="Noto Sans CJK JP"/>
              </a:rPr>
              <a:t>一次情報｜番号は制度欄に対応。URLをクリックして原文を開く。</a:t>
            </a:r>
          </a:p>
        </p:txBody>
      </p:sp>
      <p:sp>
        <p:nvSpPr>
          <p:cNvPr id="31" name="TextBox 30"/>
          <p:cNvSpPr txBox="1"/>
          <p:nvPr/>
        </p:nvSpPr>
        <p:spPr>
          <a:xfrm>
            <a:off x="548640" y="5724144"/>
            <a:ext cx="3429000" cy="274320"/>
          </a:xfrm>
          <a:prstGeom prst="rect">
            <a:avLst/>
          </a:prstGeom>
          <a:noFill/>
        </p:spPr>
        <p:txBody>
          <a:bodyPr wrap="square" lIns="0" rIns="0" tIns="0" bIns="0">
            <a:spAutoFit/>
          </a:bodyPr>
          <a:lstStyle/>
          <a:p>
            <a:pPr>
              <a:lnSpc>
                <a:spcPct val="113000"/>
              </a:lnSpc>
              <a:spcAft>
                <a:spcPts val="300"/>
              </a:spcAft>
            </a:pPr>
            <a:r>
              <a:rPr sz="960" b="1">
                <a:solidFill>
                  <a:srgbClr val="56677C"/>
                </a:solidFill>
                <a:latin typeface="Noto Sans CJK JP"/>
                <a:ea typeface="Noto Sans CJK JP"/>
              </a:rPr>
              <a:t>[1] 財務省｜2026年関税調整・付表</a:t>
            </a:r>
          </a:p>
        </p:txBody>
      </p:sp>
      <p:sp>
        <p:nvSpPr>
          <p:cNvPr id="32" name="TextBox 31"/>
          <p:cNvSpPr txBox="1"/>
          <p:nvPr/>
        </p:nvSpPr>
        <p:spPr>
          <a:xfrm>
            <a:off x="4023360" y="5724144"/>
            <a:ext cx="8412480" cy="420624"/>
          </a:xfrm>
          <a:prstGeom prst="rect">
            <a:avLst/>
          </a:prstGeom>
          <a:noFill/>
        </p:spPr>
        <p:txBody>
          <a:bodyPr wrap="square" lIns="0" rIns="0" tIns="0" bIns="0">
            <a:spAutoFit/>
          </a:bodyPr>
          <a:lstStyle/>
          <a:p>
            <a:pPr>
              <a:lnSpc>
                <a:spcPct val="113000"/>
              </a:lnSpc>
              <a:spcAft>
                <a:spcPts val="300"/>
              </a:spcAft>
            </a:pPr>
            <a:r>
              <a:rPr sz="940" b="0">
                <a:solidFill>
                  <a:srgbClr val="2164A5"/>
                </a:solidFill>
                <a:latin typeface="Noto Sans CJK JP"/>
                <a:ea typeface="Noto Sans CJK JP"/>
                <a:hlinkClick r:id="rId2"/>
              </a:rPr>
              <a:t>https://data.mef.gov.kh/datasets/pd_69c8ed36b207380007f1cb0b</a:t>
            </a:r>
          </a:p>
        </p:txBody>
      </p:sp>
      <p:sp>
        <p:nvSpPr>
          <p:cNvPr id="33" name="TextBox 32"/>
          <p:cNvSpPr txBox="1"/>
          <p:nvPr/>
        </p:nvSpPr>
        <p:spPr>
          <a:xfrm>
            <a:off x="548640" y="6153912"/>
            <a:ext cx="3429000" cy="274320"/>
          </a:xfrm>
          <a:prstGeom prst="rect">
            <a:avLst/>
          </a:prstGeom>
          <a:noFill/>
        </p:spPr>
        <p:txBody>
          <a:bodyPr wrap="square" lIns="0" rIns="0" tIns="0" bIns="0">
            <a:spAutoFit/>
          </a:bodyPr>
          <a:lstStyle/>
          <a:p>
            <a:pPr>
              <a:lnSpc>
                <a:spcPct val="113000"/>
              </a:lnSpc>
              <a:spcAft>
                <a:spcPts val="300"/>
              </a:spcAft>
            </a:pPr>
            <a:r>
              <a:rPr sz="960" b="1">
                <a:solidFill>
                  <a:srgbClr val="56677C"/>
                </a:solidFill>
                <a:latin typeface="Noto Sans CJK JP"/>
                <a:ea typeface="Noto Sans CJK JP"/>
              </a:rPr>
              <a:t>[2] 政府通信AKP｜政策説明 2026</a:t>
            </a:r>
          </a:p>
        </p:txBody>
      </p:sp>
      <p:sp>
        <p:nvSpPr>
          <p:cNvPr id="34" name="TextBox 33"/>
          <p:cNvSpPr txBox="1"/>
          <p:nvPr/>
        </p:nvSpPr>
        <p:spPr>
          <a:xfrm>
            <a:off x="4023360" y="6153912"/>
            <a:ext cx="8412480" cy="420624"/>
          </a:xfrm>
          <a:prstGeom prst="rect">
            <a:avLst/>
          </a:prstGeom>
          <a:noFill/>
        </p:spPr>
        <p:txBody>
          <a:bodyPr wrap="square" lIns="0" rIns="0" tIns="0" bIns="0">
            <a:spAutoFit/>
          </a:bodyPr>
          <a:lstStyle/>
          <a:p>
            <a:pPr>
              <a:lnSpc>
                <a:spcPct val="113000"/>
              </a:lnSpc>
              <a:spcAft>
                <a:spcPts val="300"/>
              </a:spcAft>
            </a:pPr>
            <a:r>
              <a:rPr sz="940" b="0">
                <a:solidFill>
                  <a:srgbClr val="2164A5"/>
                </a:solidFill>
                <a:latin typeface="Noto Sans CJK JP"/>
                <a:ea typeface="Noto Sans CJK JP"/>
                <a:hlinkClick r:id="rId3"/>
              </a:rPr>
              <a:t>https://www.akp.gov.kh/index.php/post/detail/375567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3004596" cy="118872"/>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972800" cy="228600"/>
          </a:xfrm>
          <a:prstGeom prst="rect">
            <a:avLst/>
          </a:prstGeom>
          <a:noFill/>
        </p:spPr>
        <p:txBody>
          <a:bodyPr wrap="square" lIns="0" rIns="0" tIns="0" bIns="0">
            <a:spAutoFit/>
          </a:bodyPr>
          <a:lstStyle/>
          <a:p>
            <a:pPr>
              <a:lnSpc>
                <a:spcPct val="113000"/>
              </a:lnSpc>
              <a:spcAft>
                <a:spcPts val="300"/>
              </a:spcAft>
            </a:pPr>
            <a:r>
              <a:rPr sz="1000" b="1">
                <a:solidFill>
                  <a:srgbClr val="007F82"/>
                </a:solidFill>
                <a:latin typeface="Noto Sans CJK JP"/>
                <a:ea typeface="Noto Sans CJK JP"/>
              </a:rPr>
              <a:t>LAOS</a:t>
            </a:r>
          </a:p>
        </p:txBody>
      </p:sp>
      <p:sp>
        <p:nvSpPr>
          <p:cNvPr id="4" name="TextBox 3"/>
          <p:cNvSpPr txBox="1"/>
          <p:nvPr/>
        </p:nvSpPr>
        <p:spPr>
          <a:xfrm>
            <a:off x="502920" y="685800"/>
            <a:ext cx="12024360" cy="566928"/>
          </a:xfrm>
          <a:prstGeom prst="rect">
            <a:avLst/>
          </a:prstGeom>
          <a:noFill/>
        </p:spPr>
        <p:txBody>
          <a:bodyPr wrap="square" lIns="0" rIns="0" tIns="0" bIns="0">
            <a:spAutoFit/>
          </a:bodyPr>
          <a:lstStyle/>
          <a:p>
            <a:pPr>
              <a:lnSpc>
                <a:spcPct val="113000"/>
              </a:lnSpc>
              <a:spcAft>
                <a:spcPts val="300"/>
              </a:spcAft>
            </a:pPr>
            <a:r>
              <a:rPr sz="2800" b="1">
                <a:solidFill>
                  <a:srgbClr val="172B4D"/>
                </a:solidFill>
                <a:latin typeface="Noto Sans CJK JP"/>
                <a:ea typeface="Noto Sans CJK JP"/>
              </a:rPr>
              <a:t>ラオス｜燃料車輸入の一時停止と、EV輸入者の選別が焦点</a:t>
            </a:r>
          </a:p>
        </p:txBody>
      </p:sp>
      <p:sp>
        <p:nvSpPr>
          <p:cNvPr id="5" name="TextBox 4"/>
          <p:cNvSpPr txBox="1"/>
          <p:nvPr/>
        </p:nvSpPr>
        <p:spPr>
          <a:xfrm>
            <a:off x="502920" y="1335024"/>
            <a:ext cx="11978640" cy="438912"/>
          </a:xfrm>
          <a:prstGeom prst="rect">
            <a:avLst/>
          </a:prstGeom>
          <a:noFill/>
        </p:spPr>
        <p:txBody>
          <a:bodyPr wrap="square" lIns="0" rIns="0" tIns="0" bIns="0">
            <a:spAutoFit/>
          </a:bodyPr>
          <a:lstStyle/>
          <a:p>
            <a:pPr>
              <a:lnSpc>
                <a:spcPct val="113000"/>
              </a:lnSpc>
              <a:spcAft>
                <a:spcPts val="300"/>
              </a:spcAft>
            </a:pPr>
            <a:r>
              <a:rPr sz="1600" b="0">
                <a:solidFill>
                  <a:srgbClr val="56677C"/>
                </a:solidFill>
                <a:latin typeface="Noto Sans CJK JP"/>
                <a:ea typeface="Noto Sans CJK JP"/>
              </a:rPr>
              <a:t>2026年7月の政府説明を確認。適用例外・再開時期を販売予測の条件に置く。</a:t>
            </a:r>
          </a:p>
        </p:txBody>
      </p:sp>
      <p:sp>
        <p:nvSpPr>
          <p:cNvPr id="6" name="Rectangle 5"/>
          <p:cNvSpPr/>
          <p:nvPr/>
        </p:nvSpPr>
        <p:spPr>
          <a:xfrm>
            <a:off x="502920" y="7114032"/>
            <a:ext cx="11978640" cy="10972"/>
          </a:xfrm>
          <a:prstGeom prst="rect">
            <a:avLst/>
          </a:prstGeom>
          <a:solidFill>
            <a:srgbClr val="D9E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7178040"/>
            <a:ext cx="10972800" cy="109728"/>
          </a:xfrm>
          <a:prstGeom prst="rect">
            <a:avLst/>
          </a:prstGeom>
          <a:noFill/>
        </p:spPr>
        <p:txBody>
          <a:bodyPr wrap="square" lIns="0" rIns="0" tIns="0" bIns="0">
            <a:spAutoFit/>
          </a:bodyPr>
          <a:lstStyle/>
          <a:p>
            <a:pPr>
              <a:lnSpc>
                <a:spcPct val="113000"/>
              </a:lnSpc>
              <a:spcAft>
                <a:spcPts val="300"/>
              </a:spcAft>
            </a:pPr>
            <a:r>
              <a:rPr sz="800" b="0">
                <a:solidFill>
                  <a:srgbClr val="56677C"/>
                </a:solidFill>
                <a:latin typeface="Noto Sans CJK JP"/>
                <a:ea typeface="Noto Sans CJK JP"/>
              </a:rPr>
              <a:t>東南アジア自動車制度｜公開一次情報の確認日：2026-10-06｜影響・矢印は分析仮説</a:t>
            </a:r>
          </a:p>
        </p:txBody>
      </p:sp>
      <p:sp>
        <p:nvSpPr>
          <p:cNvPr id="8" name="TextBox 7"/>
          <p:cNvSpPr txBox="1"/>
          <p:nvPr/>
        </p:nvSpPr>
        <p:spPr>
          <a:xfrm>
            <a:off x="12024360" y="7159752"/>
            <a:ext cx="457200" cy="137160"/>
          </a:xfrm>
          <a:prstGeom prst="rect">
            <a:avLst/>
          </a:prstGeom>
          <a:noFill/>
        </p:spPr>
        <p:txBody>
          <a:bodyPr wrap="square" lIns="0" rIns="0" tIns="0" bIns="0">
            <a:spAutoFit/>
          </a:bodyPr>
          <a:lstStyle/>
          <a:p>
            <a:pPr>
              <a:lnSpc>
                <a:spcPct val="113000"/>
              </a:lnSpc>
              <a:spcAft>
                <a:spcPts val="300"/>
              </a:spcAft>
            </a:pPr>
            <a:r>
              <a:rPr sz="900" b="0">
                <a:solidFill>
                  <a:srgbClr val="56677C"/>
                </a:solidFill>
                <a:latin typeface="Noto Sans CJK JP"/>
                <a:ea typeface="Noto Sans CJK JP"/>
              </a:rPr>
              <a:t>11</a:t>
            </a:r>
          </a:p>
        </p:txBody>
      </p:sp>
      <p:sp>
        <p:nvSpPr>
          <p:cNvPr id="9" name="TextBox 8"/>
          <p:cNvSpPr txBox="1"/>
          <p:nvPr/>
        </p:nvSpPr>
        <p:spPr>
          <a:xfrm>
            <a:off x="548640" y="1810512"/>
            <a:ext cx="7955279" cy="228600"/>
          </a:xfrm>
          <a:prstGeom prst="rect">
            <a:avLst/>
          </a:prstGeom>
          <a:noFill/>
        </p:spPr>
        <p:txBody>
          <a:bodyPr wrap="square" lIns="0" rIns="0" tIns="0" bIns="0">
            <a:spAutoFit/>
          </a:bodyPr>
          <a:lstStyle/>
          <a:p>
            <a:pPr>
              <a:lnSpc>
                <a:spcPct val="113000"/>
              </a:lnSpc>
              <a:spcAft>
                <a:spcPts val="300"/>
              </a:spcAft>
            </a:pPr>
            <a:r>
              <a:rPr sz="1100" b="1">
                <a:solidFill>
                  <a:srgbClr val="007F82"/>
                </a:solidFill>
                <a:latin typeface="Noto Sans CJK JP"/>
                <a:ea typeface="Noto Sans CJK JP"/>
              </a:rPr>
              <a:t>制度・対象・期間（政府／当局が公表した事実）</a:t>
            </a:r>
          </a:p>
        </p:txBody>
      </p:sp>
      <p:sp>
        <p:nvSpPr>
          <p:cNvPr id="10" name="TextBox 9"/>
          <p:cNvSpPr txBox="1"/>
          <p:nvPr/>
        </p:nvSpPr>
        <p:spPr>
          <a:xfrm>
            <a:off x="8778240" y="1810512"/>
            <a:ext cx="3657600" cy="228600"/>
          </a:xfrm>
          <a:prstGeom prst="rect">
            <a:avLst/>
          </a:prstGeom>
          <a:noFill/>
        </p:spPr>
        <p:txBody>
          <a:bodyPr wrap="square" lIns="0" rIns="0" tIns="0" bIns="0">
            <a:spAutoFit/>
          </a:bodyPr>
          <a:lstStyle/>
          <a:p>
            <a:pPr>
              <a:lnSpc>
                <a:spcPct val="113000"/>
              </a:lnSpc>
              <a:spcAft>
                <a:spcPts val="300"/>
              </a:spcAft>
            </a:pPr>
            <a:r>
              <a:rPr sz="1100" b="1">
                <a:solidFill>
                  <a:srgbClr val="2164A5"/>
                </a:solidFill>
                <a:latin typeface="Noto Sans CJK JP"/>
                <a:ea typeface="Noto Sans CJK JP"/>
              </a:rPr>
              <a:t>OEMへの影響（以下は分析上の推論）</a:t>
            </a:r>
          </a:p>
        </p:txBody>
      </p:sp>
      <p:sp>
        <p:nvSpPr>
          <p:cNvPr id="11" name="Rectangle 10"/>
          <p:cNvSpPr/>
          <p:nvPr/>
        </p:nvSpPr>
        <p:spPr>
          <a:xfrm>
            <a:off x="548640" y="2048256"/>
            <a:ext cx="7863840" cy="969264"/>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641080" y="2048256"/>
            <a:ext cx="3840480" cy="969264"/>
          </a:xfrm>
          <a:prstGeom prst="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 y="2130552"/>
            <a:ext cx="7498079" cy="265176"/>
          </a:xfrm>
          <a:prstGeom prst="rect">
            <a:avLst/>
          </a:prstGeom>
          <a:noFill/>
        </p:spPr>
        <p:txBody>
          <a:bodyPr wrap="square" lIns="0" rIns="0" tIns="0" bIns="0">
            <a:spAutoFit/>
          </a:bodyPr>
          <a:lstStyle/>
          <a:p>
            <a:pPr>
              <a:lnSpc>
                <a:spcPct val="113000"/>
              </a:lnSpc>
              <a:spcAft>
                <a:spcPts val="300"/>
              </a:spcAft>
            </a:pPr>
            <a:r>
              <a:rPr sz="1600" b="1">
                <a:solidFill>
                  <a:srgbClr val="007F82"/>
                </a:solidFill>
                <a:latin typeface="Noto Sans CJK JP"/>
                <a:ea typeface="Noto Sans CJK JP"/>
              </a:rPr>
              <a:t>燃料を使う小型車の輸入を一時停止 [1]</a:t>
            </a:r>
          </a:p>
        </p:txBody>
      </p:sp>
      <p:sp>
        <p:nvSpPr>
          <p:cNvPr id="14" name="TextBox 13"/>
          <p:cNvSpPr txBox="1"/>
          <p:nvPr/>
        </p:nvSpPr>
        <p:spPr>
          <a:xfrm>
            <a:off x="713232" y="2423160"/>
            <a:ext cx="7498079" cy="594360"/>
          </a:xfrm>
          <a:prstGeom prst="rect">
            <a:avLst/>
          </a:prstGeom>
          <a:noFill/>
        </p:spPr>
        <p:txBody>
          <a:bodyPr wrap="square" lIns="0" rIns="0" tIns="0" bIns="0">
            <a:spAutoFit/>
          </a:bodyPr>
          <a:lstStyle/>
          <a:p>
            <a:pPr>
              <a:lnSpc>
                <a:spcPct val="113000"/>
              </a:lnSpc>
              <a:spcAft>
                <a:spcPts val="300"/>
              </a:spcAft>
            </a:pPr>
            <a:r>
              <a:rPr sz="1400" b="0">
                <a:solidFill>
                  <a:srgbClr val="172B4D"/>
                </a:solidFill>
                <a:latin typeface="Noto Sans CJK JP"/>
                <a:ea typeface="Noto Sans CJK JP"/>
              </a:rPr>
              <a:t>首相の国会説明を政府通信KPLが2026年7月9日に掲載。燃料車の輸入停止を明記。ただし当該説明は例外・終了日を詳述していない。</a:t>
            </a:r>
          </a:p>
        </p:txBody>
      </p:sp>
      <p:sp>
        <p:nvSpPr>
          <p:cNvPr id="15" name="TextBox 14"/>
          <p:cNvSpPr txBox="1"/>
          <p:nvPr/>
        </p:nvSpPr>
        <p:spPr>
          <a:xfrm>
            <a:off x="8796528" y="2121408"/>
            <a:ext cx="3566160" cy="274320"/>
          </a:xfrm>
          <a:prstGeom prst="rect">
            <a:avLst/>
          </a:prstGeom>
          <a:noFill/>
        </p:spPr>
        <p:txBody>
          <a:bodyPr wrap="square" lIns="0" rIns="0" tIns="0" bIns="0">
            <a:spAutoFit/>
          </a:bodyPr>
          <a:lstStyle/>
          <a:p>
            <a:pPr>
              <a:lnSpc>
                <a:spcPct val="113000"/>
              </a:lnSpc>
              <a:spcAft>
                <a:spcPts val="300"/>
              </a:spcAft>
            </a:pPr>
            <a:r>
              <a:rPr sz="1350" b="1">
                <a:solidFill>
                  <a:srgbClr val="2164A5"/>
                </a:solidFill>
                <a:latin typeface="Noto Sans CJK JP"/>
                <a:ea typeface="Noto Sans CJK JP"/>
              </a:rPr>
              <a:t>中国系BEVの正規販売OEM</a:t>
            </a:r>
          </a:p>
        </p:txBody>
      </p:sp>
      <p:sp>
        <p:nvSpPr>
          <p:cNvPr id="16" name="TextBox 15"/>
          <p:cNvSpPr txBox="1"/>
          <p:nvPr/>
        </p:nvSpPr>
        <p:spPr>
          <a:xfrm>
            <a:off x="8796528" y="2377440"/>
            <a:ext cx="3511296" cy="630936"/>
          </a:xfrm>
          <a:prstGeom prst="rect">
            <a:avLst/>
          </a:prstGeom>
          <a:noFill/>
        </p:spPr>
        <p:txBody>
          <a:bodyPr wrap="square" lIns="0" rIns="0" tIns="0" bIns="0">
            <a:spAutoFit/>
          </a:bodyPr>
          <a:lstStyle/>
          <a:p>
            <a:pPr>
              <a:lnSpc>
                <a:spcPct val="113000"/>
              </a:lnSpc>
              <a:spcAft>
                <a:spcPts val="300"/>
              </a:spcAft>
            </a:pPr>
            <a:r>
              <a:rPr sz="1250" b="0">
                <a:solidFill>
                  <a:srgbClr val="172B4D"/>
                </a:solidFill>
                <a:latin typeface="Noto Sans CJK JP"/>
                <a:ea typeface="Noto Sans CJK JP"/>
              </a:rPr>
              <a:t>燃料車からの需要代替が起き得る。保守・部品供給を持つ代理店が重要になる。</a:t>
            </a:r>
          </a:p>
        </p:txBody>
      </p:sp>
      <p:sp>
        <p:nvSpPr>
          <p:cNvPr id="17" name="Rectangle 16"/>
          <p:cNvSpPr/>
          <p:nvPr/>
        </p:nvSpPr>
        <p:spPr>
          <a:xfrm>
            <a:off x="548640" y="3072384"/>
            <a:ext cx="7863840" cy="969264"/>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641080" y="3072384"/>
            <a:ext cx="3840480" cy="969264"/>
          </a:xfrm>
          <a:prstGeom prst="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3232" y="3154680"/>
            <a:ext cx="7498079" cy="265176"/>
          </a:xfrm>
          <a:prstGeom prst="rect">
            <a:avLst/>
          </a:prstGeom>
          <a:noFill/>
        </p:spPr>
        <p:txBody>
          <a:bodyPr wrap="square" lIns="0" rIns="0" tIns="0" bIns="0">
            <a:spAutoFit/>
          </a:bodyPr>
          <a:lstStyle/>
          <a:p>
            <a:pPr>
              <a:lnSpc>
                <a:spcPct val="113000"/>
              </a:lnSpc>
              <a:spcAft>
                <a:spcPts val="300"/>
              </a:spcAft>
            </a:pPr>
            <a:r>
              <a:rPr sz="1600" b="1">
                <a:solidFill>
                  <a:srgbClr val="007F82"/>
                </a:solidFill>
                <a:latin typeface="Noto Sans CJK JP"/>
                <a:ea typeface="Noto Sans CJK JP"/>
              </a:rPr>
              <a:t>EV輸入は正規認可・サービス施設 [1]</a:t>
            </a:r>
          </a:p>
        </p:txBody>
      </p:sp>
      <p:sp>
        <p:nvSpPr>
          <p:cNvPr id="20" name="TextBox 19"/>
          <p:cNvSpPr txBox="1"/>
          <p:nvPr/>
        </p:nvSpPr>
        <p:spPr>
          <a:xfrm>
            <a:off x="713232" y="3447288"/>
            <a:ext cx="7498079" cy="594360"/>
          </a:xfrm>
          <a:prstGeom prst="rect">
            <a:avLst/>
          </a:prstGeom>
          <a:noFill/>
        </p:spPr>
        <p:txBody>
          <a:bodyPr wrap="square" lIns="0" rIns="0" tIns="0" bIns="0">
            <a:spAutoFit/>
          </a:bodyPr>
          <a:lstStyle/>
          <a:p>
            <a:pPr>
              <a:lnSpc>
                <a:spcPct val="113000"/>
              </a:lnSpc>
              <a:spcAft>
                <a:spcPts val="300"/>
              </a:spcAft>
            </a:pPr>
            <a:r>
              <a:rPr sz="1400" b="0">
                <a:solidFill>
                  <a:srgbClr val="172B4D"/>
                </a:solidFill>
                <a:latin typeface="Noto Sans CJK JP"/>
                <a:ea typeface="Noto Sans CJK JP"/>
              </a:rPr>
              <a:t>政府説明：正式に認可され、アフターサービスセンターを備えた企業だけにEV輸入を認める。低価格輸入のみの事業者には参入制約。</a:t>
            </a:r>
          </a:p>
        </p:txBody>
      </p:sp>
      <p:sp>
        <p:nvSpPr>
          <p:cNvPr id="21" name="TextBox 20"/>
          <p:cNvSpPr txBox="1"/>
          <p:nvPr/>
        </p:nvSpPr>
        <p:spPr>
          <a:xfrm>
            <a:off x="8796528" y="3145536"/>
            <a:ext cx="3566160" cy="274320"/>
          </a:xfrm>
          <a:prstGeom prst="rect">
            <a:avLst/>
          </a:prstGeom>
          <a:noFill/>
        </p:spPr>
        <p:txBody>
          <a:bodyPr wrap="square" lIns="0" rIns="0" tIns="0" bIns="0">
            <a:spAutoFit/>
          </a:bodyPr>
          <a:lstStyle/>
          <a:p>
            <a:pPr>
              <a:lnSpc>
                <a:spcPct val="113000"/>
              </a:lnSpc>
              <a:spcAft>
                <a:spcPts val="300"/>
              </a:spcAft>
            </a:pPr>
            <a:r>
              <a:rPr sz="1350" b="1">
                <a:solidFill>
                  <a:srgbClr val="2164A5"/>
                </a:solidFill>
                <a:latin typeface="Noto Sans CJK JP"/>
                <a:ea typeface="Noto Sans CJK JP"/>
              </a:rPr>
              <a:t>日系ICE・HEVを輸入するOEM</a:t>
            </a:r>
          </a:p>
        </p:txBody>
      </p:sp>
      <p:sp>
        <p:nvSpPr>
          <p:cNvPr id="22" name="TextBox 21"/>
          <p:cNvSpPr txBox="1"/>
          <p:nvPr/>
        </p:nvSpPr>
        <p:spPr>
          <a:xfrm>
            <a:off x="8796528" y="3401568"/>
            <a:ext cx="3511296" cy="630936"/>
          </a:xfrm>
          <a:prstGeom prst="rect">
            <a:avLst/>
          </a:prstGeom>
          <a:noFill/>
        </p:spPr>
        <p:txBody>
          <a:bodyPr wrap="square" lIns="0" rIns="0" tIns="0" bIns="0">
            <a:spAutoFit/>
          </a:bodyPr>
          <a:lstStyle/>
          <a:p>
            <a:pPr>
              <a:lnSpc>
                <a:spcPct val="113000"/>
              </a:lnSpc>
              <a:spcAft>
                <a:spcPts val="300"/>
              </a:spcAft>
            </a:pPr>
            <a:r>
              <a:rPr sz="1250" b="0">
                <a:solidFill>
                  <a:srgbClr val="172B4D"/>
                </a:solidFill>
                <a:latin typeface="Noto Sans CJK JP"/>
                <a:ea typeface="Noto Sans CJK JP"/>
              </a:rPr>
              <a:t>燃料車の適用範囲に自社HEVが入るかを個別確認。発注済み車両・例外・再開を統制する。</a:t>
            </a:r>
          </a:p>
        </p:txBody>
      </p:sp>
      <p:sp>
        <p:nvSpPr>
          <p:cNvPr id="23" name="Rectangle 22"/>
          <p:cNvSpPr/>
          <p:nvPr/>
        </p:nvSpPr>
        <p:spPr>
          <a:xfrm>
            <a:off x="548640" y="4096512"/>
            <a:ext cx="7863840" cy="969264"/>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641080" y="4096512"/>
            <a:ext cx="3840480" cy="969264"/>
          </a:xfrm>
          <a:prstGeom prst="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3232" y="4178808"/>
            <a:ext cx="7498079" cy="265176"/>
          </a:xfrm>
          <a:prstGeom prst="rect">
            <a:avLst/>
          </a:prstGeom>
          <a:noFill/>
        </p:spPr>
        <p:txBody>
          <a:bodyPr wrap="square" lIns="0" rIns="0" tIns="0" bIns="0">
            <a:spAutoFit/>
          </a:bodyPr>
          <a:lstStyle/>
          <a:p>
            <a:pPr>
              <a:lnSpc>
                <a:spcPct val="113000"/>
              </a:lnSpc>
              <a:spcAft>
                <a:spcPts val="300"/>
              </a:spcAft>
            </a:pPr>
            <a:r>
              <a:rPr sz="1600" b="1">
                <a:solidFill>
                  <a:srgbClr val="007F82"/>
                </a:solidFill>
                <a:latin typeface="Noto Sans CJK JP"/>
                <a:ea typeface="Noto Sans CJK JP"/>
              </a:rPr>
              <a:t>EVの輸入許可が必要 [2]</a:t>
            </a:r>
          </a:p>
        </p:txBody>
      </p:sp>
      <p:sp>
        <p:nvSpPr>
          <p:cNvPr id="26" name="TextBox 25"/>
          <p:cNvSpPr txBox="1"/>
          <p:nvPr/>
        </p:nvSpPr>
        <p:spPr>
          <a:xfrm>
            <a:off x="713232" y="4471416"/>
            <a:ext cx="7498079" cy="594360"/>
          </a:xfrm>
          <a:prstGeom prst="rect">
            <a:avLst/>
          </a:prstGeom>
          <a:noFill/>
        </p:spPr>
        <p:txBody>
          <a:bodyPr wrap="square" lIns="0" rIns="0" tIns="0" bIns="0">
            <a:spAutoFit/>
          </a:bodyPr>
          <a:lstStyle/>
          <a:p>
            <a:pPr>
              <a:lnSpc>
                <a:spcPct val="113000"/>
              </a:lnSpc>
              <a:spcAft>
                <a:spcPts val="300"/>
              </a:spcAft>
            </a:pPr>
            <a:r>
              <a:rPr sz="1400" b="0">
                <a:solidFill>
                  <a:srgbClr val="172B4D"/>
                </a:solidFill>
                <a:latin typeface="Noto Sans CJK JP"/>
                <a:ea typeface="Noto Sans CJK JP"/>
              </a:rPr>
              <a:t>商工省Trade Portal：輸出入部門の許可と公共事業運輸省の規則適合が必要。通知1283/2020が原文根拠として掲載される。</a:t>
            </a:r>
          </a:p>
        </p:txBody>
      </p:sp>
      <p:sp>
        <p:nvSpPr>
          <p:cNvPr id="27" name="TextBox 26"/>
          <p:cNvSpPr txBox="1"/>
          <p:nvPr/>
        </p:nvSpPr>
        <p:spPr>
          <a:xfrm>
            <a:off x="8796528" y="4169664"/>
            <a:ext cx="3566160" cy="274320"/>
          </a:xfrm>
          <a:prstGeom prst="rect">
            <a:avLst/>
          </a:prstGeom>
          <a:noFill/>
        </p:spPr>
        <p:txBody>
          <a:bodyPr wrap="square" lIns="0" rIns="0" tIns="0" bIns="0">
            <a:spAutoFit/>
          </a:bodyPr>
          <a:lstStyle/>
          <a:p>
            <a:pPr>
              <a:lnSpc>
                <a:spcPct val="113000"/>
              </a:lnSpc>
              <a:spcAft>
                <a:spcPts val="300"/>
              </a:spcAft>
            </a:pPr>
            <a:r>
              <a:rPr sz="1350" b="1">
                <a:solidFill>
                  <a:srgbClr val="2164A5"/>
                </a:solidFill>
                <a:latin typeface="Noto Sans CJK JP"/>
                <a:ea typeface="Noto Sans CJK JP"/>
              </a:rPr>
              <a:t>並行輸入・小規模新規参入者</a:t>
            </a:r>
          </a:p>
        </p:txBody>
      </p:sp>
      <p:sp>
        <p:nvSpPr>
          <p:cNvPr id="28" name="TextBox 27"/>
          <p:cNvSpPr txBox="1"/>
          <p:nvPr/>
        </p:nvSpPr>
        <p:spPr>
          <a:xfrm>
            <a:off x="8796528" y="4425696"/>
            <a:ext cx="3511296" cy="630936"/>
          </a:xfrm>
          <a:prstGeom prst="rect">
            <a:avLst/>
          </a:prstGeom>
          <a:noFill/>
        </p:spPr>
        <p:txBody>
          <a:bodyPr wrap="square" lIns="0" rIns="0" tIns="0" bIns="0">
            <a:spAutoFit/>
          </a:bodyPr>
          <a:lstStyle/>
          <a:p>
            <a:pPr>
              <a:lnSpc>
                <a:spcPct val="113000"/>
              </a:lnSpc>
              <a:spcAft>
                <a:spcPts val="300"/>
              </a:spcAft>
            </a:pPr>
            <a:r>
              <a:rPr sz="1250" b="0">
                <a:solidFill>
                  <a:srgbClr val="172B4D"/>
                </a:solidFill>
                <a:latin typeface="Noto Sans CJK JP"/>
                <a:ea typeface="Noto Sans CJK JP"/>
              </a:rPr>
              <a:t>販売価格の低さだけでは市場へ入れない。許可取得とサービス拠点への固定費が必要。</a:t>
            </a:r>
          </a:p>
        </p:txBody>
      </p:sp>
      <p:sp>
        <p:nvSpPr>
          <p:cNvPr id="29" name="TextBox 28"/>
          <p:cNvSpPr txBox="1"/>
          <p:nvPr/>
        </p:nvSpPr>
        <p:spPr>
          <a:xfrm>
            <a:off x="594360" y="5157216"/>
            <a:ext cx="11814048" cy="320040"/>
          </a:xfrm>
          <a:prstGeom prst="rect">
            <a:avLst/>
          </a:prstGeom>
          <a:noFill/>
        </p:spPr>
        <p:txBody>
          <a:bodyPr wrap="square" lIns="0" rIns="0" tIns="0" bIns="0">
            <a:spAutoFit/>
          </a:bodyPr>
          <a:lstStyle/>
          <a:p>
            <a:pPr>
              <a:lnSpc>
                <a:spcPct val="113000"/>
              </a:lnSpc>
              <a:spcAft>
                <a:spcPts val="300"/>
              </a:spcAft>
            </a:pPr>
            <a:r>
              <a:rPr sz="1080" b="0">
                <a:solidFill>
                  <a:srgbClr val="B57A14"/>
                </a:solidFill>
                <a:latin typeface="Noto Sans CJK JP"/>
                <a:ea typeface="Noto Sans CJK JP"/>
              </a:rPr>
              <a:t>確認限界：政府説明の一時停止を、恒久的なICE禁止やHEV一律禁止とは扱わない。停止法令の例外は要確認。</a:t>
            </a:r>
          </a:p>
        </p:txBody>
      </p:sp>
      <p:sp>
        <p:nvSpPr>
          <p:cNvPr id="30" name="TextBox 29"/>
          <p:cNvSpPr txBox="1"/>
          <p:nvPr/>
        </p:nvSpPr>
        <p:spPr>
          <a:xfrm>
            <a:off x="548640" y="5504688"/>
            <a:ext cx="11887200" cy="182880"/>
          </a:xfrm>
          <a:prstGeom prst="rect">
            <a:avLst/>
          </a:prstGeom>
          <a:noFill/>
        </p:spPr>
        <p:txBody>
          <a:bodyPr wrap="square" lIns="0" rIns="0" tIns="0" bIns="0">
            <a:spAutoFit/>
          </a:bodyPr>
          <a:lstStyle/>
          <a:p>
            <a:pPr>
              <a:lnSpc>
                <a:spcPct val="113000"/>
              </a:lnSpc>
              <a:spcAft>
                <a:spcPts val="300"/>
              </a:spcAft>
            </a:pPr>
            <a:r>
              <a:rPr sz="930" b="1">
                <a:solidFill>
                  <a:srgbClr val="56677C"/>
                </a:solidFill>
                <a:latin typeface="Noto Sans CJK JP"/>
                <a:ea typeface="Noto Sans CJK JP"/>
              </a:rPr>
              <a:t>一次情報｜番号は制度欄に対応。URLをクリックして原文を開く。</a:t>
            </a:r>
          </a:p>
        </p:txBody>
      </p:sp>
      <p:sp>
        <p:nvSpPr>
          <p:cNvPr id="31" name="TextBox 30"/>
          <p:cNvSpPr txBox="1"/>
          <p:nvPr/>
        </p:nvSpPr>
        <p:spPr>
          <a:xfrm>
            <a:off x="548640" y="5724144"/>
            <a:ext cx="3429000" cy="274320"/>
          </a:xfrm>
          <a:prstGeom prst="rect">
            <a:avLst/>
          </a:prstGeom>
          <a:noFill/>
        </p:spPr>
        <p:txBody>
          <a:bodyPr wrap="square" lIns="0" rIns="0" tIns="0" bIns="0">
            <a:spAutoFit/>
          </a:bodyPr>
          <a:lstStyle/>
          <a:p>
            <a:pPr>
              <a:lnSpc>
                <a:spcPct val="113000"/>
              </a:lnSpc>
              <a:spcAft>
                <a:spcPts val="300"/>
              </a:spcAft>
            </a:pPr>
            <a:r>
              <a:rPr sz="960" b="1">
                <a:solidFill>
                  <a:srgbClr val="56677C"/>
                </a:solidFill>
                <a:latin typeface="Noto Sans CJK JP"/>
                <a:ea typeface="Noto Sans CJK JP"/>
              </a:rPr>
              <a:t>[1] 政府通信KPL｜首相説明 2026-07-09</a:t>
            </a:r>
          </a:p>
        </p:txBody>
      </p:sp>
      <p:sp>
        <p:nvSpPr>
          <p:cNvPr id="32" name="TextBox 31"/>
          <p:cNvSpPr txBox="1"/>
          <p:nvPr/>
        </p:nvSpPr>
        <p:spPr>
          <a:xfrm>
            <a:off x="4023360" y="5724144"/>
            <a:ext cx="8412480" cy="420624"/>
          </a:xfrm>
          <a:prstGeom prst="rect">
            <a:avLst/>
          </a:prstGeom>
          <a:noFill/>
        </p:spPr>
        <p:txBody>
          <a:bodyPr wrap="square" lIns="0" rIns="0" tIns="0" bIns="0">
            <a:spAutoFit/>
          </a:bodyPr>
          <a:lstStyle/>
          <a:p>
            <a:pPr>
              <a:lnSpc>
                <a:spcPct val="113000"/>
              </a:lnSpc>
              <a:spcAft>
                <a:spcPts val="300"/>
              </a:spcAft>
            </a:pPr>
            <a:r>
              <a:rPr sz="940" b="0">
                <a:solidFill>
                  <a:srgbClr val="2164A5"/>
                </a:solidFill>
                <a:latin typeface="Noto Sans CJK JP"/>
                <a:ea typeface="Noto Sans CJK JP"/>
                <a:hlinkClick r:id="rId2"/>
              </a:rPr>
              <a:t>https://kpl.gov.la/en/detail.aspx?id=102079</a:t>
            </a:r>
          </a:p>
        </p:txBody>
      </p:sp>
      <p:sp>
        <p:nvSpPr>
          <p:cNvPr id="33" name="TextBox 32"/>
          <p:cNvSpPr txBox="1"/>
          <p:nvPr/>
        </p:nvSpPr>
        <p:spPr>
          <a:xfrm>
            <a:off x="548640" y="6153912"/>
            <a:ext cx="3429000" cy="274320"/>
          </a:xfrm>
          <a:prstGeom prst="rect">
            <a:avLst/>
          </a:prstGeom>
          <a:noFill/>
        </p:spPr>
        <p:txBody>
          <a:bodyPr wrap="square" lIns="0" rIns="0" tIns="0" bIns="0">
            <a:spAutoFit/>
          </a:bodyPr>
          <a:lstStyle/>
          <a:p>
            <a:pPr>
              <a:lnSpc>
                <a:spcPct val="113000"/>
              </a:lnSpc>
              <a:spcAft>
                <a:spcPts val="300"/>
              </a:spcAft>
            </a:pPr>
            <a:r>
              <a:rPr sz="960" b="1">
                <a:solidFill>
                  <a:srgbClr val="56677C"/>
                </a:solidFill>
                <a:latin typeface="Noto Sans CJK JP"/>
                <a:ea typeface="Noto Sans CJK JP"/>
              </a:rPr>
              <a:t>[2] 商工省｜EV輸入許可</a:t>
            </a:r>
          </a:p>
        </p:txBody>
      </p:sp>
      <p:sp>
        <p:nvSpPr>
          <p:cNvPr id="34" name="TextBox 33"/>
          <p:cNvSpPr txBox="1"/>
          <p:nvPr/>
        </p:nvSpPr>
        <p:spPr>
          <a:xfrm>
            <a:off x="4023360" y="6153912"/>
            <a:ext cx="8412480" cy="420624"/>
          </a:xfrm>
          <a:prstGeom prst="rect">
            <a:avLst/>
          </a:prstGeom>
          <a:noFill/>
        </p:spPr>
        <p:txBody>
          <a:bodyPr wrap="square" lIns="0" rIns="0" tIns="0" bIns="0">
            <a:spAutoFit/>
          </a:bodyPr>
          <a:lstStyle/>
          <a:p>
            <a:pPr>
              <a:lnSpc>
                <a:spcPct val="113000"/>
              </a:lnSpc>
              <a:spcAft>
                <a:spcPts val="300"/>
              </a:spcAft>
            </a:pPr>
            <a:r>
              <a:rPr sz="940" b="0">
                <a:solidFill>
                  <a:srgbClr val="2164A5"/>
                </a:solidFill>
                <a:latin typeface="Noto Sans CJK JP"/>
                <a:ea typeface="Noto Sans CJK JP"/>
                <a:hlinkClick r:id="rId3"/>
              </a:rPr>
              <a:t>https://www.laotradeportal.gov.la/en-gb/search-measure/view/1036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3004596" cy="118872"/>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972800" cy="228600"/>
          </a:xfrm>
          <a:prstGeom prst="rect">
            <a:avLst/>
          </a:prstGeom>
          <a:noFill/>
        </p:spPr>
        <p:txBody>
          <a:bodyPr wrap="square" lIns="0" rIns="0" tIns="0" bIns="0">
            <a:spAutoFit/>
          </a:bodyPr>
          <a:lstStyle/>
          <a:p>
            <a:pPr>
              <a:lnSpc>
                <a:spcPct val="113000"/>
              </a:lnSpc>
              <a:spcAft>
                <a:spcPts val="300"/>
              </a:spcAft>
            </a:pPr>
            <a:r>
              <a:rPr sz="1000" b="1">
                <a:solidFill>
                  <a:srgbClr val="007F82"/>
                </a:solidFill>
                <a:latin typeface="Noto Sans CJK JP"/>
                <a:ea typeface="Noto Sans CJK JP"/>
              </a:rPr>
              <a:t>MYANMAR</a:t>
            </a:r>
          </a:p>
        </p:txBody>
      </p:sp>
      <p:sp>
        <p:nvSpPr>
          <p:cNvPr id="4" name="TextBox 3"/>
          <p:cNvSpPr txBox="1"/>
          <p:nvPr/>
        </p:nvSpPr>
        <p:spPr>
          <a:xfrm>
            <a:off x="502920" y="685800"/>
            <a:ext cx="12024360" cy="566928"/>
          </a:xfrm>
          <a:prstGeom prst="rect">
            <a:avLst/>
          </a:prstGeom>
          <a:noFill/>
        </p:spPr>
        <p:txBody>
          <a:bodyPr wrap="square" lIns="0" rIns="0" tIns="0" bIns="0">
            <a:spAutoFit/>
          </a:bodyPr>
          <a:lstStyle/>
          <a:p>
            <a:pPr>
              <a:lnSpc>
                <a:spcPct val="113000"/>
              </a:lnSpc>
              <a:spcAft>
                <a:spcPts val="300"/>
              </a:spcAft>
            </a:pPr>
            <a:r>
              <a:rPr sz="2800" b="1">
                <a:solidFill>
                  <a:srgbClr val="172B4D"/>
                </a:solidFill>
                <a:latin typeface="Noto Sans CJK JP"/>
                <a:ea typeface="Noto Sans CJK JP"/>
              </a:rPr>
              <a:t>ミャンマー｜BEV課税の導入と、輸入・外貨承認が販売を左右</a:t>
            </a:r>
          </a:p>
        </p:txBody>
      </p:sp>
      <p:sp>
        <p:nvSpPr>
          <p:cNvPr id="5" name="TextBox 4"/>
          <p:cNvSpPr txBox="1"/>
          <p:nvPr/>
        </p:nvSpPr>
        <p:spPr>
          <a:xfrm>
            <a:off x="502920" y="1335024"/>
            <a:ext cx="11978640" cy="438912"/>
          </a:xfrm>
          <a:prstGeom prst="rect">
            <a:avLst/>
          </a:prstGeom>
          <a:noFill/>
        </p:spPr>
        <p:txBody>
          <a:bodyPr wrap="square" lIns="0" rIns="0" tIns="0" bIns="0">
            <a:spAutoFit/>
          </a:bodyPr>
          <a:lstStyle/>
          <a:p>
            <a:pPr>
              <a:lnSpc>
                <a:spcPct val="113000"/>
              </a:lnSpc>
              <a:spcAft>
                <a:spcPts val="300"/>
              </a:spcAft>
            </a:pPr>
            <a:r>
              <a:rPr sz="1600" b="0">
                <a:solidFill>
                  <a:srgbClr val="56677C"/>
                </a:solidFill>
                <a:latin typeface="Noto Sans CJK JP"/>
                <a:ea typeface="Noto Sans CJK JP"/>
              </a:rPr>
              <a:t>旧EVパイロットを無期限の恩典として使わず、2026年の変更を分けて記録する。</a:t>
            </a:r>
          </a:p>
        </p:txBody>
      </p:sp>
      <p:sp>
        <p:nvSpPr>
          <p:cNvPr id="6" name="Rectangle 5"/>
          <p:cNvSpPr/>
          <p:nvPr/>
        </p:nvSpPr>
        <p:spPr>
          <a:xfrm>
            <a:off x="502920" y="7114032"/>
            <a:ext cx="11978640" cy="10972"/>
          </a:xfrm>
          <a:prstGeom prst="rect">
            <a:avLst/>
          </a:prstGeom>
          <a:solidFill>
            <a:srgbClr val="D9E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7178040"/>
            <a:ext cx="10972800" cy="109728"/>
          </a:xfrm>
          <a:prstGeom prst="rect">
            <a:avLst/>
          </a:prstGeom>
          <a:noFill/>
        </p:spPr>
        <p:txBody>
          <a:bodyPr wrap="square" lIns="0" rIns="0" tIns="0" bIns="0">
            <a:spAutoFit/>
          </a:bodyPr>
          <a:lstStyle/>
          <a:p>
            <a:pPr>
              <a:lnSpc>
                <a:spcPct val="113000"/>
              </a:lnSpc>
              <a:spcAft>
                <a:spcPts val="300"/>
              </a:spcAft>
            </a:pPr>
            <a:r>
              <a:rPr sz="800" b="0">
                <a:solidFill>
                  <a:srgbClr val="56677C"/>
                </a:solidFill>
                <a:latin typeface="Noto Sans CJK JP"/>
                <a:ea typeface="Noto Sans CJK JP"/>
              </a:rPr>
              <a:t>東南アジア自動車制度｜公開一次情報の確認日：2026-10-06｜影響・矢印は分析仮説</a:t>
            </a:r>
          </a:p>
        </p:txBody>
      </p:sp>
      <p:sp>
        <p:nvSpPr>
          <p:cNvPr id="8" name="TextBox 7"/>
          <p:cNvSpPr txBox="1"/>
          <p:nvPr/>
        </p:nvSpPr>
        <p:spPr>
          <a:xfrm>
            <a:off x="12024360" y="7159752"/>
            <a:ext cx="457200" cy="137160"/>
          </a:xfrm>
          <a:prstGeom prst="rect">
            <a:avLst/>
          </a:prstGeom>
          <a:noFill/>
        </p:spPr>
        <p:txBody>
          <a:bodyPr wrap="square" lIns="0" rIns="0" tIns="0" bIns="0">
            <a:spAutoFit/>
          </a:bodyPr>
          <a:lstStyle/>
          <a:p>
            <a:pPr>
              <a:lnSpc>
                <a:spcPct val="113000"/>
              </a:lnSpc>
              <a:spcAft>
                <a:spcPts val="300"/>
              </a:spcAft>
            </a:pPr>
            <a:r>
              <a:rPr sz="900" b="0">
                <a:solidFill>
                  <a:srgbClr val="56677C"/>
                </a:solidFill>
                <a:latin typeface="Noto Sans CJK JP"/>
                <a:ea typeface="Noto Sans CJK JP"/>
              </a:rPr>
              <a:t>12</a:t>
            </a:r>
          </a:p>
        </p:txBody>
      </p:sp>
      <p:sp>
        <p:nvSpPr>
          <p:cNvPr id="9" name="TextBox 8"/>
          <p:cNvSpPr txBox="1"/>
          <p:nvPr/>
        </p:nvSpPr>
        <p:spPr>
          <a:xfrm>
            <a:off x="548640" y="1810512"/>
            <a:ext cx="7955279" cy="228600"/>
          </a:xfrm>
          <a:prstGeom prst="rect">
            <a:avLst/>
          </a:prstGeom>
          <a:noFill/>
        </p:spPr>
        <p:txBody>
          <a:bodyPr wrap="square" lIns="0" rIns="0" tIns="0" bIns="0">
            <a:spAutoFit/>
          </a:bodyPr>
          <a:lstStyle/>
          <a:p>
            <a:pPr>
              <a:lnSpc>
                <a:spcPct val="113000"/>
              </a:lnSpc>
              <a:spcAft>
                <a:spcPts val="300"/>
              </a:spcAft>
            </a:pPr>
            <a:r>
              <a:rPr sz="1100" b="1">
                <a:solidFill>
                  <a:srgbClr val="007F82"/>
                </a:solidFill>
                <a:latin typeface="Noto Sans CJK JP"/>
                <a:ea typeface="Noto Sans CJK JP"/>
              </a:rPr>
              <a:t>制度・対象・期間（政府／当局が公表した事実）</a:t>
            </a:r>
          </a:p>
        </p:txBody>
      </p:sp>
      <p:sp>
        <p:nvSpPr>
          <p:cNvPr id="10" name="TextBox 9"/>
          <p:cNvSpPr txBox="1"/>
          <p:nvPr/>
        </p:nvSpPr>
        <p:spPr>
          <a:xfrm>
            <a:off x="8778240" y="1810512"/>
            <a:ext cx="3657600" cy="228600"/>
          </a:xfrm>
          <a:prstGeom prst="rect">
            <a:avLst/>
          </a:prstGeom>
          <a:noFill/>
        </p:spPr>
        <p:txBody>
          <a:bodyPr wrap="square" lIns="0" rIns="0" tIns="0" bIns="0">
            <a:spAutoFit/>
          </a:bodyPr>
          <a:lstStyle/>
          <a:p>
            <a:pPr>
              <a:lnSpc>
                <a:spcPct val="113000"/>
              </a:lnSpc>
              <a:spcAft>
                <a:spcPts val="300"/>
              </a:spcAft>
            </a:pPr>
            <a:r>
              <a:rPr sz="1100" b="1">
                <a:solidFill>
                  <a:srgbClr val="2164A5"/>
                </a:solidFill>
                <a:latin typeface="Noto Sans CJK JP"/>
                <a:ea typeface="Noto Sans CJK JP"/>
              </a:rPr>
              <a:t>OEMへの影響（以下は分析上の推論）</a:t>
            </a:r>
          </a:p>
        </p:txBody>
      </p:sp>
      <p:sp>
        <p:nvSpPr>
          <p:cNvPr id="11" name="Rectangle 10"/>
          <p:cNvSpPr/>
          <p:nvPr/>
        </p:nvSpPr>
        <p:spPr>
          <a:xfrm>
            <a:off x="548640" y="2048256"/>
            <a:ext cx="7863840" cy="969264"/>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641080" y="2048256"/>
            <a:ext cx="3840480" cy="969264"/>
          </a:xfrm>
          <a:prstGeom prst="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 y="2130552"/>
            <a:ext cx="7498079" cy="265176"/>
          </a:xfrm>
          <a:prstGeom prst="rect">
            <a:avLst/>
          </a:prstGeom>
          <a:noFill/>
        </p:spPr>
        <p:txBody>
          <a:bodyPr wrap="square" lIns="0" rIns="0" tIns="0" bIns="0">
            <a:spAutoFit/>
          </a:bodyPr>
          <a:lstStyle/>
          <a:p>
            <a:pPr>
              <a:lnSpc>
                <a:spcPct val="113000"/>
              </a:lnSpc>
              <a:spcAft>
                <a:spcPts val="300"/>
              </a:spcAft>
            </a:pPr>
            <a:r>
              <a:rPr sz="1600" b="1">
                <a:solidFill>
                  <a:srgbClr val="007F82"/>
                </a:solidFill>
                <a:latin typeface="Noto Sans CJK JP"/>
                <a:ea typeface="Noto Sans CJK JP"/>
              </a:rPr>
              <a:t>2026年4月1日：BEV特別物品税5％ [1]</a:t>
            </a:r>
          </a:p>
        </p:txBody>
      </p:sp>
      <p:sp>
        <p:nvSpPr>
          <p:cNvPr id="14" name="TextBox 13"/>
          <p:cNvSpPr txBox="1"/>
          <p:nvPr/>
        </p:nvSpPr>
        <p:spPr>
          <a:xfrm>
            <a:off x="713232" y="2423160"/>
            <a:ext cx="7498079" cy="594360"/>
          </a:xfrm>
          <a:prstGeom prst="rect">
            <a:avLst/>
          </a:prstGeom>
          <a:noFill/>
        </p:spPr>
        <p:txBody>
          <a:bodyPr wrap="square" lIns="0" rIns="0" tIns="0" bIns="0">
            <a:spAutoFit/>
          </a:bodyPr>
          <a:lstStyle/>
          <a:p>
            <a:pPr>
              <a:lnSpc>
                <a:spcPct val="113000"/>
              </a:lnSpc>
              <a:spcAft>
                <a:spcPts val="300"/>
              </a:spcAft>
            </a:pPr>
            <a:r>
              <a:rPr sz="1400" b="0">
                <a:solidFill>
                  <a:srgbClr val="172B4D"/>
                </a:solidFill>
                <a:latin typeface="Noto Sans CJK JP"/>
                <a:ea typeface="Noto Sans CJK JP"/>
              </a:rPr>
              <a:t>2026 Union Tax Lawについて情報省が公表。輸入BEVのlanded valueに5％の特別物品税。従来の免除から変更。関税・商業税と別の税目。</a:t>
            </a:r>
          </a:p>
        </p:txBody>
      </p:sp>
      <p:sp>
        <p:nvSpPr>
          <p:cNvPr id="15" name="TextBox 14"/>
          <p:cNvSpPr txBox="1"/>
          <p:nvPr/>
        </p:nvSpPr>
        <p:spPr>
          <a:xfrm>
            <a:off x="8796528" y="2121408"/>
            <a:ext cx="3566160" cy="274320"/>
          </a:xfrm>
          <a:prstGeom prst="rect">
            <a:avLst/>
          </a:prstGeom>
          <a:noFill/>
        </p:spPr>
        <p:txBody>
          <a:bodyPr wrap="square" lIns="0" rIns="0" tIns="0" bIns="0">
            <a:spAutoFit/>
          </a:bodyPr>
          <a:lstStyle/>
          <a:p>
            <a:pPr>
              <a:lnSpc>
                <a:spcPct val="113000"/>
              </a:lnSpc>
              <a:spcAft>
                <a:spcPts val="300"/>
              </a:spcAft>
            </a:pPr>
            <a:r>
              <a:rPr sz="1350" b="1">
                <a:solidFill>
                  <a:srgbClr val="2164A5"/>
                </a:solidFill>
                <a:latin typeface="Noto Sans CJK JP"/>
                <a:ea typeface="Noto Sans CJK JP"/>
              </a:rPr>
              <a:t>中国系BEVの輸入OEM</a:t>
            </a:r>
          </a:p>
        </p:txBody>
      </p:sp>
      <p:sp>
        <p:nvSpPr>
          <p:cNvPr id="16" name="TextBox 15"/>
          <p:cNvSpPr txBox="1"/>
          <p:nvPr/>
        </p:nvSpPr>
        <p:spPr>
          <a:xfrm>
            <a:off x="8796528" y="2377440"/>
            <a:ext cx="3511296" cy="630936"/>
          </a:xfrm>
          <a:prstGeom prst="rect">
            <a:avLst/>
          </a:prstGeom>
          <a:noFill/>
        </p:spPr>
        <p:txBody>
          <a:bodyPr wrap="square" lIns="0" rIns="0" tIns="0" bIns="0">
            <a:spAutoFit/>
          </a:bodyPr>
          <a:lstStyle/>
          <a:p>
            <a:pPr>
              <a:lnSpc>
                <a:spcPct val="113000"/>
              </a:lnSpc>
              <a:spcAft>
                <a:spcPts val="300"/>
              </a:spcAft>
            </a:pPr>
            <a:r>
              <a:rPr sz="1250" b="0">
                <a:solidFill>
                  <a:srgbClr val="172B4D"/>
                </a:solidFill>
                <a:latin typeface="Noto Sans CJK JP"/>
                <a:ea typeface="Noto Sans CJK JP"/>
              </a:rPr>
              <a:t>税負担増と輸入承認が初速を左右する。納車停止を製品の人気低下と誤認しない。</a:t>
            </a:r>
          </a:p>
        </p:txBody>
      </p:sp>
      <p:sp>
        <p:nvSpPr>
          <p:cNvPr id="17" name="Rectangle 16"/>
          <p:cNvSpPr/>
          <p:nvPr/>
        </p:nvSpPr>
        <p:spPr>
          <a:xfrm>
            <a:off x="548640" y="3072384"/>
            <a:ext cx="7863840" cy="969264"/>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641080" y="3072384"/>
            <a:ext cx="3840480" cy="969264"/>
          </a:xfrm>
          <a:prstGeom prst="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3232" y="3154680"/>
            <a:ext cx="7498079" cy="265176"/>
          </a:xfrm>
          <a:prstGeom prst="rect">
            <a:avLst/>
          </a:prstGeom>
          <a:noFill/>
        </p:spPr>
        <p:txBody>
          <a:bodyPr wrap="square" lIns="0" rIns="0" tIns="0" bIns="0">
            <a:spAutoFit/>
          </a:bodyPr>
          <a:lstStyle/>
          <a:p>
            <a:pPr>
              <a:lnSpc>
                <a:spcPct val="113000"/>
              </a:lnSpc>
              <a:spcAft>
                <a:spcPts val="300"/>
              </a:spcAft>
            </a:pPr>
            <a:r>
              <a:rPr sz="1600" b="1">
                <a:solidFill>
                  <a:srgbClr val="007F82"/>
                </a:solidFill>
                <a:latin typeface="Noto Sans CJK JP"/>
                <a:ea typeface="Noto Sans CJK JP"/>
              </a:rPr>
              <a:t>旧車抹消とEVの交換輸入を公表 [2]</a:t>
            </a:r>
          </a:p>
        </p:txBody>
      </p:sp>
      <p:sp>
        <p:nvSpPr>
          <p:cNvPr id="20" name="TextBox 19"/>
          <p:cNvSpPr txBox="1"/>
          <p:nvPr/>
        </p:nvSpPr>
        <p:spPr>
          <a:xfrm>
            <a:off x="713232" y="3447288"/>
            <a:ext cx="7498079" cy="594360"/>
          </a:xfrm>
          <a:prstGeom prst="rect">
            <a:avLst/>
          </a:prstGeom>
          <a:noFill/>
        </p:spPr>
        <p:txBody>
          <a:bodyPr wrap="square" lIns="0" rIns="0" tIns="0" bIns="0">
            <a:spAutoFit/>
          </a:bodyPr>
          <a:lstStyle/>
          <a:p>
            <a:pPr>
              <a:lnSpc>
                <a:spcPct val="113000"/>
              </a:lnSpc>
              <a:spcAft>
                <a:spcPts val="300"/>
              </a:spcAft>
            </a:pPr>
            <a:r>
              <a:rPr sz="1400" b="0">
                <a:solidFill>
                  <a:srgbClr val="172B4D"/>
                </a:solidFill>
                <a:latin typeface="Noto Sans CJK JP"/>
                <a:ea typeface="Noto Sans CJK JP"/>
              </a:rPr>
              <a:t>2026年5月の商業省発表：旧車の登録抹消証明Form(d)等を提出し、委員会審査を経てEV1台を輸入。必要外貨は中央銀行が承認後に販売する仕組み。</a:t>
            </a:r>
          </a:p>
        </p:txBody>
      </p:sp>
      <p:sp>
        <p:nvSpPr>
          <p:cNvPr id="21" name="TextBox 20"/>
          <p:cNvSpPr txBox="1"/>
          <p:nvPr/>
        </p:nvSpPr>
        <p:spPr>
          <a:xfrm>
            <a:off x="8796528" y="3145536"/>
            <a:ext cx="3566160" cy="274320"/>
          </a:xfrm>
          <a:prstGeom prst="rect">
            <a:avLst/>
          </a:prstGeom>
          <a:noFill/>
        </p:spPr>
        <p:txBody>
          <a:bodyPr wrap="square" lIns="0" rIns="0" tIns="0" bIns="0">
            <a:spAutoFit/>
          </a:bodyPr>
          <a:lstStyle/>
          <a:p>
            <a:pPr>
              <a:lnSpc>
                <a:spcPct val="113000"/>
              </a:lnSpc>
              <a:spcAft>
                <a:spcPts val="300"/>
              </a:spcAft>
            </a:pPr>
            <a:r>
              <a:rPr sz="1350" b="1">
                <a:solidFill>
                  <a:srgbClr val="2164A5"/>
                </a:solidFill>
                <a:latin typeface="Noto Sans CJK JP"/>
                <a:ea typeface="Noto Sans CJK JP"/>
              </a:rPr>
              <a:t>買替え対応のOEM・代理店</a:t>
            </a:r>
          </a:p>
        </p:txBody>
      </p:sp>
      <p:sp>
        <p:nvSpPr>
          <p:cNvPr id="22" name="TextBox 21"/>
          <p:cNvSpPr txBox="1"/>
          <p:nvPr/>
        </p:nvSpPr>
        <p:spPr>
          <a:xfrm>
            <a:off x="8796528" y="3401568"/>
            <a:ext cx="3511296" cy="630936"/>
          </a:xfrm>
          <a:prstGeom prst="rect">
            <a:avLst/>
          </a:prstGeom>
          <a:noFill/>
        </p:spPr>
        <p:txBody>
          <a:bodyPr wrap="square" lIns="0" rIns="0" tIns="0" bIns="0">
            <a:spAutoFit/>
          </a:bodyPr>
          <a:lstStyle/>
          <a:p>
            <a:pPr>
              <a:lnSpc>
                <a:spcPct val="113000"/>
              </a:lnSpc>
              <a:spcAft>
                <a:spcPts val="300"/>
              </a:spcAft>
            </a:pPr>
            <a:r>
              <a:rPr sz="1250" b="0">
                <a:solidFill>
                  <a:srgbClr val="172B4D"/>
                </a:solidFill>
                <a:latin typeface="Noto Sans CJK JP"/>
                <a:ea typeface="Noto Sans CJK JP"/>
              </a:rPr>
              <a:t>抹消証明・委員会承認の導線が新規需要の条件。旧車1台との交換枠を一般販売全体に適用しない。</a:t>
            </a:r>
          </a:p>
        </p:txBody>
      </p:sp>
      <p:sp>
        <p:nvSpPr>
          <p:cNvPr id="23" name="Rectangle 22"/>
          <p:cNvSpPr/>
          <p:nvPr/>
        </p:nvSpPr>
        <p:spPr>
          <a:xfrm>
            <a:off x="548640" y="4096512"/>
            <a:ext cx="7863840" cy="969264"/>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641080" y="4096512"/>
            <a:ext cx="3840480" cy="969264"/>
          </a:xfrm>
          <a:prstGeom prst="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3232" y="4178808"/>
            <a:ext cx="7498079" cy="265176"/>
          </a:xfrm>
          <a:prstGeom prst="rect">
            <a:avLst/>
          </a:prstGeom>
          <a:noFill/>
        </p:spPr>
        <p:txBody>
          <a:bodyPr wrap="square" lIns="0" rIns="0" tIns="0" bIns="0">
            <a:spAutoFit/>
          </a:bodyPr>
          <a:lstStyle/>
          <a:p>
            <a:pPr>
              <a:lnSpc>
                <a:spcPct val="113000"/>
              </a:lnSpc>
              <a:spcAft>
                <a:spcPts val="300"/>
              </a:spcAft>
            </a:pPr>
            <a:r>
              <a:rPr sz="1600" b="1">
                <a:solidFill>
                  <a:srgbClr val="007F82"/>
                </a:solidFill>
                <a:latin typeface="Noto Sans CJK JP"/>
                <a:ea typeface="Noto Sans CJK JP"/>
              </a:rPr>
              <a:t>旧パイロットと販売拠点登録 [3]</a:t>
            </a:r>
          </a:p>
        </p:txBody>
      </p:sp>
      <p:sp>
        <p:nvSpPr>
          <p:cNvPr id="26" name="TextBox 25"/>
          <p:cNvSpPr txBox="1"/>
          <p:nvPr/>
        </p:nvSpPr>
        <p:spPr>
          <a:xfrm>
            <a:off x="713232" y="4471416"/>
            <a:ext cx="7498079" cy="594360"/>
          </a:xfrm>
          <a:prstGeom prst="rect">
            <a:avLst/>
          </a:prstGeom>
          <a:noFill/>
        </p:spPr>
        <p:txBody>
          <a:bodyPr wrap="square" lIns="0" rIns="0" tIns="0" bIns="0">
            <a:spAutoFit/>
          </a:bodyPr>
          <a:lstStyle/>
          <a:p>
            <a:pPr>
              <a:lnSpc>
                <a:spcPct val="113000"/>
              </a:lnSpc>
              <a:spcAft>
                <a:spcPts val="300"/>
              </a:spcAft>
            </a:pPr>
            <a:r>
              <a:rPr sz="1400" b="0">
                <a:solidFill>
                  <a:srgbClr val="172B4D"/>
                </a:solidFill>
                <a:latin typeface="Noto Sans CJK JP"/>
                <a:ea typeface="Noto Sans CJK JP"/>
              </a:rPr>
              <a:t>Notification40/2025はEV輸入パイロットの規則。2026年度までの自動継続を前提にしない。現行承認・輸入ライセンス・保証条件を個社確認する。</a:t>
            </a:r>
          </a:p>
        </p:txBody>
      </p:sp>
      <p:sp>
        <p:nvSpPr>
          <p:cNvPr id="27" name="TextBox 26"/>
          <p:cNvSpPr txBox="1"/>
          <p:nvPr/>
        </p:nvSpPr>
        <p:spPr>
          <a:xfrm>
            <a:off x="8796528" y="4169664"/>
            <a:ext cx="3566160" cy="274320"/>
          </a:xfrm>
          <a:prstGeom prst="rect">
            <a:avLst/>
          </a:prstGeom>
          <a:noFill/>
        </p:spPr>
        <p:txBody>
          <a:bodyPr wrap="square" lIns="0" rIns="0" tIns="0" bIns="0">
            <a:spAutoFit/>
          </a:bodyPr>
          <a:lstStyle/>
          <a:p>
            <a:pPr>
              <a:lnSpc>
                <a:spcPct val="113000"/>
              </a:lnSpc>
              <a:spcAft>
                <a:spcPts val="300"/>
              </a:spcAft>
            </a:pPr>
            <a:r>
              <a:rPr sz="1350" b="1">
                <a:solidFill>
                  <a:srgbClr val="2164A5"/>
                </a:solidFill>
                <a:latin typeface="Noto Sans CJK JP"/>
                <a:ea typeface="Noto Sans CJK JP"/>
              </a:rPr>
              <a:t>全OEM</a:t>
            </a:r>
          </a:p>
        </p:txBody>
      </p:sp>
      <p:sp>
        <p:nvSpPr>
          <p:cNvPr id="28" name="TextBox 27"/>
          <p:cNvSpPr txBox="1"/>
          <p:nvPr/>
        </p:nvSpPr>
        <p:spPr>
          <a:xfrm>
            <a:off x="8796528" y="4425696"/>
            <a:ext cx="3511296" cy="630936"/>
          </a:xfrm>
          <a:prstGeom prst="rect">
            <a:avLst/>
          </a:prstGeom>
          <a:noFill/>
        </p:spPr>
        <p:txBody>
          <a:bodyPr wrap="square" lIns="0" rIns="0" tIns="0" bIns="0">
            <a:spAutoFit/>
          </a:bodyPr>
          <a:lstStyle/>
          <a:p>
            <a:pPr>
              <a:lnSpc>
                <a:spcPct val="113000"/>
              </a:lnSpc>
              <a:spcAft>
                <a:spcPts val="300"/>
              </a:spcAft>
            </a:pPr>
            <a:r>
              <a:rPr sz="1250" b="0">
                <a:solidFill>
                  <a:srgbClr val="172B4D"/>
                </a:solidFill>
                <a:latin typeface="Noto Sans CJK JP"/>
                <a:ea typeface="Noto Sans CJK JP"/>
              </a:rPr>
              <a:t>外貨割当と実際の輸入・納車時期を確認。月次台数の段差はκ・λより供給ショックの可能性。</a:t>
            </a:r>
          </a:p>
        </p:txBody>
      </p:sp>
      <p:sp>
        <p:nvSpPr>
          <p:cNvPr id="29" name="TextBox 28"/>
          <p:cNvSpPr txBox="1"/>
          <p:nvPr/>
        </p:nvSpPr>
        <p:spPr>
          <a:xfrm>
            <a:off x="594360" y="5157216"/>
            <a:ext cx="11814048" cy="320040"/>
          </a:xfrm>
          <a:prstGeom prst="rect">
            <a:avLst/>
          </a:prstGeom>
          <a:noFill/>
        </p:spPr>
        <p:txBody>
          <a:bodyPr wrap="square" lIns="0" rIns="0" tIns="0" bIns="0">
            <a:spAutoFit/>
          </a:bodyPr>
          <a:lstStyle/>
          <a:p>
            <a:pPr>
              <a:lnSpc>
                <a:spcPct val="113000"/>
              </a:lnSpc>
              <a:spcAft>
                <a:spcPts val="300"/>
              </a:spcAft>
            </a:pPr>
            <a:r>
              <a:rPr sz="1080" b="0">
                <a:solidFill>
                  <a:srgbClr val="B57A14"/>
                </a:solidFill>
                <a:latin typeface="Noto Sans CJK JP"/>
                <a:ea typeface="Noto Sans CJK JP"/>
              </a:rPr>
              <a:t>確認限界：5％は特別物品税のみ。2025パイロットの保証額や期限を現行条件として断定しない。</a:t>
            </a:r>
          </a:p>
        </p:txBody>
      </p:sp>
      <p:sp>
        <p:nvSpPr>
          <p:cNvPr id="30" name="TextBox 29"/>
          <p:cNvSpPr txBox="1"/>
          <p:nvPr/>
        </p:nvSpPr>
        <p:spPr>
          <a:xfrm>
            <a:off x="548640" y="5504688"/>
            <a:ext cx="11887200" cy="182880"/>
          </a:xfrm>
          <a:prstGeom prst="rect">
            <a:avLst/>
          </a:prstGeom>
          <a:noFill/>
        </p:spPr>
        <p:txBody>
          <a:bodyPr wrap="square" lIns="0" rIns="0" tIns="0" bIns="0">
            <a:spAutoFit/>
          </a:bodyPr>
          <a:lstStyle/>
          <a:p>
            <a:pPr>
              <a:lnSpc>
                <a:spcPct val="113000"/>
              </a:lnSpc>
              <a:spcAft>
                <a:spcPts val="300"/>
              </a:spcAft>
            </a:pPr>
            <a:r>
              <a:rPr sz="930" b="1">
                <a:solidFill>
                  <a:srgbClr val="56677C"/>
                </a:solidFill>
                <a:latin typeface="Noto Sans CJK JP"/>
                <a:ea typeface="Noto Sans CJK JP"/>
              </a:rPr>
              <a:t>一次情報｜番号は制度欄に対応。URLをクリックして原文を開く。</a:t>
            </a:r>
          </a:p>
        </p:txBody>
      </p:sp>
      <p:sp>
        <p:nvSpPr>
          <p:cNvPr id="31" name="TextBox 30"/>
          <p:cNvSpPr txBox="1"/>
          <p:nvPr/>
        </p:nvSpPr>
        <p:spPr>
          <a:xfrm>
            <a:off x="548640" y="5724144"/>
            <a:ext cx="3429000" cy="274320"/>
          </a:xfrm>
          <a:prstGeom prst="rect">
            <a:avLst/>
          </a:prstGeom>
          <a:noFill/>
        </p:spPr>
        <p:txBody>
          <a:bodyPr wrap="square" lIns="0" rIns="0" tIns="0" bIns="0">
            <a:spAutoFit/>
          </a:bodyPr>
          <a:lstStyle/>
          <a:p>
            <a:pPr>
              <a:lnSpc>
                <a:spcPct val="113000"/>
              </a:lnSpc>
              <a:spcAft>
                <a:spcPts val="300"/>
              </a:spcAft>
            </a:pPr>
            <a:r>
              <a:rPr sz="960" b="1">
                <a:solidFill>
                  <a:srgbClr val="56677C"/>
                </a:solidFill>
                <a:latin typeface="Noto Sans CJK JP"/>
                <a:ea typeface="Noto Sans CJK JP"/>
              </a:rPr>
              <a:t>[1] 情報省｜2026年税法の説明</a:t>
            </a:r>
          </a:p>
        </p:txBody>
      </p:sp>
      <p:sp>
        <p:nvSpPr>
          <p:cNvPr id="32" name="TextBox 31"/>
          <p:cNvSpPr txBox="1"/>
          <p:nvPr/>
        </p:nvSpPr>
        <p:spPr>
          <a:xfrm>
            <a:off x="4023360" y="5724144"/>
            <a:ext cx="8412480" cy="420624"/>
          </a:xfrm>
          <a:prstGeom prst="rect">
            <a:avLst/>
          </a:prstGeom>
          <a:noFill/>
        </p:spPr>
        <p:txBody>
          <a:bodyPr wrap="square" lIns="0" rIns="0" tIns="0" bIns="0">
            <a:spAutoFit/>
          </a:bodyPr>
          <a:lstStyle/>
          <a:p>
            <a:pPr>
              <a:lnSpc>
                <a:spcPct val="113000"/>
              </a:lnSpc>
              <a:spcAft>
                <a:spcPts val="300"/>
              </a:spcAft>
            </a:pPr>
            <a:r>
              <a:rPr sz="940" b="0">
                <a:solidFill>
                  <a:srgbClr val="2164A5"/>
                </a:solidFill>
                <a:latin typeface="Noto Sans CJK JP"/>
                <a:ea typeface="Noto Sans CJK JP"/>
                <a:hlinkClick r:id="rId2"/>
              </a:rPr>
              <a:t>https://www.moi.gov.mm/moi:eng/news/20521</a:t>
            </a:r>
          </a:p>
        </p:txBody>
      </p:sp>
      <p:sp>
        <p:nvSpPr>
          <p:cNvPr id="33" name="TextBox 32"/>
          <p:cNvSpPr txBox="1"/>
          <p:nvPr/>
        </p:nvSpPr>
        <p:spPr>
          <a:xfrm>
            <a:off x="548640" y="6153912"/>
            <a:ext cx="3429000" cy="274320"/>
          </a:xfrm>
          <a:prstGeom prst="rect">
            <a:avLst/>
          </a:prstGeom>
          <a:noFill/>
        </p:spPr>
        <p:txBody>
          <a:bodyPr wrap="square" lIns="0" rIns="0" tIns="0" bIns="0">
            <a:spAutoFit/>
          </a:bodyPr>
          <a:lstStyle/>
          <a:p>
            <a:pPr>
              <a:lnSpc>
                <a:spcPct val="113000"/>
              </a:lnSpc>
              <a:spcAft>
                <a:spcPts val="300"/>
              </a:spcAft>
            </a:pPr>
            <a:r>
              <a:rPr sz="960" b="1">
                <a:solidFill>
                  <a:srgbClr val="56677C"/>
                </a:solidFill>
                <a:latin typeface="Noto Sans CJK JP"/>
                <a:ea typeface="Noto Sans CJK JP"/>
              </a:rPr>
              <a:t>[2] 情報省/商業省｜交換輸入 2026-05-29</a:t>
            </a:r>
          </a:p>
        </p:txBody>
      </p:sp>
      <p:sp>
        <p:nvSpPr>
          <p:cNvPr id="34" name="TextBox 33"/>
          <p:cNvSpPr txBox="1"/>
          <p:nvPr/>
        </p:nvSpPr>
        <p:spPr>
          <a:xfrm>
            <a:off x="4023360" y="6153912"/>
            <a:ext cx="8412480" cy="420624"/>
          </a:xfrm>
          <a:prstGeom prst="rect">
            <a:avLst/>
          </a:prstGeom>
          <a:noFill/>
        </p:spPr>
        <p:txBody>
          <a:bodyPr wrap="square" lIns="0" rIns="0" tIns="0" bIns="0">
            <a:spAutoFit/>
          </a:bodyPr>
          <a:lstStyle/>
          <a:p>
            <a:pPr>
              <a:lnSpc>
                <a:spcPct val="113000"/>
              </a:lnSpc>
              <a:spcAft>
                <a:spcPts val="300"/>
              </a:spcAft>
            </a:pPr>
            <a:r>
              <a:rPr sz="940" b="0">
                <a:solidFill>
                  <a:srgbClr val="2164A5"/>
                </a:solidFill>
                <a:latin typeface="Noto Sans CJK JP"/>
                <a:ea typeface="Noto Sans CJK JP"/>
                <a:hlinkClick r:id="rId3"/>
              </a:rPr>
              <a:t>https://www.moi.gov.mm/moi:eng/news/21101</a:t>
            </a:r>
          </a:p>
        </p:txBody>
      </p:sp>
      <p:sp>
        <p:nvSpPr>
          <p:cNvPr id="35" name="TextBox 34"/>
          <p:cNvSpPr txBox="1"/>
          <p:nvPr/>
        </p:nvSpPr>
        <p:spPr>
          <a:xfrm>
            <a:off x="548640" y="6583679"/>
            <a:ext cx="3429000" cy="274320"/>
          </a:xfrm>
          <a:prstGeom prst="rect">
            <a:avLst/>
          </a:prstGeom>
          <a:noFill/>
        </p:spPr>
        <p:txBody>
          <a:bodyPr wrap="square" lIns="0" rIns="0" tIns="0" bIns="0">
            <a:spAutoFit/>
          </a:bodyPr>
          <a:lstStyle/>
          <a:p>
            <a:pPr>
              <a:lnSpc>
                <a:spcPct val="113000"/>
              </a:lnSpc>
              <a:spcAft>
                <a:spcPts val="300"/>
              </a:spcAft>
            </a:pPr>
            <a:r>
              <a:rPr sz="960" b="1">
                <a:solidFill>
                  <a:srgbClr val="56677C"/>
                </a:solidFill>
                <a:latin typeface="Noto Sans CJK JP"/>
                <a:ea typeface="Noto Sans CJK JP"/>
              </a:rPr>
              <a:t>[3] 商業省｜Notification40/2025</a:t>
            </a:r>
          </a:p>
        </p:txBody>
      </p:sp>
      <p:sp>
        <p:nvSpPr>
          <p:cNvPr id="36" name="TextBox 35"/>
          <p:cNvSpPr txBox="1"/>
          <p:nvPr/>
        </p:nvSpPr>
        <p:spPr>
          <a:xfrm>
            <a:off x="4023360" y="6583679"/>
            <a:ext cx="8412480" cy="420624"/>
          </a:xfrm>
          <a:prstGeom prst="rect">
            <a:avLst/>
          </a:prstGeom>
          <a:noFill/>
        </p:spPr>
        <p:txBody>
          <a:bodyPr wrap="square" lIns="0" rIns="0" tIns="0" bIns="0">
            <a:spAutoFit/>
          </a:bodyPr>
          <a:lstStyle/>
          <a:p>
            <a:pPr>
              <a:lnSpc>
                <a:spcPct val="113000"/>
              </a:lnSpc>
              <a:spcAft>
                <a:spcPts val="300"/>
              </a:spcAft>
            </a:pPr>
            <a:r>
              <a:rPr sz="940" b="0">
                <a:solidFill>
                  <a:srgbClr val="2164A5"/>
                </a:solidFill>
                <a:latin typeface="Noto Sans CJK JP"/>
                <a:ea typeface="Noto Sans CJK JP"/>
                <a:hlinkClick r:id="rId4"/>
              </a:rPr>
              <a:t>https://myanmartradeportal.gov.mm/en/legal/521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3004596" cy="118872"/>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972800" cy="228600"/>
          </a:xfrm>
          <a:prstGeom prst="rect">
            <a:avLst/>
          </a:prstGeom>
          <a:noFill/>
        </p:spPr>
        <p:txBody>
          <a:bodyPr wrap="square" lIns="0" rIns="0" tIns="0" bIns="0">
            <a:spAutoFit/>
          </a:bodyPr>
          <a:lstStyle/>
          <a:p>
            <a:pPr>
              <a:lnSpc>
                <a:spcPct val="113000"/>
              </a:lnSpc>
              <a:spcAft>
                <a:spcPts val="300"/>
              </a:spcAft>
            </a:pPr>
            <a:r>
              <a:rPr sz="1000" b="1">
                <a:solidFill>
                  <a:srgbClr val="007F82"/>
                </a:solidFill>
                <a:latin typeface="Noto Sans CJK JP"/>
                <a:ea typeface="Noto Sans CJK JP"/>
              </a:rPr>
              <a:t>BRUNEI</a:t>
            </a:r>
          </a:p>
        </p:txBody>
      </p:sp>
      <p:sp>
        <p:nvSpPr>
          <p:cNvPr id="4" name="TextBox 3"/>
          <p:cNvSpPr txBox="1"/>
          <p:nvPr/>
        </p:nvSpPr>
        <p:spPr>
          <a:xfrm>
            <a:off x="502920" y="685800"/>
            <a:ext cx="12024360" cy="566928"/>
          </a:xfrm>
          <a:prstGeom prst="rect">
            <a:avLst/>
          </a:prstGeom>
          <a:noFill/>
        </p:spPr>
        <p:txBody>
          <a:bodyPr wrap="square" lIns="0" rIns="0" tIns="0" bIns="0">
            <a:spAutoFit/>
          </a:bodyPr>
          <a:lstStyle/>
          <a:p>
            <a:pPr>
              <a:lnSpc>
                <a:spcPct val="113000"/>
              </a:lnSpc>
              <a:spcAft>
                <a:spcPts val="300"/>
              </a:spcAft>
            </a:pPr>
            <a:r>
              <a:rPr sz="2800" b="1">
                <a:solidFill>
                  <a:srgbClr val="172B4D"/>
                </a:solidFill>
                <a:latin typeface="Noto Sans CJK JP"/>
                <a:ea typeface="Noto Sans CJK JP"/>
              </a:rPr>
              <a:t>ブルネイ｜輸入手続に加え、燃料補助がBEVの価格訴求を弱め得る</a:t>
            </a:r>
          </a:p>
        </p:txBody>
      </p:sp>
      <p:sp>
        <p:nvSpPr>
          <p:cNvPr id="5" name="TextBox 4"/>
          <p:cNvSpPr txBox="1"/>
          <p:nvPr/>
        </p:nvSpPr>
        <p:spPr>
          <a:xfrm>
            <a:off x="502920" y="1335024"/>
            <a:ext cx="11978640" cy="438912"/>
          </a:xfrm>
          <a:prstGeom prst="rect">
            <a:avLst/>
          </a:prstGeom>
          <a:noFill/>
        </p:spPr>
        <p:txBody>
          <a:bodyPr wrap="square" lIns="0" rIns="0" tIns="0" bIns="0">
            <a:spAutoFit/>
          </a:bodyPr>
          <a:lstStyle/>
          <a:p>
            <a:pPr>
              <a:lnSpc>
                <a:spcPct val="113000"/>
              </a:lnSpc>
              <a:spcAft>
                <a:spcPts val="300"/>
              </a:spcAft>
            </a:pPr>
            <a:r>
              <a:rPr sz="1600" b="0">
                <a:solidFill>
                  <a:srgbClr val="56677C"/>
                </a:solidFill>
                <a:latin typeface="Noto Sans CJK JP"/>
                <a:ea typeface="Noto Sans CJK JP"/>
              </a:rPr>
              <a:t>現地登録車向けの燃料補助と、外国登録車向けの規制を区別する。</a:t>
            </a:r>
          </a:p>
        </p:txBody>
      </p:sp>
      <p:sp>
        <p:nvSpPr>
          <p:cNvPr id="6" name="Rectangle 5"/>
          <p:cNvSpPr/>
          <p:nvPr/>
        </p:nvSpPr>
        <p:spPr>
          <a:xfrm>
            <a:off x="502920" y="7114032"/>
            <a:ext cx="11978640" cy="10972"/>
          </a:xfrm>
          <a:prstGeom prst="rect">
            <a:avLst/>
          </a:prstGeom>
          <a:solidFill>
            <a:srgbClr val="D9E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7178040"/>
            <a:ext cx="10972800" cy="109728"/>
          </a:xfrm>
          <a:prstGeom prst="rect">
            <a:avLst/>
          </a:prstGeom>
          <a:noFill/>
        </p:spPr>
        <p:txBody>
          <a:bodyPr wrap="square" lIns="0" rIns="0" tIns="0" bIns="0">
            <a:spAutoFit/>
          </a:bodyPr>
          <a:lstStyle/>
          <a:p>
            <a:pPr>
              <a:lnSpc>
                <a:spcPct val="113000"/>
              </a:lnSpc>
              <a:spcAft>
                <a:spcPts val="300"/>
              </a:spcAft>
            </a:pPr>
            <a:r>
              <a:rPr sz="800" b="0">
                <a:solidFill>
                  <a:srgbClr val="56677C"/>
                </a:solidFill>
                <a:latin typeface="Noto Sans CJK JP"/>
                <a:ea typeface="Noto Sans CJK JP"/>
              </a:rPr>
              <a:t>東南アジア自動車制度｜公開一次情報の確認日：2026-10-06｜影響・矢印は分析仮説</a:t>
            </a:r>
          </a:p>
        </p:txBody>
      </p:sp>
      <p:sp>
        <p:nvSpPr>
          <p:cNvPr id="8" name="TextBox 7"/>
          <p:cNvSpPr txBox="1"/>
          <p:nvPr/>
        </p:nvSpPr>
        <p:spPr>
          <a:xfrm>
            <a:off x="12024360" y="7159752"/>
            <a:ext cx="457200" cy="137160"/>
          </a:xfrm>
          <a:prstGeom prst="rect">
            <a:avLst/>
          </a:prstGeom>
          <a:noFill/>
        </p:spPr>
        <p:txBody>
          <a:bodyPr wrap="square" lIns="0" rIns="0" tIns="0" bIns="0">
            <a:spAutoFit/>
          </a:bodyPr>
          <a:lstStyle/>
          <a:p>
            <a:pPr>
              <a:lnSpc>
                <a:spcPct val="113000"/>
              </a:lnSpc>
              <a:spcAft>
                <a:spcPts val="300"/>
              </a:spcAft>
            </a:pPr>
            <a:r>
              <a:rPr sz="900" b="0">
                <a:solidFill>
                  <a:srgbClr val="56677C"/>
                </a:solidFill>
                <a:latin typeface="Noto Sans CJK JP"/>
                <a:ea typeface="Noto Sans CJK JP"/>
              </a:rPr>
              <a:t>13</a:t>
            </a:r>
          </a:p>
        </p:txBody>
      </p:sp>
      <p:sp>
        <p:nvSpPr>
          <p:cNvPr id="9" name="TextBox 8"/>
          <p:cNvSpPr txBox="1"/>
          <p:nvPr/>
        </p:nvSpPr>
        <p:spPr>
          <a:xfrm>
            <a:off x="548640" y="1810512"/>
            <a:ext cx="7955279" cy="228600"/>
          </a:xfrm>
          <a:prstGeom prst="rect">
            <a:avLst/>
          </a:prstGeom>
          <a:noFill/>
        </p:spPr>
        <p:txBody>
          <a:bodyPr wrap="square" lIns="0" rIns="0" tIns="0" bIns="0">
            <a:spAutoFit/>
          </a:bodyPr>
          <a:lstStyle/>
          <a:p>
            <a:pPr>
              <a:lnSpc>
                <a:spcPct val="113000"/>
              </a:lnSpc>
              <a:spcAft>
                <a:spcPts val="300"/>
              </a:spcAft>
            </a:pPr>
            <a:r>
              <a:rPr sz="1100" b="1">
                <a:solidFill>
                  <a:srgbClr val="007F82"/>
                </a:solidFill>
                <a:latin typeface="Noto Sans CJK JP"/>
                <a:ea typeface="Noto Sans CJK JP"/>
              </a:rPr>
              <a:t>制度・対象・期間（政府／当局が公表した事実）</a:t>
            </a:r>
          </a:p>
        </p:txBody>
      </p:sp>
      <p:sp>
        <p:nvSpPr>
          <p:cNvPr id="10" name="TextBox 9"/>
          <p:cNvSpPr txBox="1"/>
          <p:nvPr/>
        </p:nvSpPr>
        <p:spPr>
          <a:xfrm>
            <a:off x="8778240" y="1810512"/>
            <a:ext cx="3657600" cy="228600"/>
          </a:xfrm>
          <a:prstGeom prst="rect">
            <a:avLst/>
          </a:prstGeom>
          <a:noFill/>
        </p:spPr>
        <p:txBody>
          <a:bodyPr wrap="square" lIns="0" rIns="0" tIns="0" bIns="0">
            <a:spAutoFit/>
          </a:bodyPr>
          <a:lstStyle/>
          <a:p>
            <a:pPr>
              <a:lnSpc>
                <a:spcPct val="113000"/>
              </a:lnSpc>
              <a:spcAft>
                <a:spcPts val="300"/>
              </a:spcAft>
            </a:pPr>
            <a:r>
              <a:rPr sz="1100" b="1">
                <a:solidFill>
                  <a:srgbClr val="2164A5"/>
                </a:solidFill>
                <a:latin typeface="Noto Sans CJK JP"/>
                <a:ea typeface="Noto Sans CJK JP"/>
              </a:rPr>
              <a:t>OEMへの影響（以下は分析上の推論）</a:t>
            </a:r>
          </a:p>
        </p:txBody>
      </p:sp>
      <p:sp>
        <p:nvSpPr>
          <p:cNvPr id="11" name="Rectangle 10"/>
          <p:cNvSpPr/>
          <p:nvPr/>
        </p:nvSpPr>
        <p:spPr>
          <a:xfrm>
            <a:off x="548640" y="2048256"/>
            <a:ext cx="7863840" cy="969264"/>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641080" y="2048256"/>
            <a:ext cx="3840480" cy="969264"/>
          </a:xfrm>
          <a:prstGeom prst="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 y="2130552"/>
            <a:ext cx="7498079" cy="265176"/>
          </a:xfrm>
          <a:prstGeom prst="rect">
            <a:avLst/>
          </a:prstGeom>
          <a:noFill/>
        </p:spPr>
        <p:txBody>
          <a:bodyPr wrap="square" lIns="0" rIns="0" tIns="0" bIns="0">
            <a:spAutoFit/>
          </a:bodyPr>
          <a:lstStyle/>
          <a:p>
            <a:pPr>
              <a:lnSpc>
                <a:spcPct val="113000"/>
              </a:lnSpc>
              <a:spcAft>
                <a:spcPts val="300"/>
              </a:spcAft>
            </a:pPr>
            <a:r>
              <a:rPr sz="1600" b="1">
                <a:solidFill>
                  <a:srgbClr val="007F82"/>
                </a:solidFill>
                <a:latin typeface="Noto Sans CJK JP"/>
                <a:ea typeface="Noto Sans CJK JP"/>
              </a:rPr>
              <a:t>輸入事業者の登録・通関手続 [1]</a:t>
            </a:r>
          </a:p>
        </p:txBody>
      </p:sp>
      <p:sp>
        <p:nvSpPr>
          <p:cNvPr id="14" name="TextBox 13"/>
          <p:cNvSpPr txBox="1"/>
          <p:nvPr/>
        </p:nvSpPr>
        <p:spPr>
          <a:xfrm>
            <a:off x="713232" y="2423160"/>
            <a:ext cx="7498079" cy="594360"/>
          </a:xfrm>
          <a:prstGeom prst="rect">
            <a:avLst/>
          </a:prstGeom>
          <a:noFill/>
        </p:spPr>
        <p:txBody>
          <a:bodyPr wrap="square" lIns="0" rIns="0" tIns="0" bIns="0">
            <a:spAutoFit/>
          </a:bodyPr>
          <a:lstStyle/>
          <a:p>
            <a:pPr>
              <a:lnSpc>
                <a:spcPct val="113000"/>
              </a:lnSpc>
              <a:spcAft>
                <a:spcPts val="300"/>
              </a:spcAft>
            </a:pPr>
            <a:r>
              <a:rPr sz="1400" b="0">
                <a:solidFill>
                  <a:srgbClr val="172B4D"/>
                </a:solidFill>
                <a:latin typeface="Noto Sans CJK JP"/>
                <a:ea typeface="Noto Sans CJK JP"/>
              </a:rPr>
              <a:t>企業はRCEDに登録または登録代理人を利用。到着前の輸入申告をBDNSWで行い、規制品には主管庁の許可を取得。税率は当該HS・税令で確認。</a:t>
            </a:r>
          </a:p>
        </p:txBody>
      </p:sp>
      <p:sp>
        <p:nvSpPr>
          <p:cNvPr id="15" name="TextBox 14"/>
          <p:cNvSpPr txBox="1"/>
          <p:nvPr/>
        </p:nvSpPr>
        <p:spPr>
          <a:xfrm>
            <a:off x="8796528" y="2121408"/>
            <a:ext cx="3566160" cy="274320"/>
          </a:xfrm>
          <a:prstGeom prst="rect">
            <a:avLst/>
          </a:prstGeom>
          <a:noFill/>
        </p:spPr>
        <p:txBody>
          <a:bodyPr wrap="square" lIns="0" rIns="0" tIns="0" bIns="0">
            <a:spAutoFit/>
          </a:bodyPr>
          <a:lstStyle/>
          <a:p>
            <a:pPr>
              <a:lnSpc>
                <a:spcPct val="113000"/>
              </a:lnSpc>
              <a:spcAft>
                <a:spcPts val="300"/>
              </a:spcAft>
            </a:pPr>
            <a:r>
              <a:rPr sz="1350" b="1">
                <a:solidFill>
                  <a:srgbClr val="2164A5"/>
                </a:solidFill>
                <a:latin typeface="Noto Sans CJK JP"/>
                <a:ea typeface="Noto Sans CJK JP"/>
              </a:rPr>
              <a:t>中国系BEVの輸入OEM</a:t>
            </a:r>
          </a:p>
        </p:txBody>
      </p:sp>
      <p:sp>
        <p:nvSpPr>
          <p:cNvPr id="16" name="TextBox 15"/>
          <p:cNvSpPr txBox="1"/>
          <p:nvPr/>
        </p:nvSpPr>
        <p:spPr>
          <a:xfrm>
            <a:off x="8796528" y="2377440"/>
            <a:ext cx="3511296" cy="630936"/>
          </a:xfrm>
          <a:prstGeom prst="rect">
            <a:avLst/>
          </a:prstGeom>
          <a:noFill/>
        </p:spPr>
        <p:txBody>
          <a:bodyPr wrap="square" lIns="0" rIns="0" tIns="0" bIns="0">
            <a:spAutoFit/>
          </a:bodyPr>
          <a:lstStyle/>
          <a:p>
            <a:pPr>
              <a:lnSpc>
                <a:spcPct val="113000"/>
              </a:lnSpc>
              <a:spcAft>
                <a:spcPts val="300"/>
              </a:spcAft>
            </a:pPr>
            <a:r>
              <a:rPr sz="1250" b="0">
                <a:solidFill>
                  <a:srgbClr val="172B4D"/>
                </a:solidFill>
                <a:latin typeface="Noto Sans CJK JP"/>
                <a:ea typeface="Noto Sans CJK JP"/>
              </a:rPr>
              <a:t>燃料費節約のみの訴求は弱まり得る。税・電気料金・保証を含む総保有コストで比較する。</a:t>
            </a:r>
          </a:p>
        </p:txBody>
      </p:sp>
      <p:sp>
        <p:nvSpPr>
          <p:cNvPr id="17" name="Rectangle 16"/>
          <p:cNvSpPr/>
          <p:nvPr/>
        </p:nvSpPr>
        <p:spPr>
          <a:xfrm>
            <a:off x="548640" y="3072384"/>
            <a:ext cx="7863840" cy="969264"/>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641080" y="3072384"/>
            <a:ext cx="3840480" cy="969264"/>
          </a:xfrm>
          <a:prstGeom prst="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3232" y="3154680"/>
            <a:ext cx="7498079" cy="265176"/>
          </a:xfrm>
          <a:prstGeom prst="rect">
            <a:avLst/>
          </a:prstGeom>
          <a:noFill/>
        </p:spPr>
        <p:txBody>
          <a:bodyPr wrap="square" lIns="0" rIns="0" tIns="0" bIns="0">
            <a:spAutoFit/>
          </a:bodyPr>
          <a:lstStyle/>
          <a:p>
            <a:pPr>
              <a:lnSpc>
                <a:spcPct val="113000"/>
              </a:lnSpc>
              <a:spcAft>
                <a:spcPts val="300"/>
              </a:spcAft>
            </a:pPr>
            <a:r>
              <a:rPr sz="1600" b="1">
                <a:solidFill>
                  <a:srgbClr val="007F82"/>
                </a:solidFill>
                <a:latin typeface="Noto Sans CJK JP"/>
                <a:ea typeface="Noto Sans CJK JP"/>
              </a:rPr>
              <a:t>燃料補助：国内向けの利用を保護 [2]</a:t>
            </a:r>
          </a:p>
        </p:txBody>
      </p:sp>
      <p:sp>
        <p:nvSpPr>
          <p:cNvPr id="20" name="TextBox 19"/>
          <p:cNvSpPr txBox="1"/>
          <p:nvPr/>
        </p:nvSpPr>
        <p:spPr>
          <a:xfrm>
            <a:off x="713232" y="3447288"/>
            <a:ext cx="7498079" cy="594360"/>
          </a:xfrm>
          <a:prstGeom prst="rect">
            <a:avLst/>
          </a:prstGeom>
          <a:noFill/>
        </p:spPr>
        <p:txBody>
          <a:bodyPr wrap="square" lIns="0" rIns="0" tIns="0" bIns="0">
            <a:spAutoFit/>
          </a:bodyPr>
          <a:lstStyle/>
          <a:p>
            <a:pPr>
              <a:lnSpc>
                <a:spcPct val="113000"/>
              </a:lnSpc>
              <a:spcAft>
                <a:spcPts val="300"/>
              </a:spcAft>
            </a:pPr>
            <a:r>
              <a:rPr sz="1400" b="0">
                <a:solidFill>
                  <a:srgbClr val="172B4D"/>
                </a:solidFill>
                <a:latin typeface="Noto Sans CJK JP"/>
                <a:ea typeface="Noto Sans CJK JP"/>
              </a:rPr>
              <a:t>エネルギー当局は2026年4月の措置を、補助燃料の国内用途を守るためと説明。燃料費がBEVの総保有コスト優位を左右する。</a:t>
            </a:r>
          </a:p>
        </p:txBody>
      </p:sp>
      <p:sp>
        <p:nvSpPr>
          <p:cNvPr id="21" name="TextBox 20"/>
          <p:cNvSpPr txBox="1"/>
          <p:nvPr/>
        </p:nvSpPr>
        <p:spPr>
          <a:xfrm>
            <a:off x="8796528" y="3145536"/>
            <a:ext cx="3566160" cy="274320"/>
          </a:xfrm>
          <a:prstGeom prst="rect">
            <a:avLst/>
          </a:prstGeom>
          <a:noFill/>
        </p:spPr>
        <p:txBody>
          <a:bodyPr wrap="square" lIns="0" rIns="0" tIns="0" bIns="0">
            <a:spAutoFit/>
          </a:bodyPr>
          <a:lstStyle/>
          <a:p>
            <a:pPr>
              <a:lnSpc>
                <a:spcPct val="113000"/>
              </a:lnSpc>
              <a:spcAft>
                <a:spcPts val="300"/>
              </a:spcAft>
            </a:pPr>
            <a:r>
              <a:rPr sz="1350" b="1">
                <a:solidFill>
                  <a:srgbClr val="2164A5"/>
                </a:solidFill>
                <a:latin typeface="Noto Sans CJK JP"/>
                <a:ea typeface="Noto Sans CJK JP"/>
              </a:rPr>
              <a:t>日系ICE・HEV OEM</a:t>
            </a:r>
          </a:p>
        </p:txBody>
      </p:sp>
      <p:sp>
        <p:nvSpPr>
          <p:cNvPr id="22" name="TextBox 21"/>
          <p:cNvSpPr txBox="1"/>
          <p:nvPr/>
        </p:nvSpPr>
        <p:spPr>
          <a:xfrm>
            <a:off x="8796528" y="3401568"/>
            <a:ext cx="3511296" cy="630936"/>
          </a:xfrm>
          <a:prstGeom prst="rect">
            <a:avLst/>
          </a:prstGeom>
          <a:noFill/>
        </p:spPr>
        <p:txBody>
          <a:bodyPr wrap="square" lIns="0" rIns="0" tIns="0" bIns="0">
            <a:spAutoFit/>
          </a:bodyPr>
          <a:lstStyle/>
          <a:p>
            <a:pPr>
              <a:lnSpc>
                <a:spcPct val="113000"/>
              </a:lnSpc>
              <a:spcAft>
                <a:spcPts val="300"/>
              </a:spcAft>
            </a:pPr>
            <a:r>
              <a:rPr sz="1250" b="0">
                <a:solidFill>
                  <a:srgbClr val="172B4D"/>
                </a:solidFill>
                <a:latin typeface="Noto Sans CJK JP"/>
                <a:ea typeface="Noto Sans CJK JP"/>
              </a:rPr>
              <a:t>安価な国内燃料は既存需要を支え得る。HEVの燃費優位も販売価格差次第で変わる。</a:t>
            </a:r>
          </a:p>
        </p:txBody>
      </p:sp>
      <p:sp>
        <p:nvSpPr>
          <p:cNvPr id="23" name="Rectangle 22"/>
          <p:cNvSpPr/>
          <p:nvPr/>
        </p:nvSpPr>
        <p:spPr>
          <a:xfrm>
            <a:off x="548640" y="4096512"/>
            <a:ext cx="7863840" cy="969264"/>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641080" y="4096512"/>
            <a:ext cx="3840480" cy="969264"/>
          </a:xfrm>
          <a:prstGeom prst="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3232" y="4178808"/>
            <a:ext cx="7498079" cy="265176"/>
          </a:xfrm>
          <a:prstGeom prst="rect">
            <a:avLst/>
          </a:prstGeom>
          <a:noFill/>
        </p:spPr>
        <p:txBody>
          <a:bodyPr wrap="square" lIns="0" rIns="0" tIns="0" bIns="0">
            <a:spAutoFit/>
          </a:bodyPr>
          <a:lstStyle/>
          <a:p>
            <a:pPr>
              <a:lnSpc>
                <a:spcPct val="113000"/>
              </a:lnSpc>
              <a:spcAft>
                <a:spcPts val="300"/>
              </a:spcAft>
            </a:pPr>
            <a:r>
              <a:rPr sz="1600" b="1">
                <a:solidFill>
                  <a:srgbClr val="007F82"/>
                </a:solidFill>
                <a:latin typeface="Noto Sans CJK JP"/>
                <a:ea typeface="Noto Sans CJK JP"/>
              </a:rPr>
              <a:t>外国登録車の給油・入国には別条件 [2]</a:t>
            </a:r>
          </a:p>
        </p:txBody>
      </p:sp>
      <p:sp>
        <p:nvSpPr>
          <p:cNvPr id="26" name="TextBox 25"/>
          <p:cNvSpPr txBox="1"/>
          <p:nvPr/>
        </p:nvSpPr>
        <p:spPr>
          <a:xfrm>
            <a:off x="713232" y="4471416"/>
            <a:ext cx="7498079" cy="594360"/>
          </a:xfrm>
          <a:prstGeom prst="rect">
            <a:avLst/>
          </a:prstGeom>
          <a:noFill/>
        </p:spPr>
        <p:txBody>
          <a:bodyPr wrap="square" lIns="0" rIns="0" tIns="0" bIns="0">
            <a:spAutoFit/>
          </a:bodyPr>
          <a:lstStyle/>
          <a:p>
            <a:pPr>
              <a:lnSpc>
                <a:spcPct val="113000"/>
              </a:lnSpc>
              <a:spcAft>
                <a:spcPts val="300"/>
              </a:spcAft>
            </a:pPr>
            <a:r>
              <a:rPr sz="1400" b="0">
                <a:solidFill>
                  <a:srgbClr val="172B4D"/>
                </a:solidFill>
                <a:latin typeface="Noto Sans CJK JP"/>
                <a:ea typeface="Noto Sans CJK JP"/>
              </a:rPr>
              <a:t>外国登録車は入国時に燃料タンク3/4以上が必要で、購入は市場価格のV-Power等に限定。国内の新車販売・登録にこの条件を転用しない。</a:t>
            </a:r>
          </a:p>
        </p:txBody>
      </p:sp>
      <p:sp>
        <p:nvSpPr>
          <p:cNvPr id="27" name="TextBox 26"/>
          <p:cNvSpPr txBox="1"/>
          <p:nvPr/>
        </p:nvSpPr>
        <p:spPr>
          <a:xfrm>
            <a:off x="8796528" y="4169664"/>
            <a:ext cx="3566160" cy="274320"/>
          </a:xfrm>
          <a:prstGeom prst="rect">
            <a:avLst/>
          </a:prstGeom>
          <a:noFill/>
        </p:spPr>
        <p:txBody>
          <a:bodyPr wrap="square" lIns="0" rIns="0" tIns="0" bIns="0">
            <a:spAutoFit/>
          </a:bodyPr>
          <a:lstStyle/>
          <a:p>
            <a:pPr>
              <a:lnSpc>
                <a:spcPct val="113000"/>
              </a:lnSpc>
              <a:spcAft>
                <a:spcPts val="300"/>
              </a:spcAft>
            </a:pPr>
            <a:r>
              <a:rPr sz="1350" b="1">
                <a:solidFill>
                  <a:srgbClr val="2164A5"/>
                </a:solidFill>
                <a:latin typeface="Noto Sans CJK JP"/>
                <a:ea typeface="Noto Sans CJK JP"/>
              </a:rPr>
              <a:t>全OEM・正規代理店</a:t>
            </a:r>
          </a:p>
        </p:txBody>
      </p:sp>
      <p:sp>
        <p:nvSpPr>
          <p:cNvPr id="28" name="TextBox 27"/>
          <p:cNvSpPr txBox="1"/>
          <p:nvPr/>
        </p:nvSpPr>
        <p:spPr>
          <a:xfrm>
            <a:off x="8796528" y="4425696"/>
            <a:ext cx="3511296" cy="630936"/>
          </a:xfrm>
          <a:prstGeom prst="rect">
            <a:avLst/>
          </a:prstGeom>
          <a:noFill/>
        </p:spPr>
        <p:txBody>
          <a:bodyPr wrap="square" lIns="0" rIns="0" tIns="0" bIns="0">
            <a:spAutoFit/>
          </a:bodyPr>
          <a:lstStyle/>
          <a:p>
            <a:pPr>
              <a:lnSpc>
                <a:spcPct val="113000"/>
              </a:lnSpc>
              <a:spcAft>
                <a:spcPts val="300"/>
              </a:spcAft>
            </a:pPr>
            <a:r>
              <a:rPr sz="1250" b="0">
                <a:solidFill>
                  <a:srgbClr val="172B4D"/>
                </a:solidFill>
                <a:latin typeface="Noto Sans CJK JP"/>
                <a:ea typeface="Noto Sans CJK JP"/>
              </a:rPr>
              <a:t>登録・型式・輸入手続の実務が必要。新規モデルの投入日と納車開始日の差を確認する。</a:t>
            </a:r>
          </a:p>
        </p:txBody>
      </p:sp>
      <p:sp>
        <p:nvSpPr>
          <p:cNvPr id="29" name="TextBox 28"/>
          <p:cNvSpPr txBox="1"/>
          <p:nvPr/>
        </p:nvSpPr>
        <p:spPr>
          <a:xfrm>
            <a:off x="594360" y="5157216"/>
            <a:ext cx="11814048" cy="320040"/>
          </a:xfrm>
          <a:prstGeom prst="rect">
            <a:avLst/>
          </a:prstGeom>
          <a:noFill/>
        </p:spPr>
        <p:txBody>
          <a:bodyPr wrap="square" lIns="0" rIns="0" tIns="0" bIns="0">
            <a:spAutoFit/>
          </a:bodyPr>
          <a:lstStyle/>
          <a:p>
            <a:pPr>
              <a:lnSpc>
                <a:spcPct val="113000"/>
              </a:lnSpc>
              <a:spcAft>
                <a:spcPts val="300"/>
              </a:spcAft>
            </a:pPr>
            <a:r>
              <a:rPr sz="1080" b="0">
                <a:solidFill>
                  <a:srgbClr val="B57A14"/>
                </a:solidFill>
                <a:latin typeface="Noto Sans CJK JP"/>
                <a:ea typeface="Noto Sans CJK JP"/>
              </a:rPr>
              <a:t>確認限界：本調査では現行の全車種EV税率を確定していない。EV優遇が存在しないという意味ではない。</a:t>
            </a:r>
          </a:p>
        </p:txBody>
      </p:sp>
      <p:sp>
        <p:nvSpPr>
          <p:cNvPr id="30" name="TextBox 29"/>
          <p:cNvSpPr txBox="1"/>
          <p:nvPr/>
        </p:nvSpPr>
        <p:spPr>
          <a:xfrm>
            <a:off x="548640" y="5504688"/>
            <a:ext cx="11887200" cy="182880"/>
          </a:xfrm>
          <a:prstGeom prst="rect">
            <a:avLst/>
          </a:prstGeom>
          <a:noFill/>
        </p:spPr>
        <p:txBody>
          <a:bodyPr wrap="square" lIns="0" rIns="0" tIns="0" bIns="0">
            <a:spAutoFit/>
          </a:bodyPr>
          <a:lstStyle/>
          <a:p>
            <a:pPr>
              <a:lnSpc>
                <a:spcPct val="113000"/>
              </a:lnSpc>
              <a:spcAft>
                <a:spcPts val="300"/>
              </a:spcAft>
            </a:pPr>
            <a:r>
              <a:rPr sz="930" b="1">
                <a:solidFill>
                  <a:srgbClr val="56677C"/>
                </a:solidFill>
                <a:latin typeface="Noto Sans CJK JP"/>
                <a:ea typeface="Noto Sans CJK JP"/>
              </a:rPr>
              <a:t>一次情報｜番号は制度欄に対応。URLをクリックして原文を開く。</a:t>
            </a:r>
          </a:p>
        </p:txBody>
      </p:sp>
      <p:sp>
        <p:nvSpPr>
          <p:cNvPr id="31" name="TextBox 30"/>
          <p:cNvSpPr txBox="1"/>
          <p:nvPr/>
        </p:nvSpPr>
        <p:spPr>
          <a:xfrm>
            <a:off x="548640" y="5724144"/>
            <a:ext cx="3429000" cy="274320"/>
          </a:xfrm>
          <a:prstGeom prst="rect">
            <a:avLst/>
          </a:prstGeom>
          <a:noFill/>
        </p:spPr>
        <p:txBody>
          <a:bodyPr wrap="square" lIns="0" rIns="0" tIns="0" bIns="0">
            <a:spAutoFit/>
          </a:bodyPr>
          <a:lstStyle/>
          <a:p>
            <a:pPr>
              <a:lnSpc>
                <a:spcPct val="113000"/>
              </a:lnSpc>
              <a:spcAft>
                <a:spcPts val="300"/>
              </a:spcAft>
            </a:pPr>
            <a:r>
              <a:rPr sz="960" b="1">
                <a:solidFill>
                  <a:srgbClr val="56677C"/>
                </a:solidFill>
                <a:latin typeface="Noto Sans CJK JP"/>
                <a:ea typeface="Noto Sans CJK JP"/>
              </a:rPr>
              <a:t>[1] 財務省/RCED｜輸入手続</a:t>
            </a:r>
          </a:p>
        </p:txBody>
      </p:sp>
      <p:sp>
        <p:nvSpPr>
          <p:cNvPr id="32" name="TextBox 31"/>
          <p:cNvSpPr txBox="1"/>
          <p:nvPr/>
        </p:nvSpPr>
        <p:spPr>
          <a:xfrm>
            <a:off x="4023360" y="5724144"/>
            <a:ext cx="8412480" cy="420624"/>
          </a:xfrm>
          <a:prstGeom prst="rect">
            <a:avLst/>
          </a:prstGeom>
          <a:noFill/>
        </p:spPr>
        <p:txBody>
          <a:bodyPr wrap="square" lIns="0" rIns="0" tIns="0" bIns="0">
            <a:spAutoFit/>
          </a:bodyPr>
          <a:lstStyle/>
          <a:p>
            <a:pPr>
              <a:lnSpc>
                <a:spcPct val="113000"/>
              </a:lnSpc>
              <a:spcAft>
                <a:spcPts val="300"/>
              </a:spcAft>
            </a:pPr>
            <a:r>
              <a:rPr sz="940" b="0">
                <a:solidFill>
                  <a:srgbClr val="2164A5"/>
                </a:solidFill>
                <a:latin typeface="Noto Sans CJK JP"/>
                <a:ea typeface="Noto Sans CJK JP"/>
                <a:hlinkClick r:id="rId2"/>
              </a:rPr>
              <a:t>https://www.mof.gov.bn/import-and-export-procedures/</a:t>
            </a:r>
          </a:p>
        </p:txBody>
      </p:sp>
      <p:sp>
        <p:nvSpPr>
          <p:cNvPr id="33" name="TextBox 32"/>
          <p:cNvSpPr txBox="1"/>
          <p:nvPr/>
        </p:nvSpPr>
        <p:spPr>
          <a:xfrm>
            <a:off x="548640" y="6153912"/>
            <a:ext cx="3429000" cy="274320"/>
          </a:xfrm>
          <a:prstGeom prst="rect">
            <a:avLst/>
          </a:prstGeom>
          <a:noFill/>
        </p:spPr>
        <p:txBody>
          <a:bodyPr wrap="square" lIns="0" rIns="0" tIns="0" bIns="0">
            <a:spAutoFit/>
          </a:bodyPr>
          <a:lstStyle/>
          <a:p>
            <a:pPr>
              <a:lnSpc>
                <a:spcPct val="113000"/>
              </a:lnSpc>
              <a:spcAft>
                <a:spcPts val="300"/>
              </a:spcAft>
            </a:pPr>
            <a:r>
              <a:rPr sz="960" b="1">
                <a:solidFill>
                  <a:srgbClr val="56677C"/>
                </a:solidFill>
                <a:latin typeface="Noto Sans CJK JP"/>
                <a:ea typeface="Noto Sans CJK JP"/>
              </a:rPr>
              <a:t>[2] エネルギー当局｜燃料措置 2026-04-01</a:t>
            </a:r>
          </a:p>
        </p:txBody>
      </p:sp>
      <p:sp>
        <p:nvSpPr>
          <p:cNvPr id="34" name="TextBox 33"/>
          <p:cNvSpPr txBox="1"/>
          <p:nvPr/>
        </p:nvSpPr>
        <p:spPr>
          <a:xfrm>
            <a:off x="4023360" y="6153912"/>
            <a:ext cx="8412480" cy="420624"/>
          </a:xfrm>
          <a:prstGeom prst="rect">
            <a:avLst/>
          </a:prstGeom>
          <a:noFill/>
        </p:spPr>
        <p:txBody>
          <a:bodyPr wrap="square" lIns="0" rIns="0" tIns="0" bIns="0">
            <a:spAutoFit/>
          </a:bodyPr>
          <a:lstStyle/>
          <a:p>
            <a:pPr>
              <a:lnSpc>
                <a:spcPct val="113000"/>
              </a:lnSpc>
              <a:spcAft>
                <a:spcPts val="300"/>
              </a:spcAft>
            </a:pPr>
            <a:r>
              <a:rPr sz="940" b="0">
                <a:solidFill>
                  <a:srgbClr val="2164A5"/>
                </a:solidFill>
                <a:latin typeface="Noto Sans CJK JP"/>
                <a:ea typeface="Noto Sans CJK JP"/>
                <a:hlinkClick r:id="rId3"/>
              </a:rPr>
              <a:t>https://www.energy.gov.bn/updated-fuel-petroleum-products-control-measures-to-safeguard-nationalenergy-supply-effective-1-april-2026/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3004596" cy="118872"/>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972800" cy="228600"/>
          </a:xfrm>
          <a:prstGeom prst="rect">
            <a:avLst/>
          </a:prstGeom>
          <a:noFill/>
        </p:spPr>
        <p:txBody>
          <a:bodyPr wrap="square" lIns="0" rIns="0" tIns="0" bIns="0">
            <a:spAutoFit/>
          </a:bodyPr>
          <a:lstStyle/>
          <a:p>
            <a:pPr>
              <a:lnSpc>
                <a:spcPct val="113000"/>
              </a:lnSpc>
              <a:spcAft>
                <a:spcPts val="300"/>
              </a:spcAft>
            </a:pPr>
            <a:r>
              <a:rPr sz="1000" b="1">
                <a:solidFill>
                  <a:srgbClr val="007F82"/>
                </a:solidFill>
                <a:latin typeface="Noto Sans CJK JP"/>
                <a:ea typeface="Noto Sans CJK JP"/>
              </a:rPr>
              <a:t>TIMOR-LESTE</a:t>
            </a:r>
          </a:p>
        </p:txBody>
      </p:sp>
      <p:sp>
        <p:nvSpPr>
          <p:cNvPr id="4" name="TextBox 3"/>
          <p:cNvSpPr txBox="1"/>
          <p:nvPr/>
        </p:nvSpPr>
        <p:spPr>
          <a:xfrm>
            <a:off x="502920" y="685800"/>
            <a:ext cx="12024360" cy="566928"/>
          </a:xfrm>
          <a:prstGeom prst="rect">
            <a:avLst/>
          </a:prstGeom>
          <a:noFill/>
        </p:spPr>
        <p:txBody>
          <a:bodyPr wrap="square" lIns="0" rIns="0" tIns="0" bIns="0">
            <a:spAutoFit/>
          </a:bodyPr>
          <a:lstStyle/>
          <a:p>
            <a:pPr>
              <a:lnSpc>
                <a:spcPct val="113000"/>
              </a:lnSpc>
              <a:spcAft>
                <a:spcPts val="300"/>
              </a:spcAft>
            </a:pPr>
            <a:r>
              <a:rPr sz="2800" b="1">
                <a:solidFill>
                  <a:srgbClr val="172B4D"/>
                </a:solidFill>
                <a:latin typeface="Noto Sans CJK JP"/>
                <a:ea typeface="Noto Sans CJK JP"/>
              </a:rPr>
              <a:t>東ティモール｜輸入許可と中古車の年式条件が新車競争の前提</a:t>
            </a:r>
          </a:p>
        </p:txBody>
      </p:sp>
      <p:sp>
        <p:nvSpPr>
          <p:cNvPr id="5" name="TextBox 4"/>
          <p:cNvSpPr txBox="1"/>
          <p:nvPr/>
        </p:nvSpPr>
        <p:spPr>
          <a:xfrm>
            <a:off x="502920" y="1335024"/>
            <a:ext cx="11978640" cy="438912"/>
          </a:xfrm>
          <a:prstGeom prst="rect">
            <a:avLst/>
          </a:prstGeom>
          <a:noFill/>
        </p:spPr>
        <p:txBody>
          <a:bodyPr wrap="square" lIns="0" rIns="0" tIns="0" bIns="0">
            <a:spAutoFit/>
          </a:bodyPr>
          <a:lstStyle/>
          <a:p>
            <a:pPr>
              <a:lnSpc>
                <a:spcPct val="113000"/>
              </a:lnSpc>
              <a:spcAft>
                <a:spcPts val="300"/>
              </a:spcAft>
            </a:pPr>
            <a:r>
              <a:rPr sz="1600" b="0">
                <a:solidFill>
                  <a:srgbClr val="56677C"/>
                </a:solidFill>
                <a:latin typeface="Noto Sans CJK JP"/>
                <a:ea typeface="Noto Sans CJK JP"/>
              </a:rPr>
              <a:t>EV補助の倍率よりも、販売用輸入の許可と中古車との代替を先に確認する。</a:t>
            </a:r>
          </a:p>
        </p:txBody>
      </p:sp>
      <p:sp>
        <p:nvSpPr>
          <p:cNvPr id="6" name="Rectangle 5"/>
          <p:cNvSpPr/>
          <p:nvPr/>
        </p:nvSpPr>
        <p:spPr>
          <a:xfrm>
            <a:off x="502920" y="7114032"/>
            <a:ext cx="11978640" cy="10972"/>
          </a:xfrm>
          <a:prstGeom prst="rect">
            <a:avLst/>
          </a:prstGeom>
          <a:solidFill>
            <a:srgbClr val="D9E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7178040"/>
            <a:ext cx="10972800" cy="109728"/>
          </a:xfrm>
          <a:prstGeom prst="rect">
            <a:avLst/>
          </a:prstGeom>
          <a:noFill/>
        </p:spPr>
        <p:txBody>
          <a:bodyPr wrap="square" lIns="0" rIns="0" tIns="0" bIns="0">
            <a:spAutoFit/>
          </a:bodyPr>
          <a:lstStyle/>
          <a:p>
            <a:pPr>
              <a:lnSpc>
                <a:spcPct val="113000"/>
              </a:lnSpc>
              <a:spcAft>
                <a:spcPts val="300"/>
              </a:spcAft>
            </a:pPr>
            <a:r>
              <a:rPr sz="800" b="0">
                <a:solidFill>
                  <a:srgbClr val="56677C"/>
                </a:solidFill>
                <a:latin typeface="Noto Sans CJK JP"/>
                <a:ea typeface="Noto Sans CJK JP"/>
              </a:rPr>
              <a:t>東南アジア自動車制度｜公開一次情報の確認日：2026-10-06｜影響・矢印は分析仮説</a:t>
            </a:r>
          </a:p>
        </p:txBody>
      </p:sp>
      <p:sp>
        <p:nvSpPr>
          <p:cNvPr id="8" name="TextBox 7"/>
          <p:cNvSpPr txBox="1"/>
          <p:nvPr/>
        </p:nvSpPr>
        <p:spPr>
          <a:xfrm>
            <a:off x="12024360" y="7159752"/>
            <a:ext cx="457200" cy="137160"/>
          </a:xfrm>
          <a:prstGeom prst="rect">
            <a:avLst/>
          </a:prstGeom>
          <a:noFill/>
        </p:spPr>
        <p:txBody>
          <a:bodyPr wrap="square" lIns="0" rIns="0" tIns="0" bIns="0">
            <a:spAutoFit/>
          </a:bodyPr>
          <a:lstStyle/>
          <a:p>
            <a:pPr>
              <a:lnSpc>
                <a:spcPct val="113000"/>
              </a:lnSpc>
              <a:spcAft>
                <a:spcPts val="300"/>
              </a:spcAft>
            </a:pPr>
            <a:r>
              <a:rPr sz="900" b="0">
                <a:solidFill>
                  <a:srgbClr val="56677C"/>
                </a:solidFill>
                <a:latin typeface="Noto Sans CJK JP"/>
                <a:ea typeface="Noto Sans CJK JP"/>
              </a:rPr>
              <a:t>14</a:t>
            </a:r>
          </a:p>
        </p:txBody>
      </p:sp>
      <p:sp>
        <p:nvSpPr>
          <p:cNvPr id="9" name="TextBox 8"/>
          <p:cNvSpPr txBox="1"/>
          <p:nvPr/>
        </p:nvSpPr>
        <p:spPr>
          <a:xfrm>
            <a:off x="548640" y="1810512"/>
            <a:ext cx="7955279" cy="228600"/>
          </a:xfrm>
          <a:prstGeom prst="rect">
            <a:avLst/>
          </a:prstGeom>
          <a:noFill/>
        </p:spPr>
        <p:txBody>
          <a:bodyPr wrap="square" lIns="0" rIns="0" tIns="0" bIns="0">
            <a:spAutoFit/>
          </a:bodyPr>
          <a:lstStyle/>
          <a:p>
            <a:pPr>
              <a:lnSpc>
                <a:spcPct val="113000"/>
              </a:lnSpc>
              <a:spcAft>
                <a:spcPts val="300"/>
              </a:spcAft>
            </a:pPr>
            <a:r>
              <a:rPr sz="1100" b="1">
                <a:solidFill>
                  <a:srgbClr val="007F82"/>
                </a:solidFill>
                <a:latin typeface="Noto Sans CJK JP"/>
                <a:ea typeface="Noto Sans CJK JP"/>
              </a:rPr>
              <a:t>制度・対象・期間（政府／当局が公表した事実）</a:t>
            </a:r>
          </a:p>
        </p:txBody>
      </p:sp>
      <p:sp>
        <p:nvSpPr>
          <p:cNvPr id="10" name="TextBox 9"/>
          <p:cNvSpPr txBox="1"/>
          <p:nvPr/>
        </p:nvSpPr>
        <p:spPr>
          <a:xfrm>
            <a:off x="8778240" y="1810512"/>
            <a:ext cx="3657600" cy="228600"/>
          </a:xfrm>
          <a:prstGeom prst="rect">
            <a:avLst/>
          </a:prstGeom>
          <a:noFill/>
        </p:spPr>
        <p:txBody>
          <a:bodyPr wrap="square" lIns="0" rIns="0" tIns="0" bIns="0">
            <a:spAutoFit/>
          </a:bodyPr>
          <a:lstStyle/>
          <a:p>
            <a:pPr>
              <a:lnSpc>
                <a:spcPct val="113000"/>
              </a:lnSpc>
              <a:spcAft>
                <a:spcPts val="300"/>
              </a:spcAft>
            </a:pPr>
            <a:r>
              <a:rPr sz="1100" b="1">
                <a:solidFill>
                  <a:srgbClr val="2164A5"/>
                </a:solidFill>
                <a:latin typeface="Noto Sans CJK JP"/>
                <a:ea typeface="Noto Sans CJK JP"/>
              </a:rPr>
              <a:t>OEMへの影響（以下は分析上の推論）</a:t>
            </a:r>
          </a:p>
        </p:txBody>
      </p:sp>
      <p:sp>
        <p:nvSpPr>
          <p:cNvPr id="11" name="Rectangle 10"/>
          <p:cNvSpPr/>
          <p:nvPr/>
        </p:nvSpPr>
        <p:spPr>
          <a:xfrm>
            <a:off x="548640" y="2048256"/>
            <a:ext cx="7863840" cy="969264"/>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641080" y="2048256"/>
            <a:ext cx="3840480" cy="969264"/>
          </a:xfrm>
          <a:prstGeom prst="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 y="2130552"/>
            <a:ext cx="7498079" cy="265176"/>
          </a:xfrm>
          <a:prstGeom prst="rect">
            <a:avLst/>
          </a:prstGeom>
          <a:noFill/>
        </p:spPr>
        <p:txBody>
          <a:bodyPr wrap="square" lIns="0" rIns="0" tIns="0" bIns="0">
            <a:spAutoFit/>
          </a:bodyPr>
          <a:lstStyle/>
          <a:p>
            <a:pPr>
              <a:lnSpc>
                <a:spcPct val="113000"/>
              </a:lnSpc>
              <a:spcAft>
                <a:spcPts val="300"/>
              </a:spcAft>
            </a:pPr>
            <a:r>
              <a:rPr sz="1600" b="1">
                <a:solidFill>
                  <a:srgbClr val="007F82"/>
                </a:solidFill>
                <a:latin typeface="Noto Sans CJK JP"/>
                <a:ea typeface="Noto Sans CJK JP"/>
              </a:rPr>
              <a:t>販売用車両は発送前に書面承認 [1]</a:t>
            </a:r>
          </a:p>
        </p:txBody>
      </p:sp>
      <p:sp>
        <p:nvSpPr>
          <p:cNvPr id="14" name="TextBox 13"/>
          <p:cNvSpPr txBox="1"/>
          <p:nvPr/>
        </p:nvSpPr>
        <p:spPr>
          <a:xfrm>
            <a:off x="713232" y="2423160"/>
            <a:ext cx="7498079" cy="594360"/>
          </a:xfrm>
          <a:prstGeom prst="rect">
            <a:avLst/>
          </a:prstGeom>
          <a:noFill/>
        </p:spPr>
        <p:txBody>
          <a:bodyPr wrap="square" lIns="0" rIns="0" tIns="0" bIns="0">
            <a:spAutoFit/>
          </a:bodyPr>
          <a:lstStyle/>
          <a:p>
            <a:pPr>
              <a:lnSpc>
                <a:spcPct val="113000"/>
              </a:lnSpc>
              <a:spcAft>
                <a:spcPts val="300"/>
              </a:spcAft>
            </a:pPr>
            <a:r>
              <a:rPr sz="1400" b="0">
                <a:solidFill>
                  <a:srgbClr val="172B4D"/>
                </a:solidFill>
                <a:latin typeface="Noto Sans CJK JP"/>
                <a:ea typeface="Noto Sans CJK JP"/>
              </a:rPr>
              <a:t>政府Trade Portal：販売・リース等の輸入は、外国貿易部門と陸運部門の書面承認を発送前に取得。車両の輸入許可も必要。</a:t>
            </a:r>
          </a:p>
        </p:txBody>
      </p:sp>
      <p:sp>
        <p:nvSpPr>
          <p:cNvPr id="15" name="TextBox 14"/>
          <p:cNvSpPr txBox="1"/>
          <p:nvPr/>
        </p:nvSpPr>
        <p:spPr>
          <a:xfrm>
            <a:off x="8796528" y="2121408"/>
            <a:ext cx="3566160" cy="274320"/>
          </a:xfrm>
          <a:prstGeom prst="rect">
            <a:avLst/>
          </a:prstGeom>
          <a:noFill/>
        </p:spPr>
        <p:txBody>
          <a:bodyPr wrap="square" lIns="0" rIns="0" tIns="0" bIns="0">
            <a:spAutoFit/>
          </a:bodyPr>
          <a:lstStyle/>
          <a:p>
            <a:pPr>
              <a:lnSpc>
                <a:spcPct val="113000"/>
              </a:lnSpc>
              <a:spcAft>
                <a:spcPts val="300"/>
              </a:spcAft>
            </a:pPr>
            <a:r>
              <a:rPr sz="1350" b="1">
                <a:solidFill>
                  <a:srgbClr val="2164A5"/>
                </a:solidFill>
                <a:latin typeface="Noto Sans CJK JP"/>
                <a:ea typeface="Noto Sans CJK JP"/>
              </a:rPr>
              <a:t>中国系の低価格新車OEM</a:t>
            </a:r>
          </a:p>
        </p:txBody>
      </p:sp>
      <p:sp>
        <p:nvSpPr>
          <p:cNvPr id="16" name="TextBox 15"/>
          <p:cNvSpPr txBox="1"/>
          <p:nvPr/>
        </p:nvSpPr>
        <p:spPr>
          <a:xfrm>
            <a:off x="8796528" y="2377440"/>
            <a:ext cx="3511296" cy="630936"/>
          </a:xfrm>
          <a:prstGeom prst="rect">
            <a:avLst/>
          </a:prstGeom>
          <a:noFill/>
        </p:spPr>
        <p:txBody>
          <a:bodyPr wrap="square" lIns="0" rIns="0" tIns="0" bIns="0">
            <a:spAutoFit/>
          </a:bodyPr>
          <a:lstStyle/>
          <a:p>
            <a:pPr>
              <a:lnSpc>
                <a:spcPct val="113000"/>
              </a:lnSpc>
              <a:spcAft>
                <a:spcPts val="300"/>
              </a:spcAft>
            </a:pPr>
            <a:r>
              <a:rPr sz="1250" b="0">
                <a:solidFill>
                  <a:srgbClr val="172B4D"/>
                </a:solidFill>
                <a:latin typeface="Noto Sans CJK JP"/>
                <a:ea typeface="Noto Sans CJK JP"/>
              </a:rPr>
              <a:t>古い中古車との価格差が縮まれば新車を選びやすくなる可能性。ただしEV固有の優遇効果とは別。</a:t>
            </a:r>
          </a:p>
        </p:txBody>
      </p:sp>
      <p:sp>
        <p:nvSpPr>
          <p:cNvPr id="17" name="Rectangle 16"/>
          <p:cNvSpPr/>
          <p:nvPr/>
        </p:nvSpPr>
        <p:spPr>
          <a:xfrm>
            <a:off x="548640" y="3072384"/>
            <a:ext cx="7863840" cy="969264"/>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641080" y="3072384"/>
            <a:ext cx="3840480" cy="969264"/>
          </a:xfrm>
          <a:prstGeom prst="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3232" y="3154680"/>
            <a:ext cx="7498079" cy="265176"/>
          </a:xfrm>
          <a:prstGeom prst="rect">
            <a:avLst/>
          </a:prstGeom>
          <a:noFill/>
        </p:spPr>
        <p:txBody>
          <a:bodyPr wrap="square" lIns="0" rIns="0" tIns="0" bIns="0">
            <a:spAutoFit/>
          </a:bodyPr>
          <a:lstStyle/>
          <a:p>
            <a:pPr>
              <a:lnSpc>
                <a:spcPct val="113000"/>
              </a:lnSpc>
              <a:spcAft>
                <a:spcPts val="300"/>
              </a:spcAft>
            </a:pPr>
            <a:r>
              <a:rPr sz="1600" b="1">
                <a:solidFill>
                  <a:srgbClr val="007F82"/>
                </a:solidFill>
                <a:latin typeface="Noto Sans CJK JP"/>
                <a:ea typeface="Noto Sans CJK JP"/>
              </a:rPr>
              <a:t>軽乗用・兼用車は原則5年以内 [1]</a:t>
            </a:r>
          </a:p>
        </p:txBody>
      </p:sp>
      <p:sp>
        <p:nvSpPr>
          <p:cNvPr id="20" name="TextBox 19"/>
          <p:cNvSpPr txBox="1"/>
          <p:nvPr/>
        </p:nvSpPr>
        <p:spPr>
          <a:xfrm>
            <a:off x="713232" y="3447288"/>
            <a:ext cx="7498079" cy="594360"/>
          </a:xfrm>
          <a:prstGeom prst="rect">
            <a:avLst/>
          </a:prstGeom>
          <a:noFill/>
        </p:spPr>
        <p:txBody>
          <a:bodyPr wrap="square" lIns="0" rIns="0" tIns="0" bIns="0">
            <a:spAutoFit/>
          </a:bodyPr>
          <a:lstStyle/>
          <a:p>
            <a:pPr>
              <a:lnSpc>
                <a:spcPct val="113000"/>
              </a:lnSpc>
              <a:spcAft>
                <a:spcPts val="300"/>
              </a:spcAft>
            </a:pPr>
            <a:r>
              <a:rPr sz="1400" b="0">
                <a:solidFill>
                  <a:srgbClr val="172B4D"/>
                </a:solidFill>
                <a:latin typeface="Noto Sans CJK JP"/>
                <a:ea typeface="Noto Sans CJK JP"/>
              </a:rPr>
              <a:t>原則は新車または製造から5年以内。大型旅客・貨物車の年式条件は別で、すべての商用車へ同じ制限を当てはめない。</a:t>
            </a:r>
          </a:p>
        </p:txBody>
      </p:sp>
      <p:sp>
        <p:nvSpPr>
          <p:cNvPr id="21" name="TextBox 20"/>
          <p:cNvSpPr txBox="1"/>
          <p:nvPr/>
        </p:nvSpPr>
        <p:spPr>
          <a:xfrm>
            <a:off x="8796528" y="3145536"/>
            <a:ext cx="3566160" cy="274320"/>
          </a:xfrm>
          <a:prstGeom prst="rect">
            <a:avLst/>
          </a:prstGeom>
          <a:noFill/>
        </p:spPr>
        <p:txBody>
          <a:bodyPr wrap="square" lIns="0" rIns="0" tIns="0" bIns="0">
            <a:spAutoFit/>
          </a:bodyPr>
          <a:lstStyle/>
          <a:p>
            <a:pPr>
              <a:lnSpc>
                <a:spcPct val="113000"/>
              </a:lnSpc>
              <a:spcAft>
                <a:spcPts val="300"/>
              </a:spcAft>
            </a:pPr>
            <a:r>
              <a:rPr sz="1350" b="1">
                <a:solidFill>
                  <a:srgbClr val="2164A5"/>
                </a:solidFill>
                <a:latin typeface="Noto Sans CJK JP"/>
                <a:ea typeface="Noto Sans CJK JP"/>
              </a:rPr>
              <a:t>日系の新車・中古車供給OEM</a:t>
            </a:r>
          </a:p>
        </p:txBody>
      </p:sp>
      <p:sp>
        <p:nvSpPr>
          <p:cNvPr id="22" name="TextBox 21"/>
          <p:cNvSpPr txBox="1"/>
          <p:nvPr/>
        </p:nvSpPr>
        <p:spPr>
          <a:xfrm>
            <a:off x="8796528" y="3401568"/>
            <a:ext cx="3511296" cy="630936"/>
          </a:xfrm>
          <a:prstGeom prst="rect">
            <a:avLst/>
          </a:prstGeom>
          <a:noFill/>
        </p:spPr>
        <p:txBody>
          <a:bodyPr wrap="square" lIns="0" rIns="0" tIns="0" bIns="0">
            <a:spAutoFit/>
          </a:bodyPr>
          <a:lstStyle/>
          <a:p>
            <a:pPr>
              <a:lnSpc>
                <a:spcPct val="113000"/>
              </a:lnSpc>
              <a:spcAft>
                <a:spcPts val="300"/>
              </a:spcAft>
            </a:pPr>
            <a:r>
              <a:rPr sz="1250" b="0">
                <a:solidFill>
                  <a:srgbClr val="172B4D"/>
                </a:solidFill>
                <a:latin typeface="Noto Sans CJK JP"/>
                <a:ea typeface="Noto Sans CJK JP"/>
              </a:rPr>
              <a:t>安価な中古車の供給年式が競争相手を決める。中古販売を新車市場シェアの分母に混ぜない。</a:t>
            </a:r>
          </a:p>
        </p:txBody>
      </p:sp>
      <p:sp>
        <p:nvSpPr>
          <p:cNvPr id="23" name="Rectangle 22"/>
          <p:cNvSpPr/>
          <p:nvPr/>
        </p:nvSpPr>
        <p:spPr>
          <a:xfrm>
            <a:off x="548640" y="4096512"/>
            <a:ext cx="7863840" cy="969264"/>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641080" y="4096512"/>
            <a:ext cx="3840480" cy="969264"/>
          </a:xfrm>
          <a:prstGeom prst="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3232" y="4178808"/>
            <a:ext cx="7498079" cy="265176"/>
          </a:xfrm>
          <a:prstGeom prst="rect">
            <a:avLst/>
          </a:prstGeom>
          <a:noFill/>
        </p:spPr>
        <p:txBody>
          <a:bodyPr wrap="square" lIns="0" rIns="0" tIns="0" bIns="0">
            <a:spAutoFit/>
          </a:bodyPr>
          <a:lstStyle/>
          <a:p>
            <a:pPr>
              <a:lnSpc>
                <a:spcPct val="113000"/>
              </a:lnSpc>
              <a:spcAft>
                <a:spcPts val="300"/>
              </a:spcAft>
            </a:pPr>
            <a:r>
              <a:rPr sz="1600" b="1">
                <a:solidFill>
                  <a:srgbClr val="007F82"/>
                </a:solidFill>
                <a:latin typeface="Noto Sans CJK JP"/>
                <a:ea typeface="Noto Sans CJK JP"/>
              </a:rPr>
              <a:t>2022年改正後も帰国者等の例外 [2]</a:t>
            </a:r>
          </a:p>
        </p:txBody>
      </p:sp>
      <p:sp>
        <p:nvSpPr>
          <p:cNvPr id="26" name="TextBox 25"/>
          <p:cNvSpPr txBox="1"/>
          <p:nvPr/>
        </p:nvSpPr>
        <p:spPr>
          <a:xfrm>
            <a:off x="713232" y="4471416"/>
            <a:ext cx="7498079" cy="594360"/>
          </a:xfrm>
          <a:prstGeom prst="rect">
            <a:avLst/>
          </a:prstGeom>
          <a:noFill/>
        </p:spPr>
        <p:txBody>
          <a:bodyPr wrap="square" lIns="0" rIns="0" tIns="0" bIns="0">
            <a:spAutoFit/>
          </a:bodyPr>
          <a:lstStyle/>
          <a:p>
            <a:pPr>
              <a:lnSpc>
                <a:spcPct val="113000"/>
              </a:lnSpc>
              <a:spcAft>
                <a:spcPts val="300"/>
              </a:spcAft>
            </a:pPr>
            <a:r>
              <a:rPr sz="1400" b="0">
                <a:solidFill>
                  <a:srgbClr val="172B4D"/>
                </a:solidFill>
                <a:latin typeface="Noto Sans CJK JP"/>
                <a:ea typeface="Noto Sans CJK JP"/>
              </a:rPr>
              <a:t>政府Portalは改正法64/2022に基づく例外を掲載。一定の帰国者の個人使用・海外保有等を条件に5年超の車も可能。一般販売用の自由輸入ではない。</a:t>
            </a:r>
          </a:p>
        </p:txBody>
      </p:sp>
      <p:sp>
        <p:nvSpPr>
          <p:cNvPr id="27" name="TextBox 26"/>
          <p:cNvSpPr txBox="1"/>
          <p:nvPr/>
        </p:nvSpPr>
        <p:spPr>
          <a:xfrm>
            <a:off x="8796528" y="4169664"/>
            <a:ext cx="3566160" cy="274320"/>
          </a:xfrm>
          <a:prstGeom prst="rect">
            <a:avLst/>
          </a:prstGeom>
          <a:noFill/>
        </p:spPr>
        <p:txBody>
          <a:bodyPr wrap="square" lIns="0" rIns="0" tIns="0" bIns="0">
            <a:spAutoFit/>
          </a:bodyPr>
          <a:lstStyle/>
          <a:p>
            <a:pPr>
              <a:lnSpc>
                <a:spcPct val="113000"/>
              </a:lnSpc>
              <a:spcAft>
                <a:spcPts val="300"/>
              </a:spcAft>
            </a:pPr>
            <a:r>
              <a:rPr sz="1350" b="1">
                <a:solidFill>
                  <a:srgbClr val="2164A5"/>
                </a:solidFill>
                <a:latin typeface="Noto Sans CJK JP"/>
                <a:ea typeface="Noto Sans CJK JP"/>
              </a:rPr>
              <a:t>新規輸入OEM</a:t>
            </a:r>
          </a:p>
        </p:txBody>
      </p:sp>
      <p:sp>
        <p:nvSpPr>
          <p:cNvPr id="28" name="TextBox 27"/>
          <p:cNvSpPr txBox="1"/>
          <p:nvPr/>
        </p:nvSpPr>
        <p:spPr>
          <a:xfrm>
            <a:off x="8796528" y="4425696"/>
            <a:ext cx="3511296" cy="630936"/>
          </a:xfrm>
          <a:prstGeom prst="rect">
            <a:avLst/>
          </a:prstGeom>
          <a:noFill/>
        </p:spPr>
        <p:txBody>
          <a:bodyPr wrap="square" lIns="0" rIns="0" tIns="0" bIns="0">
            <a:spAutoFit/>
          </a:bodyPr>
          <a:lstStyle/>
          <a:p>
            <a:pPr>
              <a:lnSpc>
                <a:spcPct val="113000"/>
              </a:lnSpc>
              <a:spcAft>
                <a:spcPts val="300"/>
              </a:spcAft>
            </a:pPr>
            <a:r>
              <a:rPr sz="1250" b="0">
                <a:solidFill>
                  <a:srgbClr val="172B4D"/>
                </a:solidFill>
                <a:latin typeface="Noto Sans CJK JP"/>
                <a:ea typeface="Noto Sans CJK JP"/>
              </a:rPr>
              <a:t>許可・販売網・部品供給を先に整える必要。年式規制そのものからλの方向は判定できない。</a:t>
            </a:r>
          </a:p>
        </p:txBody>
      </p:sp>
      <p:sp>
        <p:nvSpPr>
          <p:cNvPr id="29" name="TextBox 28"/>
          <p:cNvSpPr txBox="1"/>
          <p:nvPr/>
        </p:nvSpPr>
        <p:spPr>
          <a:xfrm>
            <a:off x="594360" y="5157216"/>
            <a:ext cx="11814048" cy="320040"/>
          </a:xfrm>
          <a:prstGeom prst="rect">
            <a:avLst/>
          </a:prstGeom>
          <a:noFill/>
        </p:spPr>
        <p:txBody>
          <a:bodyPr wrap="square" lIns="0" rIns="0" tIns="0" bIns="0">
            <a:spAutoFit/>
          </a:bodyPr>
          <a:lstStyle/>
          <a:p>
            <a:pPr>
              <a:lnSpc>
                <a:spcPct val="113000"/>
              </a:lnSpc>
              <a:spcAft>
                <a:spcPts val="300"/>
              </a:spcAft>
            </a:pPr>
            <a:r>
              <a:rPr sz="1080" b="0">
                <a:solidFill>
                  <a:srgbClr val="B57A14"/>
                </a:solidFill>
                <a:latin typeface="Noto Sans CJK JP"/>
                <a:ea typeface="Noto Sans CJK JP"/>
              </a:rPr>
              <a:t>確認限界：本調査ではEV固有の現行補助・生産倍率を確認できていない。小規模市場のκ・λ推定には台数を併記。</a:t>
            </a:r>
          </a:p>
        </p:txBody>
      </p:sp>
      <p:sp>
        <p:nvSpPr>
          <p:cNvPr id="30" name="TextBox 29"/>
          <p:cNvSpPr txBox="1"/>
          <p:nvPr/>
        </p:nvSpPr>
        <p:spPr>
          <a:xfrm>
            <a:off x="548640" y="5504688"/>
            <a:ext cx="11887200" cy="182880"/>
          </a:xfrm>
          <a:prstGeom prst="rect">
            <a:avLst/>
          </a:prstGeom>
          <a:noFill/>
        </p:spPr>
        <p:txBody>
          <a:bodyPr wrap="square" lIns="0" rIns="0" tIns="0" bIns="0">
            <a:spAutoFit/>
          </a:bodyPr>
          <a:lstStyle/>
          <a:p>
            <a:pPr>
              <a:lnSpc>
                <a:spcPct val="113000"/>
              </a:lnSpc>
              <a:spcAft>
                <a:spcPts val="300"/>
              </a:spcAft>
            </a:pPr>
            <a:r>
              <a:rPr sz="930" b="1">
                <a:solidFill>
                  <a:srgbClr val="56677C"/>
                </a:solidFill>
                <a:latin typeface="Noto Sans CJK JP"/>
                <a:ea typeface="Noto Sans CJK JP"/>
              </a:rPr>
              <a:t>一次情報｜番号は制度欄に対応。URLをクリックして原文を開く。</a:t>
            </a:r>
          </a:p>
        </p:txBody>
      </p:sp>
      <p:sp>
        <p:nvSpPr>
          <p:cNvPr id="31" name="TextBox 30"/>
          <p:cNvSpPr txBox="1"/>
          <p:nvPr/>
        </p:nvSpPr>
        <p:spPr>
          <a:xfrm>
            <a:off x="548640" y="5724144"/>
            <a:ext cx="3429000" cy="274320"/>
          </a:xfrm>
          <a:prstGeom prst="rect">
            <a:avLst/>
          </a:prstGeom>
          <a:noFill/>
        </p:spPr>
        <p:txBody>
          <a:bodyPr wrap="square" lIns="0" rIns="0" tIns="0" bIns="0">
            <a:spAutoFit/>
          </a:bodyPr>
          <a:lstStyle/>
          <a:p>
            <a:pPr>
              <a:lnSpc>
                <a:spcPct val="113000"/>
              </a:lnSpc>
              <a:spcAft>
                <a:spcPts val="300"/>
              </a:spcAft>
            </a:pPr>
            <a:r>
              <a:rPr sz="960" b="1">
                <a:solidFill>
                  <a:srgbClr val="56677C"/>
                </a:solidFill>
                <a:latin typeface="Noto Sans CJK JP"/>
                <a:ea typeface="Noto Sans CJK JP"/>
              </a:rPr>
              <a:t>[1] 政府Trade Portal｜車両輸入許可</a:t>
            </a:r>
          </a:p>
        </p:txBody>
      </p:sp>
      <p:sp>
        <p:nvSpPr>
          <p:cNvPr id="32" name="TextBox 31"/>
          <p:cNvSpPr txBox="1"/>
          <p:nvPr/>
        </p:nvSpPr>
        <p:spPr>
          <a:xfrm>
            <a:off x="4023360" y="5724144"/>
            <a:ext cx="8412480" cy="420624"/>
          </a:xfrm>
          <a:prstGeom prst="rect">
            <a:avLst/>
          </a:prstGeom>
          <a:noFill/>
        </p:spPr>
        <p:txBody>
          <a:bodyPr wrap="square" lIns="0" rIns="0" tIns="0" bIns="0">
            <a:spAutoFit/>
          </a:bodyPr>
          <a:lstStyle/>
          <a:p>
            <a:pPr>
              <a:lnSpc>
                <a:spcPct val="113000"/>
              </a:lnSpc>
              <a:spcAft>
                <a:spcPts val="300"/>
              </a:spcAft>
            </a:pPr>
            <a:r>
              <a:rPr sz="940" b="0">
                <a:solidFill>
                  <a:srgbClr val="2164A5"/>
                </a:solidFill>
                <a:latin typeface="Noto Sans CJK JP"/>
                <a:ea typeface="Noto Sans CJK JP"/>
                <a:hlinkClick r:id="rId2"/>
              </a:rPr>
              <a:t>https://www.tip.mci.gov.tl/en-gb/search-measure/view/153</a:t>
            </a:r>
          </a:p>
        </p:txBody>
      </p:sp>
      <p:sp>
        <p:nvSpPr>
          <p:cNvPr id="33" name="TextBox 32"/>
          <p:cNvSpPr txBox="1"/>
          <p:nvPr/>
        </p:nvSpPr>
        <p:spPr>
          <a:xfrm>
            <a:off x="548640" y="6153912"/>
            <a:ext cx="3429000" cy="274320"/>
          </a:xfrm>
          <a:prstGeom prst="rect">
            <a:avLst/>
          </a:prstGeom>
          <a:noFill/>
        </p:spPr>
        <p:txBody>
          <a:bodyPr wrap="square" lIns="0" rIns="0" tIns="0" bIns="0">
            <a:spAutoFit/>
          </a:bodyPr>
          <a:lstStyle/>
          <a:p>
            <a:pPr>
              <a:lnSpc>
                <a:spcPct val="113000"/>
              </a:lnSpc>
              <a:spcAft>
                <a:spcPts val="300"/>
              </a:spcAft>
            </a:pPr>
            <a:r>
              <a:rPr sz="960" b="1">
                <a:solidFill>
                  <a:srgbClr val="56677C"/>
                </a:solidFill>
                <a:latin typeface="Noto Sans CJK JP"/>
                <a:ea typeface="Noto Sans CJK JP"/>
              </a:rPr>
              <a:t>[2] 政府Trade Portal｜64/2022・例外</a:t>
            </a:r>
          </a:p>
        </p:txBody>
      </p:sp>
      <p:sp>
        <p:nvSpPr>
          <p:cNvPr id="34" name="TextBox 33"/>
          <p:cNvSpPr txBox="1"/>
          <p:nvPr/>
        </p:nvSpPr>
        <p:spPr>
          <a:xfrm>
            <a:off x="4023360" y="6153912"/>
            <a:ext cx="8412480" cy="420624"/>
          </a:xfrm>
          <a:prstGeom prst="rect">
            <a:avLst/>
          </a:prstGeom>
          <a:noFill/>
        </p:spPr>
        <p:txBody>
          <a:bodyPr wrap="square" lIns="0" rIns="0" tIns="0" bIns="0">
            <a:spAutoFit/>
          </a:bodyPr>
          <a:lstStyle/>
          <a:p>
            <a:pPr>
              <a:lnSpc>
                <a:spcPct val="113000"/>
              </a:lnSpc>
              <a:spcAft>
                <a:spcPts val="300"/>
              </a:spcAft>
            </a:pPr>
            <a:r>
              <a:rPr sz="940" b="0">
                <a:solidFill>
                  <a:srgbClr val="2164A5"/>
                </a:solidFill>
                <a:latin typeface="Noto Sans CJK JP"/>
                <a:ea typeface="Noto Sans CJK JP"/>
                <a:hlinkClick r:id="rId3"/>
              </a:rPr>
              <a:t>https://www.tip.mci.gov.tl/en-gb/search-measure/view/1356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3004596" cy="118872"/>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972800" cy="228600"/>
          </a:xfrm>
          <a:prstGeom prst="rect">
            <a:avLst/>
          </a:prstGeom>
          <a:noFill/>
        </p:spPr>
        <p:txBody>
          <a:bodyPr wrap="square" lIns="0" rIns="0" tIns="0" bIns="0">
            <a:spAutoFit/>
          </a:bodyPr>
          <a:lstStyle/>
          <a:p>
            <a:pPr>
              <a:lnSpc>
                <a:spcPct val="113000"/>
              </a:lnSpc>
              <a:spcAft>
                <a:spcPts val="300"/>
              </a:spcAft>
            </a:pPr>
            <a:r>
              <a:rPr sz="1000" b="1">
                <a:solidFill>
                  <a:srgbClr val="007F82"/>
                </a:solidFill>
                <a:latin typeface="Noto Sans CJK JP"/>
                <a:ea typeface="Noto Sans CJK JP"/>
              </a:rPr>
              <a:t>EMPIRICAL DESIGN</a:t>
            </a:r>
          </a:p>
        </p:txBody>
      </p:sp>
      <p:sp>
        <p:nvSpPr>
          <p:cNvPr id="4" name="TextBox 3"/>
          <p:cNvSpPr txBox="1"/>
          <p:nvPr/>
        </p:nvSpPr>
        <p:spPr>
          <a:xfrm>
            <a:off x="502920" y="685800"/>
            <a:ext cx="12024360" cy="566928"/>
          </a:xfrm>
          <a:prstGeom prst="rect">
            <a:avLst/>
          </a:prstGeom>
          <a:noFill/>
        </p:spPr>
        <p:txBody>
          <a:bodyPr wrap="square" lIns="0" rIns="0" tIns="0" bIns="0">
            <a:spAutoFit/>
          </a:bodyPr>
          <a:lstStyle/>
          <a:p>
            <a:pPr>
              <a:lnSpc>
                <a:spcPct val="113000"/>
              </a:lnSpc>
              <a:spcAft>
                <a:spcPts val="300"/>
              </a:spcAft>
            </a:pPr>
            <a:r>
              <a:rPr sz="2800" b="1">
                <a:solidFill>
                  <a:srgbClr val="172B4D"/>
                </a:solidFill>
                <a:latin typeface="Noto Sans CJK JP"/>
                <a:ea typeface="Noto Sans CJK JP"/>
              </a:rPr>
              <a:t>検証設計｜制度をモデル別月次パネルに接続する</a:t>
            </a:r>
          </a:p>
        </p:txBody>
      </p:sp>
      <p:sp>
        <p:nvSpPr>
          <p:cNvPr id="5" name="TextBox 4"/>
          <p:cNvSpPr txBox="1"/>
          <p:nvPr/>
        </p:nvSpPr>
        <p:spPr>
          <a:xfrm>
            <a:off x="502920" y="1335024"/>
            <a:ext cx="11978640" cy="438912"/>
          </a:xfrm>
          <a:prstGeom prst="rect">
            <a:avLst/>
          </a:prstGeom>
          <a:noFill/>
        </p:spPr>
        <p:txBody>
          <a:bodyPr wrap="square" lIns="0" rIns="0" tIns="0" bIns="0">
            <a:spAutoFit/>
          </a:bodyPr>
          <a:lstStyle/>
          <a:p>
            <a:pPr>
              <a:lnSpc>
                <a:spcPct val="113000"/>
              </a:lnSpc>
              <a:spcAft>
                <a:spcPts val="300"/>
              </a:spcAft>
            </a:pPr>
            <a:r>
              <a:rPr sz="1600" b="0">
                <a:solidFill>
                  <a:srgbClr val="56677C"/>
                </a:solidFill>
                <a:latin typeface="Noto Sans CJK JP"/>
                <a:ea typeface="Noto Sans CJK JP"/>
              </a:rPr>
              <a:t>販売曲線の年齢効果と、制度・価格・供給の暦月効果を分ける。</a:t>
            </a:r>
          </a:p>
        </p:txBody>
      </p:sp>
      <p:sp>
        <p:nvSpPr>
          <p:cNvPr id="6" name="Rectangle 5"/>
          <p:cNvSpPr/>
          <p:nvPr/>
        </p:nvSpPr>
        <p:spPr>
          <a:xfrm>
            <a:off x="502920" y="7114032"/>
            <a:ext cx="11978640" cy="10972"/>
          </a:xfrm>
          <a:prstGeom prst="rect">
            <a:avLst/>
          </a:prstGeom>
          <a:solidFill>
            <a:srgbClr val="D9E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7178040"/>
            <a:ext cx="10972800" cy="109728"/>
          </a:xfrm>
          <a:prstGeom prst="rect">
            <a:avLst/>
          </a:prstGeom>
          <a:noFill/>
        </p:spPr>
        <p:txBody>
          <a:bodyPr wrap="square" lIns="0" rIns="0" tIns="0" bIns="0">
            <a:spAutoFit/>
          </a:bodyPr>
          <a:lstStyle/>
          <a:p>
            <a:pPr>
              <a:lnSpc>
                <a:spcPct val="113000"/>
              </a:lnSpc>
              <a:spcAft>
                <a:spcPts val="300"/>
              </a:spcAft>
            </a:pPr>
            <a:r>
              <a:rPr sz="800" b="0">
                <a:solidFill>
                  <a:srgbClr val="56677C"/>
                </a:solidFill>
                <a:latin typeface="Noto Sans CJK JP"/>
                <a:ea typeface="Noto Sans CJK JP"/>
              </a:rPr>
              <a:t>東南アジア自動車制度｜公開一次情報の確認日：2026-10-06｜影響・矢印は分析仮説</a:t>
            </a:r>
          </a:p>
        </p:txBody>
      </p:sp>
      <p:sp>
        <p:nvSpPr>
          <p:cNvPr id="8" name="TextBox 7"/>
          <p:cNvSpPr txBox="1"/>
          <p:nvPr/>
        </p:nvSpPr>
        <p:spPr>
          <a:xfrm>
            <a:off x="12024360" y="7159752"/>
            <a:ext cx="457200" cy="137160"/>
          </a:xfrm>
          <a:prstGeom prst="rect">
            <a:avLst/>
          </a:prstGeom>
          <a:noFill/>
        </p:spPr>
        <p:txBody>
          <a:bodyPr wrap="square" lIns="0" rIns="0" tIns="0" bIns="0">
            <a:spAutoFit/>
          </a:bodyPr>
          <a:lstStyle/>
          <a:p>
            <a:pPr>
              <a:lnSpc>
                <a:spcPct val="113000"/>
              </a:lnSpc>
              <a:spcAft>
                <a:spcPts val="300"/>
              </a:spcAft>
            </a:pPr>
            <a:r>
              <a:rPr sz="900" b="0">
                <a:solidFill>
                  <a:srgbClr val="56677C"/>
                </a:solidFill>
                <a:latin typeface="Noto Sans CJK JP"/>
                <a:ea typeface="Noto Sans CJK JP"/>
              </a:rPr>
              <a:t>15</a:t>
            </a:r>
          </a:p>
        </p:txBody>
      </p:sp>
      <p:sp>
        <p:nvSpPr>
          <p:cNvPr id="9" name="Rectangle 8"/>
          <p:cNvSpPr/>
          <p:nvPr/>
        </p:nvSpPr>
        <p:spPr>
          <a:xfrm>
            <a:off x="640080" y="2011680"/>
            <a:ext cx="5577840" cy="123444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7" y="2148840"/>
            <a:ext cx="5212080" cy="365760"/>
          </a:xfrm>
          <a:prstGeom prst="rect">
            <a:avLst/>
          </a:prstGeom>
          <a:noFill/>
        </p:spPr>
        <p:txBody>
          <a:bodyPr wrap="square" lIns="0" rIns="0" tIns="0" bIns="0">
            <a:spAutoFit/>
          </a:bodyPr>
          <a:lstStyle/>
          <a:p>
            <a:pPr>
              <a:lnSpc>
                <a:spcPct val="113000"/>
              </a:lnSpc>
              <a:spcAft>
                <a:spcPts val="300"/>
              </a:spcAft>
            </a:pPr>
            <a:r>
              <a:rPr sz="2100" b="1">
                <a:solidFill>
                  <a:srgbClr val="007F82"/>
                </a:solidFill>
                <a:latin typeface="Noto Sans CJK JP"/>
                <a:ea typeface="Noto Sans CJK JP"/>
              </a:rPr>
              <a:t>01 追加する属性</a:t>
            </a:r>
          </a:p>
        </p:txBody>
      </p:sp>
      <p:sp>
        <p:nvSpPr>
          <p:cNvPr id="11" name="TextBox 10"/>
          <p:cNvSpPr txBox="1"/>
          <p:nvPr/>
        </p:nvSpPr>
        <p:spPr>
          <a:xfrm>
            <a:off x="841247" y="2642616"/>
            <a:ext cx="5212080" cy="594360"/>
          </a:xfrm>
          <a:prstGeom prst="rect">
            <a:avLst/>
          </a:prstGeom>
          <a:noFill/>
        </p:spPr>
        <p:txBody>
          <a:bodyPr wrap="square" lIns="0" rIns="0" tIns="0" bIns="0">
            <a:spAutoFit/>
          </a:bodyPr>
          <a:lstStyle/>
          <a:p>
            <a:pPr>
              <a:lnSpc>
                <a:spcPct val="113000"/>
              </a:lnSpc>
              <a:spcAft>
                <a:spcPts val="300"/>
              </a:spcAft>
            </a:pPr>
            <a:r>
              <a:rPr sz="1500" b="0">
                <a:solidFill>
                  <a:srgbClr val="172B4D"/>
                </a:solidFill>
                <a:latin typeface="Noto Sans CJK JP"/>
                <a:ea typeface="Noto Sans CJK JP"/>
              </a:rPr>
              <a:t>国／OEM／モデル／BEV・PHEV・HEV・ICE</a:t>
            </a:r>
          </a:p>
          <a:p>
            <a:pPr>
              <a:lnSpc>
                <a:spcPct val="113000"/>
              </a:lnSpc>
              <a:spcAft>
                <a:spcPts val="300"/>
              </a:spcAft>
            </a:pPr>
            <a:r>
              <a:rPr sz="1500" b="0">
                <a:solidFill>
                  <a:srgbClr val="172B4D"/>
                </a:solidFill>
                <a:latin typeface="Noto Sans CJK JP"/>
                <a:ea typeface="Noto Sans CJK JP"/>
              </a:rPr>
              <a:t>生産国／CBU・CKD／恩典参加／認定型式・HS</a:t>
            </a:r>
          </a:p>
        </p:txBody>
      </p:sp>
      <p:sp>
        <p:nvSpPr>
          <p:cNvPr id="12" name="Rectangle 11"/>
          <p:cNvSpPr/>
          <p:nvPr/>
        </p:nvSpPr>
        <p:spPr>
          <a:xfrm>
            <a:off x="6720840" y="2011680"/>
            <a:ext cx="5577840" cy="123444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22008" y="2148840"/>
            <a:ext cx="5212080" cy="365760"/>
          </a:xfrm>
          <a:prstGeom prst="rect">
            <a:avLst/>
          </a:prstGeom>
          <a:noFill/>
        </p:spPr>
        <p:txBody>
          <a:bodyPr wrap="square" lIns="0" rIns="0" tIns="0" bIns="0">
            <a:spAutoFit/>
          </a:bodyPr>
          <a:lstStyle/>
          <a:p>
            <a:pPr>
              <a:lnSpc>
                <a:spcPct val="113000"/>
              </a:lnSpc>
              <a:spcAft>
                <a:spcPts val="300"/>
              </a:spcAft>
            </a:pPr>
            <a:r>
              <a:rPr sz="2100" b="1">
                <a:solidFill>
                  <a:srgbClr val="007F82"/>
                </a:solidFill>
                <a:latin typeface="Noto Sans CJK JP"/>
                <a:ea typeface="Noto Sans CJK JP"/>
              </a:rPr>
              <a:t>02 日付と強度</a:t>
            </a:r>
          </a:p>
        </p:txBody>
      </p:sp>
      <p:sp>
        <p:nvSpPr>
          <p:cNvPr id="14" name="TextBox 13"/>
          <p:cNvSpPr txBox="1"/>
          <p:nvPr/>
        </p:nvSpPr>
        <p:spPr>
          <a:xfrm>
            <a:off x="6922008" y="2642616"/>
            <a:ext cx="5212080" cy="594360"/>
          </a:xfrm>
          <a:prstGeom prst="rect">
            <a:avLst/>
          </a:prstGeom>
          <a:noFill/>
        </p:spPr>
        <p:txBody>
          <a:bodyPr wrap="square" lIns="0" rIns="0" tIns="0" bIns="0">
            <a:spAutoFit/>
          </a:bodyPr>
          <a:lstStyle/>
          <a:p>
            <a:pPr>
              <a:lnSpc>
                <a:spcPct val="113000"/>
              </a:lnSpc>
              <a:spcAft>
                <a:spcPts val="300"/>
              </a:spcAft>
            </a:pPr>
            <a:r>
              <a:rPr sz="1500" b="0">
                <a:solidFill>
                  <a:srgbClr val="172B4D"/>
                </a:solidFill>
                <a:latin typeface="Noto Sans CJK JP"/>
                <a:ea typeface="Noto Sans CJK JP"/>
              </a:rPr>
              <a:t>発売・納車・工場稼働／実際の税込価格</a:t>
            </a:r>
          </a:p>
          <a:p>
            <a:pPr>
              <a:lnSpc>
                <a:spcPct val="113000"/>
              </a:lnSpc>
              <a:spcAft>
                <a:spcPts val="300"/>
              </a:spcAft>
            </a:pPr>
            <a:r>
              <a:rPr sz="1500" b="0">
                <a:solidFill>
                  <a:srgbClr val="172B4D"/>
                </a:solidFill>
                <a:latin typeface="Noto Sans CJK JP"/>
                <a:ea typeface="Noto Sans CJK JP"/>
              </a:rPr>
              <a:t>制度の公布・施行・終了／生産義務・在庫・輸出</a:t>
            </a:r>
          </a:p>
        </p:txBody>
      </p:sp>
      <p:sp>
        <p:nvSpPr>
          <p:cNvPr id="15" name="Rectangle 14"/>
          <p:cNvSpPr/>
          <p:nvPr/>
        </p:nvSpPr>
        <p:spPr>
          <a:xfrm>
            <a:off x="640080" y="3429000"/>
            <a:ext cx="5577840" cy="123444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7" y="3566160"/>
            <a:ext cx="5212080" cy="365760"/>
          </a:xfrm>
          <a:prstGeom prst="rect">
            <a:avLst/>
          </a:prstGeom>
          <a:noFill/>
        </p:spPr>
        <p:txBody>
          <a:bodyPr wrap="square" lIns="0" rIns="0" tIns="0" bIns="0">
            <a:spAutoFit/>
          </a:bodyPr>
          <a:lstStyle/>
          <a:p>
            <a:pPr>
              <a:lnSpc>
                <a:spcPct val="113000"/>
              </a:lnSpc>
              <a:spcAft>
                <a:spcPts val="300"/>
              </a:spcAft>
            </a:pPr>
            <a:r>
              <a:rPr sz="2100" b="1">
                <a:solidFill>
                  <a:srgbClr val="007F82"/>
                </a:solidFill>
                <a:latin typeface="Noto Sans CJK JP"/>
                <a:ea typeface="Noto Sans CJK JP"/>
              </a:rPr>
              <a:t>03 比較の単位</a:t>
            </a:r>
          </a:p>
        </p:txBody>
      </p:sp>
      <p:sp>
        <p:nvSpPr>
          <p:cNvPr id="17" name="TextBox 16"/>
          <p:cNvSpPr txBox="1"/>
          <p:nvPr/>
        </p:nvSpPr>
        <p:spPr>
          <a:xfrm>
            <a:off x="841247" y="4059935"/>
            <a:ext cx="5212080" cy="594360"/>
          </a:xfrm>
          <a:prstGeom prst="rect">
            <a:avLst/>
          </a:prstGeom>
          <a:noFill/>
        </p:spPr>
        <p:txBody>
          <a:bodyPr wrap="square" lIns="0" rIns="0" tIns="0" bIns="0">
            <a:spAutoFit/>
          </a:bodyPr>
          <a:lstStyle/>
          <a:p>
            <a:pPr>
              <a:lnSpc>
                <a:spcPct val="113000"/>
              </a:lnSpc>
              <a:spcAft>
                <a:spcPts val="300"/>
              </a:spcAft>
            </a:pPr>
            <a:r>
              <a:rPr sz="1500" b="0">
                <a:solidFill>
                  <a:srgbClr val="172B4D"/>
                </a:solidFill>
                <a:latin typeface="Noto Sans CJK JP"/>
                <a:ea typeface="Noto Sans CJK JP"/>
              </a:rPr>
              <a:t>同国 × 同パワートレイン × 同セグメント</a:t>
            </a:r>
          </a:p>
          <a:p>
            <a:pPr>
              <a:lnSpc>
                <a:spcPct val="113000"/>
              </a:lnSpc>
              <a:spcAft>
                <a:spcPts val="300"/>
              </a:spcAft>
            </a:pPr>
            <a:r>
              <a:rPr sz="1500" b="0">
                <a:solidFill>
                  <a:srgbClr val="172B4D"/>
                </a:solidFill>
                <a:latin typeface="Noto Sans CJK JP"/>
                <a:ea typeface="Noto Sans CJK JP"/>
              </a:rPr>
              <a:t>優遇参加と非参加、CBUとCKDを比べる</a:t>
            </a:r>
          </a:p>
        </p:txBody>
      </p:sp>
      <p:sp>
        <p:nvSpPr>
          <p:cNvPr id="18" name="Rectangle 17"/>
          <p:cNvSpPr/>
          <p:nvPr/>
        </p:nvSpPr>
        <p:spPr>
          <a:xfrm>
            <a:off x="6720840" y="3429000"/>
            <a:ext cx="5577840" cy="123444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922008" y="3566160"/>
            <a:ext cx="5212080" cy="365760"/>
          </a:xfrm>
          <a:prstGeom prst="rect">
            <a:avLst/>
          </a:prstGeom>
          <a:noFill/>
        </p:spPr>
        <p:txBody>
          <a:bodyPr wrap="square" lIns="0" rIns="0" tIns="0" bIns="0">
            <a:spAutoFit/>
          </a:bodyPr>
          <a:lstStyle/>
          <a:p>
            <a:pPr>
              <a:lnSpc>
                <a:spcPct val="113000"/>
              </a:lnSpc>
              <a:spcAft>
                <a:spcPts val="300"/>
              </a:spcAft>
            </a:pPr>
            <a:r>
              <a:rPr sz="2100" b="1">
                <a:solidFill>
                  <a:srgbClr val="007F82"/>
                </a:solidFill>
                <a:latin typeface="Noto Sans CJK JP"/>
                <a:ea typeface="Noto Sans CJK JP"/>
              </a:rPr>
              <a:t>04 販売指標の整合</a:t>
            </a:r>
          </a:p>
        </p:txBody>
      </p:sp>
      <p:sp>
        <p:nvSpPr>
          <p:cNvPr id="20" name="TextBox 19"/>
          <p:cNvSpPr txBox="1"/>
          <p:nvPr/>
        </p:nvSpPr>
        <p:spPr>
          <a:xfrm>
            <a:off x="6922008" y="4059935"/>
            <a:ext cx="5212080" cy="594360"/>
          </a:xfrm>
          <a:prstGeom prst="rect">
            <a:avLst/>
          </a:prstGeom>
          <a:noFill/>
        </p:spPr>
        <p:txBody>
          <a:bodyPr wrap="square" lIns="0" rIns="0" tIns="0" bIns="0">
            <a:spAutoFit/>
          </a:bodyPr>
          <a:lstStyle/>
          <a:p>
            <a:pPr>
              <a:lnSpc>
                <a:spcPct val="113000"/>
              </a:lnSpc>
              <a:spcAft>
                <a:spcPts val="300"/>
              </a:spcAft>
            </a:pPr>
            <a:r>
              <a:rPr sz="1500" b="0">
                <a:solidFill>
                  <a:srgbClr val="172B4D"/>
                </a:solidFill>
                <a:latin typeface="Noto Sans CJK JP"/>
                <a:ea typeface="Noto Sans CJK JP"/>
              </a:rPr>
              <a:t>登録／小売／卸売を別々に記録</a:t>
            </a:r>
          </a:p>
          <a:p>
            <a:pPr>
              <a:lnSpc>
                <a:spcPct val="113000"/>
              </a:lnSpc>
              <a:spcAft>
                <a:spcPts val="300"/>
              </a:spcAft>
            </a:pPr>
            <a:r>
              <a:rPr sz="1500" b="0">
                <a:solidFill>
                  <a:srgbClr val="172B4D"/>
                </a:solidFill>
                <a:latin typeface="Noto Sans CJK JP"/>
                <a:ea typeface="Noto Sans CJK JP"/>
              </a:rPr>
              <a:t>月次モデル販売＋市場シェア＋ブランド総販売</a:t>
            </a:r>
          </a:p>
        </p:txBody>
      </p:sp>
      <p:sp>
        <p:nvSpPr>
          <p:cNvPr id="21" name="TextBox 20"/>
          <p:cNvSpPr txBox="1"/>
          <p:nvPr/>
        </p:nvSpPr>
        <p:spPr>
          <a:xfrm>
            <a:off x="640080" y="5129784"/>
            <a:ext cx="11704320" cy="502920"/>
          </a:xfrm>
          <a:prstGeom prst="rect">
            <a:avLst/>
          </a:prstGeom>
          <a:noFill/>
        </p:spPr>
        <p:txBody>
          <a:bodyPr wrap="square" lIns="0" rIns="0" tIns="0" bIns="0">
            <a:spAutoFit/>
          </a:bodyPr>
          <a:lstStyle/>
          <a:p>
            <a:pPr>
              <a:lnSpc>
                <a:spcPct val="113000"/>
              </a:lnSpc>
              <a:spcAft>
                <a:spcPts val="300"/>
              </a:spcAft>
            </a:pPr>
            <a:r>
              <a:rPr sz="2100" b="1">
                <a:solidFill>
                  <a:srgbClr val="172B4D"/>
                </a:solidFill>
                <a:latin typeface="Noto Sans CJK JP"/>
                <a:ea typeface="Noto Sans CJK JP"/>
              </a:rPr>
              <a:t>推定例：sᵢct = Aᵢ (1 − e⁻κᵢᵃᵍᵉ) e⁻λᵢᵃᵍᵉ × exp(βXᵢct) ＋ εᵢct</a:t>
            </a:r>
          </a:p>
        </p:txBody>
      </p:sp>
      <p:sp>
        <p:nvSpPr>
          <p:cNvPr id="22" name="TextBox 21"/>
          <p:cNvSpPr txBox="1"/>
          <p:nvPr/>
        </p:nvSpPr>
        <p:spPr>
          <a:xfrm>
            <a:off x="640080" y="5760720"/>
            <a:ext cx="11704320" cy="914400"/>
          </a:xfrm>
          <a:prstGeom prst="rect">
            <a:avLst/>
          </a:prstGeom>
          <a:noFill/>
        </p:spPr>
        <p:txBody>
          <a:bodyPr wrap="square" lIns="0" rIns="0" tIns="0" bIns="0">
            <a:spAutoFit/>
          </a:bodyPr>
          <a:lstStyle/>
          <a:p>
            <a:pPr>
              <a:lnSpc>
                <a:spcPct val="113000"/>
              </a:lnSpc>
              <a:spcAft>
                <a:spcPts val="300"/>
              </a:spcAft>
            </a:pPr>
            <a:r>
              <a:rPr sz="1500" b="0">
                <a:solidFill>
                  <a:srgbClr val="56677C"/>
                </a:solidFill>
                <a:latin typeface="Noto Sans CJK JP"/>
                <a:ea typeface="Noto Sans CJK JP"/>
              </a:rPr>
              <a:t>Xに価格・季節・制度の前後・供給断・競合投入を入れ、政策調整前後のκ・λを比較。</a:t>
            </a:r>
          </a:p>
          <a:p>
            <a:pPr>
              <a:lnSpc>
                <a:spcPct val="113000"/>
              </a:lnSpc>
              <a:spcAft>
                <a:spcPts val="300"/>
              </a:spcAft>
            </a:pPr>
            <a:r>
              <a:rPr sz="1500" b="0">
                <a:solidFill>
                  <a:srgbClr val="56677C"/>
                </a:solidFill>
                <a:latin typeface="Noto Sans CJK JP"/>
                <a:ea typeface="Noto Sans CJK JP"/>
              </a:rPr>
              <a:t>制度の因果効果は、適切な対照群と事前トレンドを確認するイベント分析等で追加検証する。</a:t>
            </a:r>
          </a:p>
          <a:p>
            <a:pPr>
              <a:lnSpc>
                <a:spcPct val="113000"/>
              </a:lnSpc>
              <a:spcAft>
                <a:spcPts val="300"/>
              </a:spcAft>
            </a:pPr>
            <a:r>
              <a:rPr sz="1500" b="0">
                <a:solidFill>
                  <a:srgbClr val="56677C"/>
                </a:solidFill>
                <a:latin typeface="Noto Sans CJK JP"/>
                <a:ea typeface="Noto Sans CJK JP"/>
              </a:rPr>
              <a:t>卸売の急増を需要の浸透と解釈しない。短期参入モデルはλの観測が足りない場合がある。</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3004596" cy="118872"/>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0972800" cy="228600"/>
          </a:xfrm>
          <a:prstGeom prst="rect">
            <a:avLst/>
          </a:prstGeom>
          <a:noFill/>
        </p:spPr>
        <p:txBody>
          <a:bodyPr wrap="square" lIns="0" rIns="0" tIns="0" bIns="0">
            <a:spAutoFit/>
          </a:bodyPr>
          <a:lstStyle/>
          <a:p>
            <a:pPr>
              <a:lnSpc>
                <a:spcPct val="113000"/>
              </a:lnSpc>
              <a:spcAft>
                <a:spcPts val="300"/>
              </a:spcAft>
            </a:pPr>
            <a:r>
              <a:rPr sz="1000" b="1">
                <a:solidFill>
                  <a:srgbClr val="007F82"/>
                </a:solidFill>
                <a:latin typeface="Noto Sans CJK JP"/>
                <a:ea typeface="Noto Sans CJK JP"/>
              </a:rPr>
              <a:t>HYPOTHESES / κ AND λ</a:t>
            </a:r>
          </a:p>
        </p:txBody>
      </p:sp>
      <p:sp>
        <p:nvSpPr>
          <p:cNvPr id="4" name="TextBox 3"/>
          <p:cNvSpPr txBox="1"/>
          <p:nvPr/>
        </p:nvSpPr>
        <p:spPr>
          <a:xfrm>
            <a:off x="502920" y="685800"/>
            <a:ext cx="12024360" cy="566928"/>
          </a:xfrm>
          <a:prstGeom prst="rect">
            <a:avLst/>
          </a:prstGeom>
          <a:noFill/>
        </p:spPr>
        <p:txBody>
          <a:bodyPr wrap="square" lIns="0" rIns="0" tIns="0" bIns="0">
            <a:spAutoFit/>
          </a:bodyPr>
          <a:lstStyle/>
          <a:p>
            <a:pPr>
              <a:lnSpc>
                <a:spcPct val="113000"/>
              </a:lnSpc>
              <a:spcAft>
                <a:spcPts val="300"/>
              </a:spcAft>
            </a:pPr>
            <a:r>
              <a:rPr sz="2800" b="1">
                <a:solidFill>
                  <a:srgbClr val="172B4D"/>
                </a:solidFill>
                <a:latin typeface="Noto Sans CJK JP"/>
                <a:ea typeface="Noto Sans CJK JP"/>
              </a:rPr>
              <a:t>最終仮説｜κは参入・価格で、λは供給継続と競争で分岐する</a:t>
            </a:r>
          </a:p>
        </p:txBody>
      </p:sp>
      <p:sp>
        <p:nvSpPr>
          <p:cNvPr id="5" name="TextBox 4"/>
          <p:cNvSpPr txBox="1"/>
          <p:nvPr/>
        </p:nvSpPr>
        <p:spPr>
          <a:xfrm>
            <a:off x="502920" y="1335024"/>
            <a:ext cx="11978640" cy="438912"/>
          </a:xfrm>
          <a:prstGeom prst="rect">
            <a:avLst/>
          </a:prstGeom>
          <a:noFill/>
        </p:spPr>
        <p:txBody>
          <a:bodyPr wrap="square" lIns="0" rIns="0" tIns="0" bIns="0">
            <a:spAutoFit/>
          </a:bodyPr>
          <a:lstStyle/>
          <a:p>
            <a:pPr>
              <a:lnSpc>
                <a:spcPct val="113000"/>
              </a:lnSpc>
              <a:spcAft>
                <a:spcPts val="300"/>
              </a:spcAft>
            </a:pPr>
            <a:r>
              <a:rPr sz="1600" b="0">
                <a:solidFill>
                  <a:srgbClr val="56677C"/>
                </a:solidFill>
                <a:latin typeface="Noto Sans CJK JP"/>
                <a:ea typeface="Noto Sans CJK JP"/>
              </a:rPr>
              <a:t>矢印は同条件のモデルを政策変更前・非対象と比べた仮説。数値推定結果ではない。</a:t>
            </a:r>
          </a:p>
        </p:txBody>
      </p:sp>
      <p:sp>
        <p:nvSpPr>
          <p:cNvPr id="6" name="Rectangle 5"/>
          <p:cNvSpPr/>
          <p:nvPr/>
        </p:nvSpPr>
        <p:spPr>
          <a:xfrm>
            <a:off x="502920" y="7114032"/>
            <a:ext cx="11978640" cy="10972"/>
          </a:xfrm>
          <a:prstGeom prst="rect">
            <a:avLst/>
          </a:prstGeom>
          <a:solidFill>
            <a:srgbClr val="D9E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7178040"/>
            <a:ext cx="10972800" cy="109728"/>
          </a:xfrm>
          <a:prstGeom prst="rect">
            <a:avLst/>
          </a:prstGeom>
          <a:noFill/>
        </p:spPr>
        <p:txBody>
          <a:bodyPr wrap="square" lIns="0" rIns="0" tIns="0" bIns="0">
            <a:spAutoFit/>
          </a:bodyPr>
          <a:lstStyle/>
          <a:p>
            <a:pPr>
              <a:lnSpc>
                <a:spcPct val="113000"/>
              </a:lnSpc>
              <a:spcAft>
                <a:spcPts val="300"/>
              </a:spcAft>
            </a:pPr>
            <a:r>
              <a:rPr sz="800" b="0">
                <a:solidFill>
                  <a:srgbClr val="56677C"/>
                </a:solidFill>
                <a:latin typeface="Noto Sans CJK JP"/>
                <a:ea typeface="Noto Sans CJK JP"/>
              </a:rPr>
              <a:t>東南アジア自動車制度｜公開一次情報の確認日：2026-10-06｜影響・矢印は分析仮説</a:t>
            </a:r>
          </a:p>
        </p:txBody>
      </p:sp>
      <p:sp>
        <p:nvSpPr>
          <p:cNvPr id="8" name="TextBox 7"/>
          <p:cNvSpPr txBox="1"/>
          <p:nvPr/>
        </p:nvSpPr>
        <p:spPr>
          <a:xfrm>
            <a:off x="12024360" y="7159752"/>
            <a:ext cx="457200" cy="137160"/>
          </a:xfrm>
          <a:prstGeom prst="rect">
            <a:avLst/>
          </a:prstGeom>
          <a:noFill/>
        </p:spPr>
        <p:txBody>
          <a:bodyPr wrap="square" lIns="0" rIns="0" tIns="0" bIns="0">
            <a:spAutoFit/>
          </a:bodyPr>
          <a:lstStyle/>
          <a:p>
            <a:pPr>
              <a:lnSpc>
                <a:spcPct val="113000"/>
              </a:lnSpc>
              <a:spcAft>
                <a:spcPts val="300"/>
              </a:spcAft>
            </a:pPr>
            <a:r>
              <a:rPr sz="900" b="0">
                <a:solidFill>
                  <a:srgbClr val="56677C"/>
                </a:solidFill>
                <a:latin typeface="Noto Sans CJK JP"/>
                <a:ea typeface="Noto Sans CJK JP"/>
              </a:rPr>
              <a:t>16</a:t>
            </a:r>
          </a:p>
        </p:txBody>
      </p:sp>
      <p:sp>
        <p:nvSpPr>
          <p:cNvPr id="9" name="Rectangle 8"/>
          <p:cNvSpPr/>
          <p:nvPr/>
        </p:nvSpPr>
        <p:spPr>
          <a:xfrm>
            <a:off x="548640" y="1947672"/>
            <a:ext cx="11923776" cy="429768"/>
          </a:xfrm>
          <a:prstGeom prst="rect">
            <a:avLst/>
          </a:prstGeom>
          <a:solidFill>
            <a:srgbClr val="172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2039112"/>
            <a:ext cx="2834640" cy="256032"/>
          </a:xfrm>
          <a:prstGeom prst="rect">
            <a:avLst/>
          </a:prstGeom>
          <a:noFill/>
        </p:spPr>
        <p:txBody>
          <a:bodyPr wrap="square" lIns="0" rIns="0" tIns="0" bIns="0">
            <a:spAutoFit/>
          </a:bodyPr>
          <a:lstStyle/>
          <a:p>
            <a:pPr>
              <a:lnSpc>
                <a:spcPct val="113000"/>
              </a:lnSpc>
              <a:spcAft>
                <a:spcPts val="300"/>
              </a:spcAft>
            </a:pPr>
            <a:r>
              <a:rPr sz="1300" b="1">
                <a:solidFill>
                  <a:srgbClr val="FFFFFF"/>
                </a:solidFill>
                <a:latin typeface="Noto Sans CJK JP"/>
                <a:ea typeface="Noto Sans CJK JP"/>
              </a:rPr>
              <a:t>対象国・OEM</a:t>
            </a:r>
          </a:p>
        </p:txBody>
      </p:sp>
      <p:sp>
        <p:nvSpPr>
          <p:cNvPr id="11" name="TextBox 10"/>
          <p:cNvSpPr txBox="1"/>
          <p:nvPr/>
        </p:nvSpPr>
        <p:spPr>
          <a:xfrm>
            <a:off x="3584448" y="2039112"/>
            <a:ext cx="3017520" cy="256032"/>
          </a:xfrm>
          <a:prstGeom prst="rect">
            <a:avLst/>
          </a:prstGeom>
          <a:noFill/>
        </p:spPr>
        <p:txBody>
          <a:bodyPr wrap="square" lIns="0" rIns="0" tIns="0" bIns="0">
            <a:spAutoFit/>
          </a:bodyPr>
          <a:lstStyle/>
          <a:p>
            <a:pPr>
              <a:lnSpc>
                <a:spcPct val="113000"/>
              </a:lnSpc>
              <a:spcAft>
                <a:spcPts val="300"/>
              </a:spcAft>
            </a:pPr>
            <a:r>
              <a:rPr sz="1300" b="1">
                <a:solidFill>
                  <a:srgbClr val="FFFFFF"/>
                </a:solidFill>
                <a:latin typeface="Noto Sans CJK JP"/>
                <a:ea typeface="Noto Sans CJK JP"/>
              </a:rPr>
              <a:t>κ：浸透速度</a:t>
            </a:r>
          </a:p>
        </p:txBody>
      </p:sp>
      <p:sp>
        <p:nvSpPr>
          <p:cNvPr id="12" name="TextBox 11"/>
          <p:cNvSpPr txBox="1"/>
          <p:nvPr/>
        </p:nvSpPr>
        <p:spPr>
          <a:xfrm>
            <a:off x="6675120" y="2039112"/>
            <a:ext cx="2971800" cy="256032"/>
          </a:xfrm>
          <a:prstGeom prst="rect">
            <a:avLst/>
          </a:prstGeom>
          <a:noFill/>
        </p:spPr>
        <p:txBody>
          <a:bodyPr wrap="square" lIns="0" rIns="0" tIns="0" bIns="0">
            <a:spAutoFit/>
          </a:bodyPr>
          <a:lstStyle/>
          <a:p>
            <a:pPr>
              <a:lnSpc>
                <a:spcPct val="113000"/>
              </a:lnSpc>
              <a:spcAft>
                <a:spcPts val="300"/>
              </a:spcAft>
            </a:pPr>
            <a:r>
              <a:rPr sz="1300" b="1">
                <a:solidFill>
                  <a:srgbClr val="FFFFFF"/>
                </a:solidFill>
                <a:latin typeface="Noto Sans CJK JP"/>
                <a:ea typeface="Noto Sans CJK JP"/>
              </a:rPr>
              <a:t>λ：減衰速度</a:t>
            </a:r>
          </a:p>
        </p:txBody>
      </p:sp>
      <p:sp>
        <p:nvSpPr>
          <p:cNvPr id="13" name="TextBox 12"/>
          <p:cNvSpPr txBox="1"/>
          <p:nvPr/>
        </p:nvSpPr>
        <p:spPr>
          <a:xfrm>
            <a:off x="9674352" y="2039112"/>
            <a:ext cx="2743200" cy="256032"/>
          </a:xfrm>
          <a:prstGeom prst="rect">
            <a:avLst/>
          </a:prstGeom>
          <a:noFill/>
        </p:spPr>
        <p:txBody>
          <a:bodyPr wrap="square" lIns="0" rIns="0" tIns="0" bIns="0">
            <a:spAutoFit/>
          </a:bodyPr>
          <a:lstStyle/>
          <a:p>
            <a:pPr>
              <a:lnSpc>
                <a:spcPct val="113000"/>
              </a:lnSpc>
              <a:spcAft>
                <a:spcPts val="300"/>
              </a:spcAft>
            </a:pPr>
            <a:r>
              <a:rPr sz="1300" b="1">
                <a:solidFill>
                  <a:srgbClr val="FFFFFF"/>
                </a:solidFill>
                <a:latin typeface="Noto Sans CJK JP"/>
                <a:ea typeface="Noto Sans CJK JP"/>
              </a:rPr>
              <a:t>成立条件・検証対象</a:t>
            </a:r>
          </a:p>
        </p:txBody>
      </p:sp>
      <p:sp>
        <p:nvSpPr>
          <p:cNvPr id="14" name="Rectangle 13"/>
          <p:cNvSpPr/>
          <p:nvPr/>
        </p:nvSpPr>
        <p:spPr>
          <a:xfrm>
            <a:off x="548640" y="2432304"/>
            <a:ext cx="11923776" cy="363016"/>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2490825"/>
            <a:ext cx="2834640" cy="292608"/>
          </a:xfrm>
          <a:prstGeom prst="rect">
            <a:avLst/>
          </a:prstGeom>
          <a:noFill/>
        </p:spPr>
        <p:txBody>
          <a:bodyPr wrap="square" lIns="0" rIns="0" tIns="0" bIns="0">
            <a:spAutoFit/>
          </a:bodyPr>
          <a:lstStyle/>
          <a:p>
            <a:pPr>
              <a:lnSpc>
                <a:spcPct val="113000"/>
              </a:lnSpc>
              <a:spcAft>
                <a:spcPts val="300"/>
              </a:spcAft>
            </a:pPr>
            <a:r>
              <a:rPr sz="1140" b="1">
                <a:solidFill>
                  <a:srgbClr val="007F82"/>
                </a:solidFill>
                <a:latin typeface="Noto Sans CJK JP"/>
                <a:ea typeface="Noto Sans CJK JP"/>
              </a:rPr>
              <a:t>タイ：恩典参加BEV</a:t>
            </a:r>
          </a:p>
        </p:txBody>
      </p:sp>
      <p:sp>
        <p:nvSpPr>
          <p:cNvPr id="16" name="TextBox 15"/>
          <p:cNvSpPr txBox="1"/>
          <p:nvPr/>
        </p:nvSpPr>
        <p:spPr>
          <a:xfrm>
            <a:off x="3584448" y="2490825"/>
            <a:ext cx="3017520" cy="292608"/>
          </a:xfrm>
          <a:prstGeom prst="rect">
            <a:avLst/>
          </a:prstGeom>
          <a:noFill/>
        </p:spPr>
        <p:txBody>
          <a:bodyPr wrap="square" lIns="0" rIns="0" tIns="0" bIns="0">
            <a:spAutoFit/>
          </a:bodyPr>
          <a:lstStyle/>
          <a:p>
            <a:pPr>
              <a:lnSpc>
                <a:spcPct val="113000"/>
              </a:lnSpc>
              <a:spcAft>
                <a:spcPts val="300"/>
              </a:spcAft>
            </a:pPr>
            <a:r>
              <a:rPr sz="1140" b="0">
                <a:solidFill>
                  <a:srgbClr val="172B4D"/>
                </a:solidFill>
                <a:latin typeface="Noto Sans CJK JP"/>
                <a:ea typeface="Noto Sans CJK JP"/>
              </a:rPr>
              <a:t>価格低下なら↑</a:t>
            </a:r>
          </a:p>
        </p:txBody>
      </p:sp>
      <p:sp>
        <p:nvSpPr>
          <p:cNvPr id="17" name="TextBox 16"/>
          <p:cNvSpPr txBox="1"/>
          <p:nvPr/>
        </p:nvSpPr>
        <p:spPr>
          <a:xfrm>
            <a:off x="6675120" y="2490825"/>
            <a:ext cx="2971800" cy="292608"/>
          </a:xfrm>
          <a:prstGeom prst="rect">
            <a:avLst/>
          </a:prstGeom>
          <a:noFill/>
        </p:spPr>
        <p:txBody>
          <a:bodyPr wrap="square" lIns="0" rIns="0" tIns="0" bIns="0">
            <a:spAutoFit/>
          </a:bodyPr>
          <a:lstStyle/>
          <a:p>
            <a:pPr>
              <a:lnSpc>
                <a:spcPct val="113000"/>
              </a:lnSpc>
              <a:spcAft>
                <a:spcPts val="300"/>
              </a:spcAft>
            </a:pPr>
            <a:r>
              <a:rPr sz="1140" b="0">
                <a:solidFill>
                  <a:srgbClr val="172B4D"/>
                </a:solidFill>
                <a:latin typeface="Noto Sans CJK JP"/>
                <a:ea typeface="Noto Sans CJK JP"/>
              </a:rPr>
              <a:t>競合・在庫過剰なら↑</a:t>
            </a:r>
          </a:p>
        </p:txBody>
      </p:sp>
      <p:sp>
        <p:nvSpPr>
          <p:cNvPr id="18" name="TextBox 17"/>
          <p:cNvSpPr txBox="1"/>
          <p:nvPr/>
        </p:nvSpPr>
        <p:spPr>
          <a:xfrm>
            <a:off x="9674352" y="2490825"/>
            <a:ext cx="2743200" cy="292608"/>
          </a:xfrm>
          <a:prstGeom prst="rect">
            <a:avLst/>
          </a:prstGeom>
          <a:noFill/>
        </p:spPr>
        <p:txBody>
          <a:bodyPr wrap="square" lIns="0" rIns="0" tIns="0" bIns="0">
            <a:spAutoFit/>
          </a:bodyPr>
          <a:lstStyle/>
          <a:p>
            <a:pPr>
              <a:lnSpc>
                <a:spcPct val="113000"/>
              </a:lnSpc>
              <a:spcAft>
                <a:spcPts val="300"/>
              </a:spcAft>
            </a:pPr>
            <a:r>
              <a:rPr sz="1140" b="0">
                <a:solidFill>
                  <a:srgbClr val="172B4D"/>
                </a:solidFill>
                <a:latin typeface="Noto Sans CJK JP"/>
                <a:ea typeface="Noto Sans CJK JP"/>
              </a:rPr>
              <a:t>輸出加算で過剰が緩めば↑を抑制</a:t>
            </a:r>
          </a:p>
        </p:txBody>
      </p:sp>
      <p:sp>
        <p:nvSpPr>
          <p:cNvPr id="19" name="Rectangle 18"/>
          <p:cNvSpPr/>
          <p:nvPr/>
        </p:nvSpPr>
        <p:spPr>
          <a:xfrm>
            <a:off x="548640" y="2802636"/>
            <a:ext cx="11923776" cy="3630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2861157"/>
            <a:ext cx="2834640" cy="292608"/>
          </a:xfrm>
          <a:prstGeom prst="rect">
            <a:avLst/>
          </a:prstGeom>
          <a:noFill/>
        </p:spPr>
        <p:txBody>
          <a:bodyPr wrap="square" lIns="0" rIns="0" tIns="0" bIns="0">
            <a:spAutoFit/>
          </a:bodyPr>
          <a:lstStyle/>
          <a:p>
            <a:pPr>
              <a:lnSpc>
                <a:spcPct val="113000"/>
              </a:lnSpc>
              <a:spcAft>
                <a:spcPts val="300"/>
              </a:spcAft>
            </a:pPr>
            <a:r>
              <a:rPr sz="1140" b="1">
                <a:solidFill>
                  <a:srgbClr val="007F82"/>
                </a:solidFill>
                <a:latin typeface="Noto Sans CJK JP"/>
                <a:ea typeface="Noto Sans CJK JP"/>
              </a:rPr>
              <a:t>インドネシア：BEV</a:t>
            </a:r>
          </a:p>
        </p:txBody>
      </p:sp>
      <p:sp>
        <p:nvSpPr>
          <p:cNvPr id="21" name="TextBox 20"/>
          <p:cNvSpPr txBox="1"/>
          <p:nvPr/>
        </p:nvSpPr>
        <p:spPr>
          <a:xfrm>
            <a:off x="3584448" y="2861157"/>
            <a:ext cx="3017520" cy="292608"/>
          </a:xfrm>
          <a:prstGeom prst="rect">
            <a:avLst/>
          </a:prstGeom>
          <a:noFill/>
        </p:spPr>
        <p:txBody>
          <a:bodyPr wrap="square" lIns="0" rIns="0" tIns="0" bIns="0">
            <a:spAutoFit/>
          </a:bodyPr>
          <a:lstStyle/>
          <a:p>
            <a:pPr>
              <a:lnSpc>
                <a:spcPct val="113000"/>
              </a:lnSpc>
              <a:spcAft>
                <a:spcPts val="300"/>
              </a:spcAft>
            </a:pPr>
            <a:r>
              <a:rPr sz="1140" b="0">
                <a:solidFill>
                  <a:srgbClr val="172B4D"/>
                </a:solidFill>
                <a:latin typeface="Noto Sans CJK JP"/>
                <a:ea typeface="Noto Sans CJK JP"/>
              </a:rPr>
              <a:t>輸入先行↑／移行停滞↓※</a:t>
            </a:r>
          </a:p>
        </p:txBody>
      </p:sp>
      <p:sp>
        <p:nvSpPr>
          <p:cNvPr id="22" name="TextBox 21"/>
          <p:cNvSpPr txBox="1"/>
          <p:nvPr/>
        </p:nvSpPr>
        <p:spPr>
          <a:xfrm>
            <a:off x="6675120" y="2861157"/>
            <a:ext cx="2971800" cy="292608"/>
          </a:xfrm>
          <a:prstGeom prst="rect">
            <a:avLst/>
          </a:prstGeom>
          <a:noFill/>
        </p:spPr>
        <p:txBody>
          <a:bodyPr wrap="square" lIns="0" rIns="0" tIns="0" bIns="0">
            <a:spAutoFit/>
          </a:bodyPr>
          <a:lstStyle/>
          <a:p>
            <a:pPr>
              <a:lnSpc>
                <a:spcPct val="113000"/>
              </a:lnSpc>
              <a:spcAft>
                <a:spcPts val="300"/>
              </a:spcAft>
            </a:pPr>
            <a:r>
              <a:rPr sz="1140" b="0">
                <a:solidFill>
                  <a:srgbClr val="172B4D"/>
                </a:solidFill>
                <a:latin typeface="Noto Sans CJK JP"/>
                <a:ea typeface="Noto Sans CJK JP"/>
              </a:rPr>
              <a:t>国産化成功↓／供給断↑※</a:t>
            </a:r>
          </a:p>
        </p:txBody>
      </p:sp>
      <p:sp>
        <p:nvSpPr>
          <p:cNvPr id="23" name="TextBox 22"/>
          <p:cNvSpPr txBox="1"/>
          <p:nvPr/>
        </p:nvSpPr>
        <p:spPr>
          <a:xfrm>
            <a:off x="9674352" y="2861157"/>
            <a:ext cx="2743200" cy="292608"/>
          </a:xfrm>
          <a:prstGeom prst="rect">
            <a:avLst/>
          </a:prstGeom>
          <a:noFill/>
        </p:spPr>
        <p:txBody>
          <a:bodyPr wrap="square" lIns="0" rIns="0" tIns="0" bIns="0">
            <a:spAutoFit/>
          </a:bodyPr>
          <a:lstStyle/>
          <a:p>
            <a:pPr>
              <a:lnSpc>
                <a:spcPct val="113000"/>
              </a:lnSpc>
              <a:spcAft>
                <a:spcPts val="300"/>
              </a:spcAft>
            </a:pPr>
            <a:r>
              <a:rPr sz="1140" b="0">
                <a:solidFill>
                  <a:srgbClr val="172B4D"/>
                </a:solidFill>
                <a:latin typeface="Noto Sans CJK JP"/>
                <a:ea typeface="Noto Sans CJK JP"/>
              </a:rPr>
              <a:t>2026稼働・2027TKDN60％</a:t>
            </a:r>
          </a:p>
        </p:txBody>
      </p:sp>
      <p:sp>
        <p:nvSpPr>
          <p:cNvPr id="24" name="Rectangle 23"/>
          <p:cNvSpPr/>
          <p:nvPr/>
        </p:nvSpPr>
        <p:spPr>
          <a:xfrm>
            <a:off x="548640" y="3172968"/>
            <a:ext cx="11923776" cy="363016"/>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4360" y="3231489"/>
            <a:ext cx="2834640" cy="292608"/>
          </a:xfrm>
          <a:prstGeom prst="rect">
            <a:avLst/>
          </a:prstGeom>
          <a:noFill/>
        </p:spPr>
        <p:txBody>
          <a:bodyPr wrap="square" lIns="0" rIns="0" tIns="0" bIns="0">
            <a:spAutoFit/>
          </a:bodyPr>
          <a:lstStyle/>
          <a:p>
            <a:pPr>
              <a:lnSpc>
                <a:spcPct val="113000"/>
              </a:lnSpc>
              <a:spcAft>
                <a:spcPts val="300"/>
              </a:spcAft>
            </a:pPr>
            <a:r>
              <a:rPr sz="1140" b="1">
                <a:solidFill>
                  <a:srgbClr val="007F82"/>
                </a:solidFill>
                <a:latin typeface="Noto Sans CJK JP"/>
                <a:ea typeface="Noto Sans CJK JP"/>
              </a:rPr>
              <a:t>マレーシア：CBU/CKD</a:t>
            </a:r>
          </a:p>
        </p:txBody>
      </p:sp>
      <p:sp>
        <p:nvSpPr>
          <p:cNvPr id="26" name="TextBox 25"/>
          <p:cNvSpPr txBox="1"/>
          <p:nvPr/>
        </p:nvSpPr>
        <p:spPr>
          <a:xfrm>
            <a:off x="3584448" y="3231489"/>
            <a:ext cx="3017520" cy="292608"/>
          </a:xfrm>
          <a:prstGeom prst="rect">
            <a:avLst/>
          </a:prstGeom>
          <a:noFill/>
        </p:spPr>
        <p:txBody>
          <a:bodyPr wrap="square" lIns="0" rIns="0" tIns="0" bIns="0">
            <a:spAutoFit/>
          </a:bodyPr>
          <a:lstStyle/>
          <a:p>
            <a:pPr>
              <a:lnSpc>
                <a:spcPct val="113000"/>
              </a:lnSpc>
              <a:spcAft>
                <a:spcPts val="300"/>
              </a:spcAft>
            </a:pPr>
            <a:r>
              <a:rPr sz="1140" b="0">
                <a:solidFill>
                  <a:srgbClr val="172B4D"/>
                </a:solidFill>
                <a:latin typeface="Noto Sans CJK JP"/>
                <a:ea typeface="Noto Sans CJK JP"/>
              </a:rPr>
              <a:t>低価格CBU↓※／CKD回復↑</a:t>
            </a:r>
          </a:p>
        </p:txBody>
      </p:sp>
      <p:sp>
        <p:nvSpPr>
          <p:cNvPr id="27" name="TextBox 26"/>
          <p:cNvSpPr txBox="1"/>
          <p:nvPr/>
        </p:nvSpPr>
        <p:spPr>
          <a:xfrm>
            <a:off x="6675120" y="3231489"/>
            <a:ext cx="2971800" cy="292608"/>
          </a:xfrm>
          <a:prstGeom prst="rect">
            <a:avLst/>
          </a:prstGeom>
          <a:noFill/>
        </p:spPr>
        <p:txBody>
          <a:bodyPr wrap="square" lIns="0" rIns="0" tIns="0" bIns="0">
            <a:spAutoFit/>
          </a:bodyPr>
          <a:lstStyle/>
          <a:p>
            <a:pPr>
              <a:lnSpc>
                <a:spcPct val="113000"/>
              </a:lnSpc>
              <a:spcAft>
                <a:spcPts val="300"/>
              </a:spcAft>
            </a:pPr>
            <a:r>
              <a:rPr sz="1140" b="0">
                <a:solidFill>
                  <a:srgbClr val="172B4D"/>
                </a:solidFill>
                <a:latin typeface="Noto Sans CJK JP"/>
                <a:ea typeface="Noto Sans CJK JP"/>
              </a:rPr>
              <a:t>CBU供給終了↑※／CKDは不定</a:t>
            </a:r>
          </a:p>
        </p:txBody>
      </p:sp>
      <p:sp>
        <p:nvSpPr>
          <p:cNvPr id="28" name="TextBox 27"/>
          <p:cNvSpPr txBox="1"/>
          <p:nvPr/>
        </p:nvSpPr>
        <p:spPr>
          <a:xfrm>
            <a:off x="9674352" y="3231489"/>
            <a:ext cx="2743200" cy="292608"/>
          </a:xfrm>
          <a:prstGeom prst="rect">
            <a:avLst/>
          </a:prstGeom>
          <a:noFill/>
        </p:spPr>
        <p:txBody>
          <a:bodyPr wrap="square" lIns="0" rIns="0" tIns="0" bIns="0">
            <a:spAutoFit/>
          </a:bodyPr>
          <a:lstStyle/>
          <a:p>
            <a:pPr>
              <a:lnSpc>
                <a:spcPct val="113000"/>
              </a:lnSpc>
              <a:spcAft>
                <a:spcPts val="300"/>
              </a:spcAft>
            </a:pPr>
            <a:r>
              <a:rPr sz="1140" b="0">
                <a:solidFill>
                  <a:srgbClr val="172B4D"/>
                </a:solidFill>
                <a:latin typeface="Noto Sans CJK JP"/>
                <a:ea typeface="Noto Sans CJK JP"/>
              </a:rPr>
              <a:t>在庫と新規輸入・国内販売枠</a:t>
            </a:r>
          </a:p>
        </p:txBody>
      </p:sp>
      <p:sp>
        <p:nvSpPr>
          <p:cNvPr id="29" name="Rectangle 28"/>
          <p:cNvSpPr/>
          <p:nvPr/>
        </p:nvSpPr>
        <p:spPr>
          <a:xfrm>
            <a:off x="548640" y="3543300"/>
            <a:ext cx="11923776" cy="3630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94360" y="3601821"/>
            <a:ext cx="2834640" cy="292608"/>
          </a:xfrm>
          <a:prstGeom prst="rect">
            <a:avLst/>
          </a:prstGeom>
          <a:noFill/>
        </p:spPr>
        <p:txBody>
          <a:bodyPr wrap="square" lIns="0" rIns="0" tIns="0" bIns="0">
            <a:spAutoFit/>
          </a:bodyPr>
          <a:lstStyle/>
          <a:p>
            <a:pPr>
              <a:lnSpc>
                <a:spcPct val="113000"/>
              </a:lnSpc>
              <a:spcAft>
                <a:spcPts val="300"/>
              </a:spcAft>
            </a:pPr>
            <a:r>
              <a:rPr sz="1140" b="1">
                <a:solidFill>
                  <a:srgbClr val="007F82"/>
                </a:solidFill>
                <a:latin typeface="Noto Sans CJK JP"/>
                <a:ea typeface="Noto Sans CJK JP"/>
              </a:rPr>
              <a:t>フィリピン：BEV/HEV</a:t>
            </a:r>
          </a:p>
        </p:txBody>
      </p:sp>
      <p:sp>
        <p:nvSpPr>
          <p:cNvPr id="31" name="TextBox 30"/>
          <p:cNvSpPr txBox="1"/>
          <p:nvPr/>
        </p:nvSpPr>
        <p:spPr>
          <a:xfrm>
            <a:off x="3584448" y="3601821"/>
            <a:ext cx="3017520" cy="292608"/>
          </a:xfrm>
          <a:prstGeom prst="rect">
            <a:avLst/>
          </a:prstGeom>
          <a:noFill/>
        </p:spPr>
        <p:txBody>
          <a:bodyPr wrap="square" lIns="0" rIns="0" tIns="0" bIns="0">
            <a:spAutoFit/>
          </a:bodyPr>
          <a:lstStyle/>
          <a:p>
            <a:pPr>
              <a:lnSpc>
                <a:spcPct val="113000"/>
              </a:lnSpc>
              <a:spcAft>
                <a:spcPts val="300"/>
              </a:spcAft>
            </a:pPr>
            <a:r>
              <a:rPr sz="1140" b="0">
                <a:solidFill>
                  <a:srgbClr val="172B4D"/>
                </a:solidFill>
                <a:latin typeface="Noto Sans CJK JP"/>
                <a:ea typeface="Noto Sans CJK JP"/>
              </a:rPr>
              <a:t>輸入・税恩典で↑を予想</a:t>
            </a:r>
          </a:p>
        </p:txBody>
      </p:sp>
      <p:sp>
        <p:nvSpPr>
          <p:cNvPr id="32" name="TextBox 31"/>
          <p:cNvSpPr txBox="1"/>
          <p:nvPr/>
        </p:nvSpPr>
        <p:spPr>
          <a:xfrm>
            <a:off x="6675120" y="3601821"/>
            <a:ext cx="2971800" cy="292608"/>
          </a:xfrm>
          <a:prstGeom prst="rect">
            <a:avLst/>
          </a:prstGeom>
          <a:noFill/>
        </p:spPr>
        <p:txBody>
          <a:bodyPr wrap="square" lIns="0" rIns="0" tIns="0" bIns="0">
            <a:spAutoFit/>
          </a:bodyPr>
          <a:lstStyle/>
          <a:p>
            <a:pPr>
              <a:lnSpc>
                <a:spcPct val="113000"/>
              </a:lnSpc>
              <a:spcAft>
                <a:spcPts val="300"/>
              </a:spcAft>
            </a:pPr>
            <a:r>
              <a:rPr sz="1140" b="0">
                <a:solidFill>
                  <a:srgbClr val="172B4D"/>
                </a:solidFill>
                <a:latin typeface="Noto Sans CJK JP"/>
                <a:ea typeface="Noto Sans CJK JP"/>
              </a:rPr>
              <a:t>競合投入が多ければ↑</a:t>
            </a:r>
          </a:p>
        </p:txBody>
      </p:sp>
      <p:sp>
        <p:nvSpPr>
          <p:cNvPr id="33" name="TextBox 32"/>
          <p:cNvSpPr txBox="1"/>
          <p:nvPr/>
        </p:nvSpPr>
        <p:spPr>
          <a:xfrm>
            <a:off x="9674352" y="3601821"/>
            <a:ext cx="2743200" cy="292608"/>
          </a:xfrm>
          <a:prstGeom prst="rect">
            <a:avLst/>
          </a:prstGeom>
          <a:noFill/>
        </p:spPr>
        <p:txBody>
          <a:bodyPr wrap="square" lIns="0" rIns="0" tIns="0" bIns="0">
            <a:spAutoFit/>
          </a:bodyPr>
          <a:lstStyle/>
          <a:p>
            <a:pPr>
              <a:lnSpc>
                <a:spcPct val="113000"/>
              </a:lnSpc>
              <a:spcAft>
                <a:spcPts val="300"/>
              </a:spcAft>
            </a:pPr>
            <a:r>
              <a:rPr sz="1140" b="0">
                <a:solidFill>
                  <a:srgbClr val="172B4D"/>
                </a:solidFill>
                <a:latin typeface="Noto Sans CJK JP"/>
                <a:ea typeface="Noto Sans CJK JP"/>
              </a:rPr>
              <a:t>BEVだけの効果に限定しない</a:t>
            </a:r>
          </a:p>
        </p:txBody>
      </p:sp>
      <p:sp>
        <p:nvSpPr>
          <p:cNvPr id="34" name="Rectangle 33"/>
          <p:cNvSpPr/>
          <p:nvPr/>
        </p:nvSpPr>
        <p:spPr>
          <a:xfrm>
            <a:off x="548640" y="3913632"/>
            <a:ext cx="11923776" cy="363016"/>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94360" y="3972153"/>
            <a:ext cx="2834640" cy="292608"/>
          </a:xfrm>
          <a:prstGeom prst="rect">
            <a:avLst/>
          </a:prstGeom>
          <a:noFill/>
        </p:spPr>
        <p:txBody>
          <a:bodyPr wrap="square" lIns="0" rIns="0" tIns="0" bIns="0">
            <a:spAutoFit/>
          </a:bodyPr>
          <a:lstStyle/>
          <a:p>
            <a:pPr>
              <a:lnSpc>
                <a:spcPct val="113000"/>
              </a:lnSpc>
              <a:spcAft>
                <a:spcPts val="300"/>
              </a:spcAft>
            </a:pPr>
            <a:r>
              <a:rPr sz="1140" b="1">
                <a:solidFill>
                  <a:srgbClr val="007F82"/>
                </a:solidFill>
                <a:latin typeface="Noto Sans CJK JP"/>
                <a:ea typeface="Noto Sans CJK JP"/>
              </a:rPr>
              <a:t>ベトナム：BEV</a:t>
            </a:r>
          </a:p>
        </p:txBody>
      </p:sp>
      <p:sp>
        <p:nvSpPr>
          <p:cNvPr id="36" name="TextBox 35"/>
          <p:cNvSpPr txBox="1"/>
          <p:nvPr/>
        </p:nvSpPr>
        <p:spPr>
          <a:xfrm>
            <a:off x="3584448" y="3972153"/>
            <a:ext cx="3017520" cy="292608"/>
          </a:xfrm>
          <a:prstGeom prst="rect">
            <a:avLst/>
          </a:prstGeom>
          <a:noFill/>
        </p:spPr>
        <p:txBody>
          <a:bodyPr wrap="square" lIns="0" rIns="0" tIns="0" bIns="0">
            <a:spAutoFit/>
          </a:bodyPr>
          <a:lstStyle/>
          <a:p>
            <a:pPr>
              <a:lnSpc>
                <a:spcPct val="113000"/>
              </a:lnSpc>
              <a:spcAft>
                <a:spcPts val="300"/>
              </a:spcAft>
            </a:pPr>
            <a:r>
              <a:rPr sz="1140" b="0">
                <a:solidFill>
                  <a:srgbClr val="172B4D"/>
                </a:solidFill>
                <a:latin typeface="Noto Sans CJK JP"/>
                <a:ea typeface="Noto Sans CJK JP"/>
              </a:rPr>
              <a:t>購入費低下で↑の可能性</a:t>
            </a:r>
          </a:p>
        </p:txBody>
      </p:sp>
      <p:sp>
        <p:nvSpPr>
          <p:cNvPr id="37" name="TextBox 36"/>
          <p:cNvSpPr txBox="1"/>
          <p:nvPr/>
        </p:nvSpPr>
        <p:spPr>
          <a:xfrm>
            <a:off x="6675120" y="3972153"/>
            <a:ext cx="2971800" cy="292608"/>
          </a:xfrm>
          <a:prstGeom prst="rect">
            <a:avLst/>
          </a:prstGeom>
          <a:noFill/>
        </p:spPr>
        <p:txBody>
          <a:bodyPr wrap="square" lIns="0" rIns="0" tIns="0" bIns="0">
            <a:spAutoFit/>
          </a:bodyPr>
          <a:lstStyle/>
          <a:p>
            <a:pPr>
              <a:lnSpc>
                <a:spcPct val="113000"/>
              </a:lnSpc>
              <a:spcAft>
                <a:spcPts val="300"/>
              </a:spcAft>
            </a:pPr>
            <a:r>
              <a:rPr sz="1140" b="0">
                <a:solidFill>
                  <a:srgbClr val="172B4D"/>
                </a:solidFill>
                <a:latin typeface="Noto Sans CJK JP"/>
                <a:ea typeface="Noto Sans CJK JP"/>
              </a:rPr>
              <a:t>優遇継続で低下余地／不定</a:t>
            </a:r>
          </a:p>
        </p:txBody>
      </p:sp>
      <p:sp>
        <p:nvSpPr>
          <p:cNvPr id="38" name="TextBox 37"/>
          <p:cNvSpPr txBox="1"/>
          <p:nvPr/>
        </p:nvSpPr>
        <p:spPr>
          <a:xfrm>
            <a:off x="9674352" y="3972153"/>
            <a:ext cx="2743200" cy="292608"/>
          </a:xfrm>
          <a:prstGeom prst="rect">
            <a:avLst/>
          </a:prstGeom>
          <a:noFill/>
        </p:spPr>
        <p:txBody>
          <a:bodyPr wrap="square" lIns="0" rIns="0" tIns="0" bIns="0">
            <a:spAutoFit/>
          </a:bodyPr>
          <a:lstStyle/>
          <a:p>
            <a:pPr>
              <a:lnSpc>
                <a:spcPct val="113000"/>
              </a:lnSpc>
              <a:spcAft>
                <a:spcPts val="300"/>
              </a:spcAft>
            </a:pPr>
            <a:r>
              <a:rPr sz="1140" b="0">
                <a:solidFill>
                  <a:srgbClr val="172B4D"/>
                </a:solidFill>
                <a:latin typeface="Noto Sans CJK JP"/>
                <a:ea typeface="Noto Sans CJK JP"/>
              </a:rPr>
              <a:t>2030年まで延長。2027反動を修正</a:t>
            </a:r>
          </a:p>
        </p:txBody>
      </p:sp>
      <p:sp>
        <p:nvSpPr>
          <p:cNvPr id="39" name="Rectangle 38"/>
          <p:cNvSpPr/>
          <p:nvPr/>
        </p:nvSpPr>
        <p:spPr>
          <a:xfrm>
            <a:off x="548640" y="4283964"/>
            <a:ext cx="11923776" cy="3630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94360" y="4342485"/>
            <a:ext cx="2834640" cy="292608"/>
          </a:xfrm>
          <a:prstGeom prst="rect">
            <a:avLst/>
          </a:prstGeom>
          <a:noFill/>
        </p:spPr>
        <p:txBody>
          <a:bodyPr wrap="square" lIns="0" rIns="0" tIns="0" bIns="0">
            <a:spAutoFit/>
          </a:bodyPr>
          <a:lstStyle/>
          <a:p>
            <a:pPr>
              <a:lnSpc>
                <a:spcPct val="113000"/>
              </a:lnSpc>
              <a:spcAft>
                <a:spcPts val="300"/>
              </a:spcAft>
            </a:pPr>
            <a:r>
              <a:rPr sz="1140" b="1">
                <a:solidFill>
                  <a:srgbClr val="007F82"/>
                </a:solidFill>
                <a:latin typeface="Noto Sans CJK JP"/>
                <a:ea typeface="Noto Sans CJK JP"/>
              </a:rPr>
              <a:t>シンガポール：BEV</a:t>
            </a:r>
          </a:p>
        </p:txBody>
      </p:sp>
      <p:sp>
        <p:nvSpPr>
          <p:cNvPr id="41" name="TextBox 40"/>
          <p:cNvSpPr txBox="1"/>
          <p:nvPr/>
        </p:nvSpPr>
        <p:spPr>
          <a:xfrm>
            <a:off x="3584448" y="4342485"/>
            <a:ext cx="3017520" cy="292608"/>
          </a:xfrm>
          <a:prstGeom prst="rect">
            <a:avLst/>
          </a:prstGeom>
          <a:noFill/>
        </p:spPr>
        <p:txBody>
          <a:bodyPr wrap="square" lIns="0" rIns="0" tIns="0" bIns="0">
            <a:spAutoFit/>
          </a:bodyPr>
          <a:lstStyle/>
          <a:p>
            <a:pPr>
              <a:lnSpc>
                <a:spcPct val="113000"/>
              </a:lnSpc>
              <a:spcAft>
                <a:spcPts val="300"/>
              </a:spcAft>
            </a:pPr>
            <a:r>
              <a:rPr sz="1140" b="0">
                <a:solidFill>
                  <a:srgbClr val="172B4D"/>
                </a:solidFill>
                <a:latin typeface="Noto Sans CJK JP"/>
                <a:ea typeface="Noto Sans CJK JP"/>
              </a:rPr>
              <a:t>2026末↑／2027初↓※</a:t>
            </a:r>
          </a:p>
        </p:txBody>
      </p:sp>
      <p:sp>
        <p:nvSpPr>
          <p:cNvPr id="42" name="TextBox 41"/>
          <p:cNvSpPr txBox="1"/>
          <p:nvPr/>
        </p:nvSpPr>
        <p:spPr>
          <a:xfrm>
            <a:off x="6675120" y="4342485"/>
            <a:ext cx="2971800" cy="292608"/>
          </a:xfrm>
          <a:prstGeom prst="rect">
            <a:avLst/>
          </a:prstGeom>
          <a:noFill/>
        </p:spPr>
        <p:txBody>
          <a:bodyPr wrap="square" lIns="0" rIns="0" tIns="0" bIns="0">
            <a:spAutoFit/>
          </a:bodyPr>
          <a:lstStyle/>
          <a:p>
            <a:pPr>
              <a:lnSpc>
                <a:spcPct val="113000"/>
              </a:lnSpc>
              <a:spcAft>
                <a:spcPts val="300"/>
              </a:spcAft>
            </a:pPr>
            <a:r>
              <a:rPr sz="1140" b="0">
                <a:solidFill>
                  <a:srgbClr val="172B4D"/>
                </a:solidFill>
                <a:latin typeface="Noto Sans CJK JP"/>
                <a:ea typeface="Noto Sans CJK JP"/>
              </a:rPr>
              <a:t>反動で見かけ上↑※</a:t>
            </a:r>
          </a:p>
        </p:txBody>
      </p:sp>
      <p:sp>
        <p:nvSpPr>
          <p:cNvPr id="43" name="TextBox 42"/>
          <p:cNvSpPr txBox="1"/>
          <p:nvPr/>
        </p:nvSpPr>
        <p:spPr>
          <a:xfrm>
            <a:off x="9674352" y="4342485"/>
            <a:ext cx="2743200" cy="292608"/>
          </a:xfrm>
          <a:prstGeom prst="rect">
            <a:avLst/>
          </a:prstGeom>
          <a:noFill/>
        </p:spPr>
        <p:txBody>
          <a:bodyPr wrap="square" lIns="0" rIns="0" tIns="0" bIns="0">
            <a:spAutoFit/>
          </a:bodyPr>
          <a:lstStyle/>
          <a:p>
            <a:pPr>
              <a:lnSpc>
                <a:spcPct val="113000"/>
              </a:lnSpc>
              <a:spcAft>
                <a:spcPts val="300"/>
              </a:spcAft>
            </a:pPr>
            <a:r>
              <a:rPr sz="1140" b="0">
                <a:solidFill>
                  <a:srgbClr val="172B4D"/>
                </a:solidFill>
                <a:latin typeface="Noto Sans CJK JP"/>
                <a:ea typeface="Noto Sans CJK JP"/>
              </a:rPr>
              <a:t>COE枠・価格・出力を統制</a:t>
            </a:r>
          </a:p>
        </p:txBody>
      </p:sp>
      <p:sp>
        <p:nvSpPr>
          <p:cNvPr id="44" name="Rectangle 43"/>
          <p:cNvSpPr/>
          <p:nvPr/>
        </p:nvSpPr>
        <p:spPr>
          <a:xfrm>
            <a:off x="548640" y="4654296"/>
            <a:ext cx="11923776" cy="363016"/>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94360" y="4712817"/>
            <a:ext cx="2834640" cy="292608"/>
          </a:xfrm>
          <a:prstGeom prst="rect">
            <a:avLst/>
          </a:prstGeom>
          <a:noFill/>
        </p:spPr>
        <p:txBody>
          <a:bodyPr wrap="square" lIns="0" rIns="0" tIns="0" bIns="0">
            <a:spAutoFit/>
          </a:bodyPr>
          <a:lstStyle/>
          <a:p>
            <a:pPr>
              <a:lnSpc>
                <a:spcPct val="113000"/>
              </a:lnSpc>
              <a:spcAft>
                <a:spcPts val="300"/>
              </a:spcAft>
            </a:pPr>
            <a:r>
              <a:rPr sz="1140" b="1">
                <a:solidFill>
                  <a:srgbClr val="007F82"/>
                </a:solidFill>
                <a:latin typeface="Noto Sans CJK JP"/>
                <a:ea typeface="Noto Sans CJK JP"/>
              </a:rPr>
              <a:t>カンボジア／ラオス：BEV</a:t>
            </a:r>
          </a:p>
        </p:txBody>
      </p:sp>
      <p:sp>
        <p:nvSpPr>
          <p:cNvPr id="46" name="TextBox 45"/>
          <p:cNvSpPr txBox="1"/>
          <p:nvPr/>
        </p:nvSpPr>
        <p:spPr>
          <a:xfrm>
            <a:off x="3584448" y="4712817"/>
            <a:ext cx="3017520" cy="292608"/>
          </a:xfrm>
          <a:prstGeom prst="rect">
            <a:avLst/>
          </a:prstGeom>
          <a:noFill/>
        </p:spPr>
        <p:txBody>
          <a:bodyPr wrap="square" lIns="0" rIns="0" tIns="0" bIns="0">
            <a:spAutoFit/>
          </a:bodyPr>
          <a:lstStyle/>
          <a:p>
            <a:pPr>
              <a:lnSpc>
                <a:spcPct val="113000"/>
              </a:lnSpc>
              <a:spcAft>
                <a:spcPts val="300"/>
              </a:spcAft>
            </a:pPr>
            <a:r>
              <a:rPr sz="1140" b="0">
                <a:solidFill>
                  <a:srgbClr val="172B4D"/>
                </a:solidFill>
                <a:latin typeface="Noto Sans CJK JP"/>
                <a:ea typeface="Noto Sans CJK JP"/>
              </a:rPr>
              <a:t>税軽減・需要代替なら↑</a:t>
            </a:r>
          </a:p>
        </p:txBody>
      </p:sp>
      <p:sp>
        <p:nvSpPr>
          <p:cNvPr id="47" name="TextBox 46"/>
          <p:cNvSpPr txBox="1"/>
          <p:nvPr/>
        </p:nvSpPr>
        <p:spPr>
          <a:xfrm>
            <a:off x="6675120" y="4712817"/>
            <a:ext cx="2971800" cy="292608"/>
          </a:xfrm>
          <a:prstGeom prst="rect">
            <a:avLst/>
          </a:prstGeom>
          <a:noFill/>
        </p:spPr>
        <p:txBody>
          <a:bodyPr wrap="square" lIns="0" rIns="0" tIns="0" bIns="0">
            <a:spAutoFit/>
          </a:bodyPr>
          <a:lstStyle/>
          <a:p>
            <a:pPr>
              <a:lnSpc>
                <a:spcPct val="113000"/>
              </a:lnSpc>
              <a:spcAft>
                <a:spcPts val="300"/>
              </a:spcAft>
            </a:pPr>
            <a:r>
              <a:rPr sz="1140" b="0">
                <a:solidFill>
                  <a:srgbClr val="172B4D"/>
                </a:solidFill>
                <a:latin typeface="Noto Sans CJK JP"/>
                <a:ea typeface="Noto Sans CJK JP"/>
              </a:rPr>
              <a:t>整備網が持続を支えれば↓</a:t>
            </a:r>
          </a:p>
        </p:txBody>
      </p:sp>
      <p:sp>
        <p:nvSpPr>
          <p:cNvPr id="48" name="TextBox 47"/>
          <p:cNvSpPr txBox="1"/>
          <p:nvPr/>
        </p:nvSpPr>
        <p:spPr>
          <a:xfrm>
            <a:off x="9674352" y="4712817"/>
            <a:ext cx="2743200" cy="292608"/>
          </a:xfrm>
          <a:prstGeom prst="rect">
            <a:avLst/>
          </a:prstGeom>
          <a:noFill/>
        </p:spPr>
        <p:txBody>
          <a:bodyPr wrap="square" lIns="0" rIns="0" tIns="0" bIns="0">
            <a:spAutoFit/>
          </a:bodyPr>
          <a:lstStyle/>
          <a:p>
            <a:pPr>
              <a:lnSpc>
                <a:spcPct val="113000"/>
              </a:lnSpc>
              <a:spcAft>
                <a:spcPts val="300"/>
              </a:spcAft>
            </a:pPr>
            <a:r>
              <a:rPr sz="1140" b="0">
                <a:solidFill>
                  <a:srgbClr val="172B4D"/>
                </a:solidFill>
                <a:latin typeface="Noto Sans CJK JP"/>
                <a:ea typeface="Noto Sans CJK JP"/>
              </a:rPr>
              <a:t>HS・許可・ICE停止の例外確認</a:t>
            </a:r>
          </a:p>
        </p:txBody>
      </p:sp>
      <p:sp>
        <p:nvSpPr>
          <p:cNvPr id="49" name="Rectangle 48"/>
          <p:cNvSpPr/>
          <p:nvPr/>
        </p:nvSpPr>
        <p:spPr>
          <a:xfrm>
            <a:off x="548640" y="5024628"/>
            <a:ext cx="11923776" cy="3630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94360" y="5083149"/>
            <a:ext cx="2834640" cy="292608"/>
          </a:xfrm>
          <a:prstGeom prst="rect">
            <a:avLst/>
          </a:prstGeom>
          <a:noFill/>
        </p:spPr>
        <p:txBody>
          <a:bodyPr wrap="square" lIns="0" rIns="0" tIns="0" bIns="0">
            <a:spAutoFit/>
          </a:bodyPr>
          <a:lstStyle/>
          <a:p>
            <a:pPr>
              <a:lnSpc>
                <a:spcPct val="113000"/>
              </a:lnSpc>
              <a:spcAft>
                <a:spcPts val="300"/>
              </a:spcAft>
            </a:pPr>
            <a:r>
              <a:rPr sz="1140" b="1">
                <a:solidFill>
                  <a:srgbClr val="007F82"/>
                </a:solidFill>
                <a:latin typeface="Noto Sans CJK JP"/>
                <a:ea typeface="Noto Sans CJK JP"/>
              </a:rPr>
              <a:t>ミャンマー：BEV</a:t>
            </a:r>
          </a:p>
        </p:txBody>
      </p:sp>
      <p:sp>
        <p:nvSpPr>
          <p:cNvPr id="51" name="TextBox 50"/>
          <p:cNvSpPr txBox="1"/>
          <p:nvPr/>
        </p:nvSpPr>
        <p:spPr>
          <a:xfrm>
            <a:off x="3584448" y="5083149"/>
            <a:ext cx="3017520" cy="292608"/>
          </a:xfrm>
          <a:prstGeom prst="rect">
            <a:avLst/>
          </a:prstGeom>
          <a:noFill/>
        </p:spPr>
        <p:txBody>
          <a:bodyPr wrap="square" lIns="0" rIns="0" tIns="0" bIns="0">
            <a:spAutoFit/>
          </a:bodyPr>
          <a:lstStyle/>
          <a:p>
            <a:pPr>
              <a:lnSpc>
                <a:spcPct val="113000"/>
              </a:lnSpc>
              <a:spcAft>
                <a:spcPts val="300"/>
              </a:spcAft>
            </a:pPr>
            <a:r>
              <a:rPr sz="1140" b="0">
                <a:solidFill>
                  <a:srgbClr val="172B4D"/>
                </a:solidFill>
                <a:latin typeface="Noto Sans CJK JP"/>
                <a:ea typeface="Noto Sans CJK JP"/>
              </a:rPr>
              <a:t>課税・承認待ちで↓※</a:t>
            </a:r>
          </a:p>
        </p:txBody>
      </p:sp>
      <p:sp>
        <p:nvSpPr>
          <p:cNvPr id="52" name="TextBox 51"/>
          <p:cNvSpPr txBox="1"/>
          <p:nvPr/>
        </p:nvSpPr>
        <p:spPr>
          <a:xfrm>
            <a:off x="6675120" y="5083149"/>
            <a:ext cx="2971800" cy="292608"/>
          </a:xfrm>
          <a:prstGeom prst="rect">
            <a:avLst/>
          </a:prstGeom>
          <a:noFill/>
        </p:spPr>
        <p:txBody>
          <a:bodyPr wrap="square" lIns="0" rIns="0" tIns="0" bIns="0">
            <a:spAutoFit/>
          </a:bodyPr>
          <a:lstStyle/>
          <a:p>
            <a:pPr>
              <a:lnSpc>
                <a:spcPct val="113000"/>
              </a:lnSpc>
              <a:spcAft>
                <a:spcPts val="300"/>
              </a:spcAft>
            </a:pPr>
            <a:r>
              <a:rPr sz="1140" b="0">
                <a:solidFill>
                  <a:srgbClr val="172B4D"/>
                </a:solidFill>
                <a:latin typeface="Noto Sans CJK JP"/>
                <a:ea typeface="Noto Sans CJK JP"/>
              </a:rPr>
              <a:t>供給ショックで見かけ上↑※</a:t>
            </a:r>
          </a:p>
        </p:txBody>
      </p:sp>
      <p:sp>
        <p:nvSpPr>
          <p:cNvPr id="53" name="TextBox 52"/>
          <p:cNvSpPr txBox="1"/>
          <p:nvPr/>
        </p:nvSpPr>
        <p:spPr>
          <a:xfrm>
            <a:off x="9674352" y="5083149"/>
            <a:ext cx="2743200" cy="292608"/>
          </a:xfrm>
          <a:prstGeom prst="rect">
            <a:avLst/>
          </a:prstGeom>
          <a:noFill/>
        </p:spPr>
        <p:txBody>
          <a:bodyPr wrap="square" lIns="0" rIns="0" tIns="0" bIns="0">
            <a:spAutoFit/>
          </a:bodyPr>
          <a:lstStyle/>
          <a:p>
            <a:pPr>
              <a:lnSpc>
                <a:spcPct val="113000"/>
              </a:lnSpc>
              <a:spcAft>
                <a:spcPts val="300"/>
              </a:spcAft>
            </a:pPr>
            <a:r>
              <a:rPr sz="1140" b="0">
                <a:solidFill>
                  <a:srgbClr val="172B4D"/>
                </a:solidFill>
                <a:latin typeface="Noto Sans CJK JP"/>
                <a:ea typeface="Noto Sans CJK JP"/>
              </a:rPr>
              <a:t>抹消枠・外貨・納車に依存</a:t>
            </a:r>
          </a:p>
        </p:txBody>
      </p:sp>
      <p:sp>
        <p:nvSpPr>
          <p:cNvPr id="54" name="Rectangle 53"/>
          <p:cNvSpPr/>
          <p:nvPr/>
        </p:nvSpPr>
        <p:spPr>
          <a:xfrm>
            <a:off x="548640" y="5394960"/>
            <a:ext cx="11923776" cy="363016"/>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94360" y="5453481"/>
            <a:ext cx="2834640" cy="292608"/>
          </a:xfrm>
          <a:prstGeom prst="rect">
            <a:avLst/>
          </a:prstGeom>
          <a:noFill/>
        </p:spPr>
        <p:txBody>
          <a:bodyPr wrap="square" lIns="0" rIns="0" tIns="0" bIns="0">
            <a:spAutoFit/>
          </a:bodyPr>
          <a:lstStyle/>
          <a:p>
            <a:pPr>
              <a:lnSpc>
                <a:spcPct val="113000"/>
              </a:lnSpc>
              <a:spcAft>
                <a:spcPts val="300"/>
              </a:spcAft>
            </a:pPr>
            <a:r>
              <a:rPr sz="1140" b="1">
                <a:solidFill>
                  <a:srgbClr val="007F82"/>
                </a:solidFill>
                <a:latin typeface="Noto Sans CJK JP"/>
                <a:ea typeface="Noto Sans CJK JP"/>
              </a:rPr>
              <a:t>ブルネイ／東ティモール</a:t>
            </a:r>
          </a:p>
        </p:txBody>
      </p:sp>
      <p:sp>
        <p:nvSpPr>
          <p:cNvPr id="56" name="TextBox 55"/>
          <p:cNvSpPr txBox="1"/>
          <p:nvPr/>
        </p:nvSpPr>
        <p:spPr>
          <a:xfrm>
            <a:off x="3584448" y="5453481"/>
            <a:ext cx="3017520" cy="292608"/>
          </a:xfrm>
          <a:prstGeom prst="rect">
            <a:avLst/>
          </a:prstGeom>
          <a:noFill/>
        </p:spPr>
        <p:txBody>
          <a:bodyPr wrap="square" lIns="0" rIns="0" tIns="0" bIns="0">
            <a:spAutoFit/>
          </a:bodyPr>
          <a:lstStyle/>
          <a:p>
            <a:pPr>
              <a:lnSpc>
                <a:spcPct val="113000"/>
              </a:lnSpc>
              <a:spcAft>
                <a:spcPts val="300"/>
              </a:spcAft>
            </a:pPr>
            <a:r>
              <a:rPr sz="1140" b="0">
                <a:solidFill>
                  <a:srgbClr val="172B4D"/>
                </a:solidFill>
                <a:latin typeface="Noto Sans CJK JP"/>
                <a:ea typeface="Noto Sans CJK JP"/>
              </a:rPr>
              <a:t>BEV↑の根拠は限定的</a:t>
            </a:r>
          </a:p>
        </p:txBody>
      </p:sp>
      <p:sp>
        <p:nvSpPr>
          <p:cNvPr id="57" name="TextBox 56"/>
          <p:cNvSpPr txBox="1"/>
          <p:nvPr/>
        </p:nvSpPr>
        <p:spPr>
          <a:xfrm>
            <a:off x="6675120" y="5453481"/>
            <a:ext cx="2971800" cy="292608"/>
          </a:xfrm>
          <a:prstGeom prst="rect">
            <a:avLst/>
          </a:prstGeom>
          <a:noFill/>
        </p:spPr>
        <p:txBody>
          <a:bodyPr wrap="square" lIns="0" rIns="0" tIns="0" bIns="0">
            <a:spAutoFit/>
          </a:bodyPr>
          <a:lstStyle/>
          <a:p>
            <a:pPr>
              <a:lnSpc>
                <a:spcPct val="113000"/>
              </a:lnSpc>
              <a:spcAft>
                <a:spcPts val="300"/>
              </a:spcAft>
            </a:pPr>
            <a:r>
              <a:rPr sz="1140" b="0">
                <a:solidFill>
                  <a:srgbClr val="172B4D"/>
                </a:solidFill>
                <a:latin typeface="Noto Sans CJK JP"/>
                <a:ea typeface="Noto Sans CJK JP"/>
              </a:rPr>
              <a:t>制度だけでは方向不定</a:t>
            </a:r>
          </a:p>
        </p:txBody>
      </p:sp>
      <p:sp>
        <p:nvSpPr>
          <p:cNvPr id="58" name="TextBox 57"/>
          <p:cNvSpPr txBox="1"/>
          <p:nvPr/>
        </p:nvSpPr>
        <p:spPr>
          <a:xfrm>
            <a:off x="9674352" y="5453481"/>
            <a:ext cx="2743200" cy="292608"/>
          </a:xfrm>
          <a:prstGeom prst="rect">
            <a:avLst/>
          </a:prstGeom>
          <a:noFill/>
        </p:spPr>
        <p:txBody>
          <a:bodyPr wrap="square" lIns="0" rIns="0" tIns="0" bIns="0">
            <a:spAutoFit/>
          </a:bodyPr>
          <a:lstStyle/>
          <a:p>
            <a:pPr>
              <a:lnSpc>
                <a:spcPct val="113000"/>
              </a:lnSpc>
              <a:spcAft>
                <a:spcPts val="300"/>
              </a:spcAft>
            </a:pPr>
            <a:r>
              <a:rPr sz="1140" b="0">
                <a:solidFill>
                  <a:srgbClr val="172B4D"/>
                </a:solidFill>
                <a:latin typeface="Noto Sans CJK JP"/>
                <a:ea typeface="Noto Sans CJK JP"/>
              </a:rPr>
              <a:t>燃料補助／中古年式・輸入許可</a:t>
            </a:r>
          </a:p>
        </p:txBody>
      </p:sp>
      <p:sp>
        <p:nvSpPr>
          <p:cNvPr id="59" name="TextBox 58"/>
          <p:cNvSpPr txBox="1"/>
          <p:nvPr/>
        </p:nvSpPr>
        <p:spPr>
          <a:xfrm>
            <a:off x="594360" y="5897880"/>
            <a:ext cx="11750040" cy="457200"/>
          </a:xfrm>
          <a:prstGeom prst="rect">
            <a:avLst/>
          </a:prstGeom>
          <a:noFill/>
        </p:spPr>
        <p:txBody>
          <a:bodyPr wrap="square" lIns="0" rIns="0" tIns="0" bIns="0">
            <a:spAutoFit/>
          </a:bodyPr>
          <a:lstStyle/>
          <a:p>
            <a:pPr>
              <a:lnSpc>
                <a:spcPct val="113000"/>
              </a:lnSpc>
              <a:spcAft>
                <a:spcPts val="300"/>
              </a:spcAft>
            </a:pPr>
            <a:r>
              <a:rPr sz="1200" b="0">
                <a:solidFill>
                  <a:srgbClr val="B57A14"/>
                </a:solidFill>
                <a:latin typeface="Noto Sans CJK JP"/>
                <a:ea typeface="Noto Sans CJK JP"/>
              </a:rPr>
              <a:t>※供給断・駆け込みはAや暦月イベントでも表す。調整後の「製品固有のκ・λ」とは限らない。</a:t>
            </a:r>
          </a:p>
        </p:txBody>
      </p:sp>
      <p:sp>
        <p:nvSpPr>
          <p:cNvPr id="60" name="TextBox 59"/>
          <p:cNvSpPr txBox="1"/>
          <p:nvPr/>
        </p:nvSpPr>
        <p:spPr>
          <a:xfrm>
            <a:off x="594360" y="6428232"/>
            <a:ext cx="11750040" cy="475488"/>
          </a:xfrm>
          <a:prstGeom prst="rect">
            <a:avLst/>
          </a:prstGeom>
          <a:noFill/>
        </p:spPr>
        <p:txBody>
          <a:bodyPr wrap="square" lIns="0" rIns="0" tIns="0" bIns="0">
            <a:spAutoFit/>
          </a:bodyPr>
          <a:lstStyle/>
          <a:p>
            <a:pPr>
              <a:lnSpc>
                <a:spcPct val="113000"/>
              </a:lnSpc>
              <a:spcAft>
                <a:spcPts val="300"/>
              </a:spcAft>
            </a:pPr>
            <a:r>
              <a:rPr sz="1600" b="1">
                <a:solidFill>
                  <a:srgbClr val="172B4D"/>
                </a:solidFill>
                <a:latin typeface="Noto Sans CJK JP"/>
                <a:ea typeface="Noto Sans CJK JP"/>
              </a:rPr>
              <a:t>結論仮説：中国系＝κ↑・λ↑を一律に置かず、優遇資格 × 現地化 × 輸出・サービス能力で分類する。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