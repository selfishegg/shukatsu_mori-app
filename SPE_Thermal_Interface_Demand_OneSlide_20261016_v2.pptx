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e0b6fba6f547ee" /><Relationship Type="http://schemas.openxmlformats.org/officeDocument/2006/relationships/extended-properties" Target="/docProps/app.xml" Id="R299023c5da8b4953" /><Relationship Type="http://schemas.openxmlformats.org/officeDocument/2006/relationships/officeDocument" Target="/ppt/presentation.xml" Id="R0bb0acf66b3b4131" /></Relationships>
</file>

<file path=ppt/presentation.xml><?xml version="1.0" encoding="utf-8"?>
<p:presentation xmlns:p="http://schemas.openxmlformats.org/presentationml/2006/main">
  <p:sldMasterIdLst>
    <p:sldMasterId xmlns:r="http://schemas.openxmlformats.org/officeDocument/2006/relationships" id="2147483648" r:id="R7cff5c28cfce4677"/>
  </p:sldMasterIdLst>
  <p:notesMasterIdLst>
    <p:notesMasterId xmlns:r="http://schemas.openxmlformats.org/officeDocument/2006/relationships" r:id="R30031569b61f4dc7"/>
  </p:notesMasterIdLst>
  <p:sldIdLst>
    <p:sldId xmlns:r="http://schemas.openxmlformats.org/officeDocument/2006/relationships" id="256" r:id="Rf7ae615fee384d4c"/>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a3f8d65fb3df4efe" /><Relationship Type="http://schemas.openxmlformats.org/officeDocument/2006/relationships/slideMaster" Target="/ppt/slideMasters/slideMaster1.xml" Id="R7cff5c28cfce4677" /><Relationship Type="http://schemas.openxmlformats.org/officeDocument/2006/relationships/notesMaster" Target="/ppt/notesMasters/notesMaster1.xml" Id="R30031569b61f4dc7" /><Relationship Type="http://schemas.openxmlformats.org/officeDocument/2006/relationships/presProps" Target="/ppt/presProps.xml" Id="R102a094b185c448e" /><Relationship Type="http://schemas.openxmlformats.org/officeDocument/2006/relationships/tableStyles" Target="/ppt/tableStyles.xml" Id="R9242805795c54bc2" /><Relationship Type="http://schemas.openxmlformats.org/officeDocument/2006/relationships/slide" Target="/ppt/slides/slide1.xml" Id="Rf7ae615fee384d4c"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8a18565ab8eb4a0f"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1502b6300964422d" /><Relationship Type="http://schemas.openxmlformats.org/officeDocument/2006/relationships/notesMaster" Target="/ppt/notesMasters/notesMaster1.xml" Id="R3f8a097c8fdc4b0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【説明原稿：約60〜90秒】</a:t>
            </a:r>
          </a:p>
          <a:p xmlns:a="http://schemas.openxmlformats.org/drawingml/2006/main">
            <a:r>
              <a:t>ロジックはGAAから将来のCFETへ、NANDは多層化とセル・周辺回路の接合へ進みます。DRAMではHBMのチップ積層が進み、さらにセル自体を3D化する研究もあります。これらは違う構造変化ですが、材料や接合界面が増え、熱が通る経路を詳しく評価する必要が生じる点で共通します。特に高発熱のロジックやHBMでは、薄膜の熱伝導率だけでなく、界面を横切る際の熱抵抗も局所温度に影響します。</a:t>
            </a:r>
          </a:p>
          <a:p xmlns:a="http://schemas.openxmlformats.org/drawingml/2006/main">
            <a:r>
              <a:t>そこで私が注目するのは、成膜や接合を行う装置に付随する、薄膜・界面の熱評価装置です。材料、成膜条件、接合条件、熱処理条件を比較し、その結果を熱設計に戻す開発評価工程の重要性が高まると考えます。装置例として、薄膜の熱物性と多層膜の界面熱抵抗を測定するピコサームのNanoTR、PicoTRがあります。自分の研究で、接合部にどれだけ温度差がかかるかを評価している経験と結びつけた需要仮説です。</a:t>
            </a:r>
          </a:p>
          <a:p xmlns:a="http://schemas.openxmlformats.org/drawingml/2006/main">
            <a:r>
              <a:t/>
            </a:r>
          </a:p>
          <a:p xmlns:a="http://schemas.openxmlformats.org/drawingml/2006/main">
            <a:r>
              <a:t>【位置づけと物理上の補足】</a:t>
            </a:r>
          </a:p>
          <a:p xmlns:a="http://schemas.openxmlformats.org/drawingml/2006/main">
            <a:r>
              <a:t>・需要拡大はロードマップと熱輸送の課題から導いた仮説であり、市場規模や成長率を実証したものではありません。対象はまず材料・接合工程の開発評価です。量産全数検査への普及を確認したという意味ではありません。</a:t>
            </a:r>
          </a:p>
          <a:p xmlns:a="http://schemas.openxmlformats.org/drawingml/2006/main">
            <a:r>
              <a:t>・GAAはチャネルをゲートで囲み、CFETはn型・p型デバイスを上下に配置する構造です。左の図は積層の概念を示すもので、実寸法や具体的な量産フローを示しません。</a:t>
            </a:r>
          </a:p>
          <a:p xmlns:a="http://schemas.openxmlformats.org/drawingml/2006/main">
            <a:r>
              <a:t>・HBMの完成チップの積層と、DRAMのセル自体の3D化は別です。後者には研究開発段階の候補が含まれます。</a:t>
            </a:r>
          </a:p>
          <a:p xmlns:a="http://schemas.openxmlformats.org/drawingml/2006/main">
            <a:r>
              <a:t>・熱の課題の大きさは構造と動作電力に依存します。すべてのNAND・DRAMが同じ程度に発熱する、あるいは界面熱抵抗が常に支配的だという主張ではありません。</a:t>
            </a:r>
          </a:p>
          <a:p xmlns:a="http://schemas.openxmlformats.org/drawingml/2006/main">
            <a:r>
              <a:t>・界面の温度差は、定常的な1D熱流の近似ではΔT_int = q'' R''_intで表せます。R''_intは面積当たりの界面熱抵抗［m² K/W］、q''は界面を横切る熱流束［W/m²］です。中央の図は有限の界面熱抵抗による温度差を示す概念図です。</a:t>
            </a:r>
          </a:p>
          <a:p xmlns:a="http://schemas.openxmlformats.org/drawingml/2006/main">
            <a:r>
              <a:t>・NanoTR/PicoTRはレーザーによるパルス加熱とサーモリフレクタンスによる温度応答から熱物性を評価します。対象試料の膜厚・光学条件・試料準備等への適合確認が必要です。</a:t>
            </a:r>
          </a:p>
          <a:p xmlns:a="http://schemas.openxmlformats.org/drawingml/2006/main">
            <a:r>
              <a:t/>
            </a:r>
          </a:p>
          <a:p xmlns:a="http://schemas.openxmlformats.org/drawingml/2006/main">
            <a:r>
              <a:t>【一次情報・出典：2026年10月16日参照】</a:t>
            </a:r>
          </a:p>
          <a:p xmlns:a="http://schemas.openxmlformats.org/drawingml/2006/main">
            <a:r>
              <a:t>1. imec, Mitigating the thermal bottleneck in advanced interconnects. 微細配線、低誘電率膜、3D構造と熱抵抗、測定で校正する熱解析の必要性。</a:t>
            </a:r>
          </a:p>
          <a:p xmlns:a="http://schemas.openxmlformats.org/drawingml/2006/main">
            <a:r>
              <a:t>https://www.imec-int.com/en/articles/mitigating-thermal-bottleneck-advanced-interconnects</a:t>
            </a:r>
          </a:p>
          <a:p xmlns:a="http://schemas.openxmlformats.org/drawingml/2006/main">
            <a:r>
              <a:t>2. KIOXIA, What is CMOS directly Bonded to Array (CBA) Technology? NANDセルとCMOSを別ウェーハで形成し接合する構造。</a:t>
            </a:r>
          </a:p>
          <a:p xmlns:a="http://schemas.openxmlformats.org/drawingml/2006/main">
            <a:r>
              <a:t>https://www.kioxia.com/en-jp/rd/technology/cba.html</a:t>
            </a:r>
          </a:p>
          <a:p xmlns:a="http://schemas.openxmlformats.org/drawingml/2006/main">
            <a:r>
              <a:t>3. imec, Outer wall forksheet to bridge nanosheet and CFET device architectures in the logic technology roadmap. GAAナノシートとCFETの方向性。</a:t>
            </a:r>
          </a:p>
          <a:p xmlns:a="http://schemas.openxmlformats.org/drawingml/2006/main">
            <a:r>
              <a:t>https://www.imec-int.com/en/articles/outer-wall-forksheet-bridge-nanosheet-and-cfet-device-architectures-logic-technology</a:t>
            </a:r>
          </a:p>
          <a:p xmlns:a="http://schemas.openxmlformats.org/drawingml/2006/main">
            <a:r>
              <a:t>4. imec, Disrupting the DRAM roadmap with capacitor-less IGZO-DRAM technology. 将来の3D DRAM候補と低温成膜。</a:t>
            </a:r>
          </a:p>
          <a:p xmlns:a="http://schemas.openxmlformats.org/drawingml/2006/main">
            <a:r>
              <a:t>https://www.imec-int.com/en/articles/disrupting-dram-roadmap-capacitor-less-igzo-dram-technology</a:t>
            </a:r>
          </a:p>
          <a:p xmlns:a="http://schemas.openxmlformats.org/drawingml/2006/main">
            <a:r>
              <a:t>5. 株式会社ピコサーム, 薄膜熱物性測定装置 NanoTR / PicoTR. 薄膜の熱伝導率、多層膜の界面熱抵抗、および測定原理。</a:t>
            </a:r>
          </a:p>
          <a:p xmlns:a="http://schemas.openxmlformats.org/drawingml/2006/main">
            <a:r>
              <a:t>https://pico-therm.com/japanese/product/index.html</a:t>
            </a:r>
          </a:p>
          <a:p xmlns:a="http://schemas.openxmlformats.org/drawingml/2006/main">
            <a:r>
              <a:t>6. imec, IEDM 2025 highlights. 3D HBM-on-GPU構造の熱的ボトルネックを含む研究。</a:t>
            </a:r>
          </a:p>
          <a:p xmlns:a="http://schemas.openxmlformats.org/drawingml/2006/main">
            <a:r>
              <a:t>https://www.imec-int.com/en/events/imec-70th-international-electron-devices-meeting-iedm</a:t>
            </a:r>
          </a:p>
          <a:p xmlns:a="http://schemas.openxmlformats.org/drawingml/2006/main">
            <a:r>
              <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0f49b0bca5cd4d6d"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9b6cf9353474ace"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0cd03d4179aa4a84"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c4d504fa900747ad"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62912c3ffddc4623"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f4b155fc3957480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E700B7F-84C8-4BEA-B3F7-D2C73DCD9705}"/>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1C27612-DB67-4D83-AD7B-A14925D39E3C}"/>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A5B9F22-D847-4DC5-8F08-4AB93517E167}"/>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60B5BA07-F3C1-4815-9381-BDF895CB6E8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F3FFA4AE-A3DB-4477-A111-60C9B2F25BC4}"/>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190DCE7-2550-4E05-AB3F-E666A3F5A7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55107F6A-29BB-4FDA-A98E-2A5297C1C7AE}"/>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9EF03CD2-FD06-4D50-AE32-0C85D61DD96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3868E177-4934-4378-976F-81BC7E5C0F8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nSpc>
                <a:spcPct val="110000"/>
              </a:lnSpc>
              <a:spcBef>
                <a:spcPts val="0"/>
              </a:spcBef>
              <a:spcAft>
                <a:spcPts val="0"/>
              </a:spcAft>
              <a:buNone/>
            </a:lvl1pPr>
            <a:lvl2pPr marL="0" indent="0">
              <a:lnSpc>
                <a:spcPct val="110000"/>
              </a:lnSpc>
              <a:spcBef>
                <a:spcPts val="0"/>
              </a:spcBef>
              <a:spcAft>
                <a:spcPts val="0"/>
              </a:spcAft>
              <a:buNone/>
            </a:lvl2pPr>
            <a:lvl3pPr marL="0" indent="0">
              <a:lnSpc>
                <a:spcPct val="110000"/>
              </a:lnSpc>
              <a:spcBef>
                <a:spcPts val="0"/>
              </a:spcBef>
              <a:spcAft>
                <a:spcPts val="0"/>
              </a:spcAft>
              <a:buNone/>
            </a:lvl3pPr>
            <a:lvl4pPr marL="0" indent="0">
              <a:lnSpc>
                <a:spcPct val="110000"/>
              </a:lnSpc>
              <a:spcBef>
                <a:spcPts val="0"/>
              </a:spcBef>
              <a:spcAft>
                <a:spcPts val="0"/>
              </a:spcAft>
              <a:buNone/>
            </a:lvl4pPr>
            <a:lvl5pPr marL="0" indent="0">
              <a:lnSpc>
                <a:spcPct val="110000"/>
              </a:lnSpc>
              <a:spcBef>
                <a:spcPts val="0"/>
              </a:spcBef>
              <a:spcAft>
                <a:spcPts val="0"/>
              </a:spcAft>
              <a:buNone/>
            </a:lvl5pPr>
            <a:lvl6pPr marL="0" indent="0">
              <a:lnSpc>
                <a:spcPct val="110000"/>
              </a:lnSpc>
              <a:spcBef>
                <a:spcPts val="0"/>
              </a:spcBef>
              <a:spcAft>
                <a:spcPts val="0"/>
              </a:spcAft>
              <a:buNone/>
            </a:lvl6pPr>
            <a:lvl7pPr marL="0" indent="0">
              <a:lnSpc>
                <a:spcPct val="110000"/>
              </a:lnSpc>
              <a:spcBef>
                <a:spcPts val="0"/>
              </a:spcBef>
              <a:spcAft>
                <a:spcPts val="0"/>
              </a:spcAft>
              <a:buNone/>
            </a:lvl7pPr>
            <a:lvl8pPr marL="0" indent="0">
              <a:lnSpc>
                <a:spcPct val="110000"/>
              </a:lnSpc>
              <a:spcBef>
                <a:spcPts val="0"/>
              </a:spcBef>
              <a:spcAft>
                <a:spcPts val="0"/>
              </a:spcAft>
              <a:buNone/>
            </a:lvl8pPr>
            <a:lvl9pPr marL="0" indent="0">
              <a:lnSpc>
                <a:spcPct val="110000"/>
              </a:lnSpc>
              <a:spcBef>
                <a:spcPts val="0"/>
              </a:spcBef>
              <a:spcAft>
                <a:spcPts val="0"/>
              </a:spcAft>
              <a:buNone/>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7794D3C1-4344-4E18-99A5-DACB94BC6BF9}"/>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nSpc>
                <a:spcPct val="110000"/>
              </a:lnSpc>
              <a:spcBef>
                <a:spcPts val="0"/>
              </a:spcBef>
              <a:spcAft>
                <a:spcPts val="1200"/>
              </a:spcAft>
              <a:buChar char="•"/>
            </a:lvl1pPr>
            <a:lvl2pPr marL="533400" indent="-228600">
              <a:lnSpc>
                <a:spcPct val="110000"/>
              </a:lnSpc>
              <a:spcBef>
                <a:spcPts val="0"/>
              </a:spcBef>
              <a:spcAft>
                <a:spcPts val="1200"/>
              </a:spcAft>
              <a:buChar char="•"/>
            </a:lvl2pPr>
            <a:lvl3pPr marL="838200" indent="-228600">
              <a:lnSpc>
                <a:spcPct val="110000"/>
              </a:lnSpc>
              <a:spcBef>
                <a:spcPts val="0"/>
              </a:spcBef>
              <a:spcAft>
                <a:spcPts val="1200"/>
              </a:spcAft>
              <a:buChar char="•"/>
            </a:lvl3pPr>
            <a:lvl4pPr marL="1143000" indent="-228600">
              <a:lnSpc>
                <a:spcPct val="110000"/>
              </a:lnSpc>
              <a:spcBef>
                <a:spcPts val="0"/>
              </a:spcBef>
              <a:spcAft>
                <a:spcPts val="1200"/>
              </a:spcAft>
              <a:buChar char="•"/>
            </a:lvl4pPr>
            <a:lvl5pPr marL="1447800" indent="-228600">
              <a:lnSpc>
                <a:spcPct val="110000"/>
              </a:lnSpc>
              <a:spcBef>
                <a:spcPts val="0"/>
              </a:spcBef>
              <a:spcAft>
                <a:spcPts val="1200"/>
              </a:spcAft>
              <a:buChar char="•"/>
            </a:lvl5pPr>
            <a:lvl6pPr marL="1752600" indent="-228600">
              <a:lnSpc>
                <a:spcPct val="110000"/>
              </a:lnSpc>
              <a:spcBef>
                <a:spcPts val="0"/>
              </a:spcBef>
              <a:spcAft>
                <a:spcPts val="1200"/>
              </a:spcAft>
              <a:buChar char="•"/>
            </a:lvl6pPr>
            <a:lvl7pPr marL="2057400" indent="-228600">
              <a:lnSpc>
                <a:spcPct val="110000"/>
              </a:lnSpc>
              <a:spcBef>
                <a:spcPts val="0"/>
              </a:spcBef>
              <a:spcAft>
                <a:spcPts val="1200"/>
              </a:spcAft>
              <a:buChar char="•"/>
            </a:lvl7pPr>
            <a:lvl8pPr marL="2362200" indent="-228600">
              <a:lnSpc>
                <a:spcPct val="110000"/>
              </a:lnSpc>
              <a:spcBef>
                <a:spcPts val="0"/>
              </a:spcBef>
              <a:spcAft>
                <a:spcPts val="1200"/>
              </a:spcAft>
              <a:buChar char="•"/>
            </a:lvl8pPr>
            <a:lvl9pPr marL="2667000" indent="-228600">
              <a:lnSpc>
                <a:spcPct val="110000"/>
              </a:lnSpc>
              <a:spcBef>
                <a:spcPts val="0"/>
              </a:spcBef>
              <a:spcAft>
                <a:spcPts val="1200"/>
              </a:spcAft>
              <a:buChar cha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2cb946ca187470e" /><Relationship Type="http://schemas.openxmlformats.org/officeDocument/2006/relationships/slideLayout" Target="/ppt/slideLayouts/slideLayout1.xml" Id="R3f1c921a188d4abd" /><Relationship Type="http://schemas.openxmlformats.org/officeDocument/2006/relationships/slideLayout" Target="/ppt/slideLayouts/slideLayout2.xml" Id="R512e94a28585401c" /><Relationship Type="http://schemas.openxmlformats.org/officeDocument/2006/relationships/slideLayout" Target="/ppt/slideLayouts/slideLayout3.xml" Id="R836a1c8fac6d4325" /><Relationship Type="http://schemas.openxmlformats.org/officeDocument/2006/relationships/slideLayout" Target="/ppt/slideLayouts/slideLayout4.xml" Id="R69226e5e7f354734" /><Relationship Type="http://schemas.openxmlformats.org/officeDocument/2006/relationships/slideLayout" Target="/ppt/slideLayouts/slideLayout5.xml" Id="R0e43d74751934570" /><Relationship Type="http://schemas.openxmlformats.org/officeDocument/2006/relationships/slideLayout" Target="/ppt/slideLayouts/slideLayout6.xml" Id="R3744083fd7f2461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3f1c921a188d4abd"/>
    <p:sldLayoutId xmlns:r="http://schemas.openxmlformats.org/officeDocument/2006/relationships" id="2147483650" r:id="R512e94a28585401c"/>
    <p:sldLayoutId xmlns:r="http://schemas.openxmlformats.org/officeDocument/2006/relationships" id="2147483651" r:id="R836a1c8fac6d4325"/>
    <p:sldLayoutId xmlns:r="http://schemas.openxmlformats.org/officeDocument/2006/relationships" id="2147483652" r:id="R69226e5e7f354734"/>
    <p:sldLayoutId xmlns:r="http://schemas.openxmlformats.org/officeDocument/2006/relationships" id="2147483653" r:id="R0e43d74751934570"/>
    <p:sldLayoutId xmlns:r="http://schemas.openxmlformats.org/officeDocument/2006/relationships" id="2147483654" r:id="R3744083fd7f2461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971fcdc36dc44744" /><Relationship Type="http://schemas.openxmlformats.org/officeDocument/2006/relationships/notesSlide" Target="/ppt/notesSlides/notesSlide1.xml" Id="R2922599995504d7f" /></Relationships>
</file>

<file path=ppt/slides/slide1.xml><?xml version="1.0" encoding="utf-8"?>
<p:sld xmlns:p="http://schemas.openxmlformats.org/presentationml/2006/main">
  <p:cSld>
    <p:bg>
      <p:bgPr>
        <a:solidFill xmlns:a="http://schemas.openxmlformats.org/drawingml/2006/main">
          <a:srgbClr val="FFFFFF"/>
        </a:solidFill>
      </p:bgPr>
    </p:bg>
    <p:spTree>
      <p:nvGrpSpPr>
        <p:cNvPr id="1" name=""/>
        <p:cNvGrpSpPr/>
        <p:nvPr/>
      </p:nvGrpSpPr>
      <p:grpSpPr>
        <a:xfrm xmlns:a="http://schemas.openxmlformats.org/drawingml/2006/main"/>
      </p:grpSpPr>
      <p:sp>
        <p:nvSpPr>
          <p:cNvPr id="73" name="title">
            <a:extLst xmlns:a="http://schemas.openxmlformats.org/drawingml/2006/main">
              <a:ext uri="{FF2B5EF4-FFF2-40B4-BE49-F238E27FC236}">
                <a16:creationId xmlns:a16="http://schemas.microsoft.com/office/drawing/2014/main" id="{7F194DDB-4A9F-4656-B2DF-C941878CAF7E}"/>
              </a:ext>
            </a:extLst>
          </p:cNvPr>
          <p:cNvSpPr>
            <a:spLocks xmlns:a="http://schemas.openxmlformats.org/drawingml/2006/main" noGrp="1"/>
          </p:cNvSpPr>
          <p:nvPr/>
        </p:nvSpPr>
        <p:spPr>
          <a:xfrm xmlns:a="http://schemas.openxmlformats.org/drawingml/2006/main">
            <a:off x="495300" y="266700"/>
            <a:ext cx="11201400" cy="590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3300" b="1">
                <a:solidFill>
                  <a:srgbClr val="18394E"/>
                </a:solidFill>
                <a:latin typeface="Noto Sans CJK JP"/>
                <a:ea typeface="Noto Sans CJK JP"/>
                <a:cs typeface="Noto Sans CJK JP"/>
              </a:defRPr>
            </a:defPPr>
          </a:lstStyle>
          <a:p xmlns:a="http://schemas.openxmlformats.org/drawingml/2006/main">
            <a:pPr algn="l">
              <a:lnSpc>
                <a:spcPct val="112000"/>
              </a:lnSpc>
              <a:buNone/>
              <a:defRPr sz="3300" b="1">
                <a:solidFill>
                  <a:srgbClr val="18394E"/>
                </a:solidFill>
                <a:latin typeface="Noto Sans CJK JP"/>
                <a:ea typeface="Noto Sans CJK JP"/>
                <a:cs typeface="Noto Sans CJK JP"/>
              </a:defRPr>
            </a:pPr>
            <a:r>
              <a:rPr sz="3300" b="1">
                <a:solidFill>
                  <a:srgbClr val="18394E"/>
                </a:solidFill>
                <a:latin typeface="Noto Sans CJK JP"/>
                <a:ea typeface="Noto Sans CJK JP"/>
                <a:cs typeface="Noto Sans CJK JP"/>
              </a:rPr>
              <a:t>立体化で高まる、薄膜・界面の熱評価ニーズ</a:t>
            </a:r>
          </a:p>
        </p:txBody>
      </p:sp>
      <p:sp>
        <p:nvSpPr>
          <p:cNvPr id="2" name="subtitle">
            <a:extLst xmlns:a="http://schemas.openxmlformats.org/drawingml/2006/main">
              <a:ext uri="{FF2B5EF4-FFF2-40B4-BE49-F238E27FC236}">
                <a16:creationId xmlns:a16="http://schemas.microsoft.com/office/drawing/2014/main" id="{F6235E8E-A410-46D3-BD53-14A84D0AA4AA}"/>
              </a:ext>
            </a:extLst>
          </p:cNvPr>
          <p:cNvSpPr>
            <a:spLocks xmlns:a="http://schemas.openxmlformats.org/drawingml/2006/main" noGrp="1"/>
          </p:cNvSpPr>
          <p:nvPr/>
        </p:nvSpPr>
        <p:spPr>
          <a:xfrm xmlns:a="http://schemas.openxmlformats.org/drawingml/2006/main">
            <a:off x="514350" y="933450"/>
            <a:ext cx="11144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00" b="0">
                <a:solidFill>
                  <a:srgbClr val="60727F"/>
                </a:solidFill>
                <a:latin typeface="Noto Sans CJK JP"/>
                <a:ea typeface="Noto Sans CJK JP"/>
                <a:cs typeface="Noto Sans CJK JP"/>
              </a:defRPr>
            </a:defPPr>
          </a:lstStyle>
          <a:p xmlns:a="http://schemas.openxmlformats.org/drawingml/2006/main">
            <a:pPr algn="l">
              <a:lnSpc>
                <a:spcPct val="112000"/>
              </a:lnSpc>
              <a:buNone/>
              <a:defRPr sz="1800" b="0">
                <a:solidFill>
                  <a:srgbClr val="60727F"/>
                </a:solidFill>
                <a:latin typeface="Noto Sans CJK JP"/>
                <a:ea typeface="Noto Sans CJK JP"/>
                <a:cs typeface="Noto Sans CJK JP"/>
              </a:defRPr>
            </a:pPr>
            <a:r>
              <a:rPr sz="1800" b="0">
                <a:solidFill>
                  <a:srgbClr val="60727F"/>
                </a:solidFill>
                <a:latin typeface="Noto Sans CJK JP"/>
                <a:ea typeface="Noto Sans CJK JP"/>
                <a:cs typeface="Noto Sans CJK JP"/>
              </a:rPr>
              <a:t>半導体ロードマップから考える、材料・接合工程の開発評価需要</a:t>
            </a:r>
          </a:p>
        </p:txBody>
      </p:sp>
      <p:sp>
        <p:nvSpPr>
          <p:cNvPr id="3" name="stage-structure">
            <a:extLst xmlns:a="http://schemas.openxmlformats.org/drawingml/2006/main">
              <a:ext uri="{FF2B5EF4-FFF2-40B4-BE49-F238E27FC236}">
                <a16:creationId xmlns:a16="http://schemas.microsoft.com/office/drawing/2014/main" id="{EEF408BE-FFD0-4932-AE63-C96867555A77}"/>
              </a:ext>
            </a:extLst>
          </p:cNvPr>
          <p:cNvSpPr>
            <a:spLocks xmlns:a="http://schemas.openxmlformats.org/drawingml/2006/main" noGrp="1"/>
          </p:cNvSpPr>
          <p:nvPr/>
        </p:nvSpPr>
        <p:spPr>
          <a:xfrm xmlns:a="http://schemas.openxmlformats.org/drawingml/2006/main">
            <a:off x="514350" y="1571625"/>
            <a:ext cx="323850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8394E"/>
                </a:solidFill>
                <a:latin typeface="Noto Sans CJK JP"/>
                <a:ea typeface="Noto Sans CJK JP"/>
                <a:cs typeface="Noto Sans CJK JP"/>
              </a:defRPr>
            </a:defPPr>
          </a:lstStyle>
          <a:p xmlns:a="http://schemas.openxmlformats.org/drawingml/2006/main">
            <a:pPr algn="l">
              <a:lnSpc>
                <a:spcPct val="112000"/>
              </a:lnSpc>
              <a:buNone/>
              <a:defRPr sz="2175" b="1">
                <a:solidFill>
                  <a:srgbClr val="18394E"/>
                </a:solidFill>
                <a:latin typeface="Noto Sans CJK JP"/>
                <a:ea typeface="Noto Sans CJK JP"/>
                <a:cs typeface="Noto Sans CJK JP"/>
              </a:defRPr>
            </a:pPr>
            <a:r>
              <a:rPr sz="2175" b="1">
                <a:solidFill>
                  <a:srgbClr val="18394E"/>
                </a:solidFill>
                <a:latin typeface="Noto Sans CJK JP"/>
                <a:ea typeface="Noto Sans CJK JP"/>
                <a:cs typeface="Noto Sans CJK JP"/>
              </a:rPr>
              <a:t>構造の変化</a:t>
            </a:r>
          </a:p>
        </p:txBody>
      </p:sp>
      <p:sp>
        <p:nvSpPr>
          <p:cNvPr id="4" name="stage-complexity">
            <a:extLst xmlns:a="http://schemas.openxmlformats.org/drawingml/2006/main">
              <a:ext uri="{FF2B5EF4-FFF2-40B4-BE49-F238E27FC236}">
                <a16:creationId xmlns:a16="http://schemas.microsoft.com/office/drawing/2014/main" id="{02320357-FD17-4321-868C-2037825FAB5C}"/>
              </a:ext>
            </a:extLst>
          </p:cNvPr>
          <p:cNvSpPr>
            <a:spLocks xmlns:a="http://schemas.openxmlformats.org/drawingml/2006/main" noGrp="1"/>
          </p:cNvSpPr>
          <p:nvPr/>
        </p:nvSpPr>
        <p:spPr>
          <a:xfrm xmlns:a="http://schemas.openxmlformats.org/drawingml/2006/main">
            <a:off x="4552950" y="1571625"/>
            <a:ext cx="33718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8394E"/>
                </a:solidFill>
                <a:latin typeface="Noto Sans CJK JP"/>
                <a:ea typeface="Noto Sans CJK JP"/>
                <a:cs typeface="Noto Sans CJK JP"/>
              </a:defRPr>
            </a:defPPr>
          </a:lstStyle>
          <a:p xmlns:a="http://schemas.openxmlformats.org/drawingml/2006/main">
            <a:pPr algn="l">
              <a:lnSpc>
                <a:spcPct val="112000"/>
              </a:lnSpc>
              <a:buNone/>
              <a:defRPr sz="2175" b="1">
                <a:solidFill>
                  <a:srgbClr val="18394E"/>
                </a:solidFill>
                <a:latin typeface="Noto Sans CJK JP"/>
                <a:ea typeface="Noto Sans CJK JP"/>
                <a:cs typeface="Noto Sans CJK JP"/>
              </a:defRPr>
            </a:pPr>
            <a:r>
              <a:rPr sz="2175" b="1">
                <a:solidFill>
                  <a:srgbClr val="18394E"/>
                </a:solidFill>
                <a:latin typeface="Noto Sans CJK JP"/>
                <a:ea typeface="Noto Sans CJK JP"/>
                <a:cs typeface="Noto Sans CJK JP"/>
              </a:rPr>
              <a:t>熱の流れが複雑化</a:t>
            </a:r>
          </a:p>
        </p:txBody>
      </p:sp>
      <p:sp>
        <p:nvSpPr>
          <p:cNvPr id="5" name="stage-evaluation">
            <a:extLst xmlns:a="http://schemas.openxmlformats.org/drawingml/2006/main">
              <a:ext uri="{FF2B5EF4-FFF2-40B4-BE49-F238E27FC236}">
                <a16:creationId xmlns:a16="http://schemas.microsoft.com/office/drawing/2014/main" id="{9144A5D6-B261-4B8F-97AD-112E3BFDE742}"/>
              </a:ext>
            </a:extLst>
          </p:cNvPr>
          <p:cNvSpPr>
            <a:spLocks xmlns:a="http://schemas.openxmlformats.org/drawingml/2006/main" noGrp="1"/>
          </p:cNvSpPr>
          <p:nvPr/>
        </p:nvSpPr>
        <p:spPr>
          <a:xfrm xmlns:a="http://schemas.openxmlformats.org/drawingml/2006/main">
            <a:off x="8782050" y="1571625"/>
            <a:ext cx="2914650" cy="3714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18394E"/>
                </a:solidFill>
                <a:latin typeface="Noto Sans CJK JP"/>
                <a:ea typeface="Noto Sans CJK JP"/>
                <a:cs typeface="Noto Sans CJK JP"/>
              </a:defRPr>
            </a:defPPr>
          </a:lstStyle>
          <a:p xmlns:a="http://schemas.openxmlformats.org/drawingml/2006/main">
            <a:pPr algn="l">
              <a:lnSpc>
                <a:spcPct val="112000"/>
              </a:lnSpc>
              <a:buNone/>
              <a:defRPr sz="2175" b="1">
                <a:solidFill>
                  <a:srgbClr val="18394E"/>
                </a:solidFill>
                <a:latin typeface="Noto Sans CJK JP"/>
                <a:ea typeface="Noto Sans CJK JP"/>
                <a:cs typeface="Noto Sans CJK JP"/>
              </a:defRPr>
            </a:pPr>
            <a:r>
              <a:rPr sz="2175" b="1">
                <a:solidFill>
                  <a:srgbClr val="18394E"/>
                </a:solidFill>
                <a:latin typeface="Noto Sans CJK JP"/>
                <a:ea typeface="Noto Sans CJK JP"/>
                <a:cs typeface="Noto Sans CJK JP"/>
              </a:rPr>
              <a:t>重要になる評価工程</a:t>
            </a:r>
          </a:p>
        </p:txBody>
      </p:sp>
      <p:sp>
        <p:nvSpPr>
          <p:cNvPr id="6" name="flow-arrow-1">
            <a:extLst xmlns:a="http://schemas.openxmlformats.org/drawingml/2006/main">
              <a:ext uri="{FF2B5EF4-FFF2-40B4-BE49-F238E27FC236}">
                <a16:creationId xmlns:a16="http://schemas.microsoft.com/office/drawing/2014/main" id="{C01A1E20-0ADF-45CA-B533-F458B3F27F91}"/>
              </a:ext>
            </a:extLst>
          </p:cNvPr>
          <p:cNvSpPr>
            <a:spLocks xmlns:a="http://schemas.openxmlformats.org/drawingml/2006/main" noGrp="1"/>
          </p:cNvSpPr>
          <p:nvPr/>
        </p:nvSpPr>
        <p:spPr>
          <a:xfrm xmlns:a="http://schemas.openxmlformats.org/drawingml/2006/main">
            <a:off x="3857625" y="1609725"/>
            <a:ext cx="390525" cy="247650"/>
          </a:xfrm>
          <a:prstGeom xmlns:a="http://schemas.openxmlformats.org/drawingml/2006/main" prst="rightArrow">
            <a:avLst/>
          </a:prstGeom>
          <a:solidFill xmlns:a="http://schemas.openxmlformats.org/drawingml/2006/main">
            <a:srgbClr val="B8433C"/>
          </a:solidFill>
          <a:ln xmlns:a="http://schemas.openxmlformats.org/drawingml/2006/main" w="0">
            <a:noFill/>
            <a:prstDash val="solid"/>
          </a:ln>
        </p:spPr>
      </p:sp>
      <p:sp>
        <p:nvSpPr>
          <p:cNvPr id="7" name="flow-arrow-2">
            <a:extLst xmlns:a="http://schemas.openxmlformats.org/drawingml/2006/main">
              <a:ext uri="{FF2B5EF4-FFF2-40B4-BE49-F238E27FC236}">
                <a16:creationId xmlns:a16="http://schemas.microsoft.com/office/drawing/2014/main" id="{64D2F531-7B3A-4630-BFF0-9528132DF196}"/>
              </a:ext>
            </a:extLst>
          </p:cNvPr>
          <p:cNvSpPr>
            <a:spLocks xmlns:a="http://schemas.openxmlformats.org/drawingml/2006/main" noGrp="1"/>
          </p:cNvSpPr>
          <p:nvPr/>
        </p:nvSpPr>
        <p:spPr>
          <a:xfrm xmlns:a="http://schemas.openxmlformats.org/drawingml/2006/main">
            <a:off x="8086725" y="1609725"/>
            <a:ext cx="390525" cy="247650"/>
          </a:xfrm>
          <a:prstGeom xmlns:a="http://schemas.openxmlformats.org/drawingml/2006/main" prst="rightArrow">
            <a:avLst/>
          </a:prstGeom>
          <a:solidFill xmlns:a="http://schemas.openxmlformats.org/drawingml/2006/main">
            <a:srgbClr val="B8433C"/>
          </a:solidFill>
          <a:ln xmlns:a="http://schemas.openxmlformats.org/drawingml/2006/main" w="0">
            <a:noFill/>
            <a:prstDash val="solid"/>
          </a:ln>
        </p:spPr>
      </p:sp>
      <p:sp>
        <p:nvSpPr>
          <p:cNvPr id="8" name="structure-rule">
            <a:extLst xmlns:a="http://schemas.openxmlformats.org/drawingml/2006/main">
              <a:ext uri="{FF2B5EF4-FFF2-40B4-BE49-F238E27FC236}">
                <a16:creationId xmlns:a16="http://schemas.microsoft.com/office/drawing/2014/main" id="{298D5F86-3E1E-459A-B300-04C15ED44E79}"/>
              </a:ext>
            </a:extLst>
          </p:cNvPr>
          <p:cNvSpPr>
            <a:spLocks xmlns:a="http://schemas.openxmlformats.org/drawingml/2006/main" noGrp="1"/>
          </p:cNvSpPr>
          <p:nvPr/>
        </p:nvSpPr>
        <p:spPr>
          <a:xfrm xmlns:a="http://schemas.openxmlformats.org/drawingml/2006/main">
            <a:off x="514350" y="2009775"/>
            <a:ext cx="3238500" cy="0"/>
          </a:xfrm>
          <a:prstGeom xmlns:a="http://schemas.openxmlformats.org/drawingml/2006/main" prst="line">
            <a:avLst/>
          </a:prstGeom>
          <a:noFill xmlns:a="http://schemas.openxmlformats.org/drawingml/2006/main"/>
          <a:ln xmlns:a="http://schemas.openxmlformats.org/drawingml/2006/main" w="11430">
            <a:solidFill>
              <a:srgbClr val="D2DCE3"/>
            </a:solidFill>
            <a:prstDash val="solid"/>
          </a:ln>
        </p:spPr>
      </p:sp>
      <p:sp>
        <p:nvSpPr>
          <p:cNvPr id="9" name="complexity-rule">
            <a:extLst xmlns:a="http://schemas.openxmlformats.org/drawingml/2006/main">
              <a:ext uri="{FF2B5EF4-FFF2-40B4-BE49-F238E27FC236}">
                <a16:creationId xmlns:a16="http://schemas.microsoft.com/office/drawing/2014/main" id="{E62DA1A9-64AE-4F05-A22D-8DC1B7045D6A}"/>
              </a:ext>
            </a:extLst>
          </p:cNvPr>
          <p:cNvSpPr>
            <a:spLocks xmlns:a="http://schemas.openxmlformats.org/drawingml/2006/main" noGrp="1"/>
          </p:cNvSpPr>
          <p:nvPr/>
        </p:nvSpPr>
        <p:spPr>
          <a:xfrm xmlns:a="http://schemas.openxmlformats.org/drawingml/2006/main">
            <a:off x="4552950" y="2009775"/>
            <a:ext cx="3371850" cy="0"/>
          </a:xfrm>
          <a:prstGeom xmlns:a="http://schemas.openxmlformats.org/drawingml/2006/main" prst="line">
            <a:avLst/>
          </a:prstGeom>
          <a:noFill xmlns:a="http://schemas.openxmlformats.org/drawingml/2006/main"/>
          <a:ln xmlns:a="http://schemas.openxmlformats.org/drawingml/2006/main" w="11430">
            <a:solidFill>
              <a:srgbClr val="D2DCE3"/>
            </a:solidFill>
            <a:prstDash val="solid"/>
          </a:ln>
        </p:spPr>
      </p:sp>
      <p:sp>
        <p:nvSpPr>
          <p:cNvPr id="10" name="evaluation-rule">
            <a:extLst xmlns:a="http://schemas.openxmlformats.org/drawingml/2006/main">
              <a:ext uri="{FF2B5EF4-FFF2-40B4-BE49-F238E27FC236}">
                <a16:creationId xmlns:a16="http://schemas.microsoft.com/office/drawing/2014/main" id="{17240F62-8100-4A50-BAC7-B05F6173C2DB}"/>
              </a:ext>
            </a:extLst>
          </p:cNvPr>
          <p:cNvSpPr>
            <a:spLocks xmlns:a="http://schemas.openxmlformats.org/drawingml/2006/main" noGrp="1"/>
          </p:cNvSpPr>
          <p:nvPr/>
        </p:nvSpPr>
        <p:spPr>
          <a:xfrm xmlns:a="http://schemas.openxmlformats.org/drawingml/2006/main">
            <a:off x="8782050" y="2009775"/>
            <a:ext cx="2914650" cy="0"/>
          </a:xfrm>
          <a:prstGeom xmlns:a="http://schemas.openxmlformats.org/drawingml/2006/main" prst="line">
            <a:avLst/>
          </a:prstGeom>
          <a:noFill xmlns:a="http://schemas.openxmlformats.org/drawingml/2006/main"/>
          <a:ln xmlns:a="http://schemas.openxmlformats.org/drawingml/2006/main" w="11430">
            <a:solidFill>
              <a:srgbClr val="D2DCE3"/>
            </a:solidFill>
            <a:prstDash val="solid"/>
          </a:ln>
        </p:spPr>
      </p:sp>
      <p:sp>
        <p:nvSpPr>
          <p:cNvPr id="11" name="logic-label">
            <a:extLst xmlns:a="http://schemas.openxmlformats.org/drawingml/2006/main">
              <a:ext uri="{FF2B5EF4-FFF2-40B4-BE49-F238E27FC236}">
                <a16:creationId xmlns:a16="http://schemas.microsoft.com/office/drawing/2014/main" id="{7E1A58A0-F47A-44FE-B703-BAFF2B041482}"/>
              </a:ext>
            </a:extLst>
          </p:cNvPr>
          <p:cNvSpPr>
            <a:spLocks xmlns:a="http://schemas.openxmlformats.org/drawingml/2006/main" noGrp="1"/>
          </p:cNvSpPr>
          <p:nvPr/>
        </p:nvSpPr>
        <p:spPr>
          <a:xfrm xmlns:a="http://schemas.openxmlformats.org/drawingml/2006/main">
            <a:off x="514350" y="2247900"/>
            <a:ext cx="22764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8394E"/>
                </a:solidFill>
                <a:latin typeface="Noto Sans CJK JP"/>
                <a:ea typeface="Noto Sans CJK JP"/>
                <a:cs typeface="Noto Sans CJK JP"/>
              </a:defRPr>
            </a:defPPr>
          </a:lstStyle>
          <a:p xmlns:a="http://schemas.openxmlformats.org/drawingml/2006/main">
            <a:pPr algn="l">
              <a:lnSpc>
                <a:spcPct val="112000"/>
              </a:lnSpc>
              <a:buNone/>
              <a:defRPr sz="1950" b="1">
                <a:solidFill>
                  <a:srgbClr val="18394E"/>
                </a:solidFill>
                <a:latin typeface="Noto Sans CJK JP"/>
                <a:ea typeface="Noto Sans CJK JP"/>
                <a:cs typeface="Noto Sans CJK JP"/>
              </a:defRPr>
            </a:pPr>
            <a:r>
              <a:rPr sz="1950" b="1">
                <a:solidFill>
                  <a:srgbClr val="18394E"/>
                </a:solidFill>
                <a:latin typeface="Noto Sans CJK JP"/>
                <a:ea typeface="Noto Sans CJK JP"/>
                <a:cs typeface="Noto Sans CJK JP"/>
              </a:rPr>
              <a:t>ロジック</a:t>
            </a:r>
          </a:p>
        </p:txBody>
      </p:sp>
      <p:sp>
        <p:nvSpPr>
          <p:cNvPr id="12" name="logic-description">
            <a:extLst xmlns:a="http://schemas.openxmlformats.org/drawingml/2006/main">
              <a:ext uri="{FF2B5EF4-FFF2-40B4-BE49-F238E27FC236}">
                <a16:creationId xmlns:a16="http://schemas.microsoft.com/office/drawing/2014/main" id="{69C83AAE-EE5D-40E2-85E1-261766029F82}"/>
              </a:ext>
            </a:extLst>
          </p:cNvPr>
          <p:cNvSpPr>
            <a:spLocks xmlns:a="http://schemas.openxmlformats.org/drawingml/2006/main" noGrp="1"/>
          </p:cNvSpPr>
          <p:nvPr/>
        </p:nvSpPr>
        <p:spPr>
          <a:xfrm xmlns:a="http://schemas.openxmlformats.org/drawingml/2006/main">
            <a:off x="514350" y="2647950"/>
            <a:ext cx="2371725" cy="5810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63" b="0">
                <a:solidFill>
                  <a:srgbClr val="43586A"/>
                </a:solidFill>
                <a:latin typeface="Noto Sans CJK JP"/>
                <a:ea typeface="Noto Sans CJK JP"/>
                <a:cs typeface="Noto Sans CJK JP"/>
              </a:defRPr>
            </a:defPPr>
          </a:lstStyle>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薄いチャネルの積層</a:t>
            </a:r>
          </a:p>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GAA・将来CFETへ</a:t>
            </a:r>
          </a:p>
        </p:txBody>
      </p:sp>
      <p:sp>
        <p:nvSpPr>
          <p:cNvPr id="13" name="logic-top-device">
            <a:extLst xmlns:a="http://schemas.openxmlformats.org/drawingml/2006/main">
              <a:ext uri="{FF2B5EF4-FFF2-40B4-BE49-F238E27FC236}">
                <a16:creationId xmlns:a16="http://schemas.microsoft.com/office/drawing/2014/main" id="{A838DC99-6213-4422-B3D8-9767ECBC97BF}"/>
              </a:ext>
            </a:extLst>
          </p:cNvPr>
          <p:cNvSpPr>
            <a:spLocks xmlns:a="http://schemas.openxmlformats.org/drawingml/2006/main" noGrp="1"/>
          </p:cNvSpPr>
          <p:nvPr/>
        </p:nvSpPr>
        <p:spPr>
          <a:xfrm xmlns:a="http://schemas.openxmlformats.org/drawingml/2006/main">
            <a:off x="3086100" y="2333625"/>
            <a:ext cx="647700" cy="276225"/>
          </a:xfrm>
          <a:prstGeom xmlns:a="http://schemas.openxmlformats.org/drawingml/2006/main" prst="rect">
            <a:avLst/>
          </a:prstGeom>
          <a:solidFill xmlns:a="http://schemas.openxmlformats.org/drawingml/2006/main">
            <a:srgbClr val="DDE8EF"/>
          </a:solidFill>
          <a:ln xmlns:a="http://schemas.openxmlformats.org/drawingml/2006/main" w="14288">
            <a:solidFill>
              <a:srgbClr val="4F829E"/>
            </a:solidFill>
            <a:prstDash val="solid"/>
          </a:ln>
        </p:spPr>
      </p:sp>
      <p:sp>
        <p:nvSpPr>
          <p:cNvPr id="14" name="logic-top-channel">
            <a:extLst xmlns:a="http://schemas.openxmlformats.org/drawingml/2006/main">
              <a:ext uri="{FF2B5EF4-FFF2-40B4-BE49-F238E27FC236}">
                <a16:creationId xmlns:a16="http://schemas.microsoft.com/office/drawing/2014/main" id="{FB1E0B78-BD4D-4BC5-AC16-F549E6132E30}"/>
              </a:ext>
            </a:extLst>
          </p:cNvPr>
          <p:cNvSpPr>
            <a:spLocks xmlns:a="http://schemas.openxmlformats.org/drawingml/2006/main" noGrp="1"/>
          </p:cNvSpPr>
          <p:nvPr/>
        </p:nvSpPr>
        <p:spPr>
          <a:xfrm xmlns:a="http://schemas.openxmlformats.org/drawingml/2006/main">
            <a:off x="3181350" y="2438400"/>
            <a:ext cx="457200" cy="57150"/>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15" name="logic-isolation">
            <a:extLst xmlns:a="http://schemas.openxmlformats.org/drawingml/2006/main">
              <a:ext uri="{FF2B5EF4-FFF2-40B4-BE49-F238E27FC236}">
                <a16:creationId xmlns:a16="http://schemas.microsoft.com/office/drawing/2014/main" id="{8C06E678-1737-49CE-99E7-0E9BAFF21E09}"/>
              </a:ext>
            </a:extLst>
          </p:cNvPr>
          <p:cNvSpPr>
            <a:spLocks xmlns:a="http://schemas.openxmlformats.org/drawingml/2006/main" noGrp="1"/>
          </p:cNvSpPr>
          <p:nvPr/>
        </p:nvSpPr>
        <p:spPr>
          <a:xfrm xmlns:a="http://schemas.openxmlformats.org/drawingml/2006/main">
            <a:off x="3086100" y="2657475"/>
            <a:ext cx="647700" cy="95250"/>
          </a:xfrm>
          <a:prstGeom xmlns:a="http://schemas.openxmlformats.org/drawingml/2006/main" prst="rect">
            <a:avLst/>
          </a:prstGeom>
          <a:solidFill xmlns:a="http://schemas.openxmlformats.org/drawingml/2006/main">
            <a:srgbClr val="EEF3F6"/>
          </a:solidFill>
          <a:ln xmlns:a="http://schemas.openxmlformats.org/drawingml/2006/main" w="0">
            <a:noFill/>
            <a:prstDash val="solid"/>
          </a:ln>
        </p:spPr>
      </p:sp>
      <p:sp>
        <p:nvSpPr>
          <p:cNvPr id="16" name="logic-bottom-device">
            <a:extLst xmlns:a="http://schemas.openxmlformats.org/drawingml/2006/main">
              <a:ext uri="{FF2B5EF4-FFF2-40B4-BE49-F238E27FC236}">
                <a16:creationId xmlns:a16="http://schemas.microsoft.com/office/drawing/2014/main" id="{EF81E95C-9871-4859-BA2E-0E7660212072}"/>
              </a:ext>
            </a:extLst>
          </p:cNvPr>
          <p:cNvSpPr>
            <a:spLocks xmlns:a="http://schemas.openxmlformats.org/drawingml/2006/main" noGrp="1"/>
          </p:cNvSpPr>
          <p:nvPr/>
        </p:nvSpPr>
        <p:spPr>
          <a:xfrm xmlns:a="http://schemas.openxmlformats.org/drawingml/2006/main">
            <a:off x="3086100" y="2800350"/>
            <a:ext cx="647700" cy="276225"/>
          </a:xfrm>
          <a:prstGeom xmlns:a="http://schemas.openxmlformats.org/drawingml/2006/main" prst="rect">
            <a:avLst/>
          </a:prstGeom>
          <a:solidFill xmlns:a="http://schemas.openxmlformats.org/drawingml/2006/main">
            <a:srgbClr val="DDE8EF"/>
          </a:solidFill>
          <a:ln xmlns:a="http://schemas.openxmlformats.org/drawingml/2006/main" w="14288">
            <a:solidFill>
              <a:srgbClr val="4F829E"/>
            </a:solidFill>
            <a:prstDash val="solid"/>
          </a:ln>
        </p:spPr>
      </p:sp>
      <p:sp>
        <p:nvSpPr>
          <p:cNvPr id="17" name="logic-bottom-channel">
            <a:extLst xmlns:a="http://schemas.openxmlformats.org/drawingml/2006/main">
              <a:ext uri="{FF2B5EF4-FFF2-40B4-BE49-F238E27FC236}">
                <a16:creationId xmlns:a16="http://schemas.microsoft.com/office/drawing/2014/main" id="{3307B206-5244-4F50-AC7C-873808ADC57E}"/>
              </a:ext>
            </a:extLst>
          </p:cNvPr>
          <p:cNvSpPr>
            <a:spLocks xmlns:a="http://schemas.openxmlformats.org/drawingml/2006/main" noGrp="1"/>
          </p:cNvSpPr>
          <p:nvPr/>
        </p:nvSpPr>
        <p:spPr>
          <a:xfrm xmlns:a="http://schemas.openxmlformats.org/drawingml/2006/main">
            <a:off x="3181350" y="2905125"/>
            <a:ext cx="457200" cy="57150"/>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18" name="logic-n-label">
            <a:extLst xmlns:a="http://schemas.openxmlformats.org/drawingml/2006/main">
              <a:ext uri="{FF2B5EF4-FFF2-40B4-BE49-F238E27FC236}">
                <a16:creationId xmlns:a16="http://schemas.microsoft.com/office/drawing/2014/main" id="{D381AACE-5C68-4D6A-9C82-69C2099928BD}"/>
              </a:ext>
            </a:extLst>
          </p:cNvPr>
          <p:cNvSpPr>
            <a:spLocks xmlns:a="http://schemas.openxmlformats.org/drawingml/2006/main" noGrp="1"/>
          </p:cNvSpPr>
          <p:nvPr/>
        </p:nvSpPr>
        <p:spPr>
          <a:xfrm xmlns:a="http://schemas.openxmlformats.org/drawingml/2006/main">
            <a:off x="3771900" y="2333625"/>
            <a:ext cx="152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0727F"/>
                </a:solidFill>
                <a:latin typeface="Noto Sans CJK JP"/>
                <a:ea typeface="Noto Sans CJK JP"/>
                <a:cs typeface="Noto Sans CJK JP"/>
              </a:defRPr>
            </a:defPPr>
          </a:lstStyle>
          <a:p xmlns:a="http://schemas.openxmlformats.org/drawingml/2006/main">
            <a:pPr algn="l">
              <a:lnSpc>
                <a:spcPct val="112000"/>
              </a:lnSpc>
              <a:buNone/>
              <a:defRPr sz="1200" b="0">
                <a:solidFill>
                  <a:srgbClr val="60727F"/>
                </a:solidFill>
                <a:latin typeface="Noto Sans CJK JP"/>
                <a:ea typeface="Noto Sans CJK JP"/>
                <a:cs typeface="Noto Sans CJK JP"/>
              </a:defRPr>
            </a:pPr>
            <a:r>
              <a:rPr sz="1200" b="0">
                <a:solidFill>
                  <a:srgbClr val="60727F"/>
                </a:solidFill>
                <a:latin typeface="Noto Sans CJK JP"/>
                <a:ea typeface="Noto Sans CJK JP"/>
                <a:cs typeface="Noto Sans CJK JP"/>
              </a:rPr>
              <a:t>n</a:t>
            </a:r>
          </a:p>
        </p:txBody>
      </p:sp>
      <p:sp>
        <p:nvSpPr>
          <p:cNvPr id="19" name="logic-p-label">
            <a:extLst xmlns:a="http://schemas.openxmlformats.org/drawingml/2006/main">
              <a:ext uri="{FF2B5EF4-FFF2-40B4-BE49-F238E27FC236}">
                <a16:creationId xmlns:a16="http://schemas.microsoft.com/office/drawing/2014/main" id="{C48C6FFC-639D-45B8-8BB5-DE35398D0FF1}"/>
              </a:ext>
            </a:extLst>
          </p:cNvPr>
          <p:cNvSpPr>
            <a:spLocks xmlns:a="http://schemas.openxmlformats.org/drawingml/2006/main" noGrp="1"/>
          </p:cNvSpPr>
          <p:nvPr/>
        </p:nvSpPr>
        <p:spPr>
          <a:xfrm xmlns:a="http://schemas.openxmlformats.org/drawingml/2006/main">
            <a:off x="3771900" y="2800350"/>
            <a:ext cx="152400" cy="2190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0727F"/>
                </a:solidFill>
                <a:latin typeface="Noto Sans CJK JP"/>
                <a:ea typeface="Noto Sans CJK JP"/>
                <a:cs typeface="Noto Sans CJK JP"/>
              </a:defRPr>
            </a:defPPr>
          </a:lstStyle>
          <a:p xmlns:a="http://schemas.openxmlformats.org/drawingml/2006/main">
            <a:pPr algn="l">
              <a:lnSpc>
                <a:spcPct val="112000"/>
              </a:lnSpc>
              <a:buNone/>
              <a:defRPr sz="1200" b="0">
                <a:solidFill>
                  <a:srgbClr val="60727F"/>
                </a:solidFill>
                <a:latin typeface="Noto Sans CJK JP"/>
                <a:ea typeface="Noto Sans CJK JP"/>
                <a:cs typeface="Noto Sans CJK JP"/>
              </a:defRPr>
            </a:pPr>
            <a:r>
              <a:rPr sz="1200" b="0">
                <a:solidFill>
                  <a:srgbClr val="60727F"/>
                </a:solidFill>
                <a:latin typeface="Noto Sans CJK JP"/>
                <a:ea typeface="Noto Sans CJK JP"/>
                <a:cs typeface="Noto Sans CJK JP"/>
              </a:rPr>
              <a:t>p</a:t>
            </a:r>
          </a:p>
        </p:txBody>
      </p:sp>
      <p:sp>
        <p:nvSpPr>
          <p:cNvPr id="20" name="row-rule-1">
            <a:extLst xmlns:a="http://schemas.openxmlformats.org/drawingml/2006/main">
              <a:ext uri="{FF2B5EF4-FFF2-40B4-BE49-F238E27FC236}">
                <a16:creationId xmlns:a16="http://schemas.microsoft.com/office/drawing/2014/main" id="{04060F57-E2BA-4C4D-A519-2FAB239C800A}"/>
              </a:ext>
            </a:extLst>
          </p:cNvPr>
          <p:cNvSpPr>
            <a:spLocks xmlns:a="http://schemas.openxmlformats.org/drawingml/2006/main" noGrp="1"/>
          </p:cNvSpPr>
          <p:nvPr/>
        </p:nvSpPr>
        <p:spPr>
          <a:xfrm xmlns:a="http://schemas.openxmlformats.org/drawingml/2006/main">
            <a:off x="514350" y="3314700"/>
            <a:ext cx="3238500" cy="0"/>
          </a:xfrm>
          <a:prstGeom xmlns:a="http://schemas.openxmlformats.org/drawingml/2006/main" prst="line">
            <a:avLst/>
          </a:prstGeom>
          <a:noFill xmlns:a="http://schemas.openxmlformats.org/drawingml/2006/main"/>
          <a:ln xmlns:a="http://schemas.openxmlformats.org/drawingml/2006/main" w="7620">
            <a:solidFill>
              <a:srgbClr val="D2DCE3"/>
            </a:solidFill>
            <a:prstDash val="solid"/>
          </a:ln>
        </p:spPr>
      </p:sp>
      <p:sp>
        <p:nvSpPr>
          <p:cNvPr id="21" name="nand-label">
            <a:extLst xmlns:a="http://schemas.openxmlformats.org/drawingml/2006/main">
              <a:ext uri="{FF2B5EF4-FFF2-40B4-BE49-F238E27FC236}">
                <a16:creationId xmlns:a16="http://schemas.microsoft.com/office/drawing/2014/main" id="{2E28D7C9-A1BA-46E4-A613-7BE08E7C54D5}"/>
              </a:ext>
            </a:extLst>
          </p:cNvPr>
          <p:cNvSpPr>
            <a:spLocks xmlns:a="http://schemas.openxmlformats.org/drawingml/2006/main" noGrp="1"/>
          </p:cNvSpPr>
          <p:nvPr/>
        </p:nvSpPr>
        <p:spPr>
          <a:xfrm xmlns:a="http://schemas.openxmlformats.org/drawingml/2006/main">
            <a:off x="514350" y="3467100"/>
            <a:ext cx="228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8394E"/>
                </a:solidFill>
                <a:latin typeface="Noto Sans CJK JP"/>
                <a:ea typeface="Noto Sans CJK JP"/>
                <a:cs typeface="Noto Sans CJK JP"/>
              </a:defRPr>
            </a:defPPr>
          </a:lstStyle>
          <a:p xmlns:a="http://schemas.openxmlformats.org/drawingml/2006/main">
            <a:pPr algn="l">
              <a:lnSpc>
                <a:spcPct val="112000"/>
              </a:lnSpc>
              <a:buNone/>
              <a:defRPr sz="1950" b="1">
                <a:solidFill>
                  <a:srgbClr val="18394E"/>
                </a:solidFill>
                <a:latin typeface="Noto Sans CJK JP"/>
                <a:ea typeface="Noto Sans CJK JP"/>
                <a:cs typeface="Noto Sans CJK JP"/>
              </a:defRPr>
            </a:pPr>
            <a:r>
              <a:rPr sz="1950" b="1">
                <a:solidFill>
                  <a:srgbClr val="18394E"/>
                </a:solidFill>
                <a:latin typeface="Noto Sans CJK JP"/>
                <a:ea typeface="Noto Sans CJK JP"/>
                <a:cs typeface="Noto Sans CJK JP"/>
              </a:rPr>
              <a:t>NAND</a:t>
            </a:r>
          </a:p>
        </p:txBody>
      </p:sp>
      <p:sp>
        <p:nvSpPr>
          <p:cNvPr id="22" name="nand-description">
            <a:extLst xmlns:a="http://schemas.openxmlformats.org/drawingml/2006/main">
              <a:ext uri="{FF2B5EF4-FFF2-40B4-BE49-F238E27FC236}">
                <a16:creationId xmlns:a16="http://schemas.microsoft.com/office/drawing/2014/main" id="{AD0AB2AF-DBC0-4BE1-B00A-3CF0A40B6026}"/>
              </a:ext>
            </a:extLst>
          </p:cNvPr>
          <p:cNvSpPr>
            <a:spLocks xmlns:a="http://schemas.openxmlformats.org/drawingml/2006/main" noGrp="1"/>
          </p:cNvSpPr>
          <p:nvPr/>
        </p:nvSpPr>
        <p:spPr>
          <a:xfrm xmlns:a="http://schemas.openxmlformats.org/drawingml/2006/main">
            <a:off x="514350" y="3848100"/>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63" b="0">
                <a:solidFill>
                  <a:srgbClr val="43586A"/>
                </a:solidFill>
                <a:latin typeface="Noto Sans CJK JP"/>
                <a:ea typeface="Noto Sans CJK JP"/>
                <a:cs typeface="Noto Sans CJK JP"/>
              </a:defRPr>
            </a:defPPr>
          </a:lstStyle>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多層化・セルと</a:t>
            </a:r>
          </a:p>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周辺回路の接合</a:t>
            </a:r>
          </a:p>
        </p:txBody>
      </p:sp>
      <p:sp>
        <p:nvSpPr>
          <p:cNvPr id="23" name="nand-wordline-0">
            <a:extLst xmlns:a="http://schemas.openxmlformats.org/drawingml/2006/main">
              <a:ext uri="{FF2B5EF4-FFF2-40B4-BE49-F238E27FC236}">
                <a16:creationId xmlns:a16="http://schemas.microsoft.com/office/drawing/2014/main" id="{DB6C841A-1102-4645-B7DB-E3019CBA1AFE}"/>
              </a:ext>
            </a:extLst>
          </p:cNvPr>
          <p:cNvSpPr>
            <a:spLocks xmlns:a="http://schemas.openxmlformats.org/drawingml/2006/main" noGrp="1"/>
          </p:cNvSpPr>
          <p:nvPr/>
        </p:nvSpPr>
        <p:spPr>
          <a:xfrm xmlns:a="http://schemas.openxmlformats.org/drawingml/2006/main">
            <a:off x="3086100" y="3524250"/>
            <a:ext cx="647700" cy="47625"/>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24" name="nand-wordline-1">
            <a:extLst xmlns:a="http://schemas.openxmlformats.org/drawingml/2006/main">
              <a:ext uri="{FF2B5EF4-FFF2-40B4-BE49-F238E27FC236}">
                <a16:creationId xmlns:a16="http://schemas.microsoft.com/office/drawing/2014/main" id="{3A2E3E2E-85A9-42E3-A899-69AE6BF02C04}"/>
              </a:ext>
            </a:extLst>
          </p:cNvPr>
          <p:cNvSpPr>
            <a:spLocks xmlns:a="http://schemas.openxmlformats.org/drawingml/2006/main" noGrp="1"/>
          </p:cNvSpPr>
          <p:nvPr/>
        </p:nvSpPr>
        <p:spPr>
          <a:xfrm xmlns:a="http://schemas.openxmlformats.org/drawingml/2006/main">
            <a:off x="3086100" y="3609975"/>
            <a:ext cx="647700" cy="47625"/>
          </a:xfrm>
          <a:prstGeom xmlns:a="http://schemas.openxmlformats.org/drawingml/2006/main" prst="rect">
            <a:avLst/>
          </a:prstGeom>
          <a:solidFill xmlns:a="http://schemas.openxmlformats.org/drawingml/2006/main">
            <a:srgbClr val="DDE8EF"/>
          </a:solidFill>
          <a:ln xmlns:a="http://schemas.openxmlformats.org/drawingml/2006/main" w="0">
            <a:noFill/>
            <a:prstDash val="solid"/>
          </a:ln>
        </p:spPr>
      </p:sp>
      <p:sp>
        <p:nvSpPr>
          <p:cNvPr id="25" name="nand-wordline-2">
            <a:extLst xmlns:a="http://schemas.openxmlformats.org/drawingml/2006/main">
              <a:ext uri="{FF2B5EF4-FFF2-40B4-BE49-F238E27FC236}">
                <a16:creationId xmlns:a16="http://schemas.microsoft.com/office/drawing/2014/main" id="{57EDDD27-1151-4268-A07A-9A8B83E9D0D9}"/>
              </a:ext>
            </a:extLst>
          </p:cNvPr>
          <p:cNvSpPr>
            <a:spLocks xmlns:a="http://schemas.openxmlformats.org/drawingml/2006/main" noGrp="1"/>
          </p:cNvSpPr>
          <p:nvPr/>
        </p:nvSpPr>
        <p:spPr>
          <a:xfrm xmlns:a="http://schemas.openxmlformats.org/drawingml/2006/main">
            <a:off x="3086100" y="3695700"/>
            <a:ext cx="647700" cy="47625"/>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26" name="nand-wordline-3">
            <a:extLst xmlns:a="http://schemas.openxmlformats.org/drawingml/2006/main">
              <a:ext uri="{FF2B5EF4-FFF2-40B4-BE49-F238E27FC236}">
                <a16:creationId xmlns:a16="http://schemas.microsoft.com/office/drawing/2014/main" id="{DAFCD360-4B96-4772-B993-45A4110C7D42}"/>
              </a:ext>
            </a:extLst>
          </p:cNvPr>
          <p:cNvSpPr>
            <a:spLocks xmlns:a="http://schemas.openxmlformats.org/drawingml/2006/main" noGrp="1"/>
          </p:cNvSpPr>
          <p:nvPr/>
        </p:nvSpPr>
        <p:spPr>
          <a:xfrm xmlns:a="http://schemas.openxmlformats.org/drawingml/2006/main">
            <a:off x="3086100" y="3781425"/>
            <a:ext cx="647700" cy="47625"/>
          </a:xfrm>
          <a:prstGeom xmlns:a="http://schemas.openxmlformats.org/drawingml/2006/main" prst="rect">
            <a:avLst/>
          </a:prstGeom>
          <a:solidFill xmlns:a="http://schemas.openxmlformats.org/drawingml/2006/main">
            <a:srgbClr val="DDE8EF"/>
          </a:solidFill>
          <a:ln xmlns:a="http://schemas.openxmlformats.org/drawingml/2006/main" w="0">
            <a:noFill/>
            <a:prstDash val="solid"/>
          </a:ln>
        </p:spPr>
      </p:sp>
      <p:sp>
        <p:nvSpPr>
          <p:cNvPr id="27" name="nand-wordline-4">
            <a:extLst xmlns:a="http://schemas.openxmlformats.org/drawingml/2006/main">
              <a:ext uri="{FF2B5EF4-FFF2-40B4-BE49-F238E27FC236}">
                <a16:creationId xmlns:a16="http://schemas.microsoft.com/office/drawing/2014/main" id="{C183BAFA-B650-4AA5-AAEC-7B608505D392}"/>
              </a:ext>
            </a:extLst>
          </p:cNvPr>
          <p:cNvSpPr>
            <a:spLocks xmlns:a="http://schemas.openxmlformats.org/drawingml/2006/main" noGrp="1"/>
          </p:cNvSpPr>
          <p:nvPr/>
        </p:nvSpPr>
        <p:spPr>
          <a:xfrm xmlns:a="http://schemas.openxmlformats.org/drawingml/2006/main">
            <a:off x="3086100" y="3867150"/>
            <a:ext cx="647700" cy="47625"/>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28" name="nand-wordline-5">
            <a:extLst xmlns:a="http://schemas.openxmlformats.org/drawingml/2006/main">
              <a:ext uri="{FF2B5EF4-FFF2-40B4-BE49-F238E27FC236}">
                <a16:creationId xmlns:a16="http://schemas.microsoft.com/office/drawing/2014/main" id="{9B08BD5D-EFF2-4144-96CD-C6F9A7FB2EC5}"/>
              </a:ext>
            </a:extLst>
          </p:cNvPr>
          <p:cNvSpPr>
            <a:spLocks xmlns:a="http://schemas.openxmlformats.org/drawingml/2006/main" noGrp="1"/>
          </p:cNvSpPr>
          <p:nvPr/>
        </p:nvSpPr>
        <p:spPr>
          <a:xfrm xmlns:a="http://schemas.openxmlformats.org/drawingml/2006/main">
            <a:off x="3086100" y="3952875"/>
            <a:ext cx="647700" cy="47625"/>
          </a:xfrm>
          <a:prstGeom xmlns:a="http://schemas.openxmlformats.org/drawingml/2006/main" prst="rect">
            <a:avLst/>
          </a:prstGeom>
          <a:solidFill xmlns:a="http://schemas.openxmlformats.org/drawingml/2006/main">
            <a:srgbClr val="DDE8EF"/>
          </a:solidFill>
          <a:ln xmlns:a="http://schemas.openxmlformats.org/drawingml/2006/main" w="0">
            <a:noFill/>
            <a:prstDash val="solid"/>
          </a:ln>
        </p:spPr>
      </p:sp>
      <p:sp>
        <p:nvSpPr>
          <p:cNvPr id="29" name="nand-wordline-6">
            <a:extLst xmlns:a="http://schemas.openxmlformats.org/drawingml/2006/main">
              <a:ext uri="{FF2B5EF4-FFF2-40B4-BE49-F238E27FC236}">
                <a16:creationId xmlns:a16="http://schemas.microsoft.com/office/drawing/2014/main" id="{156952A1-3827-49F4-A999-ED2AD7826879}"/>
              </a:ext>
            </a:extLst>
          </p:cNvPr>
          <p:cNvSpPr>
            <a:spLocks xmlns:a="http://schemas.openxmlformats.org/drawingml/2006/main" noGrp="1"/>
          </p:cNvSpPr>
          <p:nvPr/>
        </p:nvSpPr>
        <p:spPr>
          <a:xfrm xmlns:a="http://schemas.openxmlformats.org/drawingml/2006/main">
            <a:off x="3086100" y="4038600"/>
            <a:ext cx="647700" cy="47625"/>
          </a:xfrm>
          <a:prstGeom xmlns:a="http://schemas.openxmlformats.org/drawingml/2006/main" prst="rect">
            <a:avLst/>
          </a:prstGeom>
          <a:solidFill xmlns:a="http://schemas.openxmlformats.org/drawingml/2006/main">
            <a:srgbClr val="4F829E"/>
          </a:solidFill>
          <a:ln xmlns:a="http://schemas.openxmlformats.org/drawingml/2006/main" w="0">
            <a:noFill/>
            <a:prstDash val="solid"/>
          </a:ln>
        </p:spPr>
      </p:sp>
      <p:sp>
        <p:nvSpPr>
          <p:cNvPr id="30" name="nand-channel">
            <a:extLst xmlns:a="http://schemas.openxmlformats.org/drawingml/2006/main">
              <a:ext uri="{FF2B5EF4-FFF2-40B4-BE49-F238E27FC236}">
                <a16:creationId xmlns:a16="http://schemas.microsoft.com/office/drawing/2014/main" id="{27B779CF-275E-4E0D-B0DE-D252B79FE190}"/>
              </a:ext>
            </a:extLst>
          </p:cNvPr>
          <p:cNvSpPr>
            <a:spLocks xmlns:a="http://schemas.openxmlformats.org/drawingml/2006/main" noGrp="1"/>
          </p:cNvSpPr>
          <p:nvPr/>
        </p:nvSpPr>
        <p:spPr>
          <a:xfrm xmlns:a="http://schemas.openxmlformats.org/drawingml/2006/main">
            <a:off x="3352800" y="3486150"/>
            <a:ext cx="95250" cy="638175"/>
          </a:xfrm>
          <a:prstGeom xmlns:a="http://schemas.openxmlformats.org/drawingml/2006/main" prst="rect">
            <a:avLst/>
          </a:prstGeom>
          <a:solidFill xmlns:a="http://schemas.openxmlformats.org/drawingml/2006/main">
            <a:srgbClr val="FFFFFF"/>
          </a:solidFill>
          <a:ln xmlns:a="http://schemas.openxmlformats.org/drawingml/2006/main" w="0">
            <a:noFill/>
            <a:prstDash val="solid"/>
          </a:ln>
        </p:spPr>
      </p:sp>
      <p:sp>
        <p:nvSpPr>
          <p:cNvPr id="31" name="nand-bond-interface">
            <a:extLst xmlns:a="http://schemas.openxmlformats.org/drawingml/2006/main">
              <a:ext uri="{FF2B5EF4-FFF2-40B4-BE49-F238E27FC236}">
                <a16:creationId xmlns:a16="http://schemas.microsoft.com/office/drawing/2014/main" id="{C615C431-3552-4D3B-90EF-265BA6561A90}"/>
              </a:ext>
            </a:extLst>
          </p:cNvPr>
          <p:cNvSpPr>
            <a:spLocks xmlns:a="http://schemas.openxmlformats.org/drawingml/2006/main" noGrp="1"/>
          </p:cNvSpPr>
          <p:nvPr/>
        </p:nvSpPr>
        <p:spPr>
          <a:xfrm xmlns:a="http://schemas.openxmlformats.org/drawingml/2006/main">
            <a:off x="3086100" y="4162425"/>
            <a:ext cx="647700" cy="28575"/>
          </a:xfrm>
          <a:prstGeom xmlns:a="http://schemas.openxmlformats.org/drawingml/2006/main" prst="rect">
            <a:avLst/>
          </a:prstGeom>
          <a:solidFill xmlns:a="http://schemas.openxmlformats.org/drawingml/2006/main">
            <a:srgbClr val="B8433C"/>
          </a:solidFill>
          <a:ln xmlns:a="http://schemas.openxmlformats.org/drawingml/2006/main" w="0">
            <a:noFill/>
            <a:prstDash val="solid"/>
          </a:ln>
        </p:spPr>
      </p:sp>
      <p:sp>
        <p:nvSpPr>
          <p:cNvPr id="32" name="nand-cmos">
            <a:extLst xmlns:a="http://schemas.openxmlformats.org/drawingml/2006/main">
              <a:ext uri="{FF2B5EF4-FFF2-40B4-BE49-F238E27FC236}">
                <a16:creationId xmlns:a16="http://schemas.microsoft.com/office/drawing/2014/main" id="{92BB978A-8605-4803-912A-D064B1FEBF56}"/>
              </a:ext>
            </a:extLst>
          </p:cNvPr>
          <p:cNvSpPr>
            <a:spLocks xmlns:a="http://schemas.openxmlformats.org/drawingml/2006/main" noGrp="1"/>
          </p:cNvSpPr>
          <p:nvPr/>
        </p:nvSpPr>
        <p:spPr>
          <a:xfrm xmlns:a="http://schemas.openxmlformats.org/drawingml/2006/main">
            <a:off x="3086100" y="4229100"/>
            <a:ext cx="647700" cy="180975"/>
          </a:xfrm>
          <a:prstGeom xmlns:a="http://schemas.openxmlformats.org/drawingml/2006/main" prst="rect">
            <a:avLst/>
          </a:prstGeom>
          <a:solidFill xmlns:a="http://schemas.openxmlformats.org/drawingml/2006/main">
            <a:srgbClr val="18394E"/>
          </a:solidFill>
          <a:ln xmlns:a="http://schemas.openxmlformats.org/drawingml/2006/main" w="0">
            <a:noFill/>
            <a:prstDash val="solid"/>
          </a:ln>
        </p:spPr>
      </p:sp>
      <p:sp>
        <p:nvSpPr>
          <p:cNvPr id="33" name="row-rule-2">
            <a:extLst xmlns:a="http://schemas.openxmlformats.org/drawingml/2006/main">
              <a:ext uri="{FF2B5EF4-FFF2-40B4-BE49-F238E27FC236}">
                <a16:creationId xmlns:a16="http://schemas.microsoft.com/office/drawing/2014/main" id="{5975A807-A96B-45E5-861A-49B40365F5B1}"/>
              </a:ext>
            </a:extLst>
          </p:cNvPr>
          <p:cNvSpPr>
            <a:spLocks xmlns:a="http://schemas.openxmlformats.org/drawingml/2006/main" noGrp="1"/>
          </p:cNvSpPr>
          <p:nvPr/>
        </p:nvSpPr>
        <p:spPr>
          <a:xfrm xmlns:a="http://schemas.openxmlformats.org/drawingml/2006/main">
            <a:off x="514350" y="4514850"/>
            <a:ext cx="3238500" cy="0"/>
          </a:xfrm>
          <a:prstGeom xmlns:a="http://schemas.openxmlformats.org/drawingml/2006/main" prst="line">
            <a:avLst/>
          </a:prstGeom>
          <a:noFill xmlns:a="http://schemas.openxmlformats.org/drawingml/2006/main"/>
          <a:ln xmlns:a="http://schemas.openxmlformats.org/drawingml/2006/main" w="7620">
            <a:solidFill>
              <a:srgbClr val="D2DCE3"/>
            </a:solidFill>
            <a:prstDash val="solid"/>
          </a:ln>
        </p:spPr>
      </p:sp>
      <p:sp>
        <p:nvSpPr>
          <p:cNvPr id="34" name="dram-label">
            <a:extLst xmlns:a="http://schemas.openxmlformats.org/drawingml/2006/main">
              <a:ext uri="{FF2B5EF4-FFF2-40B4-BE49-F238E27FC236}">
                <a16:creationId xmlns:a16="http://schemas.microsoft.com/office/drawing/2014/main" id="{2E0C3DE0-E23D-4B0D-91B8-A30E74932ABB}"/>
              </a:ext>
            </a:extLst>
          </p:cNvPr>
          <p:cNvSpPr>
            <a:spLocks xmlns:a="http://schemas.openxmlformats.org/drawingml/2006/main" noGrp="1"/>
          </p:cNvSpPr>
          <p:nvPr/>
        </p:nvSpPr>
        <p:spPr>
          <a:xfrm xmlns:a="http://schemas.openxmlformats.org/drawingml/2006/main">
            <a:off x="514350" y="4638675"/>
            <a:ext cx="226695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950" b="1">
                <a:solidFill>
                  <a:srgbClr val="18394E"/>
                </a:solidFill>
                <a:latin typeface="Noto Sans CJK JP"/>
                <a:ea typeface="Noto Sans CJK JP"/>
                <a:cs typeface="Noto Sans CJK JP"/>
              </a:defRPr>
            </a:defPPr>
          </a:lstStyle>
          <a:p xmlns:a="http://schemas.openxmlformats.org/drawingml/2006/main">
            <a:pPr algn="l">
              <a:lnSpc>
                <a:spcPct val="112000"/>
              </a:lnSpc>
              <a:buNone/>
              <a:defRPr sz="1950" b="1">
                <a:solidFill>
                  <a:srgbClr val="18394E"/>
                </a:solidFill>
                <a:latin typeface="Noto Sans CJK JP"/>
                <a:ea typeface="Noto Sans CJK JP"/>
                <a:cs typeface="Noto Sans CJK JP"/>
              </a:defRPr>
            </a:pPr>
            <a:r>
              <a:rPr sz="1950" b="1">
                <a:solidFill>
                  <a:srgbClr val="18394E"/>
                </a:solidFill>
                <a:latin typeface="Noto Sans CJK JP"/>
                <a:ea typeface="Noto Sans CJK JP"/>
                <a:cs typeface="Noto Sans CJK JP"/>
              </a:rPr>
              <a:t>DRAM</a:t>
            </a:r>
          </a:p>
        </p:txBody>
      </p:sp>
      <p:sp>
        <p:nvSpPr>
          <p:cNvPr id="35" name="dram-description">
            <a:extLst xmlns:a="http://schemas.openxmlformats.org/drawingml/2006/main">
              <a:ext uri="{FF2B5EF4-FFF2-40B4-BE49-F238E27FC236}">
                <a16:creationId xmlns:a16="http://schemas.microsoft.com/office/drawing/2014/main" id="{372A81A0-3673-4132-88AA-5725043DFD5D}"/>
              </a:ext>
            </a:extLst>
          </p:cNvPr>
          <p:cNvSpPr>
            <a:spLocks xmlns:a="http://schemas.openxmlformats.org/drawingml/2006/main" noGrp="1"/>
          </p:cNvSpPr>
          <p:nvPr/>
        </p:nvSpPr>
        <p:spPr>
          <a:xfrm xmlns:a="http://schemas.openxmlformats.org/drawingml/2006/main">
            <a:off x="514350" y="5019675"/>
            <a:ext cx="23622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63" b="0">
                <a:solidFill>
                  <a:srgbClr val="43586A"/>
                </a:solidFill>
                <a:latin typeface="Noto Sans CJK JP"/>
                <a:ea typeface="Noto Sans CJK JP"/>
                <a:cs typeface="Noto Sans CJK JP"/>
              </a:defRPr>
            </a:defPPr>
          </a:lstStyle>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HBMの積層</a:t>
            </a:r>
          </a:p>
          <a:p xmlns:a="http://schemas.openxmlformats.org/drawingml/2006/main">
            <a:pPr algn="l">
              <a:lnSpc>
                <a:spcPct val="112000"/>
              </a:lnSpc>
              <a:buNone/>
              <a:defRPr sz="1763" b="0">
                <a:solidFill>
                  <a:srgbClr val="43586A"/>
                </a:solidFill>
                <a:latin typeface="Noto Sans CJK JP"/>
                <a:ea typeface="Noto Sans CJK JP"/>
                <a:cs typeface="Noto Sans CJK JP"/>
              </a:defRPr>
            </a:pPr>
            <a:r>
              <a:rPr sz="1763" b="0">
                <a:solidFill>
                  <a:srgbClr val="43586A"/>
                </a:solidFill>
                <a:latin typeface="Noto Sans CJK JP"/>
                <a:ea typeface="Noto Sans CJK JP"/>
                <a:cs typeface="Noto Sans CJK JP"/>
              </a:rPr>
              <a:t>将来のセル3D化</a:t>
            </a:r>
          </a:p>
        </p:txBody>
      </p:sp>
      <p:sp>
        <p:nvSpPr>
          <p:cNvPr id="36" name="dram-die-0">
            <a:extLst xmlns:a="http://schemas.openxmlformats.org/drawingml/2006/main">
              <a:ext uri="{FF2B5EF4-FFF2-40B4-BE49-F238E27FC236}">
                <a16:creationId xmlns:a16="http://schemas.microsoft.com/office/drawing/2014/main" id="{858B56DD-81AB-41DC-9D35-94528F26860C}"/>
              </a:ext>
            </a:extLst>
          </p:cNvPr>
          <p:cNvSpPr>
            <a:spLocks xmlns:a="http://schemas.openxmlformats.org/drawingml/2006/main" noGrp="1"/>
          </p:cNvSpPr>
          <p:nvPr/>
        </p:nvSpPr>
        <p:spPr>
          <a:xfrm xmlns:a="http://schemas.openxmlformats.org/drawingml/2006/main">
            <a:off x="3086100" y="4705350"/>
            <a:ext cx="647700" cy="171450"/>
          </a:xfrm>
          <a:prstGeom xmlns:a="http://schemas.openxmlformats.org/drawingml/2006/main" prst="rect">
            <a:avLst/>
          </a:prstGeom>
          <a:solidFill xmlns:a="http://schemas.openxmlformats.org/drawingml/2006/main">
            <a:srgbClr val="DDE8EF"/>
          </a:solidFill>
          <a:ln xmlns:a="http://schemas.openxmlformats.org/drawingml/2006/main" w="11430">
            <a:solidFill>
              <a:srgbClr val="4F829E"/>
            </a:solidFill>
            <a:prstDash val="solid"/>
          </a:ln>
        </p:spPr>
      </p:sp>
      <p:sp>
        <p:nvSpPr>
          <p:cNvPr id="37" name="dram-link-0-0">
            <a:extLst xmlns:a="http://schemas.openxmlformats.org/drawingml/2006/main">
              <a:ext uri="{FF2B5EF4-FFF2-40B4-BE49-F238E27FC236}">
                <a16:creationId xmlns:a16="http://schemas.microsoft.com/office/drawing/2014/main" id="{3B63D574-3ECD-4D22-A723-13F53D68AEC6}"/>
              </a:ext>
            </a:extLst>
          </p:cNvPr>
          <p:cNvSpPr>
            <a:spLocks xmlns:a="http://schemas.openxmlformats.org/drawingml/2006/main" noGrp="1"/>
          </p:cNvSpPr>
          <p:nvPr/>
        </p:nvSpPr>
        <p:spPr>
          <a:xfrm xmlns:a="http://schemas.openxmlformats.org/drawingml/2006/main">
            <a:off x="3152775" y="4886325"/>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38" name="dram-link-0-1">
            <a:extLst xmlns:a="http://schemas.openxmlformats.org/drawingml/2006/main">
              <a:ext uri="{FF2B5EF4-FFF2-40B4-BE49-F238E27FC236}">
                <a16:creationId xmlns:a16="http://schemas.microsoft.com/office/drawing/2014/main" id="{13D9AF22-2F49-4A95-B4F2-D6121864CB04}"/>
              </a:ext>
            </a:extLst>
          </p:cNvPr>
          <p:cNvSpPr>
            <a:spLocks xmlns:a="http://schemas.openxmlformats.org/drawingml/2006/main" noGrp="1"/>
          </p:cNvSpPr>
          <p:nvPr/>
        </p:nvSpPr>
        <p:spPr>
          <a:xfrm xmlns:a="http://schemas.openxmlformats.org/drawingml/2006/main">
            <a:off x="3295650" y="4886325"/>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39" name="dram-link-0-2">
            <a:extLst xmlns:a="http://schemas.openxmlformats.org/drawingml/2006/main">
              <a:ext uri="{FF2B5EF4-FFF2-40B4-BE49-F238E27FC236}">
                <a16:creationId xmlns:a16="http://schemas.microsoft.com/office/drawing/2014/main" id="{B572BBB3-7F95-457D-BDC7-64424D480C24}"/>
              </a:ext>
            </a:extLst>
          </p:cNvPr>
          <p:cNvSpPr>
            <a:spLocks xmlns:a="http://schemas.openxmlformats.org/drawingml/2006/main" noGrp="1"/>
          </p:cNvSpPr>
          <p:nvPr/>
        </p:nvSpPr>
        <p:spPr>
          <a:xfrm xmlns:a="http://schemas.openxmlformats.org/drawingml/2006/main">
            <a:off x="3438525" y="4886325"/>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0" name="dram-link-0-3">
            <a:extLst xmlns:a="http://schemas.openxmlformats.org/drawingml/2006/main">
              <a:ext uri="{FF2B5EF4-FFF2-40B4-BE49-F238E27FC236}">
                <a16:creationId xmlns:a16="http://schemas.microsoft.com/office/drawing/2014/main" id="{488FC023-CFEE-4FB9-BA87-B4251FE2A2D6}"/>
              </a:ext>
            </a:extLst>
          </p:cNvPr>
          <p:cNvSpPr>
            <a:spLocks xmlns:a="http://schemas.openxmlformats.org/drawingml/2006/main" noGrp="1"/>
          </p:cNvSpPr>
          <p:nvPr/>
        </p:nvSpPr>
        <p:spPr>
          <a:xfrm xmlns:a="http://schemas.openxmlformats.org/drawingml/2006/main">
            <a:off x="3581400" y="4886325"/>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1" name="dram-die-1">
            <a:extLst xmlns:a="http://schemas.openxmlformats.org/drawingml/2006/main">
              <a:ext uri="{FF2B5EF4-FFF2-40B4-BE49-F238E27FC236}">
                <a16:creationId xmlns:a16="http://schemas.microsoft.com/office/drawing/2014/main" id="{E2C36DA7-65EA-4AF1-BE52-0DD387E412DE}"/>
              </a:ext>
            </a:extLst>
          </p:cNvPr>
          <p:cNvSpPr>
            <a:spLocks xmlns:a="http://schemas.openxmlformats.org/drawingml/2006/main" noGrp="1"/>
          </p:cNvSpPr>
          <p:nvPr/>
        </p:nvSpPr>
        <p:spPr>
          <a:xfrm xmlns:a="http://schemas.openxmlformats.org/drawingml/2006/main">
            <a:off x="3086100" y="4962525"/>
            <a:ext cx="647700" cy="171450"/>
          </a:xfrm>
          <a:prstGeom xmlns:a="http://schemas.openxmlformats.org/drawingml/2006/main" prst="rect">
            <a:avLst/>
          </a:prstGeom>
          <a:solidFill xmlns:a="http://schemas.openxmlformats.org/drawingml/2006/main">
            <a:srgbClr val="DDE8EF"/>
          </a:solidFill>
          <a:ln xmlns:a="http://schemas.openxmlformats.org/drawingml/2006/main" w="11430">
            <a:solidFill>
              <a:srgbClr val="4F829E"/>
            </a:solidFill>
            <a:prstDash val="solid"/>
          </a:ln>
        </p:spPr>
      </p:sp>
      <p:sp>
        <p:nvSpPr>
          <p:cNvPr id="42" name="dram-link-1-0">
            <a:extLst xmlns:a="http://schemas.openxmlformats.org/drawingml/2006/main">
              <a:ext uri="{FF2B5EF4-FFF2-40B4-BE49-F238E27FC236}">
                <a16:creationId xmlns:a16="http://schemas.microsoft.com/office/drawing/2014/main" id="{75F8690D-7E36-4C8C-8076-E220D1EC578D}"/>
              </a:ext>
            </a:extLst>
          </p:cNvPr>
          <p:cNvSpPr>
            <a:spLocks xmlns:a="http://schemas.openxmlformats.org/drawingml/2006/main" noGrp="1"/>
          </p:cNvSpPr>
          <p:nvPr/>
        </p:nvSpPr>
        <p:spPr>
          <a:xfrm xmlns:a="http://schemas.openxmlformats.org/drawingml/2006/main">
            <a:off x="3152775" y="5143500"/>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3" name="dram-link-1-1">
            <a:extLst xmlns:a="http://schemas.openxmlformats.org/drawingml/2006/main">
              <a:ext uri="{FF2B5EF4-FFF2-40B4-BE49-F238E27FC236}">
                <a16:creationId xmlns:a16="http://schemas.microsoft.com/office/drawing/2014/main" id="{36012092-8301-4400-A838-BA24B2D109C8}"/>
              </a:ext>
            </a:extLst>
          </p:cNvPr>
          <p:cNvSpPr>
            <a:spLocks xmlns:a="http://schemas.openxmlformats.org/drawingml/2006/main" noGrp="1"/>
          </p:cNvSpPr>
          <p:nvPr/>
        </p:nvSpPr>
        <p:spPr>
          <a:xfrm xmlns:a="http://schemas.openxmlformats.org/drawingml/2006/main">
            <a:off x="3295650" y="5143500"/>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4" name="dram-link-1-2">
            <a:extLst xmlns:a="http://schemas.openxmlformats.org/drawingml/2006/main">
              <a:ext uri="{FF2B5EF4-FFF2-40B4-BE49-F238E27FC236}">
                <a16:creationId xmlns:a16="http://schemas.microsoft.com/office/drawing/2014/main" id="{0239E697-1D92-4AE9-A2A8-374851790CE8}"/>
              </a:ext>
            </a:extLst>
          </p:cNvPr>
          <p:cNvSpPr>
            <a:spLocks xmlns:a="http://schemas.openxmlformats.org/drawingml/2006/main" noGrp="1"/>
          </p:cNvSpPr>
          <p:nvPr/>
        </p:nvSpPr>
        <p:spPr>
          <a:xfrm xmlns:a="http://schemas.openxmlformats.org/drawingml/2006/main">
            <a:off x="3438525" y="5143500"/>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5" name="dram-link-1-3">
            <a:extLst xmlns:a="http://schemas.openxmlformats.org/drawingml/2006/main">
              <a:ext uri="{FF2B5EF4-FFF2-40B4-BE49-F238E27FC236}">
                <a16:creationId xmlns:a16="http://schemas.microsoft.com/office/drawing/2014/main" id="{D8227C77-A075-4988-B4D9-8391258577F7}"/>
              </a:ext>
            </a:extLst>
          </p:cNvPr>
          <p:cNvSpPr>
            <a:spLocks xmlns:a="http://schemas.openxmlformats.org/drawingml/2006/main" noGrp="1"/>
          </p:cNvSpPr>
          <p:nvPr/>
        </p:nvSpPr>
        <p:spPr>
          <a:xfrm xmlns:a="http://schemas.openxmlformats.org/drawingml/2006/main">
            <a:off x="3581400" y="5143500"/>
            <a:ext cx="38100" cy="66675"/>
          </a:xfrm>
          <a:prstGeom xmlns:a="http://schemas.openxmlformats.org/drawingml/2006/main" prst="rect">
            <a:avLst/>
          </a:prstGeom>
          <a:solidFill xmlns:a="http://schemas.openxmlformats.org/drawingml/2006/main">
            <a:srgbClr val="B78B46"/>
          </a:solidFill>
          <a:ln xmlns:a="http://schemas.openxmlformats.org/drawingml/2006/main" w="0">
            <a:noFill/>
            <a:prstDash val="solid"/>
          </a:ln>
        </p:spPr>
      </p:sp>
      <p:sp>
        <p:nvSpPr>
          <p:cNvPr id="46" name="dram-die-2">
            <a:extLst xmlns:a="http://schemas.openxmlformats.org/drawingml/2006/main">
              <a:ext uri="{FF2B5EF4-FFF2-40B4-BE49-F238E27FC236}">
                <a16:creationId xmlns:a16="http://schemas.microsoft.com/office/drawing/2014/main" id="{82E81EE9-2521-4C83-8270-3963831BCCD5}"/>
              </a:ext>
            </a:extLst>
          </p:cNvPr>
          <p:cNvSpPr>
            <a:spLocks xmlns:a="http://schemas.openxmlformats.org/drawingml/2006/main" noGrp="1"/>
          </p:cNvSpPr>
          <p:nvPr/>
        </p:nvSpPr>
        <p:spPr>
          <a:xfrm xmlns:a="http://schemas.openxmlformats.org/drawingml/2006/main">
            <a:off x="3086100" y="5219700"/>
            <a:ext cx="647700" cy="171450"/>
          </a:xfrm>
          <a:prstGeom xmlns:a="http://schemas.openxmlformats.org/drawingml/2006/main" prst="rect">
            <a:avLst/>
          </a:prstGeom>
          <a:solidFill xmlns:a="http://schemas.openxmlformats.org/drawingml/2006/main">
            <a:srgbClr val="DDE8EF"/>
          </a:solidFill>
          <a:ln xmlns:a="http://schemas.openxmlformats.org/drawingml/2006/main" w="11430">
            <a:solidFill>
              <a:srgbClr val="4F829E"/>
            </a:solidFill>
            <a:prstDash val="solid"/>
          </a:ln>
        </p:spPr>
      </p:sp>
      <p:sp>
        <p:nvSpPr>
          <p:cNvPr id="47" name="development-scope">
            <a:extLst xmlns:a="http://schemas.openxmlformats.org/drawingml/2006/main">
              <a:ext uri="{FF2B5EF4-FFF2-40B4-BE49-F238E27FC236}">
                <a16:creationId xmlns:a16="http://schemas.microsoft.com/office/drawing/2014/main" id="{09274BD1-72F4-4341-9ACA-1D9ED4D47ABE}"/>
              </a:ext>
            </a:extLst>
          </p:cNvPr>
          <p:cNvSpPr>
            <a:spLocks xmlns:a="http://schemas.openxmlformats.org/drawingml/2006/main" noGrp="1"/>
          </p:cNvSpPr>
          <p:nvPr/>
        </p:nvSpPr>
        <p:spPr>
          <a:xfrm xmlns:a="http://schemas.openxmlformats.org/drawingml/2006/main">
            <a:off x="514350" y="5724525"/>
            <a:ext cx="3333750" cy="2095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163" b="0">
                <a:solidFill>
                  <a:srgbClr val="60727F"/>
                </a:solidFill>
                <a:latin typeface="Noto Sans CJK JP"/>
                <a:ea typeface="Noto Sans CJK JP"/>
                <a:cs typeface="Noto Sans CJK JP"/>
              </a:defRPr>
            </a:defPPr>
          </a:lstStyle>
          <a:p xmlns:a="http://schemas.openxmlformats.org/drawingml/2006/main">
            <a:pPr algn="l">
              <a:lnSpc>
                <a:spcPct val="112000"/>
              </a:lnSpc>
              <a:buNone/>
              <a:defRPr sz="1163" b="0">
                <a:solidFill>
                  <a:srgbClr val="60727F"/>
                </a:solidFill>
                <a:latin typeface="Noto Sans CJK JP"/>
                <a:ea typeface="Noto Sans CJK JP"/>
                <a:cs typeface="Noto Sans CJK JP"/>
              </a:defRPr>
            </a:pPr>
            <a:r>
              <a:rPr sz="1163" b="0">
                <a:solidFill>
                  <a:srgbClr val="60727F"/>
                </a:solidFill>
                <a:latin typeface="Noto Sans CJK JP"/>
                <a:ea typeface="Noto Sans CJK JP"/>
                <a:cs typeface="Noto Sans CJK JP"/>
              </a:rPr>
              <a:t>CFET・セル3D化は開発段階を含む</a:t>
            </a:r>
          </a:p>
        </p:txBody>
      </p:sp>
      <p:sp>
        <p:nvSpPr>
          <p:cNvPr id="48" name="interface-count">
            <a:extLst xmlns:a="http://schemas.openxmlformats.org/drawingml/2006/main">
              <a:ext uri="{FF2B5EF4-FFF2-40B4-BE49-F238E27FC236}">
                <a16:creationId xmlns:a16="http://schemas.microsoft.com/office/drawing/2014/main" id="{4793F72B-AE23-4D3D-B22E-DA42F27FF224}"/>
              </a:ext>
            </a:extLst>
          </p:cNvPr>
          <p:cNvSpPr>
            <a:spLocks xmlns:a="http://schemas.openxmlformats.org/drawingml/2006/main" noGrp="1"/>
          </p:cNvSpPr>
          <p:nvPr/>
        </p:nvSpPr>
        <p:spPr>
          <a:xfrm xmlns:a="http://schemas.openxmlformats.org/drawingml/2006/main">
            <a:off x="4552950" y="2266950"/>
            <a:ext cx="33718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8394E"/>
                </a:solidFill>
                <a:latin typeface="Noto Sans CJK JP"/>
                <a:ea typeface="Noto Sans CJK JP"/>
                <a:cs typeface="Noto Sans CJK JP"/>
              </a:defRPr>
            </a:defPPr>
          </a:lstStyle>
          <a:p xmlns:a="http://schemas.openxmlformats.org/drawingml/2006/main">
            <a:pPr algn="l">
              <a:lnSpc>
                <a:spcPct val="112000"/>
              </a:lnSpc>
              <a:buNone/>
              <a:defRPr sz="1875" b="1">
                <a:solidFill>
                  <a:srgbClr val="18394E"/>
                </a:solidFill>
                <a:latin typeface="Noto Sans CJK JP"/>
                <a:ea typeface="Noto Sans CJK JP"/>
                <a:cs typeface="Noto Sans CJK JP"/>
              </a:defRPr>
            </a:pPr>
            <a:r>
              <a:rPr sz="1875" b="1">
                <a:solidFill>
                  <a:srgbClr val="18394E"/>
                </a:solidFill>
                <a:latin typeface="Noto Sans CJK JP"/>
                <a:ea typeface="Noto Sans CJK JP"/>
                <a:cs typeface="Noto Sans CJK JP"/>
              </a:rPr>
              <a:t>異種材料・界面が増える</a:t>
            </a:r>
          </a:p>
        </p:txBody>
      </p:sp>
      <p:sp>
        <p:nvSpPr>
          <p:cNvPr id="49" name="thermal-path">
            <a:extLst xmlns:a="http://schemas.openxmlformats.org/drawingml/2006/main">
              <a:ext uri="{FF2B5EF4-FFF2-40B4-BE49-F238E27FC236}">
                <a16:creationId xmlns:a16="http://schemas.microsoft.com/office/drawing/2014/main" id="{BBD90165-BB46-4D28-92E8-5C7A230D0001}"/>
              </a:ext>
            </a:extLst>
          </p:cNvPr>
          <p:cNvSpPr>
            <a:spLocks xmlns:a="http://schemas.openxmlformats.org/drawingml/2006/main" noGrp="1"/>
          </p:cNvSpPr>
          <p:nvPr/>
        </p:nvSpPr>
        <p:spPr>
          <a:xfrm xmlns:a="http://schemas.openxmlformats.org/drawingml/2006/main">
            <a:off x="4552950" y="2667000"/>
            <a:ext cx="3371850"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0">
                <a:solidFill>
                  <a:srgbClr val="43586A"/>
                </a:solidFill>
                <a:latin typeface="Noto Sans CJK JP"/>
                <a:ea typeface="Noto Sans CJK JP"/>
                <a:cs typeface="Noto Sans CJK JP"/>
              </a:defRPr>
            </a:defPPr>
          </a:lstStyle>
          <a:p xmlns:a="http://schemas.openxmlformats.org/drawingml/2006/main">
            <a:pPr algn="l">
              <a:lnSpc>
                <a:spcPct val="112000"/>
              </a:lnSpc>
              <a:buNone/>
              <a:defRPr sz="1650" b="0">
                <a:solidFill>
                  <a:srgbClr val="43586A"/>
                </a:solidFill>
                <a:latin typeface="Noto Sans CJK JP"/>
                <a:ea typeface="Noto Sans CJK JP"/>
                <a:cs typeface="Noto Sans CJK JP"/>
              </a:defRPr>
            </a:pPr>
            <a:r>
              <a:rPr sz="1650" b="0">
                <a:solidFill>
                  <a:srgbClr val="43586A"/>
                </a:solidFill>
                <a:latin typeface="Noto Sans CJK JP"/>
                <a:ea typeface="Noto Sans CJK JP"/>
                <a:cs typeface="Noto Sans CJK JP"/>
              </a:rPr>
              <a:t>熱が通る経路・抵抗が変わる</a:t>
            </a:r>
          </a:p>
        </p:txBody>
      </p:sp>
      <p:sp>
        <p:nvSpPr>
          <p:cNvPr id="50" name="heat-flow-label">
            <a:extLst xmlns:a="http://schemas.openxmlformats.org/drawingml/2006/main">
              <a:ext uri="{FF2B5EF4-FFF2-40B4-BE49-F238E27FC236}">
                <a16:creationId xmlns:a16="http://schemas.microsoft.com/office/drawing/2014/main" id="{B9D2CA2B-DE67-4A90-95EC-7E9F32EF1F1A}"/>
              </a:ext>
            </a:extLst>
          </p:cNvPr>
          <p:cNvSpPr>
            <a:spLocks xmlns:a="http://schemas.openxmlformats.org/drawingml/2006/main" noGrp="1"/>
          </p:cNvSpPr>
          <p:nvPr/>
        </p:nvSpPr>
        <p:spPr>
          <a:xfrm xmlns:a="http://schemas.openxmlformats.org/drawingml/2006/main">
            <a:off x="4495800" y="3000375"/>
            <a:ext cx="714375"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425" b="0">
                <a:solidFill>
                  <a:srgbClr val="B8433C"/>
                </a:solidFill>
                <a:latin typeface="Noto Sans CJK JP"/>
                <a:ea typeface="Noto Sans CJK JP"/>
                <a:cs typeface="Noto Sans CJK JP"/>
              </a:defRPr>
            </a:defPPr>
          </a:lstStyle>
          <a:p xmlns:a="http://schemas.openxmlformats.org/drawingml/2006/main">
            <a:pPr algn="l">
              <a:lnSpc>
                <a:spcPct val="112000"/>
              </a:lnSpc>
              <a:buNone/>
              <a:defRPr sz="1425" b="0">
                <a:solidFill>
                  <a:srgbClr val="B8433C"/>
                </a:solidFill>
                <a:latin typeface="Noto Sans CJK JP"/>
                <a:ea typeface="Noto Sans CJK JP"/>
                <a:cs typeface="Noto Sans CJK JP"/>
              </a:defRPr>
            </a:pPr>
            <a:r>
              <a:rPr sz="1425" b="0">
                <a:solidFill>
                  <a:srgbClr val="B8433C"/>
                </a:solidFill>
                <a:latin typeface="Noto Sans CJK JP"/>
                <a:ea typeface="Noto Sans CJK JP"/>
                <a:cs typeface="Noto Sans CJK JP"/>
              </a:rPr>
              <a:t>熱流</a:t>
            </a:r>
          </a:p>
        </p:txBody>
      </p:sp>
      <p:sp>
        <p:nvSpPr>
          <p:cNvPr id="51" name="heat-flow-arrow">
            <a:extLst xmlns:a="http://schemas.openxmlformats.org/drawingml/2006/main">
              <a:ext uri="{FF2B5EF4-FFF2-40B4-BE49-F238E27FC236}">
                <a16:creationId xmlns:a16="http://schemas.microsoft.com/office/drawing/2014/main" id="{7D9DB34C-17B5-49B2-AFE4-F8C20C26DCF5}"/>
              </a:ext>
            </a:extLst>
          </p:cNvPr>
          <p:cNvSpPr>
            <a:spLocks xmlns:a="http://schemas.openxmlformats.org/drawingml/2006/main" noGrp="1"/>
          </p:cNvSpPr>
          <p:nvPr/>
        </p:nvSpPr>
        <p:spPr>
          <a:xfrm xmlns:a="http://schemas.openxmlformats.org/drawingml/2006/main">
            <a:off x="4600575" y="3371850"/>
            <a:ext cx="171450" cy="771525"/>
          </a:xfrm>
          <a:prstGeom xmlns:a="http://schemas.openxmlformats.org/drawingml/2006/main" prst="downArrow">
            <a:avLst/>
          </a:prstGeom>
          <a:solidFill xmlns:a="http://schemas.openxmlformats.org/drawingml/2006/main">
            <a:srgbClr val="B8433C"/>
          </a:solidFill>
          <a:ln xmlns:a="http://schemas.openxmlformats.org/drawingml/2006/main" w="0">
            <a:noFill/>
            <a:prstDash val="solid"/>
          </a:ln>
        </p:spPr>
      </p:sp>
      <p:sp>
        <p:nvSpPr>
          <p:cNvPr id="52" name="thermal-layer-a">
            <a:extLst xmlns:a="http://schemas.openxmlformats.org/drawingml/2006/main">
              <a:ext uri="{FF2B5EF4-FFF2-40B4-BE49-F238E27FC236}">
                <a16:creationId xmlns:a16="http://schemas.microsoft.com/office/drawing/2014/main" id="{10813673-EBB0-4BA9-9053-52FCE34391C2}"/>
              </a:ext>
            </a:extLst>
          </p:cNvPr>
          <p:cNvSpPr>
            <a:spLocks xmlns:a="http://schemas.openxmlformats.org/drawingml/2006/main" noGrp="1"/>
          </p:cNvSpPr>
          <p:nvPr/>
        </p:nvSpPr>
        <p:spPr>
          <a:xfrm xmlns:a="http://schemas.openxmlformats.org/drawingml/2006/main">
            <a:off x="4933950" y="3209925"/>
            <a:ext cx="1352550" cy="400050"/>
          </a:xfrm>
          <a:prstGeom xmlns:a="http://schemas.openxmlformats.org/drawingml/2006/main" prst="rect">
            <a:avLst/>
          </a:prstGeom>
          <a:solidFill xmlns:a="http://schemas.openxmlformats.org/drawingml/2006/main">
            <a:srgbClr val="DDE8EF"/>
          </a:solidFill>
          <a:ln xmlns:a="http://schemas.openxmlformats.org/drawingml/2006/main" w="10478">
            <a:solidFill>
              <a:srgbClr val="4F829E"/>
            </a:solidFill>
            <a:prstDash val="solid"/>
          </a:ln>
        </p:spPr>
      </p:sp>
      <p:sp>
        <p:nvSpPr>
          <p:cNvPr id="53" name="thermal-interface">
            <a:extLst xmlns:a="http://schemas.openxmlformats.org/drawingml/2006/main">
              <a:ext uri="{FF2B5EF4-FFF2-40B4-BE49-F238E27FC236}">
                <a16:creationId xmlns:a16="http://schemas.microsoft.com/office/drawing/2014/main" id="{D32A68A4-6F6B-41EF-BCF0-AE72AC1F43AB}"/>
              </a:ext>
            </a:extLst>
          </p:cNvPr>
          <p:cNvSpPr>
            <a:spLocks xmlns:a="http://schemas.openxmlformats.org/drawingml/2006/main" noGrp="1"/>
          </p:cNvSpPr>
          <p:nvPr/>
        </p:nvSpPr>
        <p:spPr>
          <a:xfrm xmlns:a="http://schemas.openxmlformats.org/drawingml/2006/main">
            <a:off x="4933950" y="3609975"/>
            <a:ext cx="1352550" cy="38100"/>
          </a:xfrm>
          <a:prstGeom xmlns:a="http://schemas.openxmlformats.org/drawingml/2006/main" prst="rect">
            <a:avLst/>
          </a:prstGeom>
          <a:solidFill xmlns:a="http://schemas.openxmlformats.org/drawingml/2006/main">
            <a:srgbClr val="B8433C"/>
          </a:solidFill>
          <a:ln xmlns:a="http://schemas.openxmlformats.org/drawingml/2006/main" w="0">
            <a:noFill/>
            <a:prstDash val="solid"/>
          </a:ln>
        </p:spPr>
      </p:sp>
      <p:sp>
        <p:nvSpPr>
          <p:cNvPr id="54" name="thermal-layer-b">
            <a:extLst xmlns:a="http://schemas.openxmlformats.org/drawingml/2006/main">
              <a:ext uri="{FF2B5EF4-FFF2-40B4-BE49-F238E27FC236}">
                <a16:creationId xmlns:a16="http://schemas.microsoft.com/office/drawing/2014/main" id="{88626801-B2B6-4109-8F94-61EADC830AD2}"/>
              </a:ext>
            </a:extLst>
          </p:cNvPr>
          <p:cNvSpPr>
            <a:spLocks xmlns:a="http://schemas.openxmlformats.org/drawingml/2006/main" noGrp="1"/>
          </p:cNvSpPr>
          <p:nvPr/>
        </p:nvSpPr>
        <p:spPr>
          <a:xfrm xmlns:a="http://schemas.openxmlformats.org/drawingml/2006/main">
            <a:off x="4933950" y="3648075"/>
            <a:ext cx="1352550" cy="400050"/>
          </a:xfrm>
          <a:prstGeom xmlns:a="http://schemas.openxmlformats.org/drawingml/2006/main" prst="rect">
            <a:avLst/>
          </a:prstGeom>
          <a:solidFill xmlns:a="http://schemas.openxmlformats.org/drawingml/2006/main">
            <a:srgbClr val="EEF3F6"/>
          </a:solidFill>
          <a:ln xmlns:a="http://schemas.openxmlformats.org/drawingml/2006/main" w="10478">
            <a:solidFill>
              <a:srgbClr val="4F829E"/>
            </a:solidFill>
            <a:prstDash val="solid"/>
          </a:ln>
        </p:spPr>
      </p:sp>
      <p:sp>
        <p:nvSpPr>
          <p:cNvPr id="55" name="thermal-layer-a-label">
            <a:extLst xmlns:a="http://schemas.openxmlformats.org/drawingml/2006/main">
              <a:ext uri="{FF2B5EF4-FFF2-40B4-BE49-F238E27FC236}">
                <a16:creationId xmlns:a16="http://schemas.microsoft.com/office/drawing/2014/main" id="{B89C0F63-7124-4386-ACE7-963F44CB532B}"/>
              </a:ext>
            </a:extLst>
          </p:cNvPr>
          <p:cNvSpPr>
            <a:spLocks xmlns:a="http://schemas.openxmlformats.org/drawingml/2006/main" noGrp="1"/>
          </p:cNvSpPr>
          <p:nvPr/>
        </p:nvSpPr>
        <p:spPr>
          <a:xfrm xmlns:a="http://schemas.openxmlformats.org/drawingml/2006/main">
            <a:off x="5010150" y="3286125"/>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8394E"/>
                </a:solidFill>
                <a:latin typeface="Noto Sans CJK JP"/>
                <a:ea typeface="Noto Sans CJK JP"/>
                <a:cs typeface="Noto Sans CJK JP"/>
              </a:defRPr>
            </a:defPPr>
          </a:lstStyle>
          <a:p xmlns:a="http://schemas.openxmlformats.org/drawingml/2006/main">
            <a:pPr algn="ctr">
              <a:lnSpc>
                <a:spcPct val="112000"/>
              </a:lnSpc>
              <a:buNone/>
              <a:defRPr sz="1650" b="0">
                <a:solidFill>
                  <a:srgbClr val="18394E"/>
                </a:solidFill>
                <a:latin typeface="Noto Sans CJK JP"/>
                <a:ea typeface="Noto Sans CJK JP"/>
                <a:cs typeface="Noto Sans CJK JP"/>
              </a:defRPr>
            </a:pPr>
            <a:r>
              <a:rPr sz="1650" b="0">
                <a:solidFill>
                  <a:srgbClr val="18394E"/>
                </a:solidFill>
                <a:latin typeface="Noto Sans CJK JP"/>
                <a:ea typeface="Noto Sans CJK JP"/>
                <a:cs typeface="Noto Sans CJK JP"/>
              </a:rPr>
              <a:t>薄膜A</a:t>
            </a:r>
          </a:p>
        </p:txBody>
      </p:sp>
      <p:sp>
        <p:nvSpPr>
          <p:cNvPr id="56" name="thermal-layer-b-label">
            <a:extLst xmlns:a="http://schemas.openxmlformats.org/drawingml/2006/main">
              <a:ext uri="{FF2B5EF4-FFF2-40B4-BE49-F238E27FC236}">
                <a16:creationId xmlns:a16="http://schemas.microsoft.com/office/drawing/2014/main" id="{04F79A03-591E-444B-86B5-48C202FFF477}"/>
              </a:ext>
            </a:extLst>
          </p:cNvPr>
          <p:cNvSpPr>
            <a:spLocks xmlns:a="http://schemas.openxmlformats.org/drawingml/2006/main" noGrp="1"/>
          </p:cNvSpPr>
          <p:nvPr/>
        </p:nvSpPr>
        <p:spPr>
          <a:xfrm xmlns:a="http://schemas.openxmlformats.org/drawingml/2006/main">
            <a:off x="5010150" y="3724275"/>
            <a:ext cx="12001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ctr">
              <a:defRPr sz="1650" b="0">
                <a:solidFill>
                  <a:srgbClr val="18394E"/>
                </a:solidFill>
                <a:latin typeface="Noto Sans CJK JP"/>
                <a:ea typeface="Noto Sans CJK JP"/>
                <a:cs typeface="Noto Sans CJK JP"/>
              </a:defRPr>
            </a:defPPr>
          </a:lstStyle>
          <a:p xmlns:a="http://schemas.openxmlformats.org/drawingml/2006/main">
            <a:pPr algn="ctr">
              <a:lnSpc>
                <a:spcPct val="112000"/>
              </a:lnSpc>
              <a:buNone/>
              <a:defRPr sz="1650" b="0">
                <a:solidFill>
                  <a:srgbClr val="18394E"/>
                </a:solidFill>
                <a:latin typeface="Noto Sans CJK JP"/>
                <a:ea typeface="Noto Sans CJK JP"/>
                <a:cs typeface="Noto Sans CJK JP"/>
              </a:defRPr>
            </a:pPr>
            <a:r>
              <a:rPr sz="1650" b="0">
                <a:solidFill>
                  <a:srgbClr val="18394E"/>
                </a:solidFill>
                <a:latin typeface="Noto Sans CJK JP"/>
                <a:ea typeface="Noto Sans CJK JP"/>
                <a:cs typeface="Noto Sans CJK JP"/>
              </a:rPr>
              <a:t>薄膜B</a:t>
            </a:r>
          </a:p>
        </p:txBody>
      </p:sp>
      <p:sp>
        <p:nvSpPr>
          <p:cNvPr id="57" name="interface-leader">
            <a:extLst xmlns:a="http://schemas.openxmlformats.org/drawingml/2006/main">
              <a:ext uri="{FF2B5EF4-FFF2-40B4-BE49-F238E27FC236}">
                <a16:creationId xmlns:a16="http://schemas.microsoft.com/office/drawing/2014/main" id="{CBB80CB6-A8C4-461A-B3E9-5B98EBEA5C47}"/>
              </a:ext>
            </a:extLst>
          </p:cNvPr>
          <p:cNvSpPr>
            <a:spLocks xmlns:a="http://schemas.openxmlformats.org/drawingml/2006/main" noGrp="1"/>
          </p:cNvSpPr>
          <p:nvPr/>
        </p:nvSpPr>
        <p:spPr>
          <a:xfrm xmlns:a="http://schemas.openxmlformats.org/drawingml/2006/main">
            <a:off x="6286500" y="3629025"/>
            <a:ext cx="228600" cy="0"/>
          </a:xfrm>
          <a:prstGeom xmlns:a="http://schemas.openxmlformats.org/drawingml/2006/main" prst="line">
            <a:avLst/>
          </a:prstGeom>
          <a:noFill xmlns:a="http://schemas.openxmlformats.org/drawingml/2006/main"/>
          <a:ln xmlns:a="http://schemas.openxmlformats.org/drawingml/2006/main" w="15240">
            <a:solidFill>
              <a:srgbClr val="B8433C"/>
            </a:solidFill>
            <a:prstDash val="solid"/>
          </a:ln>
        </p:spPr>
      </p:sp>
      <p:sp>
        <p:nvSpPr>
          <p:cNvPr id="58" name="interface-label">
            <a:extLst xmlns:a="http://schemas.openxmlformats.org/drawingml/2006/main">
              <a:ext uri="{FF2B5EF4-FFF2-40B4-BE49-F238E27FC236}">
                <a16:creationId xmlns:a16="http://schemas.microsoft.com/office/drawing/2014/main" id="{6F68CAFC-211B-4199-9E72-7CB3453CF501}"/>
              </a:ext>
            </a:extLst>
          </p:cNvPr>
          <p:cNvSpPr>
            <a:spLocks xmlns:a="http://schemas.openxmlformats.org/drawingml/2006/main" noGrp="1"/>
          </p:cNvSpPr>
          <p:nvPr/>
        </p:nvSpPr>
        <p:spPr>
          <a:xfrm xmlns:a="http://schemas.openxmlformats.org/drawingml/2006/main">
            <a:off x="6581775" y="3257550"/>
            <a:ext cx="1323975" cy="285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75" b="1">
                <a:solidFill>
                  <a:srgbClr val="B8433C"/>
                </a:solidFill>
                <a:latin typeface="Noto Sans CJK JP"/>
                <a:ea typeface="Noto Sans CJK JP"/>
                <a:cs typeface="Noto Sans CJK JP"/>
              </a:defRPr>
            </a:defPPr>
          </a:lstStyle>
          <a:p xmlns:a="http://schemas.openxmlformats.org/drawingml/2006/main">
            <a:pPr algn="l">
              <a:lnSpc>
                <a:spcPct val="112000"/>
              </a:lnSpc>
              <a:buNone/>
              <a:defRPr sz="1575" b="1">
                <a:solidFill>
                  <a:srgbClr val="B8433C"/>
                </a:solidFill>
                <a:latin typeface="Noto Sans CJK JP"/>
                <a:ea typeface="Noto Sans CJK JP"/>
                <a:cs typeface="Noto Sans CJK JP"/>
              </a:defRPr>
            </a:pPr>
            <a:r>
              <a:rPr sz="1575" b="1">
                <a:solidFill>
                  <a:srgbClr val="B8433C"/>
                </a:solidFill>
                <a:latin typeface="Noto Sans CJK JP"/>
                <a:ea typeface="Noto Sans CJK JP"/>
                <a:cs typeface="Noto Sans CJK JP"/>
              </a:rPr>
              <a:t>接合界面</a:t>
            </a:r>
          </a:p>
        </p:txBody>
      </p:sp>
      <p:sp>
        <p:nvSpPr>
          <p:cNvPr id="59" name="interface-temp-jump">
            <a:extLst xmlns:a="http://schemas.openxmlformats.org/drawingml/2006/main">
              <a:ext uri="{FF2B5EF4-FFF2-40B4-BE49-F238E27FC236}">
                <a16:creationId xmlns:a16="http://schemas.microsoft.com/office/drawing/2014/main" id="{BE8F30C0-A87E-4041-AE2F-1F914CCDF305}"/>
              </a:ext>
            </a:extLst>
          </p:cNvPr>
          <p:cNvSpPr>
            <a:spLocks xmlns:a="http://schemas.openxmlformats.org/drawingml/2006/main" noGrp="1"/>
          </p:cNvSpPr>
          <p:nvPr/>
        </p:nvSpPr>
        <p:spPr>
          <a:xfrm xmlns:a="http://schemas.openxmlformats.org/drawingml/2006/main">
            <a:off x="6581775" y="3648075"/>
            <a:ext cx="132397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650" b="1">
                <a:solidFill>
                  <a:srgbClr val="B8433C"/>
                </a:solidFill>
                <a:latin typeface="Noto Sans CJK JP"/>
                <a:ea typeface="Noto Sans CJK JP"/>
                <a:cs typeface="Noto Sans CJK JP"/>
              </a:defRPr>
            </a:defPPr>
          </a:lstStyle>
          <a:p xmlns:a="http://schemas.openxmlformats.org/drawingml/2006/main">
            <a:pPr algn="l">
              <a:lnSpc>
                <a:spcPct val="112000"/>
              </a:lnSpc>
              <a:buNone/>
              <a:defRPr sz="1650" b="1">
                <a:solidFill>
                  <a:srgbClr val="B8433C"/>
                </a:solidFill>
                <a:latin typeface="Noto Sans CJK JP"/>
                <a:ea typeface="Noto Sans CJK JP"/>
                <a:cs typeface="Noto Sans CJK JP"/>
              </a:defRPr>
            </a:pPr>
            <a:r>
              <a:rPr sz="1650" b="1">
                <a:solidFill>
                  <a:srgbClr val="B8433C"/>
                </a:solidFill>
                <a:latin typeface="Noto Sans CJK JP"/>
                <a:ea typeface="Noto Sans CJK JP"/>
                <a:cs typeface="Noto Sans CJK JP"/>
              </a:rPr>
              <a:t>温度差 ΔT</a:t>
            </a:r>
          </a:p>
        </p:txBody>
      </p:sp>
      <p:sp>
        <p:nvSpPr>
          <p:cNvPr id="60" name="property-variation">
            <a:extLst xmlns:a="http://schemas.openxmlformats.org/drawingml/2006/main">
              <a:ext uri="{FF2B5EF4-FFF2-40B4-BE49-F238E27FC236}">
                <a16:creationId xmlns:a16="http://schemas.microsoft.com/office/drawing/2014/main" id="{E9E0774B-586E-4123-A6C6-72E2FBFF6B53}"/>
              </a:ext>
            </a:extLst>
          </p:cNvPr>
          <p:cNvSpPr>
            <a:spLocks xmlns:a="http://schemas.openxmlformats.org/drawingml/2006/main" noGrp="1"/>
          </p:cNvSpPr>
          <p:nvPr/>
        </p:nvSpPr>
        <p:spPr>
          <a:xfrm xmlns:a="http://schemas.openxmlformats.org/drawingml/2006/main">
            <a:off x="4552950" y="4391025"/>
            <a:ext cx="337185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0">
                <a:solidFill>
                  <a:srgbClr val="43586A"/>
                </a:solidFill>
                <a:latin typeface="Noto Sans CJK JP"/>
                <a:ea typeface="Noto Sans CJK JP"/>
                <a:cs typeface="Noto Sans CJK JP"/>
              </a:defRPr>
            </a:defPPr>
          </a:lstStyle>
          <a:p xmlns:a="http://schemas.openxmlformats.org/drawingml/2006/main">
            <a:pPr algn="l">
              <a:lnSpc>
                <a:spcPct val="112000"/>
              </a:lnSpc>
              <a:buNone/>
              <a:defRPr sz="1725" b="0">
                <a:solidFill>
                  <a:srgbClr val="43586A"/>
                </a:solidFill>
                <a:latin typeface="Noto Sans CJK JP"/>
                <a:ea typeface="Noto Sans CJK JP"/>
                <a:cs typeface="Noto Sans CJK JP"/>
              </a:defRPr>
            </a:pPr>
            <a:r>
              <a:rPr sz="1725" b="0">
                <a:solidFill>
                  <a:srgbClr val="43586A"/>
                </a:solidFill>
                <a:latin typeface="Noto Sans CJK JP"/>
                <a:ea typeface="Noto Sans CJK JP"/>
                <a:cs typeface="Noto Sans CJK JP"/>
              </a:rPr>
              <a:t>膜厚・結晶性・接合状態で</a:t>
            </a:r>
          </a:p>
          <a:p xmlns:a="http://schemas.openxmlformats.org/drawingml/2006/main">
            <a:pPr algn="l">
              <a:lnSpc>
                <a:spcPct val="112000"/>
              </a:lnSpc>
              <a:buNone/>
              <a:defRPr sz="1725" b="0">
                <a:solidFill>
                  <a:srgbClr val="43586A"/>
                </a:solidFill>
                <a:latin typeface="Noto Sans CJK JP"/>
                <a:ea typeface="Noto Sans CJK JP"/>
                <a:cs typeface="Noto Sans CJK JP"/>
              </a:defRPr>
            </a:pPr>
            <a:r>
              <a:rPr sz="1725" b="0">
                <a:solidFill>
                  <a:srgbClr val="43586A"/>
                </a:solidFill>
                <a:latin typeface="Noto Sans CJK JP"/>
                <a:ea typeface="Noto Sans CJK JP"/>
                <a:cs typeface="Noto Sans CJK JP"/>
              </a:rPr>
              <a:t>熱の通りやすさが変わる</a:t>
            </a:r>
          </a:p>
        </p:txBody>
      </p:sp>
      <p:sp>
        <p:nvSpPr>
          <p:cNvPr id="61" name="need-interface-resistance">
            <a:extLst xmlns:a="http://schemas.openxmlformats.org/drawingml/2006/main">
              <a:ext uri="{FF2B5EF4-FFF2-40B4-BE49-F238E27FC236}">
                <a16:creationId xmlns:a16="http://schemas.microsoft.com/office/drawing/2014/main" id="{D8AF4047-2BE5-4F42-B786-D0197EA8FDF9}"/>
              </a:ext>
            </a:extLst>
          </p:cNvPr>
          <p:cNvSpPr>
            <a:spLocks xmlns:a="http://schemas.openxmlformats.org/drawingml/2006/main" noGrp="1"/>
          </p:cNvSpPr>
          <p:nvPr/>
        </p:nvSpPr>
        <p:spPr>
          <a:xfrm xmlns:a="http://schemas.openxmlformats.org/drawingml/2006/main">
            <a:off x="4552950" y="5219700"/>
            <a:ext cx="33718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8394E"/>
                </a:solidFill>
                <a:latin typeface="Noto Sans CJK JP"/>
                <a:ea typeface="Noto Sans CJK JP"/>
                <a:cs typeface="Noto Sans CJK JP"/>
              </a:defRPr>
            </a:defPPr>
          </a:lstStyle>
          <a:p xmlns:a="http://schemas.openxmlformats.org/drawingml/2006/main">
            <a:pPr algn="l">
              <a:lnSpc>
                <a:spcPct val="112000"/>
              </a:lnSpc>
              <a:buNone/>
              <a:defRPr sz="1875" b="1">
                <a:solidFill>
                  <a:srgbClr val="18394E"/>
                </a:solidFill>
                <a:latin typeface="Noto Sans CJK JP"/>
                <a:ea typeface="Noto Sans CJK JP"/>
                <a:cs typeface="Noto Sans CJK JP"/>
              </a:defRPr>
            </a:pPr>
            <a:r>
              <a:rPr sz="1875" b="1">
                <a:solidFill>
                  <a:srgbClr val="18394E"/>
                </a:solidFill>
                <a:latin typeface="Noto Sans CJK JP"/>
                <a:ea typeface="Noto Sans CJK JP"/>
                <a:cs typeface="Noto Sans CJK JP"/>
              </a:rPr>
              <a:t>界面熱抵抗も評価する必要</a:t>
            </a:r>
          </a:p>
        </p:txBody>
      </p:sp>
      <p:sp>
        <p:nvSpPr>
          <p:cNvPr id="62" name="high-power-scope">
            <a:extLst xmlns:a="http://schemas.openxmlformats.org/drawingml/2006/main">
              <a:ext uri="{FF2B5EF4-FFF2-40B4-BE49-F238E27FC236}">
                <a16:creationId xmlns:a16="http://schemas.microsoft.com/office/drawing/2014/main" id="{37CC601B-DCF0-41E1-9C04-13E5F4955AD3}"/>
              </a:ext>
            </a:extLst>
          </p:cNvPr>
          <p:cNvSpPr>
            <a:spLocks xmlns:a="http://schemas.openxmlformats.org/drawingml/2006/main" noGrp="1"/>
          </p:cNvSpPr>
          <p:nvPr/>
        </p:nvSpPr>
        <p:spPr>
          <a:xfrm xmlns:a="http://schemas.openxmlformats.org/drawingml/2006/main">
            <a:off x="4552950" y="5667375"/>
            <a:ext cx="3371850" cy="2286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200" b="0">
                <a:solidFill>
                  <a:srgbClr val="60727F"/>
                </a:solidFill>
                <a:latin typeface="Noto Sans CJK JP"/>
                <a:ea typeface="Noto Sans CJK JP"/>
                <a:cs typeface="Noto Sans CJK JP"/>
              </a:defRPr>
            </a:defPPr>
          </a:lstStyle>
          <a:p xmlns:a="http://schemas.openxmlformats.org/drawingml/2006/main">
            <a:pPr algn="l">
              <a:lnSpc>
                <a:spcPct val="112000"/>
              </a:lnSpc>
              <a:buNone/>
              <a:defRPr sz="1200" b="0">
                <a:solidFill>
                  <a:srgbClr val="60727F"/>
                </a:solidFill>
                <a:latin typeface="Noto Sans CJK JP"/>
                <a:ea typeface="Noto Sans CJK JP"/>
                <a:cs typeface="Noto Sans CJK JP"/>
              </a:defRPr>
            </a:pPr>
            <a:r>
              <a:rPr sz="1200" b="0">
                <a:solidFill>
                  <a:srgbClr val="60727F"/>
                </a:solidFill>
                <a:latin typeface="Noto Sans CJK JP"/>
                <a:ea typeface="Noto Sans CJK JP"/>
                <a:cs typeface="Noto Sans CJK JP"/>
              </a:rPr>
              <a:t>高発熱のロジック・HBMで特に重要</a:t>
            </a:r>
          </a:p>
        </p:txBody>
      </p:sp>
      <p:sp>
        <p:nvSpPr>
          <p:cNvPr id="63" name="evaluation-context">
            <a:extLst xmlns:a="http://schemas.openxmlformats.org/drawingml/2006/main">
              <a:ext uri="{FF2B5EF4-FFF2-40B4-BE49-F238E27FC236}">
                <a16:creationId xmlns:a16="http://schemas.microsoft.com/office/drawing/2014/main" id="{FDFE6007-1261-4ED3-A566-BE516D2EFC89}"/>
              </a:ext>
            </a:extLst>
          </p:cNvPr>
          <p:cNvSpPr>
            <a:spLocks xmlns:a="http://schemas.openxmlformats.org/drawingml/2006/main" noGrp="1"/>
          </p:cNvSpPr>
          <p:nvPr/>
        </p:nvSpPr>
        <p:spPr>
          <a:xfrm xmlns:a="http://schemas.openxmlformats.org/drawingml/2006/main">
            <a:off x="8782050" y="2266950"/>
            <a:ext cx="2914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8394E"/>
                </a:solidFill>
                <a:latin typeface="Noto Sans CJK JP"/>
                <a:ea typeface="Noto Sans CJK JP"/>
                <a:cs typeface="Noto Sans CJK JP"/>
              </a:defRPr>
            </a:defPPr>
          </a:lstStyle>
          <a:p xmlns:a="http://schemas.openxmlformats.org/drawingml/2006/main">
            <a:pPr algn="l">
              <a:lnSpc>
                <a:spcPct val="112000"/>
              </a:lnSpc>
              <a:buNone/>
              <a:defRPr sz="1875" b="1">
                <a:solidFill>
                  <a:srgbClr val="18394E"/>
                </a:solidFill>
                <a:latin typeface="Noto Sans CJK JP"/>
                <a:ea typeface="Noto Sans CJK JP"/>
                <a:cs typeface="Noto Sans CJK JP"/>
              </a:defRPr>
            </a:pPr>
            <a:r>
              <a:rPr sz="1875" b="1">
                <a:solidFill>
                  <a:srgbClr val="18394E"/>
                </a:solidFill>
                <a:latin typeface="Noto Sans CJK JP"/>
                <a:ea typeface="Noto Sans CJK JP"/>
                <a:cs typeface="Noto Sans CJK JP"/>
              </a:rPr>
              <a:t>材料・成膜条件を比較</a:t>
            </a:r>
          </a:p>
        </p:txBody>
      </p:sp>
      <p:sp>
        <p:nvSpPr>
          <p:cNvPr id="64" name="film-conductivity">
            <a:extLst xmlns:a="http://schemas.openxmlformats.org/drawingml/2006/main">
              <a:ext uri="{FF2B5EF4-FFF2-40B4-BE49-F238E27FC236}">
                <a16:creationId xmlns:a16="http://schemas.microsoft.com/office/drawing/2014/main" id="{861998EF-4BC5-4C68-8740-56D1D8E91FA5}"/>
              </a:ext>
            </a:extLst>
          </p:cNvPr>
          <p:cNvSpPr>
            <a:spLocks xmlns:a="http://schemas.openxmlformats.org/drawingml/2006/main" noGrp="1"/>
          </p:cNvSpPr>
          <p:nvPr/>
        </p:nvSpPr>
        <p:spPr>
          <a:xfrm xmlns:a="http://schemas.openxmlformats.org/drawingml/2006/main">
            <a:off x="8782050" y="2762250"/>
            <a:ext cx="2914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0">
                <a:solidFill>
                  <a:srgbClr val="43586A"/>
                </a:solidFill>
                <a:latin typeface="Noto Sans CJK JP"/>
                <a:ea typeface="Noto Sans CJK JP"/>
                <a:cs typeface="Noto Sans CJK JP"/>
              </a:defRPr>
            </a:defPPr>
          </a:lstStyle>
          <a:p xmlns:a="http://schemas.openxmlformats.org/drawingml/2006/main">
            <a:pPr algn="l">
              <a:lnSpc>
                <a:spcPct val="112000"/>
              </a:lnSpc>
              <a:buNone/>
              <a:defRPr sz="1875" b="0">
                <a:solidFill>
                  <a:srgbClr val="43586A"/>
                </a:solidFill>
                <a:latin typeface="Noto Sans CJK JP"/>
                <a:ea typeface="Noto Sans CJK JP"/>
                <a:cs typeface="Noto Sans CJK JP"/>
              </a:defRPr>
            </a:pPr>
            <a:r>
              <a:rPr sz="1875" b="0">
                <a:solidFill>
                  <a:srgbClr val="43586A"/>
                </a:solidFill>
                <a:latin typeface="Noto Sans CJK JP"/>
                <a:ea typeface="Noto Sans CJK JP"/>
                <a:cs typeface="Noto Sans CJK JP"/>
              </a:rPr>
              <a:t>薄膜の熱伝導率 κ</a:t>
            </a:r>
          </a:p>
        </p:txBody>
      </p:sp>
      <p:sp>
        <p:nvSpPr>
          <p:cNvPr id="65" name="interface-resistance">
            <a:extLst xmlns:a="http://schemas.openxmlformats.org/drawingml/2006/main">
              <a:ext uri="{FF2B5EF4-FFF2-40B4-BE49-F238E27FC236}">
                <a16:creationId xmlns:a16="http://schemas.microsoft.com/office/drawing/2014/main" id="{AE1896FA-AFBB-4294-A290-C6A6C9450D80}"/>
              </a:ext>
            </a:extLst>
          </p:cNvPr>
          <p:cNvSpPr>
            <a:spLocks xmlns:a="http://schemas.openxmlformats.org/drawingml/2006/main" noGrp="1"/>
          </p:cNvSpPr>
          <p:nvPr/>
        </p:nvSpPr>
        <p:spPr>
          <a:xfrm xmlns:a="http://schemas.openxmlformats.org/drawingml/2006/main">
            <a:off x="8782050" y="3200400"/>
            <a:ext cx="2914650" cy="381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75" b="1">
                <a:solidFill>
                  <a:srgbClr val="B8433C"/>
                </a:solidFill>
                <a:latin typeface="Noto Sans CJK JP"/>
                <a:ea typeface="Noto Sans CJK JP"/>
                <a:cs typeface="Noto Sans CJK JP"/>
              </a:defRPr>
            </a:defPPr>
          </a:lstStyle>
          <a:p xmlns:a="http://schemas.openxmlformats.org/drawingml/2006/main">
            <a:pPr algn="l">
              <a:lnSpc>
                <a:spcPct val="112000"/>
              </a:lnSpc>
              <a:buNone/>
              <a:defRPr sz="2175" b="1">
                <a:solidFill>
                  <a:srgbClr val="B8433C"/>
                </a:solidFill>
                <a:latin typeface="Noto Sans CJK JP"/>
                <a:ea typeface="Noto Sans CJK JP"/>
                <a:cs typeface="Noto Sans CJK JP"/>
              </a:defRPr>
            </a:pPr>
            <a:r>
              <a:rPr sz="2175" b="1">
                <a:solidFill>
                  <a:srgbClr val="B8433C"/>
                </a:solidFill>
                <a:latin typeface="Noto Sans CJK JP"/>
                <a:ea typeface="Noto Sans CJK JP"/>
                <a:cs typeface="Noto Sans CJK JP"/>
              </a:rPr>
              <a:t>界面熱抵抗</a:t>
            </a:r>
          </a:p>
        </p:txBody>
      </p:sp>
      <p:sp>
        <p:nvSpPr>
          <p:cNvPr id="66" name="evaluation-feedback-arrow">
            <a:extLst xmlns:a="http://schemas.openxmlformats.org/drawingml/2006/main">
              <a:ext uri="{FF2B5EF4-FFF2-40B4-BE49-F238E27FC236}">
                <a16:creationId xmlns:a16="http://schemas.microsoft.com/office/drawing/2014/main" id="{CF2F1E52-96F7-48E4-A170-9E1474D94771}"/>
              </a:ext>
            </a:extLst>
          </p:cNvPr>
          <p:cNvSpPr>
            <a:spLocks xmlns:a="http://schemas.openxmlformats.org/drawingml/2006/main" noGrp="1"/>
          </p:cNvSpPr>
          <p:nvPr/>
        </p:nvSpPr>
        <p:spPr>
          <a:xfrm xmlns:a="http://schemas.openxmlformats.org/drawingml/2006/main">
            <a:off x="10029825" y="3667125"/>
            <a:ext cx="228600" cy="285750"/>
          </a:xfrm>
          <a:prstGeom xmlns:a="http://schemas.openxmlformats.org/drawingml/2006/main" prst="downArrow">
            <a:avLst/>
          </a:prstGeom>
          <a:solidFill xmlns:a="http://schemas.openxmlformats.org/drawingml/2006/main">
            <a:srgbClr val="B8433C"/>
          </a:solidFill>
          <a:ln xmlns:a="http://schemas.openxmlformats.org/drawingml/2006/main" w="0">
            <a:noFill/>
            <a:prstDash val="solid"/>
          </a:ln>
        </p:spPr>
      </p:sp>
      <p:sp>
        <p:nvSpPr>
          <p:cNvPr id="67" name="process-feedback">
            <a:extLst xmlns:a="http://schemas.openxmlformats.org/drawingml/2006/main">
              <a:ext uri="{FF2B5EF4-FFF2-40B4-BE49-F238E27FC236}">
                <a16:creationId xmlns:a16="http://schemas.microsoft.com/office/drawing/2014/main" id="{FE266A45-7013-45A5-8FA0-E170D2CF6269}"/>
              </a:ext>
            </a:extLst>
          </p:cNvPr>
          <p:cNvSpPr>
            <a:spLocks xmlns:a="http://schemas.openxmlformats.org/drawingml/2006/main" noGrp="1"/>
          </p:cNvSpPr>
          <p:nvPr/>
        </p:nvSpPr>
        <p:spPr>
          <a:xfrm xmlns:a="http://schemas.openxmlformats.org/drawingml/2006/main">
            <a:off x="8782050" y="4124325"/>
            <a:ext cx="2914650" cy="676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875" b="1">
                <a:solidFill>
                  <a:srgbClr val="18394E"/>
                </a:solidFill>
                <a:latin typeface="Noto Sans CJK JP"/>
                <a:ea typeface="Noto Sans CJK JP"/>
                <a:cs typeface="Noto Sans CJK JP"/>
              </a:defRPr>
            </a:defPPr>
          </a:lstStyle>
          <a:p xmlns:a="http://schemas.openxmlformats.org/drawingml/2006/main">
            <a:pPr algn="l">
              <a:lnSpc>
                <a:spcPct val="112000"/>
              </a:lnSpc>
              <a:buNone/>
              <a:defRPr sz="1875" b="1">
                <a:solidFill>
                  <a:srgbClr val="18394E"/>
                </a:solidFill>
                <a:latin typeface="Noto Sans CJK JP"/>
                <a:ea typeface="Noto Sans CJK JP"/>
                <a:cs typeface="Noto Sans CJK JP"/>
              </a:defRPr>
            </a:pPr>
            <a:r>
              <a:rPr sz="1875" b="1">
                <a:solidFill>
                  <a:srgbClr val="18394E"/>
                </a:solidFill>
                <a:latin typeface="Noto Sans CJK JP"/>
                <a:ea typeface="Noto Sans CJK JP"/>
                <a:cs typeface="Noto Sans CJK JP"/>
              </a:rPr>
              <a:t>接合・熱処理条件の</a:t>
            </a:r>
          </a:p>
          <a:p xmlns:a="http://schemas.openxmlformats.org/drawingml/2006/main">
            <a:pPr algn="l">
              <a:lnSpc>
                <a:spcPct val="112000"/>
              </a:lnSpc>
              <a:buNone/>
              <a:defRPr sz="1875" b="1">
                <a:solidFill>
                  <a:srgbClr val="18394E"/>
                </a:solidFill>
                <a:latin typeface="Noto Sans CJK JP"/>
                <a:ea typeface="Noto Sans CJK JP"/>
                <a:cs typeface="Noto Sans CJK JP"/>
              </a:defRPr>
            </a:pPr>
            <a:r>
              <a:rPr sz="1875" b="1">
                <a:solidFill>
                  <a:srgbClr val="18394E"/>
                </a:solidFill>
                <a:latin typeface="Noto Sans CJK JP"/>
                <a:ea typeface="Noto Sans CJK JP"/>
                <a:cs typeface="Noto Sans CJK JP"/>
              </a:rPr>
              <a:t>選定／最適化へ反映</a:t>
            </a:r>
          </a:p>
        </p:txBody>
      </p:sp>
      <p:sp>
        <p:nvSpPr>
          <p:cNvPr id="68" name="supplier-example">
            <a:extLst xmlns:a="http://schemas.openxmlformats.org/drawingml/2006/main">
              <a:ext uri="{FF2B5EF4-FFF2-40B4-BE49-F238E27FC236}">
                <a16:creationId xmlns:a16="http://schemas.microsoft.com/office/drawing/2014/main" id="{F72A3EF6-A53D-4F42-8204-0FE3CAC09CF0}"/>
              </a:ext>
            </a:extLst>
          </p:cNvPr>
          <p:cNvSpPr>
            <a:spLocks xmlns:a="http://schemas.openxmlformats.org/drawingml/2006/main" noGrp="1"/>
          </p:cNvSpPr>
          <p:nvPr/>
        </p:nvSpPr>
        <p:spPr>
          <a:xfrm xmlns:a="http://schemas.openxmlformats.org/drawingml/2006/main">
            <a:off x="8782050" y="5057775"/>
            <a:ext cx="2914650" cy="2667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500" b="0">
                <a:solidFill>
                  <a:srgbClr val="60727F"/>
                </a:solidFill>
                <a:latin typeface="Noto Sans CJK JP"/>
                <a:ea typeface="Noto Sans CJK JP"/>
                <a:cs typeface="Noto Sans CJK JP"/>
              </a:defRPr>
            </a:defPPr>
          </a:lstStyle>
          <a:p xmlns:a="http://schemas.openxmlformats.org/drawingml/2006/main">
            <a:pPr algn="l">
              <a:lnSpc>
                <a:spcPct val="112000"/>
              </a:lnSpc>
              <a:buNone/>
              <a:defRPr sz="1500" b="0">
                <a:solidFill>
                  <a:srgbClr val="60727F"/>
                </a:solidFill>
                <a:latin typeface="Noto Sans CJK JP"/>
                <a:ea typeface="Noto Sans CJK JP"/>
                <a:cs typeface="Noto Sans CJK JP"/>
              </a:defRPr>
            </a:pPr>
            <a:r>
              <a:rPr sz="1500" b="0">
                <a:solidFill>
                  <a:srgbClr val="60727F"/>
                </a:solidFill>
                <a:latin typeface="Noto Sans CJK JP"/>
                <a:ea typeface="Noto Sans CJK JP"/>
                <a:cs typeface="Noto Sans CJK JP"/>
              </a:rPr>
              <a:t>装置例：ピコサーム</a:t>
            </a:r>
          </a:p>
        </p:txBody>
      </p:sp>
      <p:sp>
        <p:nvSpPr>
          <p:cNvPr id="69" name="instrument-example">
            <a:extLst xmlns:a="http://schemas.openxmlformats.org/drawingml/2006/main">
              <a:ext uri="{FF2B5EF4-FFF2-40B4-BE49-F238E27FC236}">
                <a16:creationId xmlns:a16="http://schemas.microsoft.com/office/drawing/2014/main" id="{6295EFD4-695A-4402-9D9D-A32E45AA4308}"/>
              </a:ext>
            </a:extLst>
          </p:cNvPr>
          <p:cNvSpPr>
            <a:spLocks xmlns:a="http://schemas.openxmlformats.org/drawingml/2006/main" noGrp="1"/>
          </p:cNvSpPr>
          <p:nvPr/>
        </p:nvSpPr>
        <p:spPr>
          <a:xfrm xmlns:a="http://schemas.openxmlformats.org/drawingml/2006/main">
            <a:off x="8782050" y="5381625"/>
            <a:ext cx="29146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2100" b="1">
                <a:solidFill>
                  <a:srgbClr val="4F829E"/>
                </a:solidFill>
                <a:latin typeface="Noto Sans CJK JP"/>
                <a:ea typeface="Noto Sans CJK JP"/>
                <a:cs typeface="Noto Sans CJK JP"/>
              </a:defRPr>
            </a:defPPr>
          </a:lstStyle>
          <a:p xmlns:a="http://schemas.openxmlformats.org/drawingml/2006/main">
            <a:pPr algn="l">
              <a:lnSpc>
                <a:spcPct val="112000"/>
              </a:lnSpc>
              <a:buNone/>
              <a:defRPr sz="2100" b="1">
                <a:solidFill>
                  <a:srgbClr val="4F829E"/>
                </a:solidFill>
                <a:latin typeface="Noto Sans CJK JP"/>
                <a:ea typeface="Noto Sans CJK JP"/>
                <a:cs typeface="Noto Sans CJK JP"/>
              </a:defRPr>
            </a:pPr>
            <a:r>
              <a:rPr sz="2100" b="1">
                <a:solidFill>
                  <a:srgbClr val="4F829E"/>
                </a:solidFill>
                <a:latin typeface="Noto Sans CJK JP"/>
                <a:ea typeface="Noto Sans CJK JP"/>
                <a:cs typeface="Noto Sans CJK JP"/>
              </a:rPr>
              <a:t>NanoTR / PicoTR</a:t>
            </a:r>
          </a:p>
        </p:txBody>
      </p:sp>
      <p:sp>
        <p:nvSpPr>
          <p:cNvPr id="70" name="demand-hypothesis-band">
            <a:extLst xmlns:a="http://schemas.openxmlformats.org/drawingml/2006/main">
              <a:ext uri="{FF2B5EF4-FFF2-40B4-BE49-F238E27FC236}">
                <a16:creationId xmlns:a16="http://schemas.microsoft.com/office/drawing/2014/main" id="{FF8CDD8D-F5C9-438F-BADE-C158A47E9756}"/>
              </a:ext>
            </a:extLst>
          </p:cNvPr>
          <p:cNvSpPr>
            <a:spLocks xmlns:a="http://schemas.openxmlformats.org/drawingml/2006/main" noGrp="1"/>
          </p:cNvSpPr>
          <p:nvPr/>
        </p:nvSpPr>
        <p:spPr>
          <a:xfrm xmlns:a="http://schemas.openxmlformats.org/drawingml/2006/main">
            <a:off x="495300" y="6096000"/>
            <a:ext cx="11201400" cy="409575"/>
          </a:xfrm>
          <a:prstGeom xmlns:a="http://schemas.openxmlformats.org/drawingml/2006/main" prst="rect">
            <a:avLst/>
          </a:prstGeom>
          <a:solidFill xmlns:a="http://schemas.openxmlformats.org/drawingml/2006/main">
            <a:srgbClr val="EEF3F6"/>
          </a:solidFill>
          <a:ln xmlns:a="http://schemas.openxmlformats.org/drawingml/2006/main" w="0">
            <a:noFill/>
            <a:prstDash val="solid"/>
          </a:ln>
        </p:spPr>
      </p:sp>
      <p:sp>
        <p:nvSpPr>
          <p:cNvPr id="71" name="demand-hypothesis">
            <a:extLst xmlns:a="http://schemas.openxmlformats.org/drawingml/2006/main">
              <a:ext uri="{FF2B5EF4-FFF2-40B4-BE49-F238E27FC236}">
                <a16:creationId xmlns:a16="http://schemas.microsoft.com/office/drawing/2014/main" id="{1CDBFA24-4FE7-482D-8BFE-B06E4FF3AE96}"/>
              </a:ext>
            </a:extLst>
          </p:cNvPr>
          <p:cNvSpPr>
            <a:spLocks xmlns:a="http://schemas.openxmlformats.org/drawingml/2006/main" noGrp="1"/>
          </p:cNvSpPr>
          <p:nvPr/>
        </p:nvSpPr>
        <p:spPr>
          <a:xfrm xmlns:a="http://schemas.openxmlformats.org/drawingml/2006/main">
            <a:off x="657225" y="6162675"/>
            <a:ext cx="10868025" cy="2952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725" b="1">
                <a:solidFill>
                  <a:srgbClr val="18394E"/>
                </a:solidFill>
                <a:latin typeface="Noto Sans CJK JP"/>
                <a:ea typeface="Noto Sans CJK JP"/>
                <a:cs typeface="Noto Sans CJK JP"/>
              </a:defRPr>
            </a:defPPr>
          </a:lstStyle>
          <a:p xmlns:a="http://schemas.openxmlformats.org/drawingml/2006/main">
            <a:pPr algn="l">
              <a:lnSpc>
                <a:spcPct val="112000"/>
              </a:lnSpc>
              <a:buNone/>
              <a:defRPr sz="1725" b="1">
                <a:solidFill>
                  <a:srgbClr val="18394E"/>
                </a:solidFill>
                <a:latin typeface="Noto Sans CJK JP"/>
                <a:ea typeface="Noto Sans CJK JP"/>
                <a:cs typeface="Noto Sans CJK JP"/>
              </a:defRPr>
            </a:pPr>
            <a:r>
              <a:rPr sz="1725" b="1">
                <a:solidFill>
                  <a:srgbClr val="18394E"/>
                </a:solidFill>
                <a:latin typeface="Noto Sans CJK JP"/>
                <a:ea typeface="Noto Sans CJK JP"/>
                <a:cs typeface="Noto Sans CJK JP"/>
              </a:rPr>
              <a:t>需要仮説：材料・接合工程の開発評価で、薄膜・界面の熱物性測定ニーズが拡大</a:t>
            </a:r>
          </a:p>
        </p:txBody>
      </p:sp>
      <p:sp>
        <p:nvSpPr>
          <p:cNvPr id="72" name="sources-short">
            <a:extLst xmlns:a="http://schemas.openxmlformats.org/drawingml/2006/main">
              <a:ext uri="{FF2B5EF4-FFF2-40B4-BE49-F238E27FC236}">
                <a16:creationId xmlns:a16="http://schemas.microsoft.com/office/drawing/2014/main" id="{D5B2C03C-2A90-4EBE-9733-B21718216C67}"/>
              </a:ext>
            </a:extLst>
          </p:cNvPr>
          <p:cNvSpPr>
            <a:spLocks xmlns:a="http://schemas.openxmlformats.org/drawingml/2006/main" noGrp="1"/>
          </p:cNvSpPr>
          <p:nvPr/>
        </p:nvSpPr>
        <p:spPr>
          <a:xfrm xmlns:a="http://schemas.openxmlformats.org/drawingml/2006/main">
            <a:off x="514350" y="6619875"/>
            <a:ext cx="11201400" cy="1809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t">
            <a:noAutofit/>
          </a:bodyPr>
          <a:lstStyle xmlns:a="http://schemas.openxmlformats.org/drawingml/2006/main">
            <a:defPPr algn="l">
              <a:defRPr sz="1013" b="0">
                <a:solidFill>
                  <a:srgbClr val="60727F"/>
                </a:solidFill>
                <a:latin typeface="Noto Sans CJK JP"/>
                <a:ea typeface="Noto Sans CJK JP"/>
                <a:cs typeface="Noto Sans CJK JP"/>
              </a:defRPr>
            </a:defPPr>
          </a:lstStyle>
          <a:p xmlns:a="http://schemas.openxmlformats.org/drawingml/2006/main">
            <a:pPr algn="l">
              <a:lnSpc>
                <a:spcPct val="112000"/>
              </a:lnSpc>
              <a:buNone/>
              <a:defRPr sz="1013" b="0">
                <a:solidFill>
                  <a:srgbClr val="60727F"/>
                </a:solidFill>
                <a:latin typeface="Noto Sans CJK JP"/>
                <a:ea typeface="Noto Sans CJK JP"/>
                <a:cs typeface="Noto Sans CJK JP"/>
              </a:defRPr>
            </a:pPr>
            <a:r>
              <a:rPr sz="1013" b="0">
                <a:solidFill>
                  <a:srgbClr val="60727F"/>
                </a:solidFill>
                <a:latin typeface="Noto Sans CJK JP"/>
                <a:ea typeface="Noto Sans CJK JP"/>
                <a:cs typeface="Noto Sans CJK JP"/>
              </a:rPr>
              <a:t>出典：imec、KIOXIA、ピコサーム（詳細URL・補足はノート）。構造図は模式図</a:t>
            </a:r>
          </a:p>
        </p:txBody>
      </p:sp>
    </p:spTree>
    <p:extLst>
      <p:ext uri="{BB962C8B-B14F-4D97-AF65-F5344CB8AC3E}">
        <p14:creationId xmlns:p14="http://schemas.microsoft.com/office/powerpoint/2010/main" val="1477476941"/>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2026-10-15T23:08:38.1180000Z</dcterms:created>
  <dcterms:modified xsi:type="dcterms:W3CDTF">2026-10-15T23:08:38.1180000Z</dcterms:modified>
</coreProperties>
</file>