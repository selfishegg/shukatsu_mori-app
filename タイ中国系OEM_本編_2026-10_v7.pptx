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6b3631d9-af44-c6a5-03d1-4f2d7905503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2026年1〜6月の乗用車登録（万台）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9.48</c:v>
                </c:pt>
                <c:pt idx="1">
                  <c:v>0.14</c:v>
                </c:pt>
                <c:pt idx="2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0.11</c:v>
                </c:pt>
                <c:pt idx="1">
                  <c:v>8.79</c:v>
                </c:pt>
                <c:pt idx="2">
                  <c:v>0.01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0.89</c:v>
                </c:pt>
                <c:pt idx="1">
                  <c:v>0.06</c:v>
                </c:pt>
                <c:pt idx="2">
                  <c:v>0.3</c:v>
                </c:pt>
              </c:numCache>
            </c:numRef>
          </c:val>
        </c:ser>
        <c:dLbls>
          <c:numFmt formatCode="[&lt;0.5]&quot;&quot;;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月々の元本の支払い（バーツ）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通常の5年ローン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3（通常価格）</c:v>
                  </c:pt>
                  <c:pt idx="1">
                    <c:v>Atto 3（特価）</c:v>
                  </c:pt>
                  <c:pt idx="2">
                    <c:v>Corolla Cross 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13332</c:v>
                </c:pt>
                <c:pt idx="1">
                  <c:v>11165</c:v>
                </c:pt>
                <c:pt idx="2">
                  <c:v>16483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残クレ（5年後の残価を差し引く）</c:v>
                </c:pt>
              </c:strCache>
            </c:strRef>
          </c:tx>
          <c:spPr>
            <a:solidFill>
              <a:srgbClr val="1E9C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3（通常価格）</c:v>
                  </c:pt>
                  <c:pt idx="1">
                    <c:v>Atto 3（特価）</c:v>
                  </c:pt>
                  <c:pt idx="2">
                    <c:v>Corolla Cross 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7332</c:v>
                </c:pt>
                <c:pt idx="1">
                  <c:v>5165</c:v>
                </c:pt>
                <c:pt idx="2">
                  <c:v>5769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タイでの新車種の発売数（年）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10</c:v>
                </c:pt>
                <c:pt idx="2">
                  <c:v>19</c:v>
                </c:pt>
                <c:pt idx="3">
                  <c:v>19</c:v>
                </c:pt>
                <c:pt idx="4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11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2023年のBEV上位10車種の販売（千台）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Atto 3（−60%）</c:v>
                  </c:pt>
                  <c:pt idx="1">
                    <c:v>Neta V（−48%）</c:v>
                  </c:pt>
                  <c:pt idx="2">
                    <c:v>Dolphin（+42%）</c:v>
                  </c:pt>
                  <c:pt idx="3">
                    <c:v>ORA Good Cat（−64%）</c:v>
                  </c:pt>
                  <c:pt idx="4">
                    <c:v>Tesla Model Y（−85%）</c:v>
                  </c:pt>
                  <c:pt idx="5">
                    <c:v>MG4（+12%）</c:v>
                  </c:pt>
                  <c:pt idx="6">
                    <c:v>MG EP（−58%）</c:v>
                  </c:pt>
                  <c:pt idx="7">
                    <c:v>Tesla Model 3（+39%）</c:v>
                  </c:pt>
                  <c:pt idx="8">
                    <c:v>BYD Seal（+185%）</c:v>
                  </c:pt>
                  <c:pt idx="9">
                    <c:v>MG ZS EV（−57%）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19.2</c:v>
                </c:pt>
                <c:pt idx="1">
                  <c:v>12.8</c:v>
                </c:pt>
                <c:pt idx="2">
                  <c:v>9.4</c:v>
                </c:pt>
                <c:pt idx="3">
                  <c:v>6.7</c:v>
                </c:pt>
                <c:pt idx="4">
                  <c:v>5.9</c:v>
                </c:pt>
                <c:pt idx="5">
                  <c:v>4.8</c:v>
                </c:pt>
                <c:pt idx="6">
                  <c:v>4.5</c:v>
                </c:pt>
                <c:pt idx="7">
                  <c:v>2.3</c:v>
                </c:pt>
                <c:pt idx="8">
                  <c:v>1.8</c:v>
                </c:pt>
                <c:pt idx="9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Atto 3（−60%）</c:v>
                  </c:pt>
                  <c:pt idx="1">
                    <c:v>Neta V（−48%）</c:v>
                  </c:pt>
                  <c:pt idx="2">
                    <c:v>Dolphin（+42%）</c:v>
                  </c:pt>
                  <c:pt idx="3">
                    <c:v>ORA Good Cat（−64%）</c:v>
                  </c:pt>
                  <c:pt idx="4">
                    <c:v>Tesla Model Y（−85%）</c:v>
                  </c:pt>
                  <c:pt idx="5">
                    <c:v>MG4（+12%）</c:v>
                  </c:pt>
                  <c:pt idx="6">
                    <c:v>MG EP（−58%）</c:v>
                  </c:pt>
                  <c:pt idx="7">
                    <c:v>Tesla Model 3（+39%）</c:v>
                  </c:pt>
                  <c:pt idx="8">
                    <c:v>BYD Seal（+185%）</c:v>
                  </c:pt>
                  <c:pt idx="9">
                    <c:v>MG ZS EV（−57%）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7.7</c:v>
                </c:pt>
                <c:pt idx="1">
                  <c:v>6.6</c:v>
                </c:pt>
                <c:pt idx="2">
                  <c:v>13.4</c:v>
                </c:pt>
                <c:pt idx="3">
                  <c:v>2.4</c:v>
                </c:pt>
                <c:pt idx="4">
                  <c:v>0.9</c:v>
                </c:pt>
                <c:pt idx="5">
                  <c:v>5.4</c:v>
                </c:pt>
                <c:pt idx="6">
                  <c:v>1.9</c:v>
                </c:pt>
                <c:pt idx="7">
                  <c:v>3.2</c:v>
                </c:pt>
                <c:pt idx="8">
                  <c:v>5.2</c:v>
                </c:pt>
                <c:pt idx="9">
                  <c:v>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BEV登録に占める割合（%）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BYD</c:v>
                  </c:pt>
                  <c:pt idx="1">
                    <c:v>Chery系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GWM</c:v>
                  </c:pt>
                  <c:pt idx="7">
                    <c:v>Neta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38.5</c:v>
                </c:pt>
                <c:pt idx="1">
                  <c:v>0</c:v>
                </c:pt>
                <c:pt idx="2">
                  <c:v>12.9</c:v>
                </c:pt>
                <c:pt idx="3">
                  <c:v>7.4</c:v>
                </c:pt>
                <c:pt idx="4">
                  <c:v>0</c:v>
                </c:pt>
                <c:pt idx="5">
                  <c:v>8.4</c:v>
                </c:pt>
                <c:pt idx="6">
                  <c:v>4.6</c:v>
                </c:pt>
                <c:pt idx="7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2026年1〜6月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BYD</c:v>
                  </c:pt>
                  <c:pt idx="1">
                    <c:v>Chery系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GWM</c:v>
                  </c:pt>
                  <c:pt idx="7">
                    <c:v>Neta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21</c:v>
                </c:pt>
                <c:pt idx="1">
                  <c:v>18.5</c:v>
                </c:pt>
                <c:pt idx="2">
                  <c:v>14.3</c:v>
                </c:pt>
                <c:pt idx="3">
                  <c:v>11.2</c:v>
                </c:pt>
                <c:pt idx="4">
                  <c:v>9.8</c:v>
                </c:pt>
                <c:pt idx="5">
                  <c:v>9.1</c:v>
                </c:pt>
                <c:pt idx="6">
                  <c:v>1.9</c:v>
                </c:pt>
                <c:pt idx="7">
                  <c:v>0.3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タイの自動車市場で中国系が伸びている。その要因としてよく挙げられるモデルチェンジの速さが、本当にシェア拡大の要因なのかを検証し、日系が取るべき戦略を示す。発表は10分である。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旨を述べる。課題は、中国車のモデルチェンジの速さが、タイでのシェア拡大の要因かどうかである。答えは、速さは主因ではない。日系と中国系の競争をPT別に見ると、政策でBEV市場が急拡大し、日系には商品がなかった。セグメント別に見ると、競合は乗用車のBとC、SUVのCで、中国系は多くの車種で席を分け合っている。速さが効いているのは中国系どうしの競争である。日系は、BEVの商品を持ち、HEVは長く売り、残クレで月々の支払いを下げるべき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結論に至った分析と視座を1枚にまとめた。左から、分析したこと、わかったこと、視座の順に読む。まず市場で日系の失点を分解し、日系と中国系の競争をPT別とセグメント別の2つに分けて見る。PT別では政策と値下げ、残価を、セグメント別では競合セグメントと車種の数を見る。そのうえで、なぜモデルチェンジが早まるのかを、中国系どうしの競争から説明する。以降、この順に根拠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まずASEAN全体を見る。中国系はタイとインドネシアで伸びており、ベトナムだけは地場のVinFastが強い。中国系の伸びが最も大きく、データもそろうタイに絞って分析する。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日系シェアは、2022年の85%から2026年の62%へ23ポイント下がった。分解すると、BEV比率の上昇が25ポイントで、ほぼすべてを説明する。BEV以外では、日系はむしろ86%から88%に伸びている。そこで日系と中国系の競争を、どの動力で取られたかというPT別と、どの車格で競っているかというセグメント別の2つに分けて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別に見る。2026年上半期の登録では、BEVの9割が中国系、HEVの98%が日系で、動力ごとにすみ分けがはっきりしている。前年から増えた電動車6.5万台のうち、4分の3はBEVに、3割弱がHEVに行った。日系は、伸びている動力の大半で商品を持ってい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政策は3つの道具でEVを広げた。購入補助、BEVの物品税の引き下げと中国製EVの関税0%、そして現地生産の義務である。中国系は輸入から先に市場に入り、その後の生産義務が値下げと販売攻勢を生んで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と販売を年表で重ねた。補助が始まったあとの2023年にBEVは7.6万台に急増し、補助が縮小した2024年は7.0万台に減った。生産義務が重くなった2026年は、上半期だけで10.5万台に増えた。因果は社内データで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モデルチェンジの中身を、タイの販売カタログで比べる。どちらも駆動系はほぼ同じで、トヨタは外内装、BYDは画面と価格を変えた。Atto 3の長距離型は120万バーツから90万バーツに下がり、特価では77万になった。注目すべきは販売で、Atto 3は改良した2024年に6割減った。中国系のモデルチェンジは、値下げとセットで行われている。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中国系のモデルチェンジは、新車の値下げや特価とセットで行われる。値下げが続くと、買い手は次の値下げを待ち、旧型や在庫は売れにくくなる。その結果、中古の価値が下がる。2023年式のAtto 3の中古は発売時の39%で、Corolla Crossの63%を大きく下回る。逆に言えば、日系の武器は残価である。5年後の残価を差し引いて払う残価設定ローン、つまりiPhoneの返却プログラムと同じ仕組みを使えば、Corolla Crossの月々の支払いは約5,800バーツで、Atto 3の通常価格の約7,300バーツより安くなる。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セグメント別に見る。乗用車とSUVを、BクラスからDクラスに分けて、代表車種を並べた。日系と中国系が同じ車格で競っているのは、乗用車のBとC、そしてSUVのCである。同じ車格の中で、中国系はBEVを、日系はHEVとICEを売り、同じ客を取り合っている。SUVのBでもJaecoo 5 EVなどで競合が広がりつつある。この競合セグメントで、車種の数を比べる。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セグメントで、車種の数を比べる。タイでの新車種の発売数は、2024年以降、中国系が毎年16から19車種、日系は3から5車種で、中国系は日系の3倍から6倍の車種を出している。しかも9割は新しい車名である。同じ席を多くの車種で分け合えば、1車種あたりの台数は小さくなる。セグメントごとの車種数と1車種あたりの販売は、社内データで差し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なぜ中国系のモデルチェンジは早いのか。中国系は同じセグメントに多くの車種を出すため、1車種あたりの販売が小さく、すぐに落ちる。だから次の車種を急ぎ、モデルチェンジが早まる。日系は少ない車種で大きく売り、数年たっても売れ続けるので、長く売って開発費を回収でき、モデルチェンジは遅くてよい。速さは中国系どうしで生き残るための条件で、日系との勝敗は動力の品ぞろえと残価で決まる。次に、その根拠を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根拠の1つ目は、売れ筋の寿命である。2023年のBEV上位10車種のうち6車種は、翌年に販売が半分前後まで減り、上位10車種のシェアは91%から68%に下がった。改良したAtto 3は60%減り、タイ生産で値下げしたDolphinは42%増えた。一方、日系の主力車種は、改良しても販売が変わらず、数年たっても売れ続けている。中国系は次の車種を出し続けないと席を失い、日系は長く売るほうが合理的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拠の2つ目は、企業の入れ替わりである。BYDのBEVシェアは2年で半分になり、Netaは撤退に向かった。一方、2024年に1%未満だったChery系とGeely系が上位に入った。Chery系は1車種に頼りながらも新しい車名を出し続けて伸び、1車種に頼ったまま次を出せなかったNetaは崩れた。残るのは次の車種を出せる企業で、中国系は企業ごとに見極めるべき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認されたBEV生産能力は年38.6万台で、国内需要の約1.8倍ある。生産義務は2027年に輸入1台に3台まで重くなる。国内では消化しきれず、2027年から28年に淘汰が進む。日系には、撤退ブランドの顧客を拾う好機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系の打ち手は4つである。ピックアップとHEVセダンは長く売って残価を守る。C-SUVでは残クレで月々の支払いを下げて迎え撃つ。BEVは中国の開発体制で空白を埋める。2027年からの淘汰期には撤退ブランドの顧客を拾う。中国企業とは、競合、協業、受け皿を企業ごとに使い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である。PT別に見ると、政策でBEV市場が急拡大し、日系には商品がなかった。中国系の値下げは中古の価値を下げる。セグメント別に見ると、競合は乗用車のBとC、SUVのCで、中国系は多くの車種で席を分け合っている。モデルチェンジの速さは、その中で中国系どうしが生き残るための条件で、日系との勝敗は分けていない。日系はBEVの商品を持ち、HEVは長く売り、残クレで月々の支払いを下げるべきである。以上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09928"/>
            <a:ext cx="10689336" cy="3657600"/>
          </a:xfrm>
          <a:prstGeom prst="rect">
            <a:avLst/>
          </a:prstGeom>
          <a:solidFill>
            <a:srgbClr val="62C1BC"/>
          </a:solidFill>
          <a:ln w="12700">
            <a:solidFill>
              <a:srgbClr val="62C1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67528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タイ市場における中国系OEMの台頭と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日系OEMが取るべき戦略</a:t>
            </a:r>
            <a:endParaRPr lang="en-US" sz="3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モデルチェンジの速さは、本当にシェア拡大の要因か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2026年10月　[発表者名]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要旨　課題・仮説・答え</a:t>
            </a:r>
            <a:endParaRPr lang="en-US" sz="2400" dirty="0"/>
          </a:p>
        </p:txBody>
      </p:sp>
      <p:sp>
        <p:nvSpPr>
          <p:cNvPr id="3" name="shape_1"/>
          <p:cNvSpPr/>
          <p:nvPr/>
        </p:nvSpPr>
        <p:spPr>
          <a:xfrm>
            <a:off x="411480" y="118872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2"/>
          <p:cNvSpPr/>
          <p:nvPr/>
        </p:nvSpPr>
        <p:spPr>
          <a:xfrm>
            <a:off x="1417320" y="102412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</a:t>
            </a:r>
            <a:endParaRPr lang="en-US" sz="1800" dirty="0"/>
          </a:p>
        </p:txBody>
      </p:sp>
      <p:sp>
        <p:nvSpPr>
          <p:cNvPr id="5" name="text_3"/>
          <p:cNvSpPr txBox="1"/>
          <p:nvPr/>
        </p:nvSpPr>
        <p:spPr>
          <a:xfrm>
            <a:off x="594360" y="1463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中国車はモデルチェンジが速い。それが、タイでのシェア拡大の要因か</a:t>
            </a:r>
            <a:endParaRPr lang="en-US" sz="1800" dirty="0"/>
          </a:p>
        </p:txBody>
      </p:sp>
      <p:sp>
        <p:nvSpPr>
          <p:cNvPr id="6" name="shape_4"/>
          <p:cNvSpPr/>
          <p:nvPr/>
        </p:nvSpPr>
        <p:spPr>
          <a:xfrm>
            <a:off x="3209544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7" name="shape_5"/>
          <p:cNvSpPr/>
          <p:nvPr/>
        </p:nvSpPr>
        <p:spPr>
          <a:xfrm>
            <a:off x="3340120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6"/>
          <p:cNvSpPr/>
          <p:nvPr/>
        </p:nvSpPr>
        <p:spPr>
          <a:xfrm>
            <a:off x="3566160" y="1188720"/>
            <a:ext cx="29718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9" name="fslabel_7"/>
          <p:cNvSpPr/>
          <p:nvPr/>
        </p:nvSpPr>
        <p:spPr>
          <a:xfrm>
            <a:off x="4686300" y="102412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仮説</a:t>
            </a:r>
            <a:endParaRPr lang="en-US" sz="1800" dirty="0"/>
          </a:p>
        </p:txBody>
      </p:sp>
      <p:sp>
        <p:nvSpPr>
          <p:cNvPr id="10" name="text_8"/>
          <p:cNvSpPr txBox="1"/>
          <p:nvPr/>
        </p:nvSpPr>
        <p:spPr>
          <a:xfrm>
            <a:off x="3749040" y="146304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電池の進化が速い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中国系のシェアが拡大</a:t>
            </a:r>
            <a:endParaRPr lang="en-US" sz="1600" dirty="0"/>
          </a:p>
        </p:txBody>
      </p:sp>
      <p:sp>
        <p:nvSpPr>
          <p:cNvPr id="11" name="shape_9"/>
          <p:cNvSpPr/>
          <p:nvPr/>
        </p:nvSpPr>
        <p:spPr>
          <a:xfrm>
            <a:off x="6592824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10"/>
          <p:cNvSpPr/>
          <p:nvPr/>
        </p:nvSpPr>
        <p:spPr>
          <a:xfrm>
            <a:off x="6723400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3" name="shape_11"/>
          <p:cNvSpPr/>
          <p:nvPr/>
        </p:nvSpPr>
        <p:spPr>
          <a:xfrm>
            <a:off x="6949440" y="1188720"/>
            <a:ext cx="3328416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12"/>
          <p:cNvSpPr/>
          <p:nvPr/>
        </p:nvSpPr>
        <p:spPr>
          <a:xfrm>
            <a:off x="8247888" y="102412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答え</a:t>
            </a:r>
            <a:endParaRPr lang="en-US" sz="1800" dirty="0"/>
          </a:p>
        </p:txBody>
      </p:sp>
      <p:sp>
        <p:nvSpPr>
          <p:cNvPr id="15" name="text_13"/>
          <p:cNvSpPr txBox="1"/>
          <p:nvPr/>
        </p:nvSpPr>
        <p:spPr>
          <a:xfrm>
            <a:off x="7132320" y="1463040"/>
            <a:ext cx="29626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速さは主因ではない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主因は、急拡大したBEV市場に日系の商品がないこと</a:t>
            </a:r>
            <a:endParaRPr lang="en-US" sz="1600" dirty="0"/>
          </a:p>
        </p:txBody>
      </p:sp>
      <p:sp>
        <p:nvSpPr>
          <p:cNvPr id="16" name="lab_14"/>
          <p:cNvSpPr/>
          <p:nvPr/>
        </p:nvSpPr>
        <p:spPr>
          <a:xfrm>
            <a:off x="411480" y="37033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</a:t>
            </a:r>
            <a:endParaRPr lang="en-US" sz="1300" dirty="0"/>
          </a:p>
        </p:txBody>
      </p:sp>
      <p:sp>
        <p:nvSpPr>
          <p:cNvPr id="17" name="text_15"/>
          <p:cNvSpPr txBox="1"/>
          <p:nvPr/>
        </p:nvSpPr>
        <p:spPr>
          <a:xfrm>
            <a:off x="2468880" y="3703320"/>
            <a:ext cx="7763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政策でBEV市場が急拡大し、日系には商品がない。中国系の値下げは中古の価値を下げる</a:t>
            </a:r>
            <a:endParaRPr lang="en-US" sz="1600" dirty="0"/>
          </a:p>
        </p:txBody>
      </p:sp>
      <p:sp>
        <p:nvSpPr>
          <p:cNvPr id="18" name="lab_16"/>
          <p:cNvSpPr/>
          <p:nvPr/>
        </p:nvSpPr>
        <p:spPr>
          <a:xfrm>
            <a:off x="411480" y="4471416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</a:t>
            </a:r>
            <a:endParaRPr lang="en-US" sz="1300" dirty="0"/>
          </a:p>
        </p:txBody>
      </p:sp>
      <p:sp>
        <p:nvSpPr>
          <p:cNvPr id="19" name="text_17"/>
          <p:cNvSpPr txBox="1"/>
          <p:nvPr/>
        </p:nvSpPr>
        <p:spPr>
          <a:xfrm>
            <a:off x="2468880" y="4471416"/>
            <a:ext cx="7763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競合は乗用車のB・CとSUVのC。中国系は多くの車種で席を分け合う</a:t>
            </a:r>
            <a:endParaRPr lang="en-US" sz="1600" dirty="0"/>
          </a:p>
        </p:txBody>
      </p:sp>
      <p:sp>
        <p:nvSpPr>
          <p:cNvPr id="20" name="lab_18"/>
          <p:cNvSpPr/>
          <p:nvPr/>
        </p:nvSpPr>
        <p:spPr>
          <a:xfrm>
            <a:off x="411480" y="5239512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600" dirty="0"/>
          </a:p>
        </p:txBody>
      </p:sp>
      <p:sp>
        <p:nvSpPr>
          <p:cNvPr id="21" name="text_19"/>
          <p:cNvSpPr txBox="1"/>
          <p:nvPr/>
        </p:nvSpPr>
        <p:spPr>
          <a:xfrm>
            <a:off x="2468880" y="5239512"/>
            <a:ext cx="7763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売れ筋は1年で入れ替わる。速さは生き残りの条件で、日系との勝敗は分けていない</a:t>
            </a:r>
            <a:endParaRPr lang="en-US" sz="1600" dirty="0"/>
          </a:p>
        </p:txBody>
      </p:sp>
      <p:sp>
        <p:nvSpPr>
          <p:cNvPr id="22" name="summary_20"/>
          <p:cNvSpPr/>
          <p:nvPr/>
        </p:nvSpPr>
        <p:spPr>
          <a:xfrm>
            <a:off x="777240" y="6108192"/>
            <a:ext cx="9134856" cy="804672"/>
          </a:xfrm>
          <a:prstGeom prst="roundRect">
            <a:avLst>
              <a:gd name="adj" fmla="val 11364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日系の打ち手：</a:t>
            </a:r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BEVの商品を持つ／HEVは長く売る／残クレで月々を下げる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結論に至った分析と、そこから得られる視座</a:t>
            </a:r>
            <a:endParaRPr lang="en-US" sz="2400" dirty="0"/>
          </a:p>
        </p:txBody>
      </p:sp>
      <p:sp>
        <p:nvSpPr>
          <p:cNvPr id="3" name="text_21"/>
          <p:cNvSpPr txBox="1"/>
          <p:nvPr/>
        </p:nvSpPr>
        <p:spPr>
          <a:xfrm>
            <a:off x="3191256" y="10789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分析したこと</a:t>
            </a:r>
            <a:endParaRPr lang="en-US" sz="1300" dirty="0"/>
          </a:p>
        </p:txBody>
      </p:sp>
      <p:sp>
        <p:nvSpPr>
          <p:cNvPr id="4" name="text_22"/>
          <p:cNvSpPr txBox="1"/>
          <p:nvPr/>
        </p:nvSpPr>
        <p:spPr>
          <a:xfrm>
            <a:off x="5120640" y="10789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300" dirty="0"/>
          </a:p>
        </p:txBody>
      </p:sp>
      <p:sp>
        <p:nvSpPr>
          <p:cNvPr id="5" name="text_23"/>
          <p:cNvSpPr txBox="1"/>
          <p:nvPr/>
        </p:nvSpPr>
        <p:spPr>
          <a:xfrm>
            <a:off x="7964424" y="1078992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視座（だから何か）</a:t>
            </a:r>
            <a:endParaRPr lang="en-US" sz="1300" dirty="0"/>
          </a:p>
        </p:txBody>
      </p:sp>
      <p:sp>
        <p:nvSpPr>
          <p:cNvPr id="6" name="tch_24"/>
          <p:cNvSpPr/>
          <p:nvPr/>
        </p:nvSpPr>
        <p:spPr>
          <a:xfrm>
            <a:off x="1938528" y="1517904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595959"/>
          </a:solidFill>
          <a:ln>
            <a:solidFill>
              <a:srgbClr val="595959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p.4–5</a:t>
            </a:r>
            <a:endParaRPr lang="en-US" sz="1150" dirty="0"/>
          </a:p>
        </p:txBody>
      </p:sp>
      <p:sp>
        <p:nvSpPr>
          <p:cNvPr id="7" name="ta_25"/>
          <p:cNvSpPr/>
          <p:nvPr/>
        </p:nvSpPr>
        <p:spPr>
          <a:xfrm>
            <a:off x="3191256" y="1463040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ASEAN・タイのシェア、日系の失点の分解</a:t>
            </a:r>
            <a:endParaRPr lang="en-US" sz="1150" dirty="0"/>
          </a:p>
        </p:txBody>
      </p:sp>
      <p:sp>
        <p:nvSpPr>
          <p:cNvPr id="8" name="shape_26"/>
          <p:cNvSpPr/>
          <p:nvPr/>
        </p:nvSpPr>
        <p:spPr>
          <a:xfrm>
            <a:off x="4919472" y="1746504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shape_27"/>
          <p:cNvSpPr/>
          <p:nvPr/>
        </p:nvSpPr>
        <p:spPr>
          <a:xfrm>
            <a:off x="4996282" y="1746504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0" name="tf_28"/>
          <p:cNvSpPr/>
          <p:nvPr/>
        </p:nvSpPr>
        <p:spPr>
          <a:xfrm>
            <a:off x="5120640" y="1463040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日系の失点の大半はBEV比率の上昇。BEV以外では日系が伸びている</a:t>
            </a:r>
            <a:endParaRPr lang="en-US" sz="1200" dirty="0"/>
          </a:p>
        </p:txBody>
      </p:sp>
      <p:sp>
        <p:nvSpPr>
          <p:cNvPr id="11" name="shape_29"/>
          <p:cNvSpPr/>
          <p:nvPr/>
        </p:nvSpPr>
        <p:spPr>
          <a:xfrm>
            <a:off x="7763256" y="1746504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30"/>
          <p:cNvSpPr/>
          <p:nvPr/>
        </p:nvSpPr>
        <p:spPr>
          <a:xfrm>
            <a:off x="7840066" y="1746504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3" name="tv_31"/>
          <p:cNvSpPr/>
          <p:nvPr/>
        </p:nvSpPr>
        <p:spPr>
          <a:xfrm>
            <a:off x="7964424" y="1463040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中国系を、PT別とセグメント別の2つで見る</a:t>
            </a:r>
            <a:endParaRPr lang="en-US" sz="1250" dirty="0"/>
          </a:p>
        </p:txBody>
      </p:sp>
      <p:sp>
        <p:nvSpPr>
          <p:cNvPr id="14" name="tch_32"/>
          <p:cNvSpPr/>
          <p:nvPr/>
        </p:nvSpPr>
        <p:spPr>
          <a:xfrm>
            <a:off x="1938528" y="2450592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日系vs中国系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p.6–10</a:t>
            </a:r>
            <a:endParaRPr lang="en-US" sz="1050" dirty="0"/>
          </a:p>
        </p:txBody>
      </p:sp>
      <p:sp>
        <p:nvSpPr>
          <p:cNvPr id="15" name="ta_33"/>
          <p:cNvSpPr/>
          <p:nvPr/>
        </p:nvSpPr>
        <p:spPr>
          <a:xfrm>
            <a:off x="3191256" y="2395728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PT別シェア、政策、モデルチェンジの違い、中古価格</a:t>
            </a:r>
            <a:endParaRPr lang="en-US" sz="1150" dirty="0"/>
          </a:p>
        </p:txBody>
      </p:sp>
      <p:sp>
        <p:nvSpPr>
          <p:cNvPr id="16" name="shape_34"/>
          <p:cNvSpPr/>
          <p:nvPr/>
        </p:nvSpPr>
        <p:spPr>
          <a:xfrm>
            <a:off x="4919472" y="2679192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7" name="shape_35"/>
          <p:cNvSpPr/>
          <p:nvPr/>
        </p:nvSpPr>
        <p:spPr>
          <a:xfrm>
            <a:off x="4996282" y="2679192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8" name="tf_36"/>
          <p:cNvSpPr/>
          <p:nvPr/>
        </p:nvSpPr>
        <p:spPr>
          <a:xfrm>
            <a:off x="5120640" y="2395728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政策がBEV市場をつくり、増えた客の4分の3がBEVへ。中国系は値下げで売り、中古の価値が下がる</a:t>
            </a:r>
            <a:endParaRPr lang="en-US" sz="1200" dirty="0"/>
          </a:p>
        </p:txBody>
      </p:sp>
      <p:sp>
        <p:nvSpPr>
          <p:cNvPr id="19" name="shape_37"/>
          <p:cNvSpPr/>
          <p:nvPr/>
        </p:nvSpPr>
        <p:spPr>
          <a:xfrm>
            <a:off x="7763256" y="2679192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0" name="shape_38"/>
          <p:cNvSpPr/>
          <p:nvPr/>
        </p:nvSpPr>
        <p:spPr>
          <a:xfrm>
            <a:off x="7840066" y="2679192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1" name="tv_39"/>
          <p:cNvSpPr/>
          <p:nvPr/>
        </p:nvSpPr>
        <p:spPr>
          <a:xfrm>
            <a:off x="7964424" y="2395728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日系の武器は残価。残クレで月々の安さに変える</a:t>
            </a:r>
            <a:endParaRPr lang="en-US" sz="1250" dirty="0"/>
          </a:p>
        </p:txBody>
      </p:sp>
      <p:sp>
        <p:nvSpPr>
          <p:cNvPr id="22" name="tch_40"/>
          <p:cNvSpPr/>
          <p:nvPr/>
        </p:nvSpPr>
        <p:spPr>
          <a:xfrm>
            <a:off x="1938528" y="338328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日系vs中国系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p.11–12</a:t>
            </a:r>
            <a:endParaRPr lang="en-US" sz="1050" dirty="0"/>
          </a:p>
        </p:txBody>
      </p:sp>
      <p:sp>
        <p:nvSpPr>
          <p:cNvPr id="23" name="ta_41"/>
          <p:cNvSpPr/>
          <p:nvPr/>
        </p:nvSpPr>
        <p:spPr>
          <a:xfrm>
            <a:off x="3191256" y="3328416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競合するセグメント、車種の数</a:t>
            </a:r>
            <a:endParaRPr lang="en-US" sz="1150" dirty="0"/>
          </a:p>
        </p:txBody>
      </p:sp>
      <p:sp>
        <p:nvSpPr>
          <p:cNvPr id="24" name="shape_42"/>
          <p:cNvSpPr/>
          <p:nvPr/>
        </p:nvSpPr>
        <p:spPr>
          <a:xfrm>
            <a:off x="4919472" y="3611880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5" name="shape_43"/>
          <p:cNvSpPr/>
          <p:nvPr/>
        </p:nvSpPr>
        <p:spPr>
          <a:xfrm>
            <a:off x="4996282" y="3611880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6" name="tf_44"/>
          <p:cNvSpPr/>
          <p:nvPr/>
        </p:nvSpPr>
        <p:spPr>
          <a:xfrm>
            <a:off x="5120640" y="3328416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競合は乗用車B・CとSUV C。中国系は毎年16〜19車種を出し、席を分け合う</a:t>
            </a:r>
            <a:endParaRPr lang="en-US" sz="1200" dirty="0"/>
          </a:p>
        </p:txBody>
      </p:sp>
      <p:sp>
        <p:nvSpPr>
          <p:cNvPr id="27" name="shape_45"/>
          <p:cNvSpPr/>
          <p:nvPr/>
        </p:nvSpPr>
        <p:spPr>
          <a:xfrm>
            <a:off x="7763256" y="3611880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8" name="shape_46"/>
          <p:cNvSpPr/>
          <p:nvPr/>
        </p:nvSpPr>
        <p:spPr>
          <a:xfrm>
            <a:off x="7840066" y="3611880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9" name="tv_47"/>
          <p:cNvSpPr/>
          <p:nvPr/>
        </p:nvSpPr>
        <p:spPr>
          <a:xfrm>
            <a:off x="7964424" y="3328416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日系は少ない車種を長く売る強みを守る</a:t>
            </a:r>
            <a:endParaRPr lang="en-US" sz="1250" dirty="0"/>
          </a:p>
        </p:txBody>
      </p:sp>
      <p:sp>
        <p:nvSpPr>
          <p:cNvPr id="30" name="tch_48"/>
          <p:cNvSpPr/>
          <p:nvPr/>
        </p:nvSpPr>
        <p:spPr>
          <a:xfrm>
            <a:off x="1938528" y="4315968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p.13–15</a:t>
            </a:r>
            <a:endParaRPr lang="en-US" sz="1150" dirty="0"/>
          </a:p>
        </p:txBody>
      </p:sp>
      <p:sp>
        <p:nvSpPr>
          <p:cNvPr id="31" name="ta_49"/>
          <p:cNvSpPr/>
          <p:nvPr/>
        </p:nvSpPr>
        <p:spPr>
          <a:xfrm>
            <a:off x="3191256" y="4261104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なぜ速いか、売れ筋・企業の入れ替わり</a:t>
            </a:r>
            <a:endParaRPr lang="en-US" sz="1150" dirty="0"/>
          </a:p>
        </p:txBody>
      </p:sp>
      <p:sp>
        <p:nvSpPr>
          <p:cNvPr id="32" name="shape_50"/>
          <p:cNvSpPr/>
          <p:nvPr/>
        </p:nvSpPr>
        <p:spPr>
          <a:xfrm>
            <a:off x="4919472" y="4544568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33" name="shape_51"/>
          <p:cNvSpPr/>
          <p:nvPr/>
        </p:nvSpPr>
        <p:spPr>
          <a:xfrm>
            <a:off x="4996282" y="4544568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34" name="tf_52"/>
          <p:cNvSpPr/>
          <p:nvPr/>
        </p:nvSpPr>
        <p:spPr>
          <a:xfrm>
            <a:off x="5120640" y="4261104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売れ筋は1年で入れ替わり、次の車種を出せない企業は撤退する</a:t>
            </a:r>
            <a:endParaRPr lang="en-US" sz="1200" dirty="0"/>
          </a:p>
        </p:txBody>
      </p:sp>
      <p:sp>
        <p:nvSpPr>
          <p:cNvPr id="35" name="shape_53"/>
          <p:cNvSpPr/>
          <p:nvPr/>
        </p:nvSpPr>
        <p:spPr>
          <a:xfrm>
            <a:off x="7763256" y="4544568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36" name="shape_54"/>
          <p:cNvSpPr/>
          <p:nvPr/>
        </p:nvSpPr>
        <p:spPr>
          <a:xfrm>
            <a:off x="7840066" y="4544568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37" name="tv_55"/>
          <p:cNvSpPr/>
          <p:nvPr/>
        </p:nvSpPr>
        <p:spPr>
          <a:xfrm>
            <a:off x="7964424" y="4261104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速さは中国系どうしの生き残り条件。日系が追う必要はない</a:t>
            </a:r>
            <a:endParaRPr lang="en-US" sz="1250" dirty="0"/>
          </a:p>
        </p:txBody>
      </p:sp>
      <p:sp>
        <p:nvSpPr>
          <p:cNvPr id="38" name="tch_56"/>
          <p:cNvSpPr/>
          <p:nvPr/>
        </p:nvSpPr>
        <p:spPr>
          <a:xfrm>
            <a:off x="1938528" y="5248656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7A4FB0"/>
          </a:solidFill>
          <a:ln>
            <a:solidFill>
              <a:srgbClr val="7A4FB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これから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p.16</a:t>
            </a:r>
            <a:endParaRPr lang="en-US" sz="1150" dirty="0"/>
          </a:p>
        </p:txBody>
      </p:sp>
      <p:sp>
        <p:nvSpPr>
          <p:cNvPr id="39" name="ta_57"/>
          <p:cNvSpPr/>
          <p:nvPr/>
        </p:nvSpPr>
        <p:spPr>
          <a:xfrm>
            <a:off x="3191256" y="519379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生産能力・生産義務と国内需要</a:t>
            </a:r>
            <a:endParaRPr lang="en-US" sz="1150" dirty="0"/>
          </a:p>
        </p:txBody>
      </p:sp>
      <p:sp>
        <p:nvSpPr>
          <p:cNvPr id="40" name="shape_58"/>
          <p:cNvSpPr/>
          <p:nvPr/>
        </p:nvSpPr>
        <p:spPr>
          <a:xfrm>
            <a:off x="4919472" y="5477256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41" name="shape_59"/>
          <p:cNvSpPr/>
          <p:nvPr/>
        </p:nvSpPr>
        <p:spPr>
          <a:xfrm>
            <a:off x="4996282" y="5477256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42" name="tf_60"/>
          <p:cNvSpPr/>
          <p:nvPr/>
        </p:nvSpPr>
        <p:spPr>
          <a:xfrm>
            <a:off x="5120640" y="5193792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A4FB0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承認生産能力は国内BEV需要の約1.8倍。2027〜28年に義務が一巡</a:t>
            </a:r>
            <a:endParaRPr lang="en-US" sz="1200" dirty="0"/>
          </a:p>
        </p:txBody>
      </p:sp>
      <p:sp>
        <p:nvSpPr>
          <p:cNvPr id="43" name="shape_61"/>
          <p:cNvSpPr/>
          <p:nvPr/>
        </p:nvSpPr>
        <p:spPr>
          <a:xfrm>
            <a:off x="7763256" y="5477256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44" name="shape_62"/>
          <p:cNvSpPr/>
          <p:nvPr/>
        </p:nvSpPr>
        <p:spPr>
          <a:xfrm>
            <a:off x="7840066" y="5477256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45" name="tv_63"/>
          <p:cNvSpPr/>
          <p:nvPr/>
        </p:nvSpPr>
        <p:spPr>
          <a:xfrm>
            <a:off x="7964424" y="5193792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淘汰期に、撤退ブランドの顧客・販売店を拾う</a:t>
            </a:r>
            <a:endParaRPr lang="en-US" sz="1250" dirty="0"/>
          </a:p>
        </p:txBody>
      </p:sp>
      <p:sp>
        <p:nvSpPr>
          <p:cNvPr id="46" name="troot_64"/>
          <p:cNvSpPr/>
          <p:nvPr/>
        </p:nvSpPr>
        <p:spPr>
          <a:xfrm>
            <a:off x="411480" y="265176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チェンジの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主因ではない</a:t>
            </a:r>
            <a:endParaRPr lang="en-US" sz="1200" dirty="0"/>
          </a:p>
        </p:txBody>
      </p:sp>
      <p:sp>
        <p:nvSpPr>
          <p:cNvPr id="47" name="shape_65"/>
          <p:cNvSpPr/>
          <p:nvPr/>
        </p:nvSpPr>
        <p:spPr>
          <a:xfrm>
            <a:off x="1737360" y="3749040"/>
            <a:ext cx="201168" cy="-1865376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48" name="shape_66"/>
          <p:cNvSpPr/>
          <p:nvPr/>
        </p:nvSpPr>
        <p:spPr>
          <a:xfrm>
            <a:off x="1737360" y="3749040"/>
            <a:ext cx="201168" cy="-932688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49" name="shape_67"/>
          <p:cNvSpPr/>
          <p:nvPr/>
        </p:nvSpPr>
        <p:spPr>
          <a:xfrm>
            <a:off x="1737360" y="3749040"/>
            <a:ext cx="201168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50" name="shape_68"/>
          <p:cNvSpPr/>
          <p:nvPr/>
        </p:nvSpPr>
        <p:spPr>
          <a:xfrm>
            <a:off x="1737360" y="3749040"/>
            <a:ext cx="201168" cy="932688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51" name="shape_69"/>
          <p:cNvSpPr/>
          <p:nvPr/>
        </p:nvSpPr>
        <p:spPr>
          <a:xfrm>
            <a:off x="1737360" y="3749040"/>
            <a:ext cx="201168" cy="1865376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52" name="summary_70"/>
          <p:cNvSpPr/>
          <p:nvPr/>
        </p:nvSpPr>
        <p:spPr>
          <a:xfrm>
            <a:off x="685800" y="6172200"/>
            <a:ext cx="9317736" cy="731520"/>
          </a:xfrm>
          <a:prstGeom prst="roundRect">
            <a:avLst>
              <a:gd name="adj" fmla="val 125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日系の打ち手（p.17）：</a:t>
            </a:r>
            <a:pPr algn="ctr" indent="0" marL="0">
              <a:buNone/>
            </a:pPr>
            <a:r>
              <a:rPr lang="en-US" sz="16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BEVの商品を持つ／HEVは長く売る／残クレ／淘汰期に拾う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ASEANで中国系が伸び、ベトナムは地場が強い</a:t>
            </a:r>
            <a:endParaRPr lang="en-US" sz="2400" dirty="0"/>
          </a:p>
        </p:txBody>
      </p:sp>
      <p:sp>
        <p:nvSpPr>
          <p:cNvPr id="3" name="grp_71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</a:t>
            </a:r>
            <a:endParaRPr lang="en-US" sz="1200" dirty="0"/>
          </a:p>
        </p:txBody>
      </p:sp>
      <p:sp>
        <p:nvSpPr>
          <p:cNvPr id="4" name="text_72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ASEANで、中国系はどこまで伸びているのか</a:t>
            </a:r>
            <a:endParaRPr lang="en-US" sz="1600" dirty="0"/>
          </a:p>
        </p:txBody>
      </p:sp>
      <p:sp>
        <p:nvSpPr>
          <p:cNvPr id="5" name="pc_73"/>
          <p:cNvSpPr/>
          <p:nvPr/>
        </p:nvSpPr>
        <p:spPr>
          <a:xfrm>
            <a:off x="411480" y="1572768"/>
            <a:ext cx="6400800" cy="5330952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ASEAN各国の中国系・日系シェアの推移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MarkLines：ASEAN各国の車種別月次販売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国ごとの小さな折れ線（日系・中国系・地場・その他）</a:t>
            </a:r>
            <a:endParaRPr lang="en-US" sz="1200" dirty="0"/>
          </a:p>
        </p:txBody>
      </p:sp>
      <p:sp>
        <p:nvSpPr>
          <p:cNvPr id="6" name="shape_74"/>
          <p:cNvSpPr/>
          <p:nvPr/>
        </p:nvSpPr>
        <p:spPr>
          <a:xfrm>
            <a:off x="7086600" y="1572768"/>
            <a:ext cx="3191256" cy="3063240"/>
          </a:xfrm>
          <a:prstGeom prst="roundRect">
            <a:avLst>
              <a:gd name="adj" fmla="val 2985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7" name="tab_75"/>
          <p:cNvSpPr/>
          <p:nvPr/>
        </p:nvSpPr>
        <p:spPr>
          <a:xfrm>
            <a:off x="7196328" y="1664208"/>
            <a:ext cx="14173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見るポイント</a:t>
            </a:r>
            <a:endParaRPr lang="en-US" sz="1500" dirty="0"/>
          </a:p>
        </p:txBody>
      </p:sp>
      <p:sp>
        <p:nvSpPr>
          <p:cNvPr id="8" name="text_76"/>
          <p:cNvSpPr txBox="1"/>
          <p:nvPr/>
        </p:nvSpPr>
        <p:spPr>
          <a:xfrm>
            <a:off x="7269480" y="2103120"/>
            <a:ext cx="28254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タイ・インドネシアで中国系が伸びる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ベトナムは地場（VinFast）が強い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日系はどの国でも最大勢力</a:t>
            </a:r>
            <a:endParaRPr lang="en-US" sz="1600" dirty="0"/>
          </a:p>
        </p:txBody>
      </p:sp>
      <p:sp>
        <p:nvSpPr>
          <p:cNvPr id="9" name="shape_77"/>
          <p:cNvSpPr/>
          <p:nvPr/>
        </p:nvSpPr>
        <p:spPr>
          <a:xfrm>
            <a:off x="8407908" y="4754880"/>
            <a:ext cx="548640" cy="384048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10" name="summary_78"/>
          <p:cNvSpPr/>
          <p:nvPr/>
        </p:nvSpPr>
        <p:spPr>
          <a:xfrm>
            <a:off x="7086600" y="5257800"/>
            <a:ext cx="3191256" cy="1645920"/>
          </a:xfrm>
          <a:prstGeom prst="roundRect">
            <a:avLst>
              <a:gd name="adj" fmla="val 5556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以降はタイに絞る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中国系の伸びが最も大きく、データもそろう</a:t>
            </a:r>
            <a:endParaRPr lang="en-US" sz="2000" dirty="0"/>
          </a:p>
        </p:txBody>
      </p:sp>
      <p:sp>
        <p:nvSpPr>
          <p:cNvPr id="11" name="text_7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出典：MarkLines（社内）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日系の失点を、PT別とセグメント別に分けて見る</a:t>
            </a:r>
            <a:endParaRPr lang="en-US" sz="2400" dirty="0"/>
          </a:p>
        </p:txBody>
      </p:sp>
      <p:sp>
        <p:nvSpPr>
          <p:cNvPr id="3" name="grp_80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</a:t>
            </a:r>
            <a:endParaRPr lang="en-US" sz="1200" dirty="0"/>
          </a:p>
        </p:txBody>
      </p:sp>
      <p:sp>
        <p:nvSpPr>
          <p:cNvPr id="4" name="text_81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タイで、日系はどこでシェアを失ったのか</a:t>
            </a:r>
            <a:endParaRPr lang="en-US" sz="1600" dirty="0"/>
          </a:p>
        </p:txBody>
      </p:sp>
      <p:sp>
        <p:nvSpPr>
          <p:cNvPr id="5" name="text_82"/>
          <p:cNvSpPr txBox="1"/>
          <p:nvPr/>
        </p:nvSpPr>
        <p:spPr>
          <a:xfrm>
            <a:off x="41148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タイの日系シェアの変化の分解（pt）</a:t>
            </a:r>
            <a:endParaRPr lang="en-US" sz="1300" dirty="0"/>
          </a:p>
        </p:txBody>
      </p:sp>
      <p:sp>
        <p:nvSpPr>
          <p:cNvPr id="6" name="shape_83"/>
          <p:cNvSpPr/>
          <p:nvPr/>
        </p:nvSpPr>
        <p:spPr>
          <a:xfrm>
            <a:off x="685800" y="2214311"/>
            <a:ext cx="713232" cy="3272089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_84"/>
          <p:cNvSpPr txBox="1"/>
          <p:nvPr/>
        </p:nvSpPr>
        <p:spPr>
          <a:xfrm>
            <a:off x="502920" y="1866839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85.2%</a:t>
            </a:r>
            <a:endParaRPr lang="en-US" sz="1400" dirty="0"/>
          </a:p>
        </p:txBody>
      </p:sp>
      <p:sp>
        <p:nvSpPr>
          <p:cNvPr id="8" name="text_85"/>
          <p:cNvSpPr txBox="1"/>
          <p:nvPr/>
        </p:nvSpPr>
        <p:spPr>
          <a:xfrm>
            <a:off x="502920" y="55504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</a:t>
            </a:r>
            <a:endParaRPr lang="en-US" sz="1150" dirty="0"/>
          </a:p>
        </p:txBody>
      </p:sp>
      <p:sp>
        <p:nvSpPr>
          <p:cNvPr id="9" name="shape_86"/>
          <p:cNvSpPr/>
          <p:nvPr/>
        </p:nvSpPr>
        <p:spPr>
          <a:xfrm>
            <a:off x="1581912" y="2214311"/>
            <a:ext cx="713232" cy="97548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0" name="text_87"/>
          <p:cNvSpPr txBox="1"/>
          <p:nvPr/>
        </p:nvSpPr>
        <p:spPr>
          <a:xfrm>
            <a:off x="1399032" y="1866839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−25.4</a:t>
            </a:r>
            <a:endParaRPr lang="en-US" sz="1400" dirty="0"/>
          </a:p>
        </p:txBody>
      </p:sp>
      <p:sp>
        <p:nvSpPr>
          <p:cNvPr id="11" name="text_88"/>
          <p:cNvSpPr txBox="1"/>
          <p:nvPr/>
        </p:nvSpPr>
        <p:spPr>
          <a:xfrm>
            <a:off x="1399032" y="55504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BEV比率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の上昇</a:t>
            </a:r>
            <a:endParaRPr lang="en-US" sz="1150" dirty="0"/>
          </a:p>
        </p:txBody>
      </p:sp>
      <p:sp>
        <p:nvSpPr>
          <p:cNvPr id="12" name="shape_89"/>
          <p:cNvSpPr/>
          <p:nvPr/>
        </p:nvSpPr>
        <p:spPr>
          <a:xfrm>
            <a:off x="2478024" y="3144073"/>
            <a:ext cx="713232" cy="45720"/>
          </a:xfrm>
          <a:prstGeom prst="rect">
            <a:avLst/>
          </a:prstGeom>
          <a:solidFill>
            <a:srgbClr val="A9C0E8"/>
          </a:solidFill>
          <a:ln w="12700">
            <a:solidFill>
              <a:srgbClr val="A9C0E8"/>
            </a:solidFill>
            <a:prstDash val="solid"/>
          </a:ln>
        </p:spPr>
      </p:sp>
      <p:sp>
        <p:nvSpPr>
          <p:cNvPr id="13" name="text_90"/>
          <p:cNvSpPr txBox="1"/>
          <p:nvPr/>
        </p:nvSpPr>
        <p:spPr>
          <a:xfrm>
            <a:off x="2295144" y="2796601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</a:t>
            </a:r>
            <a:endParaRPr lang="en-US" sz="1400" dirty="0"/>
          </a:p>
        </p:txBody>
      </p:sp>
      <p:sp>
        <p:nvSpPr>
          <p:cNvPr id="14" name="text_91"/>
          <p:cNvSpPr txBox="1"/>
          <p:nvPr/>
        </p:nvSpPr>
        <p:spPr>
          <a:xfrm>
            <a:off x="2295144" y="55504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BEV内の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150" dirty="0"/>
          </a:p>
        </p:txBody>
      </p:sp>
      <p:sp>
        <p:nvSpPr>
          <p:cNvPr id="15" name="shape_92"/>
          <p:cNvSpPr/>
          <p:nvPr/>
        </p:nvSpPr>
        <p:spPr>
          <a:xfrm>
            <a:off x="3374136" y="3112983"/>
            <a:ext cx="713232" cy="53767"/>
          </a:xfrm>
          <a:prstGeom prst="rect">
            <a:avLst/>
          </a:prstGeom>
          <a:solidFill>
            <a:srgbClr val="A9C0E8"/>
          </a:solidFill>
          <a:ln w="12700">
            <a:solidFill>
              <a:srgbClr val="A9C0E8"/>
            </a:solidFill>
            <a:prstDash val="solid"/>
          </a:ln>
        </p:spPr>
      </p:sp>
      <p:sp>
        <p:nvSpPr>
          <p:cNvPr id="16" name="text_93"/>
          <p:cNvSpPr txBox="1"/>
          <p:nvPr/>
        </p:nvSpPr>
        <p:spPr>
          <a:xfrm>
            <a:off x="3191256" y="2765511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+1.4</a:t>
            </a:r>
            <a:endParaRPr lang="en-US" sz="1400" dirty="0"/>
          </a:p>
        </p:txBody>
      </p:sp>
      <p:sp>
        <p:nvSpPr>
          <p:cNvPr id="17" name="text_94"/>
          <p:cNvSpPr txBox="1"/>
          <p:nvPr/>
        </p:nvSpPr>
        <p:spPr>
          <a:xfrm>
            <a:off x="3191256" y="55504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BEV以外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の日系</a:t>
            </a:r>
            <a:endParaRPr lang="en-US" sz="1150" dirty="0"/>
          </a:p>
        </p:txBody>
      </p:sp>
      <p:sp>
        <p:nvSpPr>
          <p:cNvPr id="18" name="shape_95"/>
          <p:cNvSpPr/>
          <p:nvPr/>
        </p:nvSpPr>
        <p:spPr>
          <a:xfrm>
            <a:off x="4270248" y="3112983"/>
            <a:ext cx="713232" cy="2373417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_96"/>
          <p:cNvSpPr txBox="1"/>
          <p:nvPr/>
        </p:nvSpPr>
        <p:spPr>
          <a:xfrm>
            <a:off x="4087368" y="2765511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61.8%</a:t>
            </a:r>
            <a:endParaRPr lang="en-US" sz="1400" dirty="0"/>
          </a:p>
        </p:txBody>
      </p:sp>
      <p:sp>
        <p:nvSpPr>
          <p:cNvPr id="20" name="text_97"/>
          <p:cNvSpPr txBox="1"/>
          <p:nvPr/>
        </p:nvSpPr>
        <p:spPr>
          <a:xfrm>
            <a:off x="4087368" y="555040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1〜7月</a:t>
            </a:r>
            <a:endParaRPr lang="en-US" sz="1150" dirty="0"/>
          </a:p>
        </p:txBody>
      </p:sp>
      <p:sp>
        <p:nvSpPr>
          <p:cNvPr id="21" name="shape_98"/>
          <p:cNvSpPr/>
          <p:nvPr/>
        </p:nvSpPr>
        <p:spPr>
          <a:xfrm>
            <a:off x="640080" y="5486400"/>
            <a:ext cx="4480560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</a:ln>
        </p:spPr>
      </p:sp>
      <p:sp>
        <p:nvSpPr>
          <p:cNvPr id="22" name="summary_99"/>
          <p:cNvSpPr/>
          <p:nvPr/>
        </p:nvSpPr>
        <p:spPr>
          <a:xfrm>
            <a:off x="411480" y="6263640"/>
            <a:ext cx="4937760" cy="640080"/>
          </a:xfrm>
          <a:prstGeom prst="roundRect">
            <a:avLst>
              <a:gd name="adj" fmla="val 14286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BEV以外の日系シェアは </a:t>
            </a:r>
            <a:pPr algn="ctr" indent="0" marL="0">
              <a:buNone/>
            </a:pPr>
            <a:r>
              <a:rPr lang="en-US" sz="16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86%→88%</a:t>
            </a:r>
            <a:endParaRPr lang="en-US" sz="1600" dirty="0"/>
          </a:p>
        </p:txBody>
      </p:sp>
      <p:sp>
        <p:nvSpPr>
          <p:cNvPr id="23" name="shape_100"/>
          <p:cNvSpPr/>
          <p:nvPr/>
        </p:nvSpPr>
        <p:spPr>
          <a:xfrm>
            <a:off x="5715000" y="1783080"/>
            <a:ext cx="456285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24" name="fslabel_101"/>
          <p:cNvSpPr/>
          <p:nvPr/>
        </p:nvSpPr>
        <p:spPr>
          <a:xfrm>
            <a:off x="7054596" y="1636776"/>
            <a:ext cx="1883664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PT別（p.6–10）</a:t>
            </a:r>
            <a:endParaRPr lang="en-US" sz="1600" dirty="0"/>
          </a:p>
        </p:txBody>
      </p:sp>
      <p:sp>
        <p:nvSpPr>
          <p:cNvPr id="25" name="text_102"/>
          <p:cNvSpPr txBox="1"/>
          <p:nvPr/>
        </p:nvSpPr>
        <p:spPr>
          <a:xfrm>
            <a:off x="5943600" y="2011680"/>
            <a:ext cx="4105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どの動力で取られたか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政策、モデルチェンジの違い、値下げと残価</a:t>
            </a:r>
            <a:endParaRPr lang="en-US" sz="1700" dirty="0"/>
          </a:p>
        </p:txBody>
      </p:sp>
      <p:sp>
        <p:nvSpPr>
          <p:cNvPr id="26" name="shape_103"/>
          <p:cNvSpPr/>
          <p:nvPr/>
        </p:nvSpPr>
        <p:spPr>
          <a:xfrm>
            <a:off x="5715000" y="3611880"/>
            <a:ext cx="456285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2225">
            <a:solidFill>
              <a:srgbClr val="1E9C96"/>
            </a:solidFill>
            <a:prstDash val="solid"/>
          </a:ln>
        </p:spPr>
      </p:sp>
      <p:sp>
        <p:nvSpPr>
          <p:cNvPr id="27" name="fslabel_104"/>
          <p:cNvSpPr/>
          <p:nvPr/>
        </p:nvSpPr>
        <p:spPr>
          <a:xfrm>
            <a:off x="6603492" y="3465576"/>
            <a:ext cx="278587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セグメント別（p.11–12）</a:t>
            </a:r>
            <a:endParaRPr lang="en-US" sz="1600" dirty="0"/>
          </a:p>
        </p:txBody>
      </p:sp>
      <p:sp>
        <p:nvSpPr>
          <p:cNvPr id="28" name="text_105"/>
          <p:cNvSpPr txBox="1"/>
          <p:nvPr/>
        </p:nvSpPr>
        <p:spPr>
          <a:xfrm>
            <a:off x="5943600" y="3840480"/>
            <a:ext cx="4105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どの車格で競っているか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競合するセグメントと車種の数</a:t>
            </a:r>
            <a:endParaRPr lang="en-US" sz="1700" dirty="0"/>
          </a:p>
        </p:txBody>
      </p:sp>
      <p:sp>
        <p:nvSpPr>
          <p:cNvPr id="29" name="pc_106"/>
          <p:cNvSpPr/>
          <p:nvPr/>
        </p:nvSpPr>
        <p:spPr>
          <a:xfrm>
            <a:off x="5715000" y="5440680"/>
            <a:ext cx="4562856" cy="14630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セグメント×PTでの分解（社内データ）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同じ分解を、区分ごとの構成と日系シェアで行う</a:t>
            </a:r>
            <a:endParaRPr lang="en-US" sz="1000" dirty="0"/>
          </a:p>
        </p:txBody>
      </p:sp>
      <p:sp>
        <p:nvSpPr>
          <p:cNvPr id="30" name="text_10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出典：TMT、Thansettakijから試算（BEV内の日系は1%→3%と仮定）。BEV比率の上昇にはピックアップ縮小による分母の減少も含む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BEVは中国系、HEVは日系。増えた客の4分の3はBEVへ</a:t>
            </a:r>
            <a:endParaRPr lang="en-US" sz="2400" dirty="0"/>
          </a:p>
        </p:txBody>
      </p:sp>
      <p:sp>
        <p:nvSpPr>
          <p:cNvPr id="3" name="grp_108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09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どの動力で、日系はシェアを失ったのか</a:t>
            </a:r>
            <a:endParaRPr lang="en-US" sz="1600" dirty="0"/>
          </a:p>
        </p:txBody>
      </p:sp>
      <p:sp>
        <p:nvSpPr>
          <p:cNvPr id="5" name="pc_110"/>
          <p:cNvSpPr/>
          <p:nvPr/>
        </p:nvSpPr>
        <p:spPr>
          <a:xfrm>
            <a:off x="411480" y="1572768"/>
            <a:ext cx="4572000" cy="5330952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PT別の販売とシェアの推移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BEV・HEV・ICEの月次台数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各PT内の国籍別シェア</a:t>
            </a:r>
            <a:endParaRPr lang="en-US" sz="1200" dirty="0"/>
          </a:p>
        </p:txBody>
      </p:sp>
      <p:graphicFrame>
        <p:nvGraphicFramePr>
          <p:cNvPr id="6" name="chart_pt7" descr=""/>
          <p:cNvGraphicFramePr/>
          <p:nvPr/>
        </p:nvGraphicFramePr>
        <p:xfrm>
          <a:off x="5166360" y="1536192"/>
          <a:ext cx="5111496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_111"/>
          <p:cNvSpPr txBox="1"/>
          <p:nvPr/>
        </p:nvSpPr>
        <p:spPr>
          <a:xfrm>
            <a:off x="5257800" y="4297680"/>
            <a:ext cx="237744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800" dirty="0"/>
          </a:p>
        </p:txBody>
      </p:sp>
      <p:sp>
        <p:nvSpPr>
          <p:cNvPr id="8" name="text_112"/>
          <p:cNvSpPr txBox="1"/>
          <p:nvPr/>
        </p:nvSpPr>
        <p:spPr>
          <a:xfrm>
            <a:off x="5257800" y="49250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BEVのうち中国系</a:t>
            </a:r>
            <a:endParaRPr lang="en-US" sz="1400" dirty="0"/>
          </a:p>
        </p:txBody>
      </p:sp>
      <p:sp>
        <p:nvSpPr>
          <p:cNvPr id="9" name="text_113"/>
          <p:cNvSpPr txBox="1"/>
          <p:nvPr/>
        </p:nvSpPr>
        <p:spPr>
          <a:xfrm>
            <a:off x="7818120" y="4297680"/>
            <a:ext cx="237744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3800" dirty="0"/>
          </a:p>
        </p:txBody>
      </p:sp>
      <p:sp>
        <p:nvSpPr>
          <p:cNvPr id="10" name="text_114"/>
          <p:cNvSpPr txBox="1"/>
          <p:nvPr/>
        </p:nvSpPr>
        <p:spPr>
          <a:xfrm>
            <a:off x="7818120" y="49250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HEVのうち日系</a:t>
            </a:r>
            <a:endParaRPr lang="en-US" sz="1400" dirty="0"/>
          </a:p>
        </p:txBody>
      </p:sp>
      <p:sp>
        <p:nvSpPr>
          <p:cNvPr id="11" name="shape_115"/>
          <p:cNvSpPr/>
          <p:nvPr/>
        </p:nvSpPr>
        <p:spPr>
          <a:xfrm>
            <a:off x="5166360" y="5760720"/>
            <a:ext cx="511149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2" name="fslabel_116"/>
          <p:cNvSpPr/>
          <p:nvPr/>
        </p:nvSpPr>
        <p:spPr>
          <a:xfrm>
            <a:off x="5440680" y="5641848"/>
            <a:ext cx="27508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増えた電動車の行き先（前年比）</a:t>
            </a:r>
            <a:endParaRPr lang="en-US" sz="1300" dirty="0"/>
          </a:p>
        </p:txBody>
      </p:sp>
      <p:sp>
        <p:nvSpPr>
          <p:cNvPr id="13" name="text_117"/>
          <p:cNvSpPr txBox="1"/>
          <p:nvPr/>
        </p:nvSpPr>
        <p:spPr>
          <a:xfrm>
            <a:off x="5303520" y="5961888"/>
            <a:ext cx="4837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</a:t>
            </a:r>
            <a:pPr algn="ctr" indent="0" marL="0">
              <a:buNone/>
            </a:pPr>
            <a:r>
              <a:rPr lang="en-US" sz="16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+4.8万台（74%）</a:t>
            </a:r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HEV </a:t>
            </a:r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+1.8万台（28%）</a:t>
            </a:r>
            <a:endParaRPr lang="en-US" sz="1600" dirty="0"/>
          </a:p>
        </p:txBody>
      </p:sp>
      <p:sp>
        <p:nvSpPr>
          <p:cNvPr id="14" name="text_11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出典：JETRO（2026年7月）、MarkLines（社内）。増加分は2025年1〜6月→2026年1〜6月の登録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タイのEV政策　輸入で市場をつくり、あとで現地生産を求める</a:t>
            </a:r>
            <a:endParaRPr lang="en-US" sz="2400" dirty="0"/>
          </a:p>
        </p:txBody>
      </p:sp>
      <p:sp>
        <p:nvSpPr>
          <p:cNvPr id="3" name="grp_119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20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タイ政府は、どのようにEVを広げたのか</a:t>
            </a:r>
            <a:endParaRPr lang="en-US" sz="1600" dirty="0"/>
          </a:p>
        </p:txBody>
      </p:sp>
      <p:sp>
        <p:nvSpPr>
          <p:cNvPr id="5" name="shape_121"/>
          <p:cNvSpPr/>
          <p:nvPr/>
        </p:nvSpPr>
        <p:spPr>
          <a:xfrm>
            <a:off x="411480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_122"/>
          <p:cNvSpPr/>
          <p:nvPr/>
        </p:nvSpPr>
        <p:spPr>
          <a:xfrm>
            <a:off x="411480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7" name="text_123"/>
          <p:cNvSpPr txBox="1"/>
          <p:nvPr/>
        </p:nvSpPr>
        <p:spPr>
          <a:xfrm>
            <a:off x="521208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300" dirty="0"/>
          </a:p>
        </p:txBody>
      </p:sp>
      <p:sp>
        <p:nvSpPr>
          <p:cNvPr id="8" name="text_124"/>
          <p:cNvSpPr txBox="1"/>
          <p:nvPr/>
        </p:nvSpPr>
        <p:spPr>
          <a:xfrm>
            <a:off x="59436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買う人への補助</a:t>
            </a:r>
            <a:endParaRPr lang="en-US" sz="2000" dirty="0"/>
          </a:p>
        </p:txBody>
      </p:sp>
      <p:sp>
        <p:nvSpPr>
          <p:cNvPr id="9" name="text_125"/>
          <p:cNvSpPr txBox="1"/>
          <p:nvPr/>
        </p:nvSpPr>
        <p:spPr>
          <a:xfrm>
            <a:off x="594360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EV3.0（2022〜23年）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最大15万バーツ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EV3.5（2024〜27年）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最大10万バーツ、年々縮小</a:t>
            </a:r>
            <a:endParaRPr lang="en-US" sz="1500" dirty="0"/>
          </a:p>
        </p:txBody>
      </p:sp>
      <p:sp>
        <p:nvSpPr>
          <p:cNvPr id="10" name="shape_126"/>
          <p:cNvSpPr/>
          <p:nvPr/>
        </p:nvSpPr>
        <p:spPr>
          <a:xfrm>
            <a:off x="3495294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1" name="shape_127"/>
          <p:cNvSpPr/>
          <p:nvPr/>
        </p:nvSpPr>
        <p:spPr>
          <a:xfrm>
            <a:off x="3610508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128"/>
          <p:cNvSpPr/>
          <p:nvPr/>
        </p:nvSpPr>
        <p:spPr>
          <a:xfrm>
            <a:off x="3835908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_129"/>
          <p:cNvSpPr/>
          <p:nvPr/>
        </p:nvSpPr>
        <p:spPr>
          <a:xfrm>
            <a:off x="3835908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4" name="text_130"/>
          <p:cNvSpPr txBox="1"/>
          <p:nvPr/>
        </p:nvSpPr>
        <p:spPr>
          <a:xfrm>
            <a:off x="3945636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300" dirty="0"/>
          </a:p>
        </p:txBody>
      </p:sp>
      <p:sp>
        <p:nvSpPr>
          <p:cNvPr id="15" name="text_131"/>
          <p:cNvSpPr txBox="1"/>
          <p:nvPr/>
        </p:nvSpPr>
        <p:spPr>
          <a:xfrm>
            <a:off x="4018788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税の優遇</a:t>
            </a:r>
            <a:endParaRPr lang="en-US" sz="2000" dirty="0"/>
          </a:p>
        </p:txBody>
      </p:sp>
      <p:sp>
        <p:nvSpPr>
          <p:cNvPr id="16" name="text_132"/>
          <p:cNvSpPr txBox="1"/>
          <p:nvPr/>
        </p:nvSpPr>
        <p:spPr>
          <a:xfrm>
            <a:off x="4018788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BEVの物品税 8%→2%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中国製EVの関税 0%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（日本製は20%）</a:t>
            </a:r>
            <a:endParaRPr lang="en-US" sz="1500" dirty="0"/>
          </a:p>
        </p:txBody>
      </p:sp>
      <p:sp>
        <p:nvSpPr>
          <p:cNvPr id="17" name="shape_133"/>
          <p:cNvSpPr/>
          <p:nvPr/>
        </p:nvSpPr>
        <p:spPr>
          <a:xfrm>
            <a:off x="6919722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8" name="shape_134"/>
          <p:cNvSpPr/>
          <p:nvPr/>
        </p:nvSpPr>
        <p:spPr>
          <a:xfrm>
            <a:off x="7034936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9" name="shape_135"/>
          <p:cNvSpPr/>
          <p:nvPr/>
        </p:nvSpPr>
        <p:spPr>
          <a:xfrm>
            <a:off x="7260336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_136"/>
          <p:cNvSpPr/>
          <p:nvPr/>
        </p:nvSpPr>
        <p:spPr>
          <a:xfrm>
            <a:off x="7260336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21" name="text_137"/>
          <p:cNvSpPr txBox="1"/>
          <p:nvPr/>
        </p:nvSpPr>
        <p:spPr>
          <a:xfrm>
            <a:off x="7370064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300" dirty="0"/>
          </a:p>
        </p:txBody>
      </p:sp>
      <p:sp>
        <p:nvSpPr>
          <p:cNvPr id="22" name="text_138"/>
          <p:cNvSpPr txBox="1"/>
          <p:nvPr/>
        </p:nvSpPr>
        <p:spPr>
          <a:xfrm>
            <a:off x="7443216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現地生産の義務</a:t>
            </a:r>
            <a:endParaRPr lang="en-US" sz="2000" dirty="0"/>
          </a:p>
        </p:txBody>
      </p:sp>
      <p:sp>
        <p:nvSpPr>
          <p:cNvPr id="23" name="text_139"/>
          <p:cNvSpPr txBox="1"/>
          <p:nvPr/>
        </p:nvSpPr>
        <p:spPr>
          <a:xfrm>
            <a:off x="7443216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補助を受けた輸入1台に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 1〜1.5台（EV3.0）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 2台、2027年 3台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（EV3.5、輸出は1.5台分）</a:t>
            </a:r>
            <a:endParaRPr lang="en-US" sz="1500" dirty="0"/>
          </a:p>
        </p:txBody>
      </p:sp>
      <p:sp>
        <p:nvSpPr>
          <p:cNvPr id="24" name="shape_140"/>
          <p:cNvSpPr/>
          <p:nvPr/>
        </p:nvSpPr>
        <p:spPr>
          <a:xfrm>
            <a:off x="5024628" y="4873752"/>
            <a:ext cx="640080" cy="365760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25" name="summary_141"/>
          <p:cNvSpPr/>
          <p:nvPr/>
        </p:nvSpPr>
        <p:spPr>
          <a:xfrm>
            <a:off x="777240" y="5376672"/>
            <a:ext cx="9134856" cy="1325880"/>
          </a:xfrm>
          <a:prstGeom prst="roundRect">
            <a:avLst>
              <a:gd name="adj" fmla="val 689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補助と関税0%で、中国系は輸入から先に市場に入れた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その後の生産義務が、現地での値下げと販売攻勢を生んでいる</a:t>
            </a:r>
            <a:endParaRPr lang="en-US" sz="1800" dirty="0"/>
          </a:p>
        </p:txBody>
      </p:sp>
      <p:sp>
        <p:nvSpPr>
          <p:cNvPr id="26" name="text_14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出典：BOI（2023〜2025年）、物品税局、The Nation（2026年9月）。2026年からは物品税を投資の度合いで3段階に（9月合意）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政策と販売台数　補助・値下げ・生産義務の時期に販売が動く</a:t>
            </a:r>
            <a:endParaRPr lang="en-US" sz="2400" dirty="0"/>
          </a:p>
        </p:txBody>
      </p:sp>
      <p:sp>
        <p:nvSpPr>
          <p:cNvPr id="3" name="grp_143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44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政策の時期と、販売台数の動きは重なるか</a:t>
            </a:r>
            <a:endParaRPr lang="en-US" sz="1600" dirty="0"/>
          </a:p>
        </p:txBody>
      </p:sp>
      <p:sp>
        <p:nvSpPr>
          <p:cNvPr id="5" name="pc_145"/>
          <p:cNvSpPr/>
          <p:nvPr/>
        </p:nvSpPr>
        <p:spPr>
          <a:xfrm>
            <a:off x="411480" y="1572768"/>
            <a:ext cx="9866376" cy="20116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BEV・HEVの月次販売台数（2022年1月〜最新）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MarkLines：タイ。横軸を下の年表にそろえ、政策の時期に縦の点線を入れる</a:t>
            </a:r>
            <a:endParaRPr lang="en-US" sz="1200" dirty="0"/>
          </a:p>
        </p:txBody>
      </p:sp>
      <p:sp>
        <p:nvSpPr>
          <p:cNvPr id="6" name="shape_146"/>
          <p:cNvSpPr/>
          <p:nvPr/>
        </p:nvSpPr>
        <p:spPr>
          <a:xfrm>
            <a:off x="640080" y="4462272"/>
            <a:ext cx="9409176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7" name="shape_147"/>
          <p:cNvSpPr/>
          <p:nvPr/>
        </p:nvSpPr>
        <p:spPr>
          <a:xfrm>
            <a:off x="640080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text_148"/>
          <p:cNvSpPr txBox="1"/>
          <p:nvPr/>
        </p:nvSpPr>
        <p:spPr>
          <a:xfrm>
            <a:off x="59436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</p:txBody>
      </p:sp>
      <p:sp>
        <p:nvSpPr>
          <p:cNvPr id="9" name="shape_149"/>
          <p:cNvSpPr/>
          <p:nvPr/>
        </p:nvSpPr>
        <p:spPr>
          <a:xfrm>
            <a:off x="2208276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0" name="text_150"/>
          <p:cNvSpPr txBox="1"/>
          <p:nvPr/>
        </p:nvSpPr>
        <p:spPr>
          <a:xfrm>
            <a:off x="2162556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shape_151"/>
          <p:cNvSpPr/>
          <p:nvPr/>
        </p:nvSpPr>
        <p:spPr>
          <a:xfrm>
            <a:off x="3776472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2" name="text_152"/>
          <p:cNvSpPr txBox="1"/>
          <p:nvPr/>
        </p:nvSpPr>
        <p:spPr>
          <a:xfrm>
            <a:off x="3730752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200" dirty="0"/>
          </a:p>
        </p:txBody>
      </p:sp>
      <p:sp>
        <p:nvSpPr>
          <p:cNvPr id="13" name="shape_153"/>
          <p:cNvSpPr/>
          <p:nvPr/>
        </p:nvSpPr>
        <p:spPr>
          <a:xfrm>
            <a:off x="5344668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4" name="text_154"/>
          <p:cNvSpPr txBox="1"/>
          <p:nvPr/>
        </p:nvSpPr>
        <p:spPr>
          <a:xfrm>
            <a:off x="5298948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15" name="shape_155"/>
          <p:cNvSpPr/>
          <p:nvPr/>
        </p:nvSpPr>
        <p:spPr>
          <a:xfrm>
            <a:off x="6912864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6" name="text_156"/>
          <p:cNvSpPr txBox="1"/>
          <p:nvPr/>
        </p:nvSpPr>
        <p:spPr>
          <a:xfrm>
            <a:off x="6867144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17" name="shape_157"/>
          <p:cNvSpPr/>
          <p:nvPr/>
        </p:nvSpPr>
        <p:spPr>
          <a:xfrm>
            <a:off x="8481060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8" name="text_158"/>
          <p:cNvSpPr txBox="1"/>
          <p:nvPr/>
        </p:nvSpPr>
        <p:spPr>
          <a:xfrm>
            <a:off x="843534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9" name="ev_159"/>
          <p:cNvSpPr/>
          <p:nvPr/>
        </p:nvSpPr>
        <p:spPr>
          <a:xfrm>
            <a:off x="697611" y="4389120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_160"/>
          <p:cNvSpPr txBox="1"/>
          <p:nvPr/>
        </p:nvSpPr>
        <p:spPr>
          <a:xfrm>
            <a:off x="32004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補助15万</a:t>
            </a:r>
            <a:endParaRPr lang="en-US" sz="1200" dirty="0"/>
          </a:p>
        </p:txBody>
      </p:sp>
      <p:sp>
        <p:nvSpPr>
          <p:cNvPr id="21" name="ev_161"/>
          <p:cNvSpPr/>
          <p:nvPr/>
        </p:nvSpPr>
        <p:spPr>
          <a:xfrm>
            <a:off x="3703320" y="4389120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_162"/>
          <p:cNvSpPr txBox="1"/>
          <p:nvPr/>
        </p:nvSpPr>
        <p:spPr>
          <a:xfrm>
            <a:off x="3090672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補助10万に縮小</a:t>
            </a:r>
            <a:endParaRPr lang="en-US" sz="1200" dirty="0"/>
          </a:p>
        </p:txBody>
      </p:sp>
      <p:sp>
        <p:nvSpPr>
          <p:cNvPr id="23" name="ev_163"/>
          <p:cNvSpPr/>
          <p:nvPr/>
        </p:nvSpPr>
        <p:spPr>
          <a:xfrm>
            <a:off x="4487418" y="4389120"/>
            <a:ext cx="146304" cy="146304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4" name="text_164"/>
          <p:cNvSpPr txBox="1"/>
          <p:nvPr/>
        </p:nvSpPr>
        <p:spPr>
          <a:xfrm>
            <a:off x="3874770" y="4809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大幅値下げ</a:t>
            </a:r>
            <a:endParaRPr lang="en-US" sz="1200" dirty="0"/>
          </a:p>
        </p:txBody>
      </p:sp>
      <p:sp>
        <p:nvSpPr>
          <p:cNvPr id="25" name="ev_165"/>
          <p:cNvSpPr/>
          <p:nvPr/>
        </p:nvSpPr>
        <p:spPr>
          <a:xfrm>
            <a:off x="6839712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6" name="text_166"/>
          <p:cNvSpPr txBox="1"/>
          <p:nvPr/>
        </p:nvSpPr>
        <p:spPr>
          <a:xfrm>
            <a:off x="6227064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輸入1:2</a:t>
            </a:r>
            <a:endParaRPr lang="en-US" sz="1200" dirty="0"/>
          </a:p>
        </p:txBody>
      </p:sp>
      <p:sp>
        <p:nvSpPr>
          <p:cNvPr id="27" name="ev_167"/>
          <p:cNvSpPr/>
          <p:nvPr/>
        </p:nvSpPr>
        <p:spPr>
          <a:xfrm>
            <a:off x="7885176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8" name="text_168"/>
          <p:cNvSpPr txBox="1"/>
          <p:nvPr/>
        </p:nvSpPr>
        <p:spPr>
          <a:xfrm>
            <a:off x="7272528" y="4809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3段階に合意</a:t>
            </a:r>
            <a:endParaRPr lang="en-US" sz="1200" dirty="0"/>
          </a:p>
        </p:txBody>
      </p:sp>
      <p:sp>
        <p:nvSpPr>
          <p:cNvPr id="29" name="ev_169"/>
          <p:cNvSpPr/>
          <p:nvPr/>
        </p:nvSpPr>
        <p:spPr>
          <a:xfrm>
            <a:off x="8407908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30" name="text_170"/>
          <p:cNvSpPr txBox="1"/>
          <p:nvPr/>
        </p:nvSpPr>
        <p:spPr>
          <a:xfrm>
            <a:off x="779526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輸入1:3</a:t>
            </a:r>
            <a:endParaRPr lang="en-US" sz="1200" dirty="0"/>
          </a:p>
        </p:txBody>
      </p:sp>
      <p:sp>
        <p:nvSpPr>
          <p:cNvPr id="31" name="shape_171"/>
          <p:cNvSpPr/>
          <p:nvPr/>
        </p:nvSpPr>
        <p:spPr>
          <a:xfrm>
            <a:off x="411480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2" name="text_172"/>
          <p:cNvSpPr txBox="1"/>
          <p:nvPr/>
        </p:nvSpPr>
        <p:spPr>
          <a:xfrm>
            <a:off x="548640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補助で急増</a:t>
            </a:r>
            <a:endParaRPr lang="en-US" sz="1600" dirty="0"/>
          </a:p>
        </p:txBody>
      </p:sp>
      <p:sp>
        <p:nvSpPr>
          <p:cNvPr id="33" name="shape_173"/>
          <p:cNvSpPr/>
          <p:nvPr/>
        </p:nvSpPr>
        <p:spPr>
          <a:xfrm>
            <a:off x="3761232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4" name="text_174"/>
          <p:cNvSpPr txBox="1"/>
          <p:nvPr/>
        </p:nvSpPr>
        <p:spPr>
          <a:xfrm>
            <a:off x="3898392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補助縮小・値下げ待ち・与信の引き締め</a:t>
            </a:r>
            <a:endParaRPr lang="en-US" sz="1600" dirty="0"/>
          </a:p>
        </p:txBody>
      </p:sp>
      <p:sp>
        <p:nvSpPr>
          <p:cNvPr id="35" name="shape_175"/>
          <p:cNvSpPr/>
          <p:nvPr/>
        </p:nvSpPr>
        <p:spPr>
          <a:xfrm>
            <a:off x="7110984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6" name="text_176"/>
          <p:cNvSpPr txBox="1"/>
          <p:nvPr/>
        </p:nvSpPr>
        <p:spPr>
          <a:xfrm>
            <a:off x="7248144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2026年1〜6月のBEV（+85%）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生産義務の消化で販売攻勢</a:t>
            </a:r>
            <a:endParaRPr lang="en-US" sz="1600" dirty="0"/>
          </a:p>
        </p:txBody>
      </p:sp>
      <p:sp>
        <p:nvSpPr>
          <p:cNvPr id="37" name="text_17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出典：Autolife（2023〜24年）、JETRO（2026年7月）、BOI。下段の要因は時期の一致からの読み取り（因果は未検証）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モデルチェンジの違い　日系は外内装、中国系は画面と価格</a:t>
            </a:r>
            <a:endParaRPr lang="en-US" sz="2400" dirty="0"/>
          </a:p>
        </p:txBody>
      </p:sp>
      <p:sp>
        <p:nvSpPr>
          <p:cNvPr id="3" name="grp_178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79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日系と中国系で、モデルチェンジの中身はどう違うのか</a:t>
            </a:r>
            <a:endParaRPr lang="en-US" sz="1600" dirty="0"/>
          </a:p>
        </p:txBody>
      </p:sp>
      <p:sp>
        <p:nvSpPr>
          <p:cNvPr id="5" name="shape_180"/>
          <p:cNvSpPr/>
          <p:nvPr/>
        </p:nvSpPr>
        <p:spPr>
          <a:xfrm>
            <a:off x="411480" y="1536192"/>
            <a:ext cx="4796028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6" name="ch_181"/>
          <p:cNvSpPr/>
          <p:nvPr/>
        </p:nvSpPr>
        <p:spPr>
          <a:xfrm>
            <a:off x="429768" y="1554480"/>
            <a:ext cx="4759452" cy="43891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Corolla Cross HEV</a:t>
            </a:r>
            <a:endParaRPr lang="en-US" sz="1700" dirty="0"/>
          </a:p>
        </p:txBody>
      </p:sp>
      <p:sp>
        <p:nvSpPr>
          <p:cNvPr id="7" name="pc_182"/>
          <p:cNvSpPr/>
          <p:nvPr/>
        </p:nvSpPr>
        <p:spPr>
          <a:xfrm>
            <a:off x="594360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8" name="pc_183"/>
          <p:cNvSpPr/>
          <p:nvPr/>
        </p:nvSpPr>
        <p:spPr>
          <a:xfrm>
            <a:off x="2900934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9" name="shape_184"/>
          <p:cNvSpPr/>
          <p:nvPr/>
        </p:nvSpPr>
        <p:spPr>
          <a:xfrm>
            <a:off x="2699766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0" name="shape_185"/>
          <p:cNvSpPr/>
          <p:nvPr/>
        </p:nvSpPr>
        <p:spPr>
          <a:xfrm>
            <a:off x="2791938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0" name="table_1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グリル・灯火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画面・電動パーキング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駆動系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1.8L HEV 122PS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燃費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 4.3L/100km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同じ駆動系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価格（最上級）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社内データ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社内データ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_187"/>
          <p:cNvSpPr/>
          <p:nvPr/>
        </p:nvSpPr>
        <p:spPr>
          <a:xfrm>
            <a:off x="5481828" y="1536192"/>
            <a:ext cx="4796028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3" name="ch_188"/>
          <p:cNvSpPr/>
          <p:nvPr/>
        </p:nvSpPr>
        <p:spPr>
          <a:xfrm>
            <a:off x="5500116" y="1554480"/>
            <a:ext cx="4759452" cy="438912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Atto 3</a:t>
            </a:r>
            <a:endParaRPr lang="en-US" sz="1700" dirty="0"/>
          </a:p>
        </p:txBody>
      </p:sp>
      <p:sp>
        <p:nvSpPr>
          <p:cNvPr id="14" name="pc_189"/>
          <p:cNvSpPr/>
          <p:nvPr/>
        </p:nvSpPr>
        <p:spPr>
          <a:xfrm>
            <a:off x="5664708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MY2023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5" name="pc_190"/>
          <p:cNvSpPr/>
          <p:nvPr/>
        </p:nvSpPr>
        <p:spPr>
          <a:xfrm>
            <a:off x="7971282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MY2024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6" name="shape_191"/>
          <p:cNvSpPr/>
          <p:nvPr/>
        </p:nvSpPr>
        <p:spPr>
          <a:xfrm>
            <a:off x="7770114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7" name="shape_192"/>
          <p:cNvSpPr/>
          <p:nvPr/>
        </p:nvSpPr>
        <p:spPr>
          <a:xfrm>
            <a:off x="7862286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9" name="table_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18988" y="3291840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ピラー色・ロゴ・タイヤ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電池（標準）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49.92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50.25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航続（NEDC）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410／480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価格（長距離）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119.99万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89.99万（特価77万）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1.92万台（2023年）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0.77万台（2024年）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19" name="shape_194"/>
          <p:cNvSpPr/>
          <p:nvPr/>
        </p:nvSpPr>
        <p:spPr>
          <a:xfrm>
            <a:off x="411480" y="6446520"/>
            <a:ext cx="182880" cy="182880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</p:sp>
      <p:sp>
        <p:nvSpPr>
          <p:cNvPr id="20" name="text_195"/>
          <p:cNvSpPr txBox="1"/>
          <p:nvPr/>
        </p:nvSpPr>
        <p:spPr>
          <a:xfrm>
            <a:off x="658368" y="6373368"/>
            <a:ext cx="108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変わった項目</a:t>
            </a:r>
            <a:endParaRPr lang="en-US" sz="1300" dirty="0"/>
          </a:p>
        </p:txBody>
      </p:sp>
      <p:sp>
        <p:nvSpPr>
          <p:cNvPr id="21" name="summary_196"/>
          <p:cNvSpPr/>
          <p:nvPr/>
        </p:nvSpPr>
        <p:spPr>
          <a:xfrm>
            <a:off x="2788920" y="6263640"/>
            <a:ext cx="7488936" cy="713232"/>
          </a:xfrm>
          <a:prstGeom prst="roundRect">
            <a:avLst>
              <a:gd name="adj" fmla="val 1282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駆動系はどちらもほぼ同じ。日系は外内装、中国系は画面と価格を変える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3は改良した2024年に、販売が6割減った</a:t>
            </a:r>
            <a:endParaRPr lang="en-US" sz="1500" dirty="0"/>
          </a:p>
        </p:txBody>
      </p:sp>
      <p:sp>
        <p:nvSpPr>
          <p:cNvPr id="22" name="text_19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出典：Toyota（2020年7月、2024年2月）、BYD Rêver、BYD販売店（2024年4月）、Autolife。価格はバーツ、Atto 3の値下げは2024年7月以降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値下げは中古の価値を下げる。日系は残価を残クレで生かす</a:t>
            </a:r>
            <a:endParaRPr lang="en-US" sz="2400" dirty="0"/>
          </a:p>
        </p:txBody>
      </p:sp>
      <p:sp>
        <p:nvSpPr>
          <p:cNvPr id="3" name="grp_198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99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新車の値下げは、中古価格と月々の支払いにどう効くのか</a:t>
            </a:r>
            <a:endParaRPr lang="en-US" sz="1600" dirty="0"/>
          </a:p>
        </p:txBody>
      </p:sp>
      <p:sp>
        <p:nvSpPr>
          <p:cNvPr id="5" name="rv_200"/>
          <p:cNvSpPr/>
          <p:nvPr/>
        </p:nvSpPr>
        <p:spPr>
          <a:xfrm>
            <a:off x="411480" y="1572768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FDEDEE"/>
          </a:solidFill>
          <a:ln w="15875">
            <a:solidFill>
              <a:srgbClr val="E8604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モデルチェンジ・新車の特価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3：120万→90万バーツ（特価77万）</a:t>
            </a:r>
            <a:endParaRPr lang="en-US" sz="1600" dirty="0"/>
          </a:p>
        </p:txBody>
      </p:sp>
      <p:sp>
        <p:nvSpPr>
          <p:cNvPr id="6" name="shape_201"/>
          <p:cNvSpPr/>
          <p:nvPr/>
        </p:nvSpPr>
        <p:spPr>
          <a:xfrm>
            <a:off x="2382012" y="2487168"/>
            <a:ext cx="402336" cy="256032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7" name="rv_202"/>
          <p:cNvSpPr/>
          <p:nvPr/>
        </p:nvSpPr>
        <p:spPr>
          <a:xfrm>
            <a:off x="411480" y="2761488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FDEDEE"/>
          </a:solidFill>
          <a:ln w="15875">
            <a:solidFill>
              <a:srgbClr val="E8604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旧型・在庫が売れにくくなる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買い手は「次の値下げ」を待つ</a:t>
            </a:r>
            <a:endParaRPr lang="en-US" sz="1600" dirty="0"/>
          </a:p>
        </p:txBody>
      </p:sp>
      <p:sp>
        <p:nvSpPr>
          <p:cNvPr id="8" name="shape_203"/>
          <p:cNvSpPr/>
          <p:nvPr/>
        </p:nvSpPr>
        <p:spPr>
          <a:xfrm>
            <a:off x="2382012" y="3675888"/>
            <a:ext cx="402336" cy="256032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9" name="rv_204"/>
          <p:cNvSpPr/>
          <p:nvPr/>
        </p:nvSpPr>
        <p:spPr>
          <a:xfrm>
            <a:off x="411480" y="3950208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FDEDEE"/>
          </a:solidFill>
          <a:ln w="15875">
            <a:solidFill>
              <a:srgbClr val="E8604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中古の価値が下がる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2023年式Atto 3は発売時の39%（Corolla Cross 63%）</a:t>
            </a:r>
            <a:endParaRPr lang="en-US" sz="1600" dirty="0"/>
          </a:p>
        </p:txBody>
      </p:sp>
      <p:sp>
        <p:nvSpPr>
          <p:cNvPr id="10" name="text_205"/>
          <p:cNvSpPr txBox="1"/>
          <p:nvPr/>
        </p:nvSpPr>
        <p:spPr>
          <a:xfrm>
            <a:off x="411480" y="5138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中古EVの平均価格は1年で2〜3割下落（Atto 3は−30%）</a:t>
            </a:r>
            <a:endParaRPr lang="en-US" sz="1200" dirty="0"/>
          </a:p>
        </p:txBody>
      </p:sp>
      <p:graphicFrame>
        <p:nvGraphicFramePr>
          <p:cNvPr id="11" name="chart_zan7" descr=""/>
          <p:cNvGraphicFramePr/>
          <p:nvPr/>
        </p:nvGraphicFramePr>
        <p:xfrm>
          <a:off x="5074920" y="1536192"/>
          <a:ext cx="5202936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_206"/>
          <p:cNvSpPr txBox="1"/>
          <p:nvPr/>
        </p:nvSpPr>
        <p:spPr>
          <a:xfrm>
            <a:off x="5074920" y="4873752"/>
            <a:ext cx="5202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5年・金利除く。残クレ＝「価格−5年後の残価」だけを払う（iPhoneの返却プログラムと同じ考え方）。残価はCross 65%、Atto 3 45%と仮定</a:t>
            </a:r>
            <a:endParaRPr lang="en-US" sz="1150" dirty="0"/>
          </a:p>
        </p:txBody>
      </p:sp>
      <p:sp>
        <p:nvSpPr>
          <p:cNvPr id="13" name="shape_207"/>
          <p:cNvSpPr/>
          <p:nvPr/>
        </p:nvSpPr>
        <p:spPr>
          <a:xfrm>
            <a:off x="411480" y="5577840"/>
            <a:ext cx="479602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208"/>
          <p:cNvSpPr/>
          <p:nvPr/>
        </p:nvSpPr>
        <p:spPr>
          <a:xfrm>
            <a:off x="2100834" y="54406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5" name="text_209"/>
          <p:cNvSpPr txBox="1"/>
          <p:nvPr/>
        </p:nvSpPr>
        <p:spPr>
          <a:xfrm>
            <a:off x="640080" y="5779008"/>
            <a:ext cx="4338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値下げで新車を売るほど、中古の価値と残価が下がる</a:t>
            </a:r>
            <a:endParaRPr lang="en-US" sz="1600" dirty="0"/>
          </a:p>
        </p:txBody>
      </p:sp>
      <p:sp>
        <p:nvSpPr>
          <p:cNvPr id="16" name="summary_210"/>
          <p:cNvSpPr/>
          <p:nvPr/>
        </p:nvSpPr>
        <p:spPr>
          <a:xfrm>
            <a:off x="5481828" y="5468112"/>
            <a:ext cx="4796028" cy="1252728"/>
          </a:xfrm>
          <a:prstGeom prst="roundRect">
            <a:avLst>
              <a:gd name="adj" fmla="val 7299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残クレなら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Crossの月々は5,769バーツ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3の通常価格（7,332）より安い</a:t>
            </a:r>
            <a:endParaRPr lang="en-US" sz="1700" dirty="0"/>
          </a:p>
        </p:txBody>
      </p:sp>
      <p:sp>
        <p:nvSpPr>
          <p:cNvPr id="17" name="text_21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出典：各社の価格表（2026年10月）、One2car（2026年2月・10月）、BYD Rêver。残価は説明用の仮定。金利・手数料を除く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競合するのは乗用車のB・Cと、SUVのC</a:t>
            </a:r>
            <a:endParaRPr lang="en-US" sz="2400" dirty="0"/>
          </a:p>
        </p:txBody>
      </p:sp>
      <p:sp>
        <p:nvSpPr>
          <p:cNvPr id="3" name="grp_212"/>
          <p:cNvSpPr/>
          <p:nvPr/>
        </p:nvSpPr>
        <p:spPr>
          <a:xfrm>
            <a:off x="411480" y="1024128"/>
            <a:ext cx="25359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中国系｜セグメント別</a:t>
            </a:r>
            <a:endParaRPr lang="en-US" sz="1200" dirty="0"/>
          </a:p>
        </p:txBody>
      </p:sp>
      <p:sp>
        <p:nvSpPr>
          <p:cNvPr id="4" name="text_213"/>
          <p:cNvSpPr txBox="1"/>
          <p:nvPr/>
        </p:nvSpPr>
        <p:spPr>
          <a:xfrm>
            <a:off x="3130296" y="987552"/>
            <a:ext cx="710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日系と中国系は、どの車格で競っているのか</a:t>
            </a:r>
            <a:endParaRPr lang="en-US" sz="1600" dirty="0"/>
          </a:p>
        </p:txBody>
      </p:sp>
      <p:graphicFrame>
        <p:nvGraphicFramePr>
          <p:cNvPr id="12" name="table_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36192"/>
          <a:ext cx="986637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99616"/>
                <a:gridCol w="1499616"/>
                <a:gridCol w="1499616"/>
                <a:gridCol w="1499616"/>
                <a:gridCol w="1499616"/>
                <a:gridCol w="1499616"/>
              </a:tblGrid>
              <a:tr h="34747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動力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乗用車（セダン・ハッチバック）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Dolphin、Atto 1、Good Cat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Jaecoo 5 EV、MG ZS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3、Deepal S07、Omoda C5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bZ4X（少量）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7、XPeng G6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6、H6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Outlander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MG3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 HEV、City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 HEV、Civic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Camry、Accord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Jolion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Cross、HR-V、Kicks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Haval H6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Ativ、City、Almera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Altis、Civic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 ZS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CX-5、CX-30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Fortuner、Pajero Sport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_215"/>
          <p:cNvSpPr/>
          <p:nvPr/>
        </p:nvSpPr>
        <p:spPr>
          <a:xfrm>
            <a:off x="411480" y="1536192"/>
            <a:ext cx="9866376" cy="3867912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7" name="shape_216"/>
          <p:cNvSpPr/>
          <p:nvPr/>
        </p:nvSpPr>
        <p:spPr>
          <a:xfrm>
            <a:off x="1307592" y="1911096"/>
            <a:ext cx="2944368" cy="3465576"/>
          </a:xfrm>
          <a:prstGeom prst="rect">
            <a:avLst/>
          </a:prstGeom>
          <a:ln w="34925">
            <a:solidFill>
              <a:srgbClr val="E8384F"/>
            </a:solidFill>
            <a:prstDash val="solid"/>
          </a:ln>
        </p:spPr>
      </p:sp>
      <p:sp>
        <p:nvSpPr>
          <p:cNvPr id="8" name="shape_217"/>
          <p:cNvSpPr/>
          <p:nvPr/>
        </p:nvSpPr>
        <p:spPr>
          <a:xfrm>
            <a:off x="7306056" y="1911096"/>
            <a:ext cx="1444752" cy="3465576"/>
          </a:xfrm>
          <a:prstGeom prst="rect">
            <a:avLst/>
          </a:prstGeom>
          <a:ln w="34925">
            <a:solidFill>
              <a:srgbClr val="E8384F"/>
            </a:solidFill>
            <a:prstDash val="solid"/>
          </a:ln>
        </p:spPr>
      </p:sp>
      <p:sp>
        <p:nvSpPr>
          <p:cNvPr id="9" name="shape_218"/>
          <p:cNvSpPr/>
          <p:nvPr/>
        </p:nvSpPr>
        <p:spPr>
          <a:xfrm>
            <a:off x="5806440" y="1911096"/>
            <a:ext cx="1444752" cy="3465576"/>
          </a:xfrm>
          <a:prstGeom prst="rect">
            <a:avLst/>
          </a:prstGeom>
          <a:ln w="19050">
            <a:solidFill>
              <a:srgbClr val="E8384F"/>
            </a:solidFill>
            <a:prstDash val="dash"/>
          </a:ln>
        </p:spPr>
      </p:sp>
      <p:sp>
        <p:nvSpPr>
          <p:cNvPr id="10" name="shape_219"/>
          <p:cNvSpPr/>
          <p:nvPr/>
        </p:nvSpPr>
        <p:spPr>
          <a:xfrm>
            <a:off x="411480" y="5568696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_220"/>
          <p:cNvSpPr txBox="1"/>
          <p:nvPr/>
        </p:nvSpPr>
        <p:spPr>
          <a:xfrm>
            <a:off x="658368" y="5495544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12" name="shape_221"/>
          <p:cNvSpPr/>
          <p:nvPr/>
        </p:nvSpPr>
        <p:spPr>
          <a:xfrm>
            <a:off x="1473708" y="5568696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_222"/>
          <p:cNvSpPr txBox="1"/>
          <p:nvPr/>
        </p:nvSpPr>
        <p:spPr>
          <a:xfrm>
            <a:off x="1720596" y="5495544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14" name="text_223"/>
          <p:cNvSpPr txBox="1"/>
          <p:nvPr/>
        </p:nvSpPr>
        <p:spPr>
          <a:xfrm>
            <a:off x="3017520" y="5495544"/>
            <a:ext cx="7260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赤枠＝主な競合、点線＝広がりつつある競合（SUV B）。代表車種（目安）</a:t>
            </a:r>
            <a:endParaRPr lang="en-US" sz="1250" dirty="0"/>
          </a:p>
        </p:txBody>
      </p:sp>
      <p:sp>
        <p:nvSpPr>
          <p:cNvPr id="15" name="summary_224"/>
          <p:cNvSpPr/>
          <p:nvPr/>
        </p:nvSpPr>
        <p:spPr>
          <a:xfrm>
            <a:off x="685800" y="5989320"/>
            <a:ext cx="9317736" cy="868680"/>
          </a:xfrm>
          <a:prstGeom prst="roundRect">
            <a:avLst>
              <a:gd name="adj" fmla="val 10526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同じ車格で、中国系はBEV、日系はHEV・ICEを売り、同じ客を取り合う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この3つのセグメントで、車種の数を比べる</a:t>
            </a:r>
            <a:endParaRPr lang="en-US" sz="1700" dirty="0"/>
          </a:p>
        </p:txBody>
      </p:sp>
      <p:sp>
        <p:nvSpPr>
          <p:cNvPr id="16" name="text_22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出典：各社のタイ公式サイト（2026年10月）。各セルの台数・シェアは社内PC（MarkLines）で追記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中国系は毎年16〜19車種を投入し、多くの車種で席を分け合う</a:t>
            </a:r>
            <a:endParaRPr lang="en-US" sz="2400" dirty="0"/>
          </a:p>
        </p:txBody>
      </p:sp>
      <p:sp>
        <p:nvSpPr>
          <p:cNvPr id="3" name="grp_226"/>
          <p:cNvSpPr/>
          <p:nvPr/>
        </p:nvSpPr>
        <p:spPr>
          <a:xfrm>
            <a:off x="411480" y="1024128"/>
            <a:ext cx="25359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中国系｜セグメント別</a:t>
            </a:r>
            <a:endParaRPr lang="en-US" sz="1200" dirty="0"/>
          </a:p>
        </p:txBody>
      </p:sp>
      <p:sp>
        <p:nvSpPr>
          <p:cNvPr id="4" name="text_227"/>
          <p:cNvSpPr txBox="1"/>
          <p:nvPr/>
        </p:nvSpPr>
        <p:spPr>
          <a:xfrm>
            <a:off x="3130296" y="987552"/>
            <a:ext cx="710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競合するセグメントで、車種の数はどう違うのか</a:t>
            </a:r>
            <a:endParaRPr lang="en-US" sz="1600" dirty="0"/>
          </a:p>
        </p:txBody>
      </p:sp>
      <p:graphicFrame>
        <p:nvGraphicFramePr>
          <p:cNvPr id="5" name="chart_launch7" descr=""/>
          <p:cNvGraphicFramePr/>
          <p:nvPr/>
        </p:nvGraphicFramePr>
        <p:xfrm>
          <a:off x="411480" y="1536192"/>
          <a:ext cx="4572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_228"/>
          <p:cNvSpPr txBox="1"/>
          <p:nvPr/>
        </p:nvSpPr>
        <p:spPr>
          <a:xfrm>
            <a:off x="41148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中国系の新車種の91%は新しい車名。2026年は1〜10月</a:t>
            </a:r>
            <a:endParaRPr lang="en-US" sz="1150" dirty="0"/>
          </a:p>
        </p:txBody>
      </p:sp>
      <p:sp>
        <p:nvSpPr>
          <p:cNvPr id="7" name="pc_229"/>
          <p:cNvSpPr/>
          <p:nvPr/>
        </p:nvSpPr>
        <p:spPr>
          <a:xfrm>
            <a:off x="5257800" y="1572768"/>
            <a:ext cx="5020056" cy="36118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セグメント別の車種数と1車種あたり販売（社内データ）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乗用車B・C、SUV C（参考にSUV B）ごとに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国籍別の「販売のある車種数」と「1車種あたりの年間販売台数」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2023〜2026年の推移</a:t>
            </a:r>
            <a:endParaRPr lang="en-US" sz="1200" dirty="0"/>
          </a:p>
        </p:txBody>
      </p:sp>
      <p:sp>
        <p:nvSpPr>
          <p:cNvPr id="8" name="shape_230"/>
          <p:cNvSpPr/>
          <p:nvPr/>
        </p:nvSpPr>
        <p:spPr>
          <a:xfrm>
            <a:off x="411480" y="5577840"/>
            <a:ext cx="479602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9" name="fslabel_231"/>
          <p:cNvSpPr/>
          <p:nvPr/>
        </p:nvSpPr>
        <p:spPr>
          <a:xfrm>
            <a:off x="2100834" y="54406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0" name="text_232"/>
          <p:cNvSpPr txBox="1"/>
          <p:nvPr/>
        </p:nvSpPr>
        <p:spPr>
          <a:xfrm>
            <a:off x="640080" y="5779008"/>
            <a:ext cx="4338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2024年以降、中国系は日系の3〜6倍の新車種を出している</a:t>
            </a:r>
            <a:endParaRPr lang="en-US" sz="1600" dirty="0"/>
          </a:p>
        </p:txBody>
      </p:sp>
      <p:sp>
        <p:nvSpPr>
          <p:cNvPr id="11" name="summary_233"/>
          <p:cNvSpPr/>
          <p:nvPr/>
        </p:nvSpPr>
        <p:spPr>
          <a:xfrm>
            <a:off x="5481828" y="5468112"/>
            <a:ext cx="4796028" cy="1252728"/>
          </a:xfrm>
          <a:prstGeom prst="roundRect">
            <a:avLst>
              <a:gd name="adj" fmla="val 7299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同じ席を多くの車種で分け合うと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1車種あたりの台数は小さくなる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次の車種を急ぐ理由になる（p.13）</a:t>
            </a:r>
            <a:endParaRPr lang="en-US" sz="1700" dirty="0"/>
          </a:p>
        </p:txBody>
      </p:sp>
      <p:sp>
        <p:nvSpPr>
          <p:cNvPr id="12" name="text_23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出典：発売時期一覧（2026年10月、提供ファイル）、Autolife。セグメント別の車種数は社内PC（MarkLines）で作成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モデルチェンジが早まるのは、中国系どうしで席を奪い合うから</a:t>
            </a:r>
            <a:endParaRPr lang="en-US" sz="2400" dirty="0"/>
          </a:p>
        </p:txBody>
      </p:sp>
      <p:sp>
        <p:nvSpPr>
          <p:cNvPr id="3" name="grp_235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236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なぜ中国系のモデルチェンジは早いのか</a:t>
            </a:r>
            <a:endParaRPr lang="en-US" sz="1600" dirty="0"/>
          </a:p>
        </p:txBody>
      </p:sp>
      <p:sp>
        <p:nvSpPr>
          <p:cNvPr id="5" name="wl_237"/>
          <p:cNvSpPr/>
          <p:nvPr/>
        </p:nvSpPr>
        <p:spPr>
          <a:xfrm>
            <a:off x="411480" y="1783080"/>
            <a:ext cx="868680" cy="1600200"/>
          </a:xfrm>
          <a:prstGeom prst="roundRect">
            <a:avLst>
              <a:gd name="adj" fmla="val 6316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700" dirty="0"/>
          </a:p>
        </p:txBody>
      </p:sp>
      <p:sp>
        <p:nvSpPr>
          <p:cNvPr id="6" name="wb_238"/>
          <p:cNvSpPr/>
          <p:nvPr/>
        </p:nvSpPr>
        <p:spPr>
          <a:xfrm>
            <a:off x="1417320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同じセグメントに多くの車種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新車種 年16〜19（p.12）</a:t>
            </a:r>
            <a:endParaRPr lang="en-US" sz="1500" dirty="0"/>
          </a:p>
        </p:txBody>
      </p:sp>
      <p:sp>
        <p:nvSpPr>
          <p:cNvPr id="7" name="shape_239"/>
          <p:cNvSpPr/>
          <p:nvPr/>
        </p:nvSpPr>
        <p:spPr>
          <a:xfrm>
            <a:off x="3435858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240"/>
          <p:cNvSpPr/>
          <p:nvPr/>
        </p:nvSpPr>
        <p:spPr>
          <a:xfrm>
            <a:off x="3528030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wb_241"/>
          <p:cNvSpPr/>
          <p:nvPr/>
        </p:nvSpPr>
        <p:spPr>
          <a:xfrm>
            <a:off x="3719322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1車種の販売が小さく、すぐ落ちる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上位10車種の6割が翌年に半減（p.14）</a:t>
            </a:r>
            <a:endParaRPr lang="en-US" sz="1500" dirty="0"/>
          </a:p>
        </p:txBody>
      </p:sp>
      <p:sp>
        <p:nvSpPr>
          <p:cNvPr id="10" name="shape_242"/>
          <p:cNvSpPr/>
          <p:nvPr/>
        </p:nvSpPr>
        <p:spPr>
          <a:xfrm>
            <a:off x="5737860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1" name="shape_243"/>
          <p:cNvSpPr/>
          <p:nvPr/>
        </p:nvSpPr>
        <p:spPr>
          <a:xfrm>
            <a:off x="5830032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wb_244"/>
          <p:cNvSpPr/>
          <p:nvPr/>
        </p:nvSpPr>
        <p:spPr>
          <a:xfrm>
            <a:off x="6021324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次の車種を急ぐ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Chery系は新車名を連投して2位に（p.15）</a:t>
            </a:r>
            <a:endParaRPr lang="en-US" sz="1500" dirty="0"/>
          </a:p>
        </p:txBody>
      </p:sp>
      <p:sp>
        <p:nvSpPr>
          <p:cNvPr id="13" name="shape_245"/>
          <p:cNvSpPr/>
          <p:nvPr/>
        </p:nvSpPr>
        <p:spPr>
          <a:xfrm>
            <a:off x="8039862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4" name="shape_246"/>
          <p:cNvSpPr/>
          <p:nvPr/>
        </p:nvSpPr>
        <p:spPr>
          <a:xfrm>
            <a:off x="8132034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wb_247"/>
          <p:cNvSpPr/>
          <p:nvPr/>
        </p:nvSpPr>
        <p:spPr>
          <a:xfrm>
            <a:off x="8323326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DEDEE"/>
          </a:solidFill>
          <a:ln w="25400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モデルチェンジが早まる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部分改良の間隔 2.0年</a:t>
            </a:r>
            <a:endParaRPr lang="en-US" sz="1500" dirty="0"/>
          </a:p>
        </p:txBody>
      </p:sp>
      <p:sp>
        <p:nvSpPr>
          <p:cNvPr id="16" name="wl_248"/>
          <p:cNvSpPr/>
          <p:nvPr/>
        </p:nvSpPr>
        <p:spPr>
          <a:xfrm>
            <a:off x="411480" y="3749040"/>
            <a:ext cx="868680" cy="1600200"/>
          </a:xfrm>
          <a:prstGeom prst="roundRect">
            <a:avLst>
              <a:gd name="adj" fmla="val 6316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700" dirty="0"/>
          </a:p>
        </p:txBody>
      </p:sp>
      <p:sp>
        <p:nvSpPr>
          <p:cNvPr id="17" name="wb_249"/>
          <p:cNvSpPr/>
          <p:nvPr/>
        </p:nvSpPr>
        <p:spPr>
          <a:xfrm>
            <a:off x="1417320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少ない車種で大きく売る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新車種 年3〜5（p.12）</a:t>
            </a:r>
            <a:endParaRPr lang="en-US" sz="1500" dirty="0"/>
          </a:p>
        </p:txBody>
      </p:sp>
      <p:sp>
        <p:nvSpPr>
          <p:cNvPr id="18" name="shape_250"/>
          <p:cNvSpPr/>
          <p:nvPr/>
        </p:nvSpPr>
        <p:spPr>
          <a:xfrm>
            <a:off x="3435858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9" name="shape_251"/>
          <p:cNvSpPr/>
          <p:nvPr/>
        </p:nvSpPr>
        <p:spPr>
          <a:xfrm>
            <a:off x="3528030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0" name="wb_252"/>
          <p:cNvSpPr/>
          <p:nvPr/>
        </p:nvSpPr>
        <p:spPr>
          <a:xfrm>
            <a:off x="3719322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数年たっても売れ続ける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改良しても販売が変わらない（p.14）</a:t>
            </a:r>
            <a:endParaRPr lang="en-US" sz="1500" dirty="0"/>
          </a:p>
        </p:txBody>
      </p:sp>
      <p:sp>
        <p:nvSpPr>
          <p:cNvPr id="21" name="shape_253"/>
          <p:cNvSpPr/>
          <p:nvPr/>
        </p:nvSpPr>
        <p:spPr>
          <a:xfrm>
            <a:off x="5737860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2" name="shape_254"/>
          <p:cNvSpPr/>
          <p:nvPr/>
        </p:nvSpPr>
        <p:spPr>
          <a:xfrm>
            <a:off x="5830032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3" name="wb_255"/>
          <p:cNvSpPr/>
          <p:nvPr/>
        </p:nvSpPr>
        <p:spPr>
          <a:xfrm>
            <a:off x="6021324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長く売って開発費を回収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残価が高く保たれる（p.10）</a:t>
            </a:r>
            <a:endParaRPr lang="en-US" sz="1500" dirty="0"/>
          </a:p>
        </p:txBody>
      </p:sp>
      <p:sp>
        <p:nvSpPr>
          <p:cNvPr id="24" name="shape_256"/>
          <p:cNvSpPr/>
          <p:nvPr/>
        </p:nvSpPr>
        <p:spPr>
          <a:xfrm>
            <a:off x="8039862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5" name="shape_257"/>
          <p:cNvSpPr/>
          <p:nvPr/>
        </p:nvSpPr>
        <p:spPr>
          <a:xfrm>
            <a:off x="8132034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6" name="wb_258"/>
          <p:cNvSpPr/>
          <p:nvPr/>
        </p:nvSpPr>
        <p:spPr>
          <a:xfrm>
            <a:off x="8323326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EEF3FB"/>
          </a:solidFill>
          <a:ln w="25400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モデルチェンジは遅くてよい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部分改良の間隔 3.3年</a:t>
            </a:r>
            <a:endParaRPr lang="en-US" sz="1500" dirty="0"/>
          </a:p>
        </p:txBody>
      </p:sp>
      <p:sp>
        <p:nvSpPr>
          <p:cNvPr id="27" name="summary_259"/>
          <p:cNvSpPr/>
          <p:nvPr/>
        </p:nvSpPr>
        <p:spPr>
          <a:xfrm>
            <a:off x="685800" y="5669280"/>
            <a:ext cx="9317736" cy="1143000"/>
          </a:xfrm>
          <a:prstGeom prst="roundRect">
            <a:avLst>
              <a:gd name="adj" fmla="val 80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速さは、中国系どうしで生き残るための条件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日系との勝敗は、動力の品ぞろえと残価で決まる</a:t>
            </a:r>
            <a:endParaRPr lang="en-US" sz="1900" dirty="0"/>
          </a:p>
        </p:txBody>
      </p:sp>
      <p:sp>
        <p:nvSpPr>
          <p:cNvPr id="28" name="text_26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出典：本資料のp.10〜15。部分改良の間隔は各社のタイ公式資料から集計（価格だけの変更を除く）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中国系の売れ筋は1年で入れ替わり、日系は数年売れる</a:t>
            </a:r>
            <a:endParaRPr lang="en-US" sz="2400" dirty="0"/>
          </a:p>
        </p:txBody>
      </p:sp>
      <p:sp>
        <p:nvSpPr>
          <p:cNvPr id="3" name="grp_261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262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中国系と日系の車は、どれくらい長く売れるのか</a:t>
            </a:r>
            <a:endParaRPr lang="en-US" sz="1600" dirty="0"/>
          </a:p>
        </p:txBody>
      </p:sp>
      <p:graphicFrame>
        <p:nvGraphicFramePr>
          <p:cNvPr id="5" name="chart_life" descr=""/>
          <p:cNvGraphicFramePr/>
          <p:nvPr/>
        </p:nvGraphicFramePr>
        <p:xfrm>
          <a:off x="411480" y="1536192"/>
          <a:ext cx="5257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_263"/>
          <p:cNvSpPr/>
          <p:nvPr/>
        </p:nvSpPr>
        <p:spPr>
          <a:xfrm>
            <a:off x="5852160" y="1572768"/>
            <a:ext cx="4425696" cy="1783080"/>
          </a:xfrm>
          <a:prstGeom prst="roundRect">
            <a:avLst>
              <a:gd name="adj" fmla="val 5128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7" name="tab_264"/>
          <p:cNvSpPr/>
          <p:nvPr/>
        </p:nvSpPr>
        <p:spPr>
          <a:xfrm>
            <a:off x="5961888" y="1664208"/>
            <a:ext cx="2202688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中国系BEV（公開データ）</a:t>
            </a:r>
            <a:endParaRPr lang="en-US" sz="1300" dirty="0"/>
          </a:p>
        </p:txBody>
      </p:sp>
      <p:sp>
        <p:nvSpPr>
          <p:cNvPr id="8" name="text_265"/>
          <p:cNvSpPr txBox="1"/>
          <p:nvPr/>
        </p:nvSpPr>
        <p:spPr>
          <a:xfrm>
            <a:off x="6080760" y="2057400"/>
            <a:ext cx="210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91%→68%</a:t>
            </a:r>
            <a:endParaRPr lang="en-US" sz="2400" dirty="0"/>
          </a:p>
        </p:txBody>
      </p:sp>
      <p:sp>
        <p:nvSpPr>
          <p:cNvPr id="9" name="text_266"/>
          <p:cNvSpPr txBox="1"/>
          <p:nvPr/>
        </p:nvSpPr>
        <p:spPr>
          <a:xfrm>
            <a:off x="6080760" y="2453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上位10車種のシェア（翌年）</a:t>
            </a:r>
            <a:endParaRPr lang="en-US" sz="1150" dirty="0"/>
          </a:p>
        </p:txBody>
      </p:sp>
      <p:sp>
        <p:nvSpPr>
          <p:cNvPr id="10" name="text_267"/>
          <p:cNvSpPr txBox="1"/>
          <p:nvPr/>
        </p:nvSpPr>
        <p:spPr>
          <a:xfrm>
            <a:off x="8229600" y="2057400"/>
            <a:ext cx="18653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6／10</a:t>
            </a:r>
            <a:endParaRPr lang="en-US" sz="2400" dirty="0"/>
          </a:p>
        </p:txBody>
      </p:sp>
      <p:sp>
        <p:nvSpPr>
          <p:cNvPr id="11" name="text_268"/>
          <p:cNvSpPr txBox="1"/>
          <p:nvPr/>
        </p:nvSpPr>
        <p:spPr>
          <a:xfrm>
            <a:off x="8229600" y="2453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翌年に半減した車種</a:t>
            </a:r>
            <a:endParaRPr lang="en-US" sz="1150" dirty="0"/>
          </a:p>
        </p:txBody>
      </p:sp>
      <p:sp>
        <p:nvSpPr>
          <p:cNvPr id="12" name="pc_269"/>
          <p:cNvSpPr/>
          <p:nvPr/>
        </p:nvSpPr>
        <p:spPr>
          <a:xfrm>
            <a:off x="5852160" y="3520440"/>
            <a:ext cx="4425696" cy="1856232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日系の主力車種の販売推移（社内データ）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改良の前後、発売からの経過年数ごとの販売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例：Corolla Cross、HR-V、Yaris Ativ</a:t>
            </a:r>
            <a:endParaRPr lang="en-US" sz="1000" dirty="0"/>
          </a:p>
        </p:txBody>
      </p:sp>
      <p:sp>
        <p:nvSpPr>
          <p:cNvPr id="13" name="shape_270"/>
          <p:cNvSpPr/>
          <p:nvPr/>
        </p:nvSpPr>
        <p:spPr>
          <a:xfrm>
            <a:off x="411480" y="553212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271"/>
          <p:cNvSpPr/>
          <p:nvPr/>
        </p:nvSpPr>
        <p:spPr>
          <a:xfrm>
            <a:off x="2100834" y="539496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5" name="text_272"/>
          <p:cNvSpPr txBox="1"/>
          <p:nvPr/>
        </p:nvSpPr>
        <p:spPr>
          <a:xfrm>
            <a:off x="640080" y="573328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中国系は6割が翌年に半減。日系は改良しても販売が変わらず、数年売れる</a:t>
            </a:r>
            <a:endParaRPr lang="en-US" sz="1550" dirty="0"/>
          </a:p>
        </p:txBody>
      </p:sp>
      <p:sp>
        <p:nvSpPr>
          <p:cNvPr id="16" name="summary_273"/>
          <p:cNvSpPr/>
          <p:nvPr/>
        </p:nvSpPr>
        <p:spPr>
          <a:xfrm>
            <a:off x="5481828" y="5422392"/>
            <a:ext cx="4796028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次の車種を出し続けないと席を失う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日系は長く売るほうが合理的</a:t>
            </a:r>
            <a:endParaRPr lang="en-US" sz="1700" dirty="0"/>
          </a:p>
        </p:txBody>
      </p:sp>
      <p:sp>
        <p:nvSpPr>
          <p:cNvPr id="17" name="text_27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出典：Autolife（タイBEV登録、車種別、2023年・2024年）、MarkLines（社内）。BEV全体は7.6万台→7.0万台（−8%）。Teslaは米国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中国系の上位は2年で入れ替わり、次の車種を出せる企業が残る</a:t>
            </a:r>
            <a:endParaRPr lang="en-US" sz="2400" dirty="0"/>
          </a:p>
        </p:txBody>
      </p:sp>
      <p:sp>
        <p:nvSpPr>
          <p:cNvPr id="3" name="grp_275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276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中国系どうしでは、どの企業が残っているのか</a:t>
            </a:r>
            <a:endParaRPr lang="en-US" sz="1600" dirty="0"/>
          </a:p>
        </p:txBody>
      </p:sp>
      <p:graphicFrame>
        <p:nvGraphicFramePr>
          <p:cNvPr id="5" name="chart_churn2" descr=""/>
          <p:cNvGraphicFramePr/>
          <p:nvPr/>
        </p:nvGraphicFramePr>
        <p:xfrm>
          <a:off x="411480" y="1536192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pc_277"/>
          <p:cNvSpPr/>
          <p:nvPr/>
        </p:nvSpPr>
        <p:spPr>
          <a:xfrm>
            <a:off x="5760720" y="1600200"/>
            <a:ext cx="4517136" cy="20116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上位企業の車種別販売の推移（社内データ）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BYD・Chery系・MG・Aion／Toyota・Honda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1車種依存か、複数車種か</a:t>
            </a:r>
            <a:endParaRPr lang="en-US" sz="1000" dirty="0"/>
          </a:p>
        </p:txBody>
      </p:sp>
      <p:sp>
        <p:nvSpPr>
          <p:cNvPr id="7" name="cc_278"/>
          <p:cNvSpPr/>
          <p:nvPr/>
        </p:nvSpPr>
        <p:spPr>
          <a:xfrm>
            <a:off x="5760720" y="3767328"/>
            <a:ext cx="2189988" cy="1554480"/>
          </a:xfrm>
          <a:prstGeom prst="roundRect">
            <a:avLst>
              <a:gd name="adj" fmla="val 4706"/>
            </a:avLst>
          </a:prstGeom>
          <a:solidFill>
            <a:srgbClr val="FDEDEE"/>
          </a:solidFill>
          <a:ln w="15875">
            <a:solidFill>
              <a:srgbClr val="E8604C"/>
            </a:solidFill>
          </a:ln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Chery系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Jaecoo 5 EVが販売の約5割。新車名を連投して2位に</a:t>
            </a:r>
            <a:endParaRPr lang="en-US" sz="1500" dirty="0"/>
          </a:p>
        </p:txBody>
      </p:sp>
      <p:sp>
        <p:nvSpPr>
          <p:cNvPr id="8" name="cc_279"/>
          <p:cNvSpPr/>
          <p:nvPr/>
        </p:nvSpPr>
        <p:spPr>
          <a:xfrm>
            <a:off x="8087868" y="3767328"/>
            <a:ext cx="2189988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 Vだけに頼り、次の車種が出ず撤退へ</a:t>
            </a:r>
            <a:endParaRPr lang="en-US" sz="1500" dirty="0"/>
          </a:p>
        </p:txBody>
      </p:sp>
      <p:sp>
        <p:nvSpPr>
          <p:cNvPr id="9" name="shape_280"/>
          <p:cNvSpPr/>
          <p:nvPr/>
        </p:nvSpPr>
        <p:spPr>
          <a:xfrm>
            <a:off x="411480" y="553212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0" name="fslabel_281"/>
          <p:cNvSpPr/>
          <p:nvPr/>
        </p:nvSpPr>
        <p:spPr>
          <a:xfrm>
            <a:off x="2100834" y="539496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1" name="text_282"/>
          <p:cNvSpPr txBox="1"/>
          <p:nvPr/>
        </p:nvSpPr>
        <p:spPr>
          <a:xfrm>
            <a:off x="640080" y="573328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BYDは半減、Netaは撤退へ。2024年に1%未満だったChery系・Geely系が上位に</a:t>
            </a:r>
            <a:endParaRPr lang="en-US" sz="1550" dirty="0"/>
          </a:p>
        </p:txBody>
      </p:sp>
      <p:sp>
        <p:nvSpPr>
          <p:cNvPr id="12" name="summary_283"/>
          <p:cNvSpPr/>
          <p:nvPr/>
        </p:nvSpPr>
        <p:spPr>
          <a:xfrm>
            <a:off x="5481828" y="5422392"/>
            <a:ext cx="4796028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中国系は一括りにせず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残る企業を見極めて付き合う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競合・協業の相手を企業ごとに決める</a:t>
            </a:r>
            <a:endParaRPr lang="en-US" sz="1700" dirty="0"/>
          </a:p>
        </p:txBody>
      </p:sp>
      <p:sp>
        <p:nvSpPr>
          <p:cNvPr id="13" name="text_28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出典：Autolife（2024年）、JETRO（2026年7月）。BYDはDenzaを含む。Geely系はVolvoを除く。2024年のChery系・Geely系は上位10社外（1%未満）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生産能力は国内需要の約1.8倍。2027〜28年に淘汰が進む</a:t>
            </a:r>
            <a:endParaRPr lang="en-US" sz="2400" dirty="0"/>
          </a:p>
        </p:txBody>
      </p:sp>
      <p:sp>
        <p:nvSpPr>
          <p:cNvPr id="3" name="grp_285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7A4FB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これから</a:t>
            </a:r>
            <a:endParaRPr lang="en-US" sz="1200" dirty="0"/>
          </a:p>
        </p:txBody>
      </p:sp>
      <p:sp>
        <p:nvSpPr>
          <p:cNvPr id="4" name="text_286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これから、中国系に何が起きるか</a:t>
            </a:r>
            <a:endParaRPr lang="en-US" sz="1600" dirty="0"/>
          </a:p>
        </p:txBody>
      </p:sp>
      <p:sp>
        <p:nvSpPr>
          <p:cNvPr id="5" name="text_287"/>
          <p:cNvSpPr txBox="1"/>
          <p:nvPr/>
        </p:nvSpPr>
        <p:spPr>
          <a:xfrm>
            <a:off x="41148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BEVの生産能力と国内需要（年）</a:t>
            </a:r>
            <a:endParaRPr lang="en-US" sz="1300" dirty="0"/>
          </a:p>
        </p:txBody>
      </p:sp>
      <p:sp>
        <p:nvSpPr>
          <p:cNvPr id="6" name="shape_288"/>
          <p:cNvSpPr/>
          <p:nvPr/>
        </p:nvSpPr>
        <p:spPr>
          <a:xfrm>
            <a:off x="822960" y="2240280"/>
            <a:ext cx="1234440" cy="23317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" name="text_289"/>
          <p:cNvSpPr txBox="1"/>
          <p:nvPr/>
        </p:nvSpPr>
        <p:spPr>
          <a:xfrm>
            <a:off x="548640" y="185623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38.6万台</a:t>
            </a:r>
            <a:endParaRPr lang="en-US" sz="1600" dirty="0"/>
          </a:p>
        </p:txBody>
      </p:sp>
      <p:sp>
        <p:nvSpPr>
          <p:cNvPr id="8" name="text_290"/>
          <p:cNvSpPr txBox="1"/>
          <p:nvPr/>
        </p:nvSpPr>
        <p:spPr>
          <a:xfrm>
            <a:off x="502920" y="46451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承認された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BEV生産能力</a:t>
            </a:r>
            <a:endParaRPr lang="en-US" sz="1150" dirty="0"/>
          </a:p>
        </p:txBody>
      </p:sp>
      <p:sp>
        <p:nvSpPr>
          <p:cNvPr id="9" name="shape_291"/>
          <p:cNvSpPr/>
          <p:nvPr/>
        </p:nvSpPr>
        <p:spPr>
          <a:xfrm>
            <a:off x="2743200" y="3297407"/>
            <a:ext cx="1234440" cy="1274593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0" name="text_292"/>
          <p:cNvSpPr txBox="1"/>
          <p:nvPr/>
        </p:nvSpPr>
        <p:spPr>
          <a:xfrm>
            <a:off x="2468880" y="2913359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約21万台</a:t>
            </a:r>
            <a:endParaRPr lang="en-US" sz="1600" dirty="0"/>
          </a:p>
        </p:txBody>
      </p:sp>
      <p:sp>
        <p:nvSpPr>
          <p:cNvPr id="11" name="text_293"/>
          <p:cNvSpPr txBox="1"/>
          <p:nvPr/>
        </p:nvSpPr>
        <p:spPr>
          <a:xfrm>
            <a:off x="2423160" y="46451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国内BEV需要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（2026年の年換算）</a:t>
            </a:r>
            <a:endParaRPr lang="en-US" sz="1150" dirty="0"/>
          </a:p>
        </p:txBody>
      </p:sp>
      <p:sp>
        <p:nvSpPr>
          <p:cNvPr id="12" name="shape_294"/>
          <p:cNvSpPr/>
          <p:nvPr/>
        </p:nvSpPr>
        <p:spPr>
          <a:xfrm>
            <a:off x="640080" y="4572000"/>
            <a:ext cx="3520440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</a:ln>
        </p:spPr>
      </p:sp>
      <p:sp>
        <p:nvSpPr>
          <p:cNvPr id="13" name="text_295"/>
          <p:cNvSpPr txBox="1"/>
          <p:nvPr/>
        </p:nvSpPr>
        <p:spPr>
          <a:xfrm>
            <a:off x="242316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約1.8倍</a:t>
            </a:r>
            <a:endParaRPr lang="en-US" sz="2000" dirty="0"/>
          </a:p>
        </p:txBody>
      </p:sp>
      <p:sp>
        <p:nvSpPr>
          <p:cNvPr id="14" name="shape_296"/>
          <p:cNvSpPr/>
          <p:nvPr/>
        </p:nvSpPr>
        <p:spPr>
          <a:xfrm>
            <a:off x="5074920" y="1600200"/>
            <a:ext cx="5202936" cy="3611880"/>
          </a:xfrm>
          <a:prstGeom prst="roundRect">
            <a:avLst>
              <a:gd name="adj" fmla="val 2532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5" name="tab_297"/>
          <p:cNvSpPr/>
          <p:nvPr/>
        </p:nvSpPr>
        <p:spPr>
          <a:xfrm>
            <a:off x="5184648" y="1691640"/>
            <a:ext cx="20523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生産義務と制度の期限</a:t>
            </a:r>
            <a:endParaRPr lang="en-US" sz="1400" dirty="0"/>
          </a:p>
        </p:txBody>
      </p:sp>
      <p:sp>
        <p:nvSpPr>
          <p:cNvPr id="16" name="text_298"/>
          <p:cNvSpPr txBox="1"/>
          <p:nvPr/>
        </p:nvSpPr>
        <p:spPr>
          <a:xfrm>
            <a:off x="5257800" y="219456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2026年：補助を受けた輸入1台に、現地生産2台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2027年：同じく現地生産3台（輸出は1.5台分）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2026年〜：物品税を投資の度合いで3段階に（9月合意）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義務を果たせないと補助金を返還（Neta：約20億バーツ）</a:t>
            </a:r>
            <a:endParaRPr lang="en-US" sz="1600" dirty="0"/>
          </a:p>
        </p:txBody>
      </p:sp>
      <p:sp>
        <p:nvSpPr>
          <p:cNvPr id="17" name="shape_299"/>
          <p:cNvSpPr/>
          <p:nvPr/>
        </p:nvSpPr>
        <p:spPr>
          <a:xfrm>
            <a:off x="411480" y="553212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8" name="fslabel_300"/>
          <p:cNvSpPr/>
          <p:nvPr/>
        </p:nvSpPr>
        <p:spPr>
          <a:xfrm>
            <a:off x="2100834" y="539496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9" name="text_301"/>
          <p:cNvSpPr txBox="1"/>
          <p:nvPr/>
        </p:nvSpPr>
        <p:spPr>
          <a:xfrm>
            <a:off x="640080" y="573328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国内だけでは消化しきれない。輸出か値下げで台数をさばくしかない</a:t>
            </a:r>
            <a:endParaRPr lang="en-US" sz="1550" dirty="0"/>
          </a:p>
        </p:txBody>
      </p:sp>
      <p:sp>
        <p:nvSpPr>
          <p:cNvPr id="20" name="summary_302"/>
          <p:cNvSpPr/>
          <p:nvPr/>
        </p:nvSpPr>
        <p:spPr>
          <a:xfrm>
            <a:off x="5481828" y="5422392"/>
            <a:ext cx="4796028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2027〜28年の淘汰期に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撤退ブランドの顧客・販売店を拾う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値下げ競争は中古EVを下げ、日系の残価優位が広がる</a:t>
            </a:r>
            <a:endParaRPr lang="en-US" sz="1700" dirty="0"/>
          </a:p>
        </p:txBody>
      </p:sp>
      <p:sp>
        <p:nvSpPr>
          <p:cNvPr id="21" name="text_303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出典：BOI（2025年7月・11月）、JETRO（2026年7月）、The Nation（2026年）。承認能力は実際の生産能力ではない。需要は2026年上半期の2倍とした試算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日系の戦略　4つの打ち手と、中国企業との向き合い方</a:t>
            </a:r>
            <a:endParaRPr lang="en-US" sz="2400" dirty="0"/>
          </a:p>
        </p:txBody>
      </p:sp>
      <p:sp>
        <p:nvSpPr>
          <p:cNvPr id="3" name="shape_304"/>
          <p:cNvSpPr/>
          <p:nvPr/>
        </p:nvSpPr>
        <p:spPr>
          <a:xfrm>
            <a:off x="411480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305"/>
          <p:cNvSpPr/>
          <p:nvPr/>
        </p:nvSpPr>
        <p:spPr>
          <a:xfrm>
            <a:off x="1633220" y="1014984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守る</a:t>
            </a:r>
            <a:endParaRPr lang="en-US" sz="1900" dirty="0"/>
          </a:p>
        </p:txBody>
      </p:sp>
      <p:sp>
        <p:nvSpPr>
          <p:cNvPr id="5" name="text_306"/>
          <p:cNvSpPr txBox="1"/>
          <p:nvPr/>
        </p:nvSpPr>
        <p:spPr>
          <a:xfrm>
            <a:off x="594360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ピックアップ・HEVセダン</a:t>
            </a:r>
            <a:endParaRPr lang="en-US" sz="1600" dirty="0"/>
          </a:p>
        </p:txBody>
      </p:sp>
      <p:sp>
        <p:nvSpPr>
          <p:cNvPr id="6" name="text_307"/>
          <p:cNvSpPr txBox="1"/>
          <p:nvPr/>
        </p:nvSpPr>
        <p:spPr>
          <a:xfrm>
            <a:off x="594360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モデルを長く売り、残価を守る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（毎年の刷新はしない）</a:t>
            </a:r>
            <a:endParaRPr lang="en-US" sz="1600" dirty="0"/>
          </a:p>
        </p:txBody>
      </p:sp>
      <p:sp>
        <p:nvSpPr>
          <p:cNvPr id="7" name="when_308"/>
          <p:cNvSpPr/>
          <p:nvPr/>
        </p:nvSpPr>
        <p:spPr>
          <a:xfrm>
            <a:off x="2514600" y="33832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今から</a:t>
            </a:r>
            <a:endParaRPr lang="en-US" sz="1150" dirty="0"/>
          </a:p>
        </p:txBody>
      </p:sp>
      <p:sp>
        <p:nvSpPr>
          <p:cNvPr id="8" name="shape_309"/>
          <p:cNvSpPr/>
          <p:nvPr/>
        </p:nvSpPr>
        <p:spPr>
          <a:xfrm>
            <a:off x="3776472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9" name="fslabel_310"/>
          <p:cNvSpPr/>
          <p:nvPr/>
        </p:nvSpPr>
        <p:spPr>
          <a:xfrm>
            <a:off x="4756912" y="1014984"/>
            <a:ext cx="1239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迎え撃つ</a:t>
            </a:r>
            <a:endParaRPr lang="en-US" sz="1900" dirty="0"/>
          </a:p>
        </p:txBody>
      </p:sp>
      <p:sp>
        <p:nvSpPr>
          <p:cNvPr id="10" name="text_311"/>
          <p:cNvSpPr txBox="1"/>
          <p:nvPr/>
        </p:nvSpPr>
        <p:spPr>
          <a:xfrm>
            <a:off x="3959352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C-SUVのHEV／PHEV</a:t>
            </a:r>
            <a:endParaRPr lang="en-US" sz="1600" dirty="0"/>
          </a:p>
        </p:txBody>
      </p:sp>
      <p:sp>
        <p:nvSpPr>
          <p:cNvPr id="11" name="text_312"/>
          <p:cNvSpPr txBox="1"/>
          <p:nvPr/>
        </p:nvSpPr>
        <p:spPr>
          <a:xfrm>
            <a:off x="3959352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残クレで高い残価を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月々の支払いの安さに変える</a:t>
            </a:r>
            <a:endParaRPr lang="en-US" sz="1600" dirty="0"/>
          </a:p>
        </p:txBody>
      </p:sp>
      <p:sp>
        <p:nvSpPr>
          <p:cNvPr id="12" name="when_313"/>
          <p:cNvSpPr/>
          <p:nvPr/>
        </p:nvSpPr>
        <p:spPr>
          <a:xfrm>
            <a:off x="5879592" y="33832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今から</a:t>
            </a:r>
            <a:endParaRPr lang="en-US" sz="1150" dirty="0"/>
          </a:p>
        </p:txBody>
      </p:sp>
      <p:sp>
        <p:nvSpPr>
          <p:cNvPr id="13" name="shape_314"/>
          <p:cNvSpPr/>
          <p:nvPr/>
        </p:nvSpPr>
        <p:spPr>
          <a:xfrm>
            <a:off x="411480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315"/>
          <p:cNvSpPr/>
          <p:nvPr/>
        </p:nvSpPr>
        <p:spPr>
          <a:xfrm>
            <a:off x="1512570" y="3968496"/>
            <a:ext cx="9982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埋める</a:t>
            </a:r>
            <a:endParaRPr lang="en-US" sz="1900" dirty="0"/>
          </a:p>
        </p:txBody>
      </p:sp>
      <p:sp>
        <p:nvSpPr>
          <p:cNvPr id="15" name="text_316"/>
          <p:cNvSpPr txBox="1"/>
          <p:nvPr/>
        </p:nvSpPr>
        <p:spPr>
          <a:xfrm>
            <a:off x="594360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600" dirty="0"/>
          </a:p>
        </p:txBody>
      </p:sp>
      <p:sp>
        <p:nvSpPr>
          <p:cNvPr id="16" name="text_317"/>
          <p:cNvSpPr txBox="1"/>
          <p:nvPr/>
        </p:nvSpPr>
        <p:spPr>
          <a:xfrm>
            <a:off x="594360" y="514807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中国の開発体制で短い周期のBEVを持つ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（bZ3X、e:N2、6e）</a:t>
            </a:r>
            <a:endParaRPr lang="en-US" sz="1600" dirty="0"/>
          </a:p>
        </p:txBody>
      </p:sp>
      <p:sp>
        <p:nvSpPr>
          <p:cNvPr id="17" name="when_318"/>
          <p:cNvSpPr/>
          <p:nvPr/>
        </p:nvSpPr>
        <p:spPr>
          <a:xfrm>
            <a:off x="2514600" y="633679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2026年〜</a:t>
            </a:r>
            <a:endParaRPr lang="en-US" sz="1150" dirty="0"/>
          </a:p>
        </p:txBody>
      </p:sp>
      <p:sp>
        <p:nvSpPr>
          <p:cNvPr id="18" name="shape_319"/>
          <p:cNvSpPr/>
          <p:nvPr/>
        </p:nvSpPr>
        <p:spPr>
          <a:xfrm>
            <a:off x="3776472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9" name="fslabel_320"/>
          <p:cNvSpPr/>
          <p:nvPr/>
        </p:nvSpPr>
        <p:spPr>
          <a:xfrm>
            <a:off x="4998212" y="3968496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拾う</a:t>
            </a:r>
            <a:endParaRPr lang="en-US" sz="1900" dirty="0"/>
          </a:p>
        </p:txBody>
      </p:sp>
      <p:sp>
        <p:nvSpPr>
          <p:cNvPr id="20" name="text_321"/>
          <p:cNvSpPr txBox="1"/>
          <p:nvPr/>
        </p:nvSpPr>
        <p:spPr>
          <a:xfrm>
            <a:off x="3959352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撤退する中国ブランドの顧客</a:t>
            </a:r>
            <a:endParaRPr lang="en-US" sz="1600" dirty="0"/>
          </a:p>
        </p:txBody>
      </p:sp>
      <p:sp>
        <p:nvSpPr>
          <p:cNvPr id="21" name="text_322"/>
          <p:cNvSpPr txBox="1"/>
          <p:nvPr/>
        </p:nvSpPr>
        <p:spPr>
          <a:xfrm>
            <a:off x="3959352" y="514807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認定中古・整備・販売店ごと受け止める</a:t>
            </a:r>
            <a:endParaRPr lang="en-US" sz="1600" dirty="0"/>
          </a:p>
        </p:txBody>
      </p:sp>
      <p:sp>
        <p:nvSpPr>
          <p:cNvPr id="22" name="when_323"/>
          <p:cNvSpPr/>
          <p:nvPr/>
        </p:nvSpPr>
        <p:spPr>
          <a:xfrm>
            <a:off x="5879592" y="633679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2027年〜</a:t>
            </a:r>
            <a:endParaRPr lang="en-US" sz="1150" dirty="0"/>
          </a:p>
        </p:txBody>
      </p:sp>
      <p:sp>
        <p:nvSpPr>
          <p:cNvPr id="23" name="shape_324"/>
          <p:cNvSpPr/>
          <p:nvPr/>
        </p:nvSpPr>
        <p:spPr>
          <a:xfrm>
            <a:off x="7296912" y="1188720"/>
            <a:ext cx="2980944" cy="5577840"/>
          </a:xfrm>
          <a:prstGeom prst="roundRect">
            <a:avLst>
              <a:gd name="adj" fmla="val 306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24" name="tab_325"/>
          <p:cNvSpPr/>
          <p:nvPr/>
        </p:nvSpPr>
        <p:spPr>
          <a:xfrm>
            <a:off x="7406640" y="1280160"/>
            <a:ext cx="22301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中国企業との向き合い方</a:t>
            </a:r>
            <a:endParaRPr lang="en-US" sz="1400" dirty="0"/>
          </a:p>
        </p:txBody>
      </p:sp>
      <p:sp>
        <p:nvSpPr>
          <p:cNvPr id="25" name="role_326"/>
          <p:cNvSpPr/>
          <p:nvPr/>
        </p:nvSpPr>
        <p:spPr>
          <a:xfrm>
            <a:off x="7479792" y="18288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</a:t>
            </a:r>
            <a:endParaRPr lang="en-US" sz="1700" dirty="0"/>
          </a:p>
        </p:txBody>
      </p:sp>
      <p:sp>
        <p:nvSpPr>
          <p:cNvPr id="26" name="text_327"/>
          <p:cNvSpPr txBox="1"/>
          <p:nvPr/>
        </p:nvSpPr>
        <p:spPr>
          <a:xfrm>
            <a:off x="8577072" y="18288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BYD・MG・Chery系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次の車種を出し続ける相手と正面から</a:t>
            </a:r>
            <a:endParaRPr lang="en-US" sz="1600" dirty="0"/>
          </a:p>
        </p:txBody>
      </p:sp>
      <p:sp>
        <p:nvSpPr>
          <p:cNvPr id="27" name="role_328"/>
          <p:cNvSpPr/>
          <p:nvPr/>
        </p:nvSpPr>
        <p:spPr>
          <a:xfrm>
            <a:off x="7479792" y="34290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協業</a:t>
            </a:r>
            <a:endParaRPr lang="en-US" sz="1700" dirty="0"/>
          </a:p>
        </p:txBody>
      </p:sp>
      <p:sp>
        <p:nvSpPr>
          <p:cNvPr id="28" name="text_329"/>
          <p:cNvSpPr txBox="1"/>
          <p:nvPr/>
        </p:nvSpPr>
        <p:spPr>
          <a:xfrm>
            <a:off x="8577072" y="34290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残る企業の電池・開発体制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BYD・GAC・Changanなどを企業ごとに選ぶ</a:t>
            </a:r>
            <a:endParaRPr lang="en-US" sz="1600" dirty="0"/>
          </a:p>
        </p:txBody>
      </p:sp>
      <p:sp>
        <p:nvSpPr>
          <p:cNvPr id="29" name="role_330"/>
          <p:cNvSpPr/>
          <p:nvPr/>
        </p:nvSpPr>
        <p:spPr>
          <a:xfrm>
            <a:off x="7479792" y="50292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受け皿</a:t>
            </a:r>
            <a:endParaRPr lang="en-US" sz="1700" dirty="0"/>
          </a:p>
        </p:txBody>
      </p:sp>
      <p:sp>
        <p:nvSpPr>
          <p:cNvPr id="30" name="text_331"/>
          <p:cNvSpPr txBox="1"/>
          <p:nvPr/>
        </p:nvSpPr>
        <p:spPr>
          <a:xfrm>
            <a:off x="8577072" y="50292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撤退ブランド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顧客・販売店を引き取る（2027年〜）</a:t>
            </a:r>
            <a:endParaRPr lang="en-US" sz="1600" dirty="0"/>
          </a:p>
        </p:txBody>
      </p:sp>
      <p:sp>
        <p:nvSpPr>
          <p:cNvPr id="31" name="text_33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出典：本資料の検証、Toyota（bZ3の共同開発）、各社発表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2400" dirty="0"/>
          </a:p>
        </p:txBody>
      </p:sp>
      <p:sp>
        <p:nvSpPr>
          <p:cNvPr id="3" name="num_333"/>
          <p:cNvSpPr/>
          <p:nvPr/>
        </p:nvSpPr>
        <p:spPr>
          <a:xfrm>
            <a:off x="502920" y="134416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_334"/>
          <p:cNvSpPr txBox="1"/>
          <p:nvPr/>
        </p:nvSpPr>
        <p:spPr>
          <a:xfrm>
            <a:off x="1463040" y="123444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PT別：政策でBEV市場が急拡大し、日系には商品がない。中国系の値下げは中古の価値を下げる</a:t>
            </a:r>
            <a:endParaRPr lang="en-US" sz="2000" dirty="0"/>
          </a:p>
        </p:txBody>
      </p:sp>
      <p:sp>
        <p:nvSpPr>
          <p:cNvPr id="5" name="num_335"/>
          <p:cNvSpPr/>
          <p:nvPr/>
        </p:nvSpPr>
        <p:spPr>
          <a:xfrm>
            <a:off x="502920" y="267004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_336"/>
          <p:cNvSpPr txBox="1"/>
          <p:nvPr/>
        </p:nvSpPr>
        <p:spPr>
          <a:xfrm>
            <a:off x="1463040" y="256032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セグメント別：競合は乗用車のB・CとSUVのC。中国系は多くの車種で席を分け合う</a:t>
            </a:r>
            <a:endParaRPr lang="en-US" sz="2000" dirty="0"/>
          </a:p>
        </p:txBody>
      </p:sp>
      <p:sp>
        <p:nvSpPr>
          <p:cNvPr id="7" name="num_337"/>
          <p:cNvSpPr/>
          <p:nvPr/>
        </p:nvSpPr>
        <p:spPr>
          <a:xfrm>
            <a:off x="502920" y="399592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_338"/>
          <p:cNvSpPr txBox="1"/>
          <p:nvPr/>
        </p:nvSpPr>
        <p:spPr>
          <a:xfrm>
            <a:off x="1463040" y="388620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中国系どうし：売れ筋は1年で入れ替わる。速さは生き残りの条件で、日系との勝敗は分けていない</a:t>
            </a:r>
            <a:endParaRPr lang="en-US" sz="2000" dirty="0"/>
          </a:p>
        </p:txBody>
      </p:sp>
      <p:sp>
        <p:nvSpPr>
          <p:cNvPr id="9" name="summary_339"/>
          <p:cNvSpPr/>
          <p:nvPr/>
        </p:nvSpPr>
        <p:spPr>
          <a:xfrm>
            <a:off x="777240" y="5349240"/>
            <a:ext cx="9134856" cy="1463040"/>
          </a:xfrm>
          <a:prstGeom prst="roundRect">
            <a:avLst>
              <a:gd name="adj" fmla="val 625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日系がタイで取るべきこと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BEVの商品を持ち、HEVは長く売って残価を守り、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残クレで月々の支払いを下げる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ai OEM Research">
  <a:themeElements>
    <a:clrScheme name="Thai OEM Research">
      <a:dk1>
        <a:srgbClr val="333333"/>
      </a:dk1>
      <a:lt1>
        <a:srgbClr val="FFFFFF"/>
      </a:lt1>
      <a:dk2>
        <a:srgbClr val="3F3F3F"/>
      </a:dk2>
      <a:lt2>
        <a:srgbClr val="F2F2F2"/>
      </a:lt2>
      <a:accent1>
        <a:srgbClr val="4472C4"/>
      </a:accent1>
      <a:accent2>
        <a:srgbClr val="E8604C"/>
      </a:accent2>
      <a:accent3>
        <a:srgbClr val="3FB2AB"/>
      </a:accent3>
      <a:accent4>
        <a:srgbClr val="7F7F7F"/>
      </a:accent4>
      <a:accent5>
        <a:srgbClr val="EEF3FB"/>
      </a:accent5>
      <a:accent6>
        <a:srgbClr val="D3F0ED"/>
      </a:accent6>
      <a:hlink>
        <a:srgbClr val="2F5597"/>
      </a:hlink>
      <a:folHlink>
        <a:srgbClr val="7F7F7F"/>
      </a:folHlink>
    </a:clrScheme>
    <a:fontScheme name="Thai OEM Resear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タイ市場における中国系OEMの台頭と日系の戦略</dc:title>
  <dc:subject>PptxGenJS Presentation</dc:subject>
  <dc:creator>[発表者名]</dc:creator>
  <cp:lastModifiedBy>[発表者名]</cp:lastModifiedBy>
  <cp:revision>1</cp:revision>
  <dcterms:created xsi:type="dcterms:W3CDTF">2026-10-15T05:55:15Z</dcterms:created>
  <dcterms:modified xsi:type="dcterms:W3CDTF">2026-10-15T05:55:15Z</dcterms:modified>
</cp:coreProperties>
</file>