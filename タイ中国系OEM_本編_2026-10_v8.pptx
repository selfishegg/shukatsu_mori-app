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7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0689336" cy="7562088"/>
  <p:notesSz cx="7562088" cy="1068933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本編" id="{489a9b77-2191-7070-ee50-fbd5eb0221b1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6B6B6B"/>
                </a:solidFill>
                <a:latin typeface="Arial"/>
              </a:defRPr>
            </a:pPr>
            <a:r>
              <a:rPr sz="1400" b="0" i="0" u="none" strike="noStrike">
                <a:solidFill>
                  <a:srgbClr val="6B6B6B"/>
                </a:solidFill>
                <a:latin typeface="Arial"/>
              </a:rPr>
              <a:t>2026年1〜6月の乗用車登録（万台）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中国系</c:v>
                </c:pt>
              </c:strCache>
            </c:strRef>
          </c:tx>
          <c:spPr>
            <a:solidFill>
              <a:srgbClr val="E8604C"/>
            </a:solidFill>
            <a:effectLst/>
          </c:spPr>
          <c:invertIfNegative val="0"/>
          <c:dLbls>
            <c:numFmt formatCode="[&lt;0.5]&quot;&quot;;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BEV</c:v>
                  </c:pt>
                  <c:pt idx="1">
                    <c:v>HEV</c:v>
                  </c:pt>
                  <c:pt idx="2">
                    <c:v>PHEV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9.48</c:v>
                </c:pt>
                <c:pt idx="1">
                  <c:v>0.14</c:v>
                </c:pt>
                <c:pt idx="2">
                  <c:v>0.71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日系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Lbls>
            <c:numFmt formatCode="[&lt;0.5]&quot;&quot;;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BEV</c:v>
                  </c:pt>
                  <c:pt idx="1">
                    <c:v>HEV</c:v>
                  </c:pt>
                  <c:pt idx="2">
                    <c:v>PHEV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0.11</c:v>
                </c:pt>
                <c:pt idx="1">
                  <c:v>8.79</c:v>
                </c:pt>
                <c:pt idx="2">
                  <c:v>0.01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その他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[&lt;0.5]&quot;&quot;;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BEV</c:v>
                  </c:pt>
                  <c:pt idx="1">
                    <c:v>HEV</c:v>
                  </c:pt>
                  <c:pt idx="2">
                    <c:v>PHEV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0.89</c:v>
                </c:pt>
                <c:pt idx="1">
                  <c:v>0.06</c:v>
                </c:pt>
                <c:pt idx="2">
                  <c:v>0.3</c:v>
                </c:pt>
              </c:numCache>
            </c:numRef>
          </c:val>
        </c:ser>
        <c:dLbls>
          <c:numFmt formatCode="[&lt;0.5]&quot;&quot;;0.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B0B0B0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6B6B6B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6B6B6B"/>
                </a:solidFill>
                <a:latin typeface="Arial"/>
              </a:defRPr>
            </a:pPr>
            <a:r>
              <a:rPr sz="1250" b="0" i="0" u="none" strike="noStrike">
                <a:solidFill>
                  <a:srgbClr val="6B6B6B"/>
                </a:solidFill>
                <a:latin typeface="Arial"/>
              </a:rPr>
              <a:t>新車種の発売数（タイ、年）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中国系</c:v>
                </c:pt>
              </c:strCache>
            </c:strRef>
          </c:tx>
          <c:spPr>
            <a:solidFill>
              <a:srgbClr val="E8604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</c:v>
                </c:pt>
                <c:pt idx="1">
                  <c:v>10</c:v>
                </c:pt>
                <c:pt idx="2">
                  <c:v>19</c:v>
                </c:pt>
                <c:pt idx="3">
                  <c:v>19</c:v>
                </c:pt>
                <c:pt idx="4">
                  <c:v>16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日系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</c:v>
                </c:pt>
                <c:pt idx="1">
                  <c:v>11</c:v>
                </c:pt>
                <c:pt idx="2">
                  <c:v>3</c:v>
                </c:pt>
                <c:pt idx="3">
                  <c:v>5</c:v>
                </c:pt>
                <c:pt idx="4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5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0B0B0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3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6B6B6B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6B6B6B"/>
                </a:solidFill>
                <a:latin typeface="Arial"/>
              </a:defRPr>
            </a:pPr>
            <a:r>
              <a:rPr sz="1250" b="0" i="0" u="none" strike="noStrike">
                <a:solidFill>
                  <a:srgbClr val="6B6B6B"/>
                </a:solidFill>
                <a:latin typeface="Arial"/>
              </a:rPr>
              <a:t>SUV（B・C）の車種数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中国系</c:v>
                </c:pt>
              </c:strCache>
            </c:strRef>
          </c:tx>
          <c:spPr>
            <a:solidFill>
              <a:srgbClr val="E8604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2024年</c:v>
                  </c:pt>
                  <c:pt idx="1">
                    <c:v>2025年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</c:v>
                </c:pt>
                <c:pt idx="1">
                  <c:v>13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日系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2024年</c:v>
                  </c:pt>
                  <c:pt idx="1">
                    <c:v>2025年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</c:v>
                </c:pt>
                <c:pt idx="1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0B0B0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.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6B6B6B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6B6B6B"/>
                </a:solidFill>
                <a:latin typeface="Arial"/>
              </a:defRPr>
            </a:pPr>
            <a:r>
              <a:rPr sz="1250" b="0" i="0" u="none" strike="noStrike">
                <a:solidFill>
                  <a:srgbClr val="6B6B6B"/>
                </a:solidFill>
                <a:latin typeface="Arial"/>
              </a:rPr>
              <a:t>SUV（B・C）の1車種あたり販売（千台）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中国系</c:v>
                </c:pt>
              </c:strCache>
            </c:strRef>
          </c:tx>
          <c:spPr>
            <a:solidFill>
              <a:srgbClr val="E8604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2024年</c:v>
                  </c:pt>
                  <c:pt idx="1">
                    <c:v>2025年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2.7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日系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2024年</c:v>
                  </c:pt>
                  <c:pt idx="1">
                    <c:v>2025年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9.7</c:v>
                </c:pt>
                <c:pt idx="1">
                  <c:v>12.4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0B0B0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.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6B6B6B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6B6B6B"/>
                </a:solidFill>
                <a:latin typeface="Arial"/>
              </a:defRPr>
            </a:pPr>
            <a:r>
              <a:rPr sz="1250" b="0" i="0" u="none" strike="noStrike">
                <a:solidFill>
                  <a:srgbClr val="6B6B6B"/>
                </a:solidFill>
                <a:latin typeface="Arial"/>
              </a:rPr>
              <a:t>中国系BEV：2023年の上位10車種（千台）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2023年</c:v>
                </c:pt>
              </c:strCache>
            </c:strRef>
          </c:tx>
          <c:spPr>
            <a:solidFill>
              <a:srgbClr val="F4B3A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Atto 3（−60%）</c:v>
                  </c:pt>
                  <c:pt idx="1">
                    <c:v>Neta V（−48%）</c:v>
                  </c:pt>
                  <c:pt idx="2">
                    <c:v>Dolphin（+42%）</c:v>
                  </c:pt>
                  <c:pt idx="3">
                    <c:v>ORA Good Cat（−64%）</c:v>
                  </c:pt>
                  <c:pt idx="4">
                    <c:v>Tesla Model Y（−85%）</c:v>
                  </c:pt>
                  <c:pt idx="5">
                    <c:v>MG4（+12%）</c:v>
                  </c:pt>
                  <c:pt idx="6">
                    <c:v>MG EP（−58%）</c:v>
                  </c:pt>
                  <c:pt idx="7">
                    <c:v>Tesla Model 3（+39%）</c:v>
                  </c:pt>
                  <c:pt idx="8">
                    <c:v>BYD Seal（+185%）</c:v>
                  </c:pt>
                  <c:pt idx="9">
                    <c:v>MG ZS EV（−57%）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19.2</c:v>
                </c:pt>
                <c:pt idx="1">
                  <c:v>12.8</c:v>
                </c:pt>
                <c:pt idx="2">
                  <c:v>9.4</c:v>
                </c:pt>
                <c:pt idx="3">
                  <c:v>6.7</c:v>
                </c:pt>
                <c:pt idx="4">
                  <c:v>5.9</c:v>
                </c:pt>
                <c:pt idx="5">
                  <c:v>4.8</c:v>
                </c:pt>
                <c:pt idx="6">
                  <c:v>4.5</c:v>
                </c:pt>
                <c:pt idx="7">
                  <c:v>2.3</c:v>
                </c:pt>
                <c:pt idx="8">
                  <c:v>1.8</c:v>
                </c:pt>
                <c:pt idx="9">
                  <c:v>1.8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2024年</c:v>
                </c:pt>
              </c:strCache>
            </c:strRef>
          </c:tx>
          <c:spPr>
            <a:solidFill>
              <a:srgbClr val="E8604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Atto 3（−60%）</c:v>
                  </c:pt>
                  <c:pt idx="1">
                    <c:v>Neta V（−48%）</c:v>
                  </c:pt>
                  <c:pt idx="2">
                    <c:v>Dolphin（+42%）</c:v>
                  </c:pt>
                  <c:pt idx="3">
                    <c:v>ORA Good Cat（−64%）</c:v>
                  </c:pt>
                  <c:pt idx="4">
                    <c:v>Tesla Model Y（−85%）</c:v>
                  </c:pt>
                  <c:pt idx="5">
                    <c:v>MG4（+12%）</c:v>
                  </c:pt>
                  <c:pt idx="6">
                    <c:v>MG EP（−58%）</c:v>
                  </c:pt>
                  <c:pt idx="7">
                    <c:v>Tesla Model 3（+39%）</c:v>
                  </c:pt>
                  <c:pt idx="8">
                    <c:v>BYD Seal（+185%）</c:v>
                  </c:pt>
                  <c:pt idx="9">
                    <c:v>MG ZS EV（−57%）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7.7</c:v>
                </c:pt>
                <c:pt idx="1">
                  <c:v>6.6</c:v>
                </c:pt>
                <c:pt idx="2">
                  <c:v>13.4</c:v>
                </c:pt>
                <c:pt idx="3">
                  <c:v>2.4</c:v>
                </c:pt>
                <c:pt idx="4">
                  <c:v>0.9</c:v>
                </c:pt>
                <c:pt idx="5">
                  <c:v>5.4</c:v>
                </c:pt>
                <c:pt idx="6">
                  <c:v>1.9</c:v>
                </c:pt>
                <c:pt idx="7">
                  <c:v>3.2</c:v>
                </c:pt>
                <c:pt idx="8">
                  <c:v>5.2</c:v>
                </c:pt>
                <c:pt idx="9">
                  <c:v>0.8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5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B0B0B0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4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B6B6B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6B6B6B"/>
                </a:solidFill>
                <a:latin typeface="Arial"/>
              </a:defRPr>
            </a:pPr>
            <a:r>
              <a:rPr sz="1250" b="0" i="0" u="none" strike="noStrike">
                <a:solidFill>
                  <a:srgbClr val="6B6B6B"/>
                </a:solidFill>
                <a:latin typeface="Arial"/>
              </a:rPr>
              <a:t>日系の主力車種：発売から数年後の販売（千台）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2024年</c:v>
                </c:pt>
              </c:strCache>
            </c:strRef>
          </c:tx>
          <c:spPr>
            <a:solidFill>
              <a:srgbClr val="A9C0E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Yaris Ativ（2022年〜）</c:v>
                  </c:pt>
                  <c:pt idx="1">
                    <c:v>HR-V（2021年〜）</c:v>
                  </c:pt>
                  <c:pt idx="2">
                    <c:v>Corolla Cross（2020年〜）</c:v>
                  </c:pt>
                  <c:pt idx="3">
                    <c:v>City（2019年〜）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43.9</c:v>
                </c:pt>
                <c:pt idx="1">
                  <c:v>20.1</c:v>
                </c:pt>
                <c:pt idx="2">
                  <c:v>15</c:v>
                </c:pt>
                <c:pt idx="3">
                  <c:v>15.4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2025年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Yaris Ativ（2022年〜）</c:v>
                  </c:pt>
                  <c:pt idx="1">
                    <c:v>HR-V（2021年〜）</c:v>
                  </c:pt>
                  <c:pt idx="2">
                    <c:v>Corolla Cross（2020年〜）</c:v>
                  </c:pt>
                  <c:pt idx="3">
                    <c:v>City（2019年〜）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58.8</c:v>
                </c:pt>
                <c:pt idx="1">
                  <c:v>25.2</c:v>
                </c:pt>
                <c:pt idx="2">
                  <c:v>14.4</c:v>
                </c:pt>
                <c:pt idx="3">
                  <c:v>12.1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B0B0B0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B6B6B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6B6B6B"/>
                </a:solidFill>
                <a:latin typeface="Arial"/>
              </a:defRPr>
            </a:pPr>
            <a:r>
              <a:rPr sz="1400" b="0" i="0" u="none" strike="noStrike">
                <a:solidFill>
                  <a:srgbClr val="6B6B6B"/>
                </a:solidFill>
                <a:latin typeface="Arial"/>
              </a:rPr>
              <a:t>BEV登録に占める割合（%）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2024年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.0;;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BYD</c:v>
                  </c:pt>
                  <c:pt idx="1">
                    <c:v>Chery系</c:v>
                  </c:pt>
                  <c:pt idx="2">
                    <c:v>MG</c:v>
                  </c:pt>
                  <c:pt idx="3">
                    <c:v>GAC Aion</c:v>
                  </c:pt>
                  <c:pt idx="4">
                    <c:v>Geely・Zeekr</c:v>
                  </c:pt>
                  <c:pt idx="5">
                    <c:v>Changan</c:v>
                  </c:pt>
                  <c:pt idx="6">
                    <c:v>GWM</c:v>
                  </c:pt>
                  <c:pt idx="7">
                    <c:v>Neta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38.5</c:v>
                </c:pt>
                <c:pt idx="1">
                  <c:v>0</c:v>
                </c:pt>
                <c:pt idx="2">
                  <c:v>12.9</c:v>
                </c:pt>
                <c:pt idx="3">
                  <c:v>7.4</c:v>
                </c:pt>
                <c:pt idx="4">
                  <c:v>0</c:v>
                </c:pt>
                <c:pt idx="5">
                  <c:v>8.4</c:v>
                </c:pt>
                <c:pt idx="6">
                  <c:v>4.6</c:v>
                </c:pt>
                <c:pt idx="7">
                  <c:v>11.4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2026年1〜6月</c:v>
                </c:pt>
              </c:strCache>
            </c:strRef>
          </c:tx>
          <c:spPr>
            <a:solidFill>
              <a:srgbClr val="E8604C"/>
            </a:solidFill>
            <a:effectLst/>
          </c:spPr>
          <c:invertIfNegative val="0"/>
          <c:dLbls>
            <c:numFmt formatCode="0.0;;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BYD</c:v>
                  </c:pt>
                  <c:pt idx="1">
                    <c:v>Chery系</c:v>
                  </c:pt>
                  <c:pt idx="2">
                    <c:v>MG</c:v>
                  </c:pt>
                  <c:pt idx="3">
                    <c:v>GAC Aion</c:v>
                  </c:pt>
                  <c:pt idx="4">
                    <c:v>Geely・Zeekr</c:v>
                  </c:pt>
                  <c:pt idx="5">
                    <c:v>Changan</c:v>
                  </c:pt>
                  <c:pt idx="6">
                    <c:v>GWM</c:v>
                  </c:pt>
                  <c:pt idx="7">
                    <c:v>Neta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21</c:v>
                </c:pt>
                <c:pt idx="1">
                  <c:v>18.5</c:v>
                </c:pt>
                <c:pt idx="2">
                  <c:v>14.3</c:v>
                </c:pt>
                <c:pt idx="3">
                  <c:v>11.2</c:v>
                </c:pt>
                <c:pt idx="4">
                  <c:v>9.8</c:v>
                </c:pt>
                <c:pt idx="5">
                  <c:v>9.1</c:v>
                </c:pt>
                <c:pt idx="6">
                  <c:v>1.9</c:v>
                </c:pt>
                <c:pt idx="7">
                  <c:v>0.3</c:v>
                </c:pt>
              </c:numCache>
            </c:numRef>
          </c:val>
        </c:ser>
        <c:dLbls>
          <c:numFmt formatCode="0.0;;;" sourceLinked="0"/>
          <c:txPr>
            <a:bodyPr/>
            <a:lstStyle/>
            <a:p>
              <a:pPr>
                <a:defRPr b="0" i="0" strike="noStrike" sz="10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B0B0B0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6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B6B6B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タイの自動車市場で中国系が伸びている。その要因としてよく挙げられるモデルチェンジの速さが、本当にシェア拡大の要因なのかを検証し、日系が取るべき戦略を示す。発表は10分である。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要旨を述べる。課題は、中国車のモデルチェンジの速さが、タイでのシェア拡大の要因かどうかである。答えは、速さは主因ではない。PT別に見ると、政策でBEV市場が急拡大し、日系には商品がなく、中国系は入口の値段を下げ続けている。セグメント別に見ると、競合は乗用車のBとC、SUVのCで、中国系は多くの車種で席を分け合う。速さが効いているのは中国系どうしの競争である。日系は、BEVの商品を持ち、HEVは長く売り、残価の高さを月々の支払いの安さに変えるべきであ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結論に至った分析と視座を1枚にまとめた。PT別では、BEVに日系の商品がなく、中国系は入口の値段を下げ続けている。だから日系はBEVを持ち、残価で戦う。セグメント別では、競合は乗用車のBとC、SUVのCで、中国系は車種の数で攻める。日系は少ない車種を長く売る。中国系どうしでは売れ筋が1年で入れ替わり、日系は数年売れるので、速さは追わない。以降、この順に根拠を示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タイの市場を年別・セグメント別に見る。ピックアップは与信の引き締めで2022年の38.8万台から2025年の14.4万台に縮んだ。一方で、SUVのBとCクラスは2025年に32%伸び、BEVは2026年上半期に85%伸びた。その中で日系のシェアは85%から62%に下がっ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車種ごとのポジショニングを、車格と価格で並べた。赤が中国系、青が日系で、丸がBEV、ひし形がHEVとPHEV、四角がICEである。どの車格でも、中国系のBEVは左側、つまり安い価格帯に並び、日系のHEVより2割から4割安い。例えばSUVのCクラスでは、Atto 3が80万バーツ、Corolla Cross HEVが99万バーツである。ここから、日系と中国系の競争を、PT別とセグメント別に見ていく。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T別に見る。2026年上半期の登録では、BEVの9割が中国系、HEVの98%が日系で、動力ごとにすみ分けがはっきりしている。前年から増えた電動車6.5万台のうち、4分の3はBEVに、3割弱がHEVに行った。日系は、伸びている動力の大半で商品を持ってい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タイの政策は3つの道具でEVを広げた。購入補助、BEVの物品税の引き下げと中国製EVの関税0%、そして現地生産の義務である。中国系は輸入から先に市場に入り、その後の生産義務が値下げと販売攻勢を生んでい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政策と販売を年表で重ねた。補助が始まったあとの2023年にBEVは7.6万台に急増し、補助が縮小した2024年は7.0万台に減った。生産義務が重くなった2026年は、上半期だけで10.5万台に増えた。因果は社内データで確かめ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モデルチェンジの中身を、タイの販売カタログで比べる。どちらも駆動系はほぼ同じで、トヨタは外内装、BYDは画面と価格を変えた。Atto 3の長距離型は120万バーツから90万バーツに下がり、特価では77万になった。注目すべきは販売で、Atto 3は改良した2024年に6割減った。中国系のモデルチェンジは、値下げとセットで行われている。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中国系が買われる一番の理由は、入口の値段が下がり続けることである。Atto 3の長距離型は、2022年の発売時には120万バーツで、Corolla Crossの最上級とほぼ同じだった。いまは90万バーツ、特価なら77万で、Corolla Crossより25%から36%安い。Dolphinは70万から51万に、Omoda C5 EVは90万から71万に下がった。一方、Corolla Crossの価格は据え置きである。最安のBEVであるAtto 1は43万バーツで、Yaris Ativの57万より安い。中国系はモデルチェンジや現地生産のたびに値段を下げ、日系との価格差は年々広がっている。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次にセグメント別に見る。乗用車とSUVを、BクラスからDクラスに分けて、代表車種を並べた。日系と中国系が同じ車格で競っているのは、乗用車のBとC、そしてSUVのCである。同じ車格の中で、中国系はBEVを、日系はHEVとICEを売り、同じ客を取り合っている。SUVのBでもJaecoo 5 EVなどで競合が広がりつつある。この競合セグメントで、車種の数を比べる。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競合するセグメントで、車種の数を比べる。新車種の発売数は、2024年以降、中国系が毎年16から19、日系は3から5である。SUVのBとCクラスで見ると、2025年に中国系は13車種を売り、そのうち7車種は新顔だった。1車種あたりは約2,700台である。日系は7車種で、1車種あたり約1万2,000台売っている。同じ席を多くの車種で分け合えば、1車種あたりの台数は小さくなり、次の車種を急ぐ理由にな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では、なぜ中国系のモデルチェンジは早いのか。中国系は同じセグメントに多くの車種を出すため、1車種あたりの販売が小さく、すぐに落ちる。だから次の車種を急ぎ、モデルチェンジが早まる。日系は少ない車種で大きく売り、Corolla Crossは発売6年目でも年1.4万台売れている。だから長く売って開発費を回収でき、モデルチェンジは遅くてよい。速さは中国系どうしで生き残るための条件で、日系との勝敗は、動力の品ぞろえと入口の値段で決ま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根拠の1つ目は、売れ筋の寿命である。左は中国系BEVで、2023年の上位10車種のうち6車種は、翌年に販売が半分前後まで減った。右は日系の主力車種で、Yaris Ativは発売4年目の2025年に5.9万台と、むしろ増えた。HR-Vは5年目で2.5万台、Corolla Crossは6年目でも1.4万台、Cityは7年目でも1.2万台売れている。中国系は次の車種を出し続けないと席を失い、日系は長く売るほうが合理的である。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根拠の2つ目は、企業の入れ替わりである。BYDのBEVシェアは2年で半分になり、Netaは撤退に向かった。一方、2024年に1%未満だったChery系とGeely系が上位に入った。Chery系は1車種に頼りながらも新しい車名を出し続けて伸び、次を出せなかったNetaは崩れた。残るのは次の車種を出せる企業であ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日系の打ち手は4つである。ピックアップとHEVセダンは長く売って残価を守る。C-SUVのHEVとPHEVでは、高い残価を月々の支払いの安さに変えて迎え撃つ。BEVは中国の開発体制を使って空白を埋める。撤退する中国ブランドの顧客は、認定中古や整備、販売店ごと受け止める。中国企業とは、競合、協業、受け皿を企業ごとに使い分け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結論である。PT別に見ると、政策と値下げでBEV市場が急拡大し、日系にはBEVの商品がなかった。セグメント別に見ると、競合は乗用車のBとC、SUVのCで、中国系は多くの車種と安い入口の値段で攻めている。中国系どうしでは売れ筋が1年で入れ替わり、日系は数年売れる。モデルチェンジの速さは勝敗を分けていない。日系はBEVの商品を持ち、HEVは長く売って残価を守り、残価の高さを月々の支払いの安さに変えるべきである。以上であ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417320"/>
            <a:ext cx="10689336" cy="292608"/>
          </a:xfrm>
          <a:prstGeom prst="rect">
            <a:avLst/>
          </a:prstGeom>
          <a:solidFill>
            <a:srgbClr val="C4E6E4"/>
          </a:solidFill>
          <a:ln w="12700">
            <a:solidFill>
              <a:srgbClr val="C4E6E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709928"/>
            <a:ext cx="10689336" cy="3657600"/>
          </a:xfrm>
          <a:prstGeom prst="rect">
            <a:avLst/>
          </a:prstGeom>
          <a:solidFill>
            <a:srgbClr val="62C1BC"/>
          </a:solidFill>
          <a:ln w="12700">
            <a:solidFill>
              <a:srgbClr val="62C1B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367528"/>
            <a:ext cx="10689336" cy="292608"/>
          </a:xfrm>
          <a:prstGeom prst="rect">
            <a:avLst/>
          </a:prstGeom>
          <a:solidFill>
            <a:srgbClr val="C4E6E4"/>
          </a:solidFill>
          <a:ln w="12700">
            <a:solidFill>
              <a:srgbClr val="C4E6E4"/>
            </a:solidFill>
            <a:prstDash val="solid"/>
          </a:ln>
        </p:spPr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548640" y="1965960"/>
            <a:ext cx="9592056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6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ctr" indent="0" marL="0">
              <a:buNone/>
            </a:pPr>
            <a:endParaRPr lang="en-US" sz="3600" dirty="0"/>
          </a:p>
        </p:txBody>
      </p:sp>
      <p:sp>
        <p:nvSpPr>
          <p:cNvPr id="6" name="Text 3"/>
          <p:cNvSpPr/>
          <p:nvPr>
            <p:ph idx="104" type="body" hasCustomPrompt="1"/>
          </p:nvPr>
        </p:nvSpPr>
        <p:spPr>
          <a:xfrm>
            <a:off x="548640" y="4160520"/>
            <a:ext cx="9592056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r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chart" Target="/ppt/charts/chart4.xml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548640" y="1965960"/>
            <a:ext cx="9592056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タイ市場における中国系OEMの台頭と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日系OEMが取るべき戦略</a:t>
            </a:r>
            <a:endParaRPr lang="en-US" sz="3600" dirty="0"/>
          </a:p>
        </p:txBody>
      </p:sp>
      <p:sp>
        <p:nvSpPr>
          <p:cNvPr id="3" name="Text 3"/>
          <p:cNvSpPr/>
          <p:nvPr>
            <p:ph idx="104" type="body" hasCustomPrompt="1"/>
          </p:nvPr>
        </p:nvSpPr>
        <p:spPr>
          <a:xfrm>
            <a:off x="548640" y="4160520"/>
            <a:ext cx="95920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モデルチェンジの速さは、本当にシェア拡大の要因か</a:t>
            </a:r>
            <a:endParaRPr lang="en-US" sz="1800" dirty="0"/>
          </a:p>
          <a:p>
            <a:pPr algn="r" indent="0" marL="0">
              <a:buNone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2026年10月　[発表者名]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要旨　課題・仮説・答え</a:t>
            </a:r>
            <a:endParaRPr lang="en-US" sz="2400" dirty="0"/>
          </a:p>
        </p:txBody>
      </p:sp>
      <p:sp>
        <p:nvSpPr>
          <p:cNvPr id="3" name="shape_1"/>
          <p:cNvSpPr/>
          <p:nvPr/>
        </p:nvSpPr>
        <p:spPr>
          <a:xfrm>
            <a:off x="411480" y="1188720"/>
            <a:ext cx="274320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22225">
            <a:solidFill>
              <a:srgbClr val="4472C4"/>
            </a:solidFill>
            <a:prstDash val="solid"/>
          </a:ln>
        </p:spPr>
      </p:sp>
      <p:sp>
        <p:nvSpPr>
          <p:cNvPr id="4" name="fslabel_2"/>
          <p:cNvSpPr/>
          <p:nvPr/>
        </p:nvSpPr>
        <p:spPr>
          <a:xfrm>
            <a:off x="1417320" y="1024128"/>
            <a:ext cx="73152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課題</a:t>
            </a:r>
            <a:endParaRPr lang="en-US" sz="1800" dirty="0"/>
          </a:p>
        </p:txBody>
      </p:sp>
      <p:sp>
        <p:nvSpPr>
          <p:cNvPr id="5" name="text_3"/>
          <p:cNvSpPr txBox="1"/>
          <p:nvPr/>
        </p:nvSpPr>
        <p:spPr>
          <a:xfrm>
            <a:off x="594360" y="146304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中国車はモデルチェンジが速い。それが、タイでのシェア拡大の要因か</a:t>
            </a:r>
            <a:endParaRPr lang="en-US" sz="1800" dirty="0"/>
          </a:p>
        </p:txBody>
      </p:sp>
      <p:sp>
        <p:nvSpPr>
          <p:cNvPr id="6" name="shape_4"/>
          <p:cNvSpPr/>
          <p:nvPr/>
        </p:nvSpPr>
        <p:spPr>
          <a:xfrm>
            <a:off x="3209544" y="2116836"/>
            <a:ext cx="186538" cy="384048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7" name="shape_5"/>
          <p:cNvSpPr/>
          <p:nvPr/>
        </p:nvSpPr>
        <p:spPr>
          <a:xfrm>
            <a:off x="3340120" y="2116836"/>
            <a:ext cx="186538" cy="384048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8" name="shape_6"/>
          <p:cNvSpPr/>
          <p:nvPr/>
        </p:nvSpPr>
        <p:spPr>
          <a:xfrm>
            <a:off x="3566160" y="1188720"/>
            <a:ext cx="297180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22225">
            <a:solidFill>
              <a:srgbClr val="4472C4"/>
            </a:solidFill>
            <a:prstDash val="solid"/>
          </a:ln>
        </p:spPr>
      </p:sp>
      <p:sp>
        <p:nvSpPr>
          <p:cNvPr id="9" name="fslabel_7"/>
          <p:cNvSpPr/>
          <p:nvPr/>
        </p:nvSpPr>
        <p:spPr>
          <a:xfrm>
            <a:off x="4686300" y="1024128"/>
            <a:ext cx="73152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仮説</a:t>
            </a:r>
            <a:endParaRPr lang="en-US" sz="1800" dirty="0"/>
          </a:p>
        </p:txBody>
      </p:sp>
      <p:sp>
        <p:nvSpPr>
          <p:cNvPr id="10" name="text_8"/>
          <p:cNvSpPr txBox="1"/>
          <p:nvPr/>
        </p:nvSpPr>
        <p:spPr>
          <a:xfrm>
            <a:off x="3749040" y="1463040"/>
            <a:ext cx="2606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電池の進化が速い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FB2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モデルチェンジが速い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FB2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中国系のシェアが拡大</a:t>
            </a:r>
            <a:endParaRPr lang="en-US" sz="1600" dirty="0"/>
          </a:p>
        </p:txBody>
      </p:sp>
      <p:sp>
        <p:nvSpPr>
          <p:cNvPr id="11" name="shape_9"/>
          <p:cNvSpPr/>
          <p:nvPr/>
        </p:nvSpPr>
        <p:spPr>
          <a:xfrm>
            <a:off x="6592824" y="2116836"/>
            <a:ext cx="186538" cy="384048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12" name="shape_10"/>
          <p:cNvSpPr/>
          <p:nvPr/>
        </p:nvSpPr>
        <p:spPr>
          <a:xfrm>
            <a:off x="6723400" y="2116836"/>
            <a:ext cx="186538" cy="384048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13" name="shape_11"/>
          <p:cNvSpPr/>
          <p:nvPr/>
        </p:nvSpPr>
        <p:spPr>
          <a:xfrm>
            <a:off x="6949440" y="1188720"/>
            <a:ext cx="3328416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22225">
            <a:solidFill>
              <a:srgbClr val="E8384F"/>
            </a:solidFill>
            <a:prstDash val="solid"/>
          </a:ln>
        </p:spPr>
      </p:sp>
      <p:sp>
        <p:nvSpPr>
          <p:cNvPr id="14" name="fslabel_12"/>
          <p:cNvSpPr/>
          <p:nvPr/>
        </p:nvSpPr>
        <p:spPr>
          <a:xfrm>
            <a:off x="8247888" y="1024128"/>
            <a:ext cx="73152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答え</a:t>
            </a:r>
            <a:endParaRPr lang="en-US" sz="1800" dirty="0"/>
          </a:p>
        </p:txBody>
      </p:sp>
      <p:sp>
        <p:nvSpPr>
          <p:cNvPr id="15" name="text_13"/>
          <p:cNvSpPr txBox="1"/>
          <p:nvPr/>
        </p:nvSpPr>
        <p:spPr>
          <a:xfrm>
            <a:off x="7132320" y="1463040"/>
            <a:ext cx="296265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速さは主因ではない</a:t>
            </a:r>
            <a:endParaRPr lang="en-US" sz="16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主因は、急拡大したBEV市場に日系の商品がないこと</a:t>
            </a:r>
            <a:endParaRPr lang="en-US" sz="1600" dirty="0"/>
          </a:p>
        </p:txBody>
      </p:sp>
      <p:sp>
        <p:nvSpPr>
          <p:cNvPr id="16" name="lab_14"/>
          <p:cNvSpPr/>
          <p:nvPr/>
        </p:nvSpPr>
        <p:spPr>
          <a:xfrm>
            <a:off x="411480" y="3703320"/>
            <a:ext cx="1828800" cy="658368"/>
          </a:xfrm>
          <a:prstGeom prst="roundRect">
            <a:avLst>
              <a:gd name="adj" fmla="val 8333"/>
            </a:avLst>
          </a:prstGeom>
          <a:solidFill>
            <a:srgbClr val="4472C4"/>
          </a:solidFill>
          <a:ln>
            <a:solidFill>
              <a:srgbClr val="4472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 vs 中国系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PT別</a:t>
            </a:r>
            <a:endParaRPr lang="en-US" sz="1300" dirty="0"/>
          </a:p>
        </p:txBody>
      </p:sp>
      <p:sp>
        <p:nvSpPr>
          <p:cNvPr id="17" name="text_15"/>
          <p:cNvSpPr txBox="1"/>
          <p:nvPr/>
        </p:nvSpPr>
        <p:spPr>
          <a:xfrm>
            <a:off x="2468880" y="3703320"/>
            <a:ext cx="7763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政策でBEV市場が急拡大し、日系には商品がない。中国系は入口の値段を下げ続ける</a:t>
            </a:r>
            <a:endParaRPr lang="en-US" sz="1600" dirty="0"/>
          </a:p>
        </p:txBody>
      </p:sp>
      <p:sp>
        <p:nvSpPr>
          <p:cNvPr id="18" name="lab_16"/>
          <p:cNvSpPr/>
          <p:nvPr/>
        </p:nvSpPr>
        <p:spPr>
          <a:xfrm>
            <a:off x="411480" y="4471416"/>
            <a:ext cx="1828800" cy="658368"/>
          </a:xfrm>
          <a:prstGeom prst="roundRect">
            <a:avLst>
              <a:gd name="adj" fmla="val 8333"/>
            </a:avLst>
          </a:prstGeom>
          <a:solidFill>
            <a:srgbClr val="1E9C96"/>
          </a:solidFill>
          <a:ln>
            <a:solidFill>
              <a:srgbClr val="1E9C9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 vs 中国系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セグメント別</a:t>
            </a:r>
            <a:endParaRPr lang="en-US" sz="1300" dirty="0"/>
          </a:p>
        </p:txBody>
      </p:sp>
      <p:sp>
        <p:nvSpPr>
          <p:cNvPr id="19" name="text_17"/>
          <p:cNvSpPr txBox="1"/>
          <p:nvPr/>
        </p:nvSpPr>
        <p:spPr>
          <a:xfrm>
            <a:off x="2468880" y="4471416"/>
            <a:ext cx="7763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競合は乗用車のB・CとSUVのC。中国系は多くの車種で席を分け合う</a:t>
            </a:r>
            <a:endParaRPr lang="en-US" sz="1600" dirty="0"/>
          </a:p>
        </p:txBody>
      </p:sp>
      <p:sp>
        <p:nvSpPr>
          <p:cNvPr id="20" name="lab_18"/>
          <p:cNvSpPr/>
          <p:nvPr/>
        </p:nvSpPr>
        <p:spPr>
          <a:xfrm>
            <a:off x="411480" y="5239512"/>
            <a:ext cx="1828800" cy="658368"/>
          </a:xfrm>
          <a:prstGeom prst="roundRect">
            <a:avLst>
              <a:gd name="adj" fmla="val 8333"/>
            </a:avLst>
          </a:prstGeom>
          <a:solidFill>
            <a:srgbClr val="E8604C"/>
          </a:solidFill>
          <a:ln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中国系どうし</a:t>
            </a:r>
            <a:endParaRPr lang="en-US" sz="1600" dirty="0"/>
          </a:p>
        </p:txBody>
      </p:sp>
      <p:sp>
        <p:nvSpPr>
          <p:cNvPr id="21" name="text_19"/>
          <p:cNvSpPr txBox="1"/>
          <p:nvPr/>
        </p:nvSpPr>
        <p:spPr>
          <a:xfrm>
            <a:off x="2468880" y="5239512"/>
            <a:ext cx="7763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売れ筋は1年で入れ替わる。速さは生き残りの条件で、日系との勝敗は分けていない</a:t>
            </a:r>
            <a:endParaRPr lang="en-US" sz="1600" dirty="0"/>
          </a:p>
        </p:txBody>
      </p:sp>
      <p:sp>
        <p:nvSpPr>
          <p:cNvPr id="22" name="summary_20"/>
          <p:cNvSpPr/>
          <p:nvPr/>
        </p:nvSpPr>
        <p:spPr>
          <a:xfrm>
            <a:off x="777240" y="6108192"/>
            <a:ext cx="9134856" cy="804672"/>
          </a:xfrm>
          <a:prstGeom prst="roundRect">
            <a:avLst>
              <a:gd name="adj" fmla="val 11364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日系の打ち手：</a:t>
            </a:r>
            <a:pPr algn="ctr" indent="0" marL="0">
              <a:buNone/>
            </a:pPr>
            <a:r>
              <a:rPr lang="en-US" sz="1800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BEVの商品を持つ／HEVは長く売る／残価の高さで月々を下げる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結論に至った分析と、そこから得られる視座</a:t>
            </a:r>
            <a:endParaRPr lang="en-US" sz="2400" dirty="0"/>
          </a:p>
        </p:txBody>
      </p:sp>
      <p:sp>
        <p:nvSpPr>
          <p:cNvPr id="3" name="text_21"/>
          <p:cNvSpPr txBox="1"/>
          <p:nvPr/>
        </p:nvSpPr>
        <p:spPr>
          <a:xfrm>
            <a:off x="4434840" y="111556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わかったこと</a:t>
            </a:r>
            <a:endParaRPr lang="en-US" sz="1400" dirty="0"/>
          </a:p>
        </p:txBody>
      </p:sp>
      <p:sp>
        <p:nvSpPr>
          <p:cNvPr id="4" name="text_22"/>
          <p:cNvSpPr txBox="1"/>
          <p:nvPr/>
        </p:nvSpPr>
        <p:spPr>
          <a:xfrm>
            <a:off x="8229600" y="1115568"/>
            <a:ext cx="2048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視座</a:t>
            </a:r>
            <a:endParaRPr lang="en-US" sz="1400" dirty="0"/>
          </a:p>
        </p:txBody>
      </p:sp>
      <p:sp>
        <p:nvSpPr>
          <p:cNvPr id="5" name="leaf_23"/>
          <p:cNvSpPr/>
          <p:nvPr/>
        </p:nvSpPr>
        <p:spPr>
          <a:xfrm>
            <a:off x="4434840" y="1572768"/>
            <a:ext cx="34290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4472C4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BEVに、日系の商品がない</a:t>
            </a:r>
            <a:endParaRPr lang="en-US" sz="1600" dirty="0"/>
          </a:p>
        </p:txBody>
      </p:sp>
      <p:sp>
        <p:nvSpPr>
          <p:cNvPr id="6" name="leaf_24"/>
          <p:cNvSpPr/>
          <p:nvPr/>
        </p:nvSpPr>
        <p:spPr>
          <a:xfrm>
            <a:off x="4434840" y="2560320"/>
            <a:ext cx="34290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4472C4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中国系は、入口の値段を下げ続ける</a:t>
            </a:r>
            <a:endParaRPr lang="en-US" sz="1600" dirty="0"/>
          </a:p>
        </p:txBody>
      </p:sp>
      <p:sp>
        <p:nvSpPr>
          <p:cNvPr id="7" name="leaf_25"/>
          <p:cNvSpPr/>
          <p:nvPr/>
        </p:nvSpPr>
        <p:spPr>
          <a:xfrm>
            <a:off x="4434840" y="3749040"/>
            <a:ext cx="34290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1E9C9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競合は乗用車B・CとSUV C。中国系は車種の数で攻める</a:t>
            </a:r>
            <a:endParaRPr lang="en-US" sz="1600" dirty="0"/>
          </a:p>
        </p:txBody>
      </p:sp>
      <p:sp>
        <p:nvSpPr>
          <p:cNvPr id="8" name="leaf_26"/>
          <p:cNvSpPr/>
          <p:nvPr/>
        </p:nvSpPr>
        <p:spPr>
          <a:xfrm>
            <a:off x="4434840" y="4937760"/>
            <a:ext cx="34290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E8604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売れ筋は1年で入れ替わる。日系は数年売れる</a:t>
            </a:r>
            <a:endParaRPr lang="en-US" sz="1600" dirty="0"/>
          </a:p>
        </p:txBody>
      </p:sp>
      <p:sp>
        <p:nvSpPr>
          <p:cNvPr id="9" name="br_27"/>
          <p:cNvSpPr/>
          <p:nvPr/>
        </p:nvSpPr>
        <p:spPr>
          <a:xfrm>
            <a:off x="2514600" y="2084832"/>
            <a:ext cx="1600200" cy="768096"/>
          </a:xfrm>
          <a:prstGeom prst="roundRect">
            <a:avLst>
              <a:gd name="adj" fmla="val 9524"/>
            </a:avLst>
          </a:prstGeom>
          <a:solidFill>
            <a:srgbClr val="4472C4"/>
          </a:solidFill>
          <a:ln>
            <a:solidFill>
              <a:srgbClr val="4472C4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PT別</a:t>
            </a:r>
            <a:endParaRPr lang="en-US" sz="15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p.6–10</a:t>
            </a:r>
            <a:endParaRPr lang="en-US" sz="1500" dirty="0"/>
          </a:p>
        </p:txBody>
      </p:sp>
      <p:sp>
        <p:nvSpPr>
          <p:cNvPr id="10" name="shape_28"/>
          <p:cNvSpPr/>
          <p:nvPr/>
        </p:nvSpPr>
        <p:spPr>
          <a:xfrm>
            <a:off x="4114800" y="2468880"/>
            <a:ext cx="320040" cy="-493776"/>
          </a:xfrm>
          <a:prstGeom prst="line">
            <a:avLst/>
          </a:prstGeom>
          <a:noFill/>
          <a:ln w="15875">
            <a:solidFill>
              <a:srgbClr val="A6A6A6"/>
            </a:solidFill>
            <a:prstDash val="solid"/>
          </a:ln>
        </p:spPr>
      </p:sp>
      <p:sp>
        <p:nvSpPr>
          <p:cNvPr id="11" name="shape_29"/>
          <p:cNvSpPr/>
          <p:nvPr/>
        </p:nvSpPr>
        <p:spPr>
          <a:xfrm>
            <a:off x="4114800" y="2468880"/>
            <a:ext cx="320040" cy="493776"/>
          </a:xfrm>
          <a:prstGeom prst="line">
            <a:avLst/>
          </a:prstGeom>
          <a:noFill/>
          <a:ln w="15875">
            <a:solidFill>
              <a:srgbClr val="A6A6A6"/>
            </a:solidFill>
            <a:prstDash val="solid"/>
          </a:ln>
        </p:spPr>
      </p:sp>
      <p:sp>
        <p:nvSpPr>
          <p:cNvPr id="12" name="shape_30"/>
          <p:cNvSpPr/>
          <p:nvPr/>
        </p:nvSpPr>
        <p:spPr>
          <a:xfrm>
            <a:off x="7955280" y="2304288"/>
            <a:ext cx="131674" cy="329184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13" name="shape_31"/>
          <p:cNvSpPr/>
          <p:nvPr/>
        </p:nvSpPr>
        <p:spPr>
          <a:xfrm>
            <a:off x="8047452" y="2304288"/>
            <a:ext cx="131674" cy="329184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14" name="view_32"/>
          <p:cNvSpPr/>
          <p:nvPr/>
        </p:nvSpPr>
        <p:spPr>
          <a:xfrm>
            <a:off x="8229600" y="1572768"/>
            <a:ext cx="2048256" cy="1792224"/>
          </a:xfrm>
          <a:prstGeom prst="roundRect">
            <a:avLst>
              <a:gd name="adj" fmla="val 4082"/>
            </a:avLst>
          </a:prstGeom>
          <a:solidFill>
            <a:srgbClr val="D3F0ED"/>
          </a:solidFill>
          <a:ln w="19050">
            <a:solidFill>
              <a:srgbClr val="1E9C9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BEVを持ち、残価で戦う</a:t>
            </a:r>
            <a:endParaRPr lang="en-US" sz="1700" dirty="0"/>
          </a:p>
        </p:txBody>
      </p:sp>
      <p:sp>
        <p:nvSpPr>
          <p:cNvPr id="15" name="br_33"/>
          <p:cNvSpPr/>
          <p:nvPr/>
        </p:nvSpPr>
        <p:spPr>
          <a:xfrm>
            <a:off x="2514600" y="3767328"/>
            <a:ext cx="1600200" cy="768096"/>
          </a:xfrm>
          <a:prstGeom prst="roundRect">
            <a:avLst>
              <a:gd name="adj" fmla="val 9524"/>
            </a:avLst>
          </a:prstGeom>
          <a:solidFill>
            <a:srgbClr val="1E9C96"/>
          </a:solidFill>
          <a:ln>
            <a:solidFill>
              <a:srgbClr val="1E9C9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セグメント別</a:t>
            </a:r>
            <a:endParaRPr lang="en-US" sz="15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p.11–12</a:t>
            </a:r>
            <a:endParaRPr lang="en-US" sz="1500" dirty="0"/>
          </a:p>
        </p:txBody>
      </p:sp>
      <p:sp>
        <p:nvSpPr>
          <p:cNvPr id="16" name="shape_34"/>
          <p:cNvSpPr/>
          <p:nvPr/>
        </p:nvSpPr>
        <p:spPr>
          <a:xfrm>
            <a:off x="4114800" y="4151376"/>
            <a:ext cx="320040" cy="0"/>
          </a:xfrm>
          <a:prstGeom prst="line">
            <a:avLst/>
          </a:prstGeom>
          <a:noFill/>
          <a:ln w="15875">
            <a:solidFill>
              <a:srgbClr val="A6A6A6"/>
            </a:solidFill>
            <a:prstDash val="solid"/>
          </a:ln>
        </p:spPr>
      </p:sp>
      <p:sp>
        <p:nvSpPr>
          <p:cNvPr id="17" name="shape_35"/>
          <p:cNvSpPr/>
          <p:nvPr/>
        </p:nvSpPr>
        <p:spPr>
          <a:xfrm>
            <a:off x="7955280" y="3986784"/>
            <a:ext cx="131674" cy="329184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18" name="shape_36"/>
          <p:cNvSpPr/>
          <p:nvPr/>
        </p:nvSpPr>
        <p:spPr>
          <a:xfrm>
            <a:off x="8047452" y="3986784"/>
            <a:ext cx="131674" cy="329184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19" name="view_37"/>
          <p:cNvSpPr/>
          <p:nvPr/>
        </p:nvSpPr>
        <p:spPr>
          <a:xfrm>
            <a:off x="8229600" y="3749040"/>
            <a:ext cx="2048256" cy="804672"/>
          </a:xfrm>
          <a:prstGeom prst="roundRect">
            <a:avLst>
              <a:gd name="adj" fmla="val 9091"/>
            </a:avLst>
          </a:prstGeom>
          <a:solidFill>
            <a:srgbClr val="D3F0ED"/>
          </a:solidFill>
          <a:ln w="19050">
            <a:solidFill>
              <a:srgbClr val="1E9C9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少ない車種を長く売る</a:t>
            </a:r>
            <a:endParaRPr lang="en-US" sz="1700" dirty="0"/>
          </a:p>
        </p:txBody>
      </p:sp>
      <p:sp>
        <p:nvSpPr>
          <p:cNvPr id="20" name="br_38"/>
          <p:cNvSpPr/>
          <p:nvPr/>
        </p:nvSpPr>
        <p:spPr>
          <a:xfrm>
            <a:off x="2514600" y="4956048"/>
            <a:ext cx="1600200" cy="768096"/>
          </a:xfrm>
          <a:prstGeom prst="roundRect">
            <a:avLst>
              <a:gd name="adj" fmla="val 9524"/>
            </a:avLst>
          </a:prstGeom>
          <a:solidFill>
            <a:srgbClr val="E8604C"/>
          </a:solidFill>
          <a:ln>
            <a:solidFill>
              <a:srgbClr val="E8604C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中国系どうし</a:t>
            </a:r>
            <a:endParaRPr lang="en-US" sz="15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p.13–15</a:t>
            </a:r>
            <a:endParaRPr lang="en-US" sz="1500" dirty="0"/>
          </a:p>
        </p:txBody>
      </p:sp>
      <p:sp>
        <p:nvSpPr>
          <p:cNvPr id="21" name="shape_39"/>
          <p:cNvSpPr/>
          <p:nvPr/>
        </p:nvSpPr>
        <p:spPr>
          <a:xfrm>
            <a:off x="4114800" y="5340096"/>
            <a:ext cx="320040" cy="0"/>
          </a:xfrm>
          <a:prstGeom prst="line">
            <a:avLst/>
          </a:prstGeom>
          <a:noFill/>
          <a:ln w="15875">
            <a:solidFill>
              <a:srgbClr val="A6A6A6"/>
            </a:solidFill>
            <a:prstDash val="solid"/>
          </a:ln>
        </p:spPr>
      </p:sp>
      <p:sp>
        <p:nvSpPr>
          <p:cNvPr id="22" name="shape_40"/>
          <p:cNvSpPr/>
          <p:nvPr/>
        </p:nvSpPr>
        <p:spPr>
          <a:xfrm>
            <a:off x="7955280" y="5175504"/>
            <a:ext cx="131674" cy="329184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23" name="shape_41"/>
          <p:cNvSpPr/>
          <p:nvPr/>
        </p:nvSpPr>
        <p:spPr>
          <a:xfrm>
            <a:off x="8047452" y="5175504"/>
            <a:ext cx="131674" cy="329184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24" name="view_42"/>
          <p:cNvSpPr/>
          <p:nvPr/>
        </p:nvSpPr>
        <p:spPr>
          <a:xfrm>
            <a:off x="8229600" y="4937760"/>
            <a:ext cx="2048256" cy="804672"/>
          </a:xfrm>
          <a:prstGeom prst="roundRect">
            <a:avLst>
              <a:gd name="adj" fmla="val 9091"/>
            </a:avLst>
          </a:prstGeom>
          <a:solidFill>
            <a:srgbClr val="D3F0ED"/>
          </a:solidFill>
          <a:ln w="19050">
            <a:solidFill>
              <a:srgbClr val="1E9C9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速さは追わない</a:t>
            </a:r>
            <a:endParaRPr lang="en-US" sz="1700" dirty="0"/>
          </a:p>
        </p:txBody>
      </p:sp>
      <p:sp>
        <p:nvSpPr>
          <p:cNvPr id="25" name="root_43"/>
          <p:cNvSpPr/>
          <p:nvPr/>
        </p:nvSpPr>
        <p:spPr>
          <a:xfrm>
            <a:off x="411480" y="2807208"/>
            <a:ext cx="182880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404040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結論</a:t>
            </a:r>
            <a:endParaRPr lang="en-US" sz="12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速さは</a:t>
            </a:r>
            <a:endParaRPr lang="en-US" sz="12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主因ではない</a:t>
            </a:r>
            <a:endParaRPr lang="en-US" sz="1200" dirty="0"/>
          </a:p>
        </p:txBody>
      </p:sp>
      <p:sp>
        <p:nvSpPr>
          <p:cNvPr id="26" name="shape_44"/>
          <p:cNvSpPr/>
          <p:nvPr/>
        </p:nvSpPr>
        <p:spPr>
          <a:xfrm>
            <a:off x="2240280" y="3904488"/>
            <a:ext cx="274320" cy="-1435608"/>
          </a:xfrm>
          <a:prstGeom prst="line">
            <a:avLst/>
          </a:prstGeom>
          <a:noFill/>
          <a:ln w="19050">
            <a:solidFill>
              <a:srgbClr val="A6A6A6"/>
            </a:solidFill>
            <a:prstDash val="solid"/>
          </a:ln>
        </p:spPr>
      </p:sp>
      <p:sp>
        <p:nvSpPr>
          <p:cNvPr id="27" name="shape_45"/>
          <p:cNvSpPr/>
          <p:nvPr/>
        </p:nvSpPr>
        <p:spPr>
          <a:xfrm>
            <a:off x="2240280" y="3904488"/>
            <a:ext cx="274320" cy="246888"/>
          </a:xfrm>
          <a:prstGeom prst="line">
            <a:avLst/>
          </a:prstGeom>
          <a:noFill/>
          <a:ln w="19050">
            <a:solidFill>
              <a:srgbClr val="A6A6A6"/>
            </a:solidFill>
            <a:prstDash val="solid"/>
          </a:ln>
        </p:spPr>
      </p:sp>
      <p:sp>
        <p:nvSpPr>
          <p:cNvPr id="28" name="shape_46"/>
          <p:cNvSpPr/>
          <p:nvPr/>
        </p:nvSpPr>
        <p:spPr>
          <a:xfrm>
            <a:off x="2240280" y="3904488"/>
            <a:ext cx="274320" cy="1435608"/>
          </a:xfrm>
          <a:prstGeom prst="line">
            <a:avLst/>
          </a:prstGeom>
          <a:noFill/>
          <a:ln w="19050">
            <a:solidFill>
              <a:srgbClr val="A6A6A6"/>
            </a:solidFill>
            <a:prstDash val="solid"/>
          </a:ln>
        </p:spPr>
      </p:sp>
      <p:sp>
        <p:nvSpPr>
          <p:cNvPr id="29" name="summary_47"/>
          <p:cNvSpPr/>
          <p:nvPr/>
        </p:nvSpPr>
        <p:spPr>
          <a:xfrm>
            <a:off x="685800" y="6172200"/>
            <a:ext cx="9317736" cy="731520"/>
          </a:xfrm>
          <a:prstGeom prst="roundRect">
            <a:avLst>
              <a:gd name="adj" fmla="val 12500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日系の打ち手（p.16）：</a:t>
            </a:r>
            <a:pPr algn="ctr" indent="0" marL="0">
              <a:buNone/>
            </a:pPr>
            <a:r>
              <a:rPr lang="en-US" sz="1600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BEVを持つ／HEVは長く売る／残価の高さで月々を下げる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タイ市場：ピックアップが縮み、SUVと電動車が伸びる</a:t>
            </a:r>
            <a:endParaRPr lang="en-US" sz="2400" dirty="0"/>
          </a:p>
        </p:txBody>
      </p:sp>
      <p:sp>
        <p:nvSpPr>
          <p:cNvPr id="3" name="grp_48"/>
          <p:cNvSpPr/>
          <p:nvPr/>
        </p:nvSpPr>
        <p:spPr>
          <a:xfrm>
            <a:off x="411480" y="1024128"/>
            <a:ext cx="14630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59595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市場</a:t>
            </a:r>
            <a:endParaRPr lang="en-US" sz="1200" dirty="0"/>
          </a:p>
        </p:txBody>
      </p:sp>
      <p:sp>
        <p:nvSpPr>
          <p:cNvPr id="4" name="text_49"/>
          <p:cNvSpPr txBox="1"/>
          <p:nvPr/>
        </p:nvSpPr>
        <p:spPr>
          <a:xfrm>
            <a:off x="2057400" y="987552"/>
            <a:ext cx="8174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問い　</a:t>
            </a:r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タイ市場では、どのセグメントが伸び、どこが縮んでいるのか</a:t>
            </a:r>
            <a:endParaRPr lang="en-US" sz="1600" dirty="0"/>
          </a:p>
        </p:txBody>
      </p:sp>
      <p:sp>
        <p:nvSpPr>
          <p:cNvPr id="5" name="pc_50"/>
          <p:cNvSpPr/>
          <p:nvPr/>
        </p:nvSpPr>
        <p:spPr>
          <a:xfrm>
            <a:off x="411480" y="1572768"/>
            <a:ext cx="5989320" cy="5330952"/>
          </a:xfrm>
          <a:prstGeom prst="rect">
            <a:avLst/>
          </a:prstGeom>
          <a:solidFill>
            <a:srgbClr val="FAFAFA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101600" tIns="152400" rIns="152400" bIns="10160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社内PCで作成して差し込む</a:t>
            </a:r>
            <a:endParaRPr lang="en-US" sz="12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年別・セグメント別の販売台数とシェア（社内データ）</a:t>
            </a:r>
            <a:endParaRPr lang="en-US" sz="12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乗用車B・C・D、SUV B・C・D、ピックアップ、MPVの積み上げ（2019〜2026年）</a:t>
            </a:r>
            <a:endParaRPr lang="en-US" sz="12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セグメントごとの日系・中国系シェア</a:t>
            </a:r>
            <a:endParaRPr lang="en-US" sz="1200" dirty="0"/>
          </a:p>
        </p:txBody>
      </p:sp>
      <p:sp>
        <p:nvSpPr>
          <p:cNvPr id="6" name="shape_51"/>
          <p:cNvSpPr/>
          <p:nvPr/>
        </p:nvSpPr>
        <p:spPr>
          <a:xfrm>
            <a:off x="6629400" y="1572768"/>
            <a:ext cx="3648456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9050">
            <a:solidFill>
              <a:srgbClr val="595959"/>
            </a:solidFill>
            <a:prstDash val="solid"/>
          </a:ln>
        </p:spPr>
      </p:sp>
      <p:sp>
        <p:nvSpPr>
          <p:cNvPr id="7" name="text_52"/>
          <p:cNvSpPr txBox="1"/>
          <p:nvPr/>
        </p:nvSpPr>
        <p:spPr>
          <a:xfrm>
            <a:off x="6812280" y="1645920"/>
            <a:ext cx="3282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ピックアップ</a:t>
            </a:r>
            <a:endParaRPr lang="en-US" sz="1300" dirty="0"/>
          </a:p>
        </p:txBody>
      </p:sp>
      <p:sp>
        <p:nvSpPr>
          <p:cNvPr id="8" name="text_53"/>
          <p:cNvSpPr txBox="1"/>
          <p:nvPr/>
        </p:nvSpPr>
        <p:spPr>
          <a:xfrm>
            <a:off x="6812280" y="1920240"/>
            <a:ext cx="3282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38.8万→14.4万台</a:t>
            </a:r>
            <a:endParaRPr lang="en-US" sz="2400" dirty="0"/>
          </a:p>
        </p:txBody>
      </p:sp>
      <p:sp>
        <p:nvSpPr>
          <p:cNvPr id="9" name="text_54"/>
          <p:cNvSpPr txBox="1"/>
          <p:nvPr/>
        </p:nvSpPr>
        <p:spPr>
          <a:xfrm>
            <a:off x="6812280" y="2395728"/>
            <a:ext cx="3282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2022→2025年（与信の引き締め）</a:t>
            </a:r>
            <a:endParaRPr lang="en-US" sz="1150" dirty="0"/>
          </a:p>
        </p:txBody>
      </p:sp>
      <p:sp>
        <p:nvSpPr>
          <p:cNvPr id="10" name="shape_55"/>
          <p:cNvSpPr/>
          <p:nvPr/>
        </p:nvSpPr>
        <p:spPr>
          <a:xfrm>
            <a:off x="6629400" y="2944368"/>
            <a:ext cx="3648456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9050">
            <a:solidFill>
              <a:srgbClr val="1E9C96"/>
            </a:solidFill>
            <a:prstDash val="solid"/>
          </a:ln>
        </p:spPr>
      </p:sp>
      <p:sp>
        <p:nvSpPr>
          <p:cNvPr id="11" name="text_56"/>
          <p:cNvSpPr txBox="1"/>
          <p:nvPr/>
        </p:nvSpPr>
        <p:spPr>
          <a:xfrm>
            <a:off x="6812280" y="3017520"/>
            <a:ext cx="3282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SUV（B・Cクラス）</a:t>
            </a:r>
            <a:endParaRPr lang="en-US" sz="1300" dirty="0"/>
          </a:p>
        </p:txBody>
      </p:sp>
      <p:sp>
        <p:nvSpPr>
          <p:cNvPr id="12" name="text_57"/>
          <p:cNvSpPr txBox="1"/>
          <p:nvPr/>
        </p:nvSpPr>
        <p:spPr>
          <a:xfrm>
            <a:off x="6812280" y="3291840"/>
            <a:ext cx="3282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9.6万→12.7万台</a:t>
            </a:r>
            <a:endParaRPr lang="en-US" sz="2400" dirty="0"/>
          </a:p>
        </p:txBody>
      </p:sp>
      <p:sp>
        <p:nvSpPr>
          <p:cNvPr id="13" name="text_58"/>
          <p:cNvSpPr txBox="1"/>
          <p:nvPr/>
        </p:nvSpPr>
        <p:spPr>
          <a:xfrm>
            <a:off x="6812280" y="3767328"/>
            <a:ext cx="3282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2024→2025年（+32%）</a:t>
            </a:r>
            <a:endParaRPr lang="en-US" sz="1150" dirty="0"/>
          </a:p>
        </p:txBody>
      </p:sp>
      <p:sp>
        <p:nvSpPr>
          <p:cNvPr id="14" name="shape_59"/>
          <p:cNvSpPr/>
          <p:nvPr/>
        </p:nvSpPr>
        <p:spPr>
          <a:xfrm>
            <a:off x="6629400" y="4315968"/>
            <a:ext cx="3648456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9050">
            <a:solidFill>
              <a:srgbClr val="E8604C"/>
            </a:solidFill>
            <a:prstDash val="solid"/>
          </a:ln>
        </p:spPr>
      </p:sp>
      <p:sp>
        <p:nvSpPr>
          <p:cNvPr id="15" name="text_60"/>
          <p:cNvSpPr txBox="1"/>
          <p:nvPr/>
        </p:nvSpPr>
        <p:spPr>
          <a:xfrm>
            <a:off x="6812280" y="4389120"/>
            <a:ext cx="3282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</a:t>
            </a:r>
            <a:endParaRPr lang="en-US" sz="1300" dirty="0"/>
          </a:p>
        </p:txBody>
      </p:sp>
      <p:sp>
        <p:nvSpPr>
          <p:cNvPr id="16" name="text_61"/>
          <p:cNvSpPr txBox="1"/>
          <p:nvPr/>
        </p:nvSpPr>
        <p:spPr>
          <a:xfrm>
            <a:off x="6812280" y="4663440"/>
            <a:ext cx="3282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5.7万→10.5万台</a:t>
            </a:r>
            <a:endParaRPr lang="en-US" sz="2400" dirty="0"/>
          </a:p>
        </p:txBody>
      </p:sp>
      <p:sp>
        <p:nvSpPr>
          <p:cNvPr id="17" name="text_62"/>
          <p:cNvSpPr txBox="1"/>
          <p:nvPr/>
        </p:nvSpPr>
        <p:spPr>
          <a:xfrm>
            <a:off x="6812280" y="5138928"/>
            <a:ext cx="3282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2025→2026年の1〜6月（+85%）</a:t>
            </a:r>
            <a:endParaRPr lang="en-US" sz="1150" dirty="0"/>
          </a:p>
        </p:txBody>
      </p:sp>
      <p:sp>
        <p:nvSpPr>
          <p:cNvPr id="18" name="shape_63"/>
          <p:cNvSpPr/>
          <p:nvPr/>
        </p:nvSpPr>
        <p:spPr>
          <a:xfrm>
            <a:off x="6629400" y="5687568"/>
            <a:ext cx="3648456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9" name="text_64"/>
          <p:cNvSpPr txBox="1"/>
          <p:nvPr/>
        </p:nvSpPr>
        <p:spPr>
          <a:xfrm>
            <a:off x="6812280" y="5760720"/>
            <a:ext cx="3282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日系シェア（全体）</a:t>
            </a:r>
            <a:endParaRPr lang="en-US" sz="1300" dirty="0"/>
          </a:p>
        </p:txBody>
      </p:sp>
      <p:sp>
        <p:nvSpPr>
          <p:cNvPr id="20" name="text_65"/>
          <p:cNvSpPr txBox="1"/>
          <p:nvPr/>
        </p:nvSpPr>
        <p:spPr>
          <a:xfrm>
            <a:off x="6812280" y="6035040"/>
            <a:ext cx="3282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85%→62%</a:t>
            </a:r>
            <a:endParaRPr lang="en-US" sz="2400" dirty="0"/>
          </a:p>
        </p:txBody>
      </p:sp>
      <p:sp>
        <p:nvSpPr>
          <p:cNvPr id="21" name="text_66"/>
          <p:cNvSpPr txBox="1"/>
          <p:nvPr/>
        </p:nvSpPr>
        <p:spPr>
          <a:xfrm>
            <a:off x="6812280" y="6510528"/>
            <a:ext cx="3282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2022年→2026年1〜7月</a:t>
            </a:r>
            <a:endParaRPr lang="en-US" sz="1150" dirty="0"/>
          </a:p>
        </p:txBody>
      </p:sp>
      <p:sp>
        <p:nvSpPr>
          <p:cNvPr id="22" name="text_67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出典：TMT、Autolife（B・BC-SUV）、JETRO（2026年7月）、Thansettakij。左の図は社内PC（MarkLines）で作成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車種のポジショニング：同じ車格で、中国系は日系より安い</a:t>
            </a:r>
            <a:endParaRPr lang="en-US" sz="2400" dirty="0"/>
          </a:p>
        </p:txBody>
      </p:sp>
      <p:sp>
        <p:nvSpPr>
          <p:cNvPr id="3" name="grp_68"/>
          <p:cNvSpPr/>
          <p:nvPr/>
        </p:nvSpPr>
        <p:spPr>
          <a:xfrm>
            <a:off x="411480" y="1024128"/>
            <a:ext cx="14630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59595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市場</a:t>
            </a:r>
            <a:endParaRPr lang="en-US" sz="1200" dirty="0"/>
          </a:p>
        </p:txBody>
      </p:sp>
      <p:sp>
        <p:nvSpPr>
          <p:cNvPr id="4" name="text_69"/>
          <p:cNvSpPr txBox="1"/>
          <p:nvPr/>
        </p:nvSpPr>
        <p:spPr>
          <a:xfrm>
            <a:off x="2057400" y="987552"/>
            <a:ext cx="8174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問い　</a:t>
            </a:r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日系と中国系の車は、どの車格・価格帯に並んでいるのか</a:t>
            </a:r>
            <a:endParaRPr lang="en-US" sz="1600" dirty="0"/>
          </a:p>
        </p:txBody>
      </p:sp>
      <p:sp>
        <p:nvSpPr>
          <p:cNvPr id="5" name="shape_70"/>
          <p:cNvSpPr/>
          <p:nvPr/>
        </p:nvSpPr>
        <p:spPr>
          <a:xfrm>
            <a:off x="1965960" y="1554480"/>
            <a:ext cx="8174736" cy="91440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6" name="text_71"/>
          <p:cNvSpPr txBox="1"/>
          <p:nvPr/>
        </p:nvSpPr>
        <p:spPr>
          <a:xfrm>
            <a:off x="411480" y="164592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乗用車</a:t>
            </a:r>
            <a:endParaRPr lang="en-US" sz="1400" dirty="0"/>
          </a:p>
          <a:p>
            <a:pPr algn="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Bクラス</a:t>
            </a:r>
            <a:endParaRPr lang="en-US" sz="1400" dirty="0"/>
          </a:p>
        </p:txBody>
      </p:sp>
      <p:sp>
        <p:nvSpPr>
          <p:cNvPr id="7" name="shape_72"/>
          <p:cNvSpPr/>
          <p:nvPr/>
        </p:nvSpPr>
        <p:spPr>
          <a:xfrm>
            <a:off x="1965960" y="2487168"/>
            <a:ext cx="8174736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_73"/>
          <p:cNvSpPr txBox="1"/>
          <p:nvPr/>
        </p:nvSpPr>
        <p:spPr>
          <a:xfrm>
            <a:off x="411480" y="2578608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乗用車</a:t>
            </a:r>
            <a:endParaRPr lang="en-US" sz="1400" dirty="0"/>
          </a:p>
          <a:p>
            <a:pPr algn="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Cクラス</a:t>
            </a:r>
            <a:endParaRPr lang="en-US" sz="1400" dirty="0"/>
          </a:p>
        </p:txBody>
      </p:sp>
      <p:sp>
        <p:nvSpPr>
          <p:cNvPr id="9" name="shape_74"/>
          <p:cNvSpPr/>
          <p:nvPr/>
        </p:nvSpPr>
        <p:spPr>
          <a:xfrm>
            <a:off x="1965960" y="3419856"/>
            <a:ext cx="8174736" cy="91440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10" name="text_75"/>
          <p:cNvSpPr txBox="1"/>
          <p:nvPr/>
        </p:nvSpPr>
        <p:spPr>
          <a:xfrm>
            <a:off x="411480" y="3511296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SUV</a:t>
            </a:r>
            <a:endParaRPr lang="en-US" sz="1400" dirty="0"/>
          </a:p>
          <a:p>
            <a:pPr algn="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Bクラス</a:t>
            </a:r>
            <a:endParaRPr lang="en-US" sz="1400" dirty="0"/>
          </a:p>
        </p:txBody>
      </p:sp>
      <p:sp>
        <p:nvSpPr>
          <p:cNvPr id="11" name="shape_76"/>
          <p:cNvSpPr/>
          <p:nvPr/>
        </p:nvSpPr>
        <p:spPr>
          <a:xfrm>
            <a:off x="1965960" y="4352544"/>
            <a:ext cx="8174736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_77"/>
          <p:cNvSpPr txBox="1"/>
          <p:nvPr/>
        </p:nvSpPr>
        <p:spPr>
          <a:xfrm>
            <a:off x="411480" y="4443984"/>
            <a:ext cx="14173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SUV</a:t>
            </a:r>
            <a:endParaRPr lang="en-US" sz="1400" dirty="0"/>
          </a:p>
          <a:p>
            <a:pPr algn="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Cクラス</a:t>
            </a:r>
            <a:endParaRPr lang="en-US" sz="1400" dirty="0"/>
          </a:p>
        </p:txBody>
      </p:sp>
      <p:sp>
        <p:nvSpPr>
          <p:cNvPr id="13" name="shape_78"/>
          <p:cNvSpPr/>
          <p:nvPr/>
        </p:nvSpPr>
        <p:spPr>
          <a:xfrm>
            <a:off x="1965960" y="1554480"/>
            <a:ext cx="0" cy="3931920"/>
          </a:xfrm>
          <a:prstGeom prst="line">
            <a:avLst/>
          </a:prstGeom>
          <a:noFill/>
          <a:ln w="9525">
            <a:solidFill>
              <a:srgbClr val="DDDDDD"/>
            </a:solidFill>
            <a:prstDash val="dash"/>
          </a:ln>
        </p:spPr>
      </p:sp>
      <p:sp>
        <p:nvSpPr>
          <p:cNvPr id="14" name="text_79"/>
          <p:cNvSpPr txBox="1"/>
          <p:nvPr/>
        </p:nvSpPr>
        <p:spPr>
          <a:xfrm>
            <a:off x="1645920" y="553212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40万</a:t>
            </a:r>
            <a:endParaRPr lang="en-US" sz="1100" dirty="0"/>
          </a:p>
        </p:txBody>
      </p:sp>
      <p:sp>
        <p:nvSpPr>
          <p:cNvPr id="15" name="shape_80"/>
          <p:cNvSpPr/>
          <p:nvPr/>
        </p:nvSpPr>
        <p:spPr>
          <a:xfrm>
            <a:off x="3889427" y="1554480"/>
            <a:ext cx="0" cy="3931920"/>
          </a:xfrm>
          <a:prstGeom prst="line">
            <a:avLst/>
          </a:prstGeom>
          <a:noFill/>
          <a:ln w="9525">
            <a:solidFill>
              <a:srgbClr val="DDDDDD"/>
            </a:solidFill>
            <a:prstDash val="dash"/>
          </a:ln>
        </p:spPr>
      </p:sp>
      <p:sp>
        <p:nvSpPr>
          <p:cNvPr id="16" name="text_81"/>
          <p:cNvSpPr txBox="1"/>
          <p:nvPr/>
        </p:nvSpPr>
        <p:spPr>
          <a:xfrm>
            <a:off x="3569387" y="553212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60万</a:t>
            </a:r>
            <a:endParaRPr lang="en-US" sz="1100" dirty="0"/>
          </a:p>
        </p:txBody>
      </p:sp>
      <p:sp>
        <p:nvSpPr>
          <p:cNvPr id="17" name="shape_82"/>
          <p:cNvSpPr/>
          <p:nvPr/>
        </p:nvSpPr>
        <p:spPr>
          <a:xfrm>
            <a:off x="5812895" y="1554480"/>
            <a:ext cx="0" cy="3931920"/>
          </a:xfrm>
          <a:prstGeom prst="line">
            <a:avLst/>
          </a:prstGeom>
          <a:noFill/>
          <a:ln w="9525">
            <a:solidFill>
              <a:srgbClr val="DDDDDD"/>
            </a:solidFill>
            <a:prstDash val="dash"/>
          </a:ln>
        </p:spPr>
      </p:sp>
      <p:sp>
        <p:nvSpPr>
          <p:cNvPr id="18" name="text_83"/>
          <p:cNvSpPr txBox="1"/>
          <p:nvPr/>
        </p:nvSpPr>
        <p:spPr>
          <a:xfrm>
            <a:off x="5492855" y="553212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80万</a:t>
            </a:r>
            <a:endParaRPr lang="en-US" sz="1100" dirty="0"/>
          </a:p>
        </p:txBody>
      </p:sp>
      <p:sp>
        <p:nvSpPr>
          <p:cNvPr id="19" name="shape_84"/>
          <p:cNvSpPr/>
          <p:nvPr/>
        </p:nvSpPr>
        <p:spPr>
          <a:xfrm>
            <a:off x="7736362" y="1554480"/>
            <a:ext cx="0" cy="3931920"/>
          </a:xfrm>
          <a:prstGeom prst="line">
            <a:avLst/>
          </a:prstGeom>
          <a:noFill/>
          <a:ln w="9525">
            <a:solidFill>
              <a:srgbClr val="DDDDDD"/>
            </a:solidFill>
            <a:prstDash val="dash"/>
          </a:ln>
        </p:spPr>
      </p:sp>
      <p:sp>
        <p:nvSpPr>
          <p:cNvPr id="20" name="text_85"/>
          <p:cNvSpPr txBox="1"/>
          <p:nvPr/>
        </p:nvSpPr>
        <p:spPr>
          <a:xfrm>
            <a:off x="7416322" y="553212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100万</a:t>
            </a:r>
            <a:endParaRPr lang="en-US" sz="1100" dirty="0"/>
          </a:p>
        </p:txBody>
      </p:sp>
      <p:sp>
        <p:nvSpPr>
          <p:cNvPr id="21" name="shape_86"/>
          <p:cNvSpPr/>
          <p:nvPr/>
        </p:nvSpPr>
        <p:spPr>
          <a:xfrm>
            <a:off x="9659829" y="1554480"/>
            <a:ext cx="0" cy="3931920"/>
          </a:xfrm>
          <a:prstGeom prst="line">
            <a:avLst/>
          </a:prstGeom>
          <a:noFill/>
          <a:ln w="9525">
            <a:solidFill>
              <a:srgbClr val="DDDDDD"/>
            </a:solidFill>
            <a:prstDash val="dash"/>
          </a:ln>
        </p:spPr>
      </p:sp>
      <p:sp>
        <p:nvSpPr>
          <p:cNvPr id="22" name="text_87"/>
          <p:cNvSpPr txBox="1"/>
          <p:nvPr/>
        </p:nvSpPr>
        <p:spPr>
          <a:xfrm>
            <a:off x="9339789" y="553212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120万</a:t>
            </a:r>
            <a:endParaRPr lang="en-US" sz="1100" dirty="0"/>
          </a:p>
        </p:txBody>
      </p:sp>
      <p:sp>
        <p:nvSpPr>
          <p:cNvPr id="23" name="text_88"/>
          <p:cNvSpPr txBox="1"/>
          <p:nvPr/>
        </p:nvSpPr>
        <p:spPr>
          <a:xfrm>
            <a:off x="1965960" y="5760720"/>
            <a:ext cx="8174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新車価格（万バーツ、最安グレード）</a:t>
            </a:r>
            <a:endParaRPr lang="en-US" sz="1200" dirty="0"/>
          </a:p>
        </p:txBody>
      </p:sp>
      <p:sp>
        <p:nvSpPr>
          <p:cNvPr id="24" name="shape_89"/>
          <p:cNvSpPr/>
          <p:nvPr/>
        </p:nvSpPr>
        <p:spPr>
          <a:xfrm>
            <a:off x="2148362" y="1906524"/>
            <a:ext cx="210312" cy="210312"/>
          </a:xfrm>
          <a:prstGeom prst="ellipse">
            <a:avLst/>
          </a:prstGeom>
          <a:solidFill>
            <a:srgbClr val="E8604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_90"/>
          <p:cNvSpPr txBox="1"/>
          <p:nvPr/>
        </p:nvSpPr>
        <p:spPr>
          <a:xfrm>
            <a:off x="1339118" y="16093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Atto 1</a:t>
            </a:r>
            <a:endParaRPr lang="en-US" sz="1050" dirty="0"/>
          </a:p>
        </p:txBody>
      </p:sp>
      <p:sp>
        <p:nvSpPr>
          <p:cNvPr id="26" name="shape_91"/>
          <p:cNvSpPr/>
          <p:nvPr/>
        </p:nvSpPr>
        <p:spPr>
          <a:xfrm>
            <a:off x="2917749" y="1906524"/>
            <a:ext cx="210312" cy="210312"/>
          </a:xfrm>
          <a:prstGeom prst="ellipse">
            <a:avLst/>
          </a:prstGeom>
          <a:solidFill>
            <a:srgbClr val="E8604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_92"/>
          <p:cNvSpPr txBox="1"/>
          <p:nvPr/>
        </p:nvSpPr>
        <p:spPr>
          <a:xfrm>
            <a:off x="2108505" y="21488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Dolphin</a:t>
            </a:r>
            <a:endParaRPr lang="en-US" sz="1050" dirty="0"/>
          </a:p>
        </p:txBody>
      </p:sp>
      <p:sp>
        <p:nvSpPr>
          <p:cNvPr id="28" name="shape_93"/>
          <p:cNvSpPr/>
          <p:nvPr/>
        </p:nvSpPr>
        <p:spPr>
          <a:xfrm>
            <a:off x="3504422" y="1924812"/>
            <a:ext cx="173736" cy="173736"/>
          </a:xfrm>
          <a:prstGeom prst="rect">
            <a:avLst/>
          </a:prstGeom>
          <a:solidFill>
            <a:srgbClr val="4472C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_94"/>
          <p:cNvSpPr txBox="1"/>
          <p:nvPr/>
        </p:nvSpPr>
        <p:spPr>
          <a:xfrm>
            <a:off x="2676890" y="16093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Yaris Ativ</a:t>
            </a:r>
            <a:endParaRPr lang="en-US" sz="1050" dirty="0"/>
          </a:p>
        </p:txBody>
      </p:sp>
      <p:sp>
        <p:nvSpPr>
          <p:cNvPr id="30" name="shape_95"/>
          <p:cNvSpPr/>
          <p:nvPr/>
        </p:nvSpPr>
        <p:spPr>
          <a:xfrm>
            <a:off x="5024908" y="1906524"/>
            <a:ext cx="210312" cy="210312"/>
          </a:xfrm>
          <a:prstGeom prst="diamond">
            <a:avLst/>
          </a:prstGeom>
          <a:solidFill>
            <a:srgbClr val="4472C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_96"/>
          <p:cNvSpPr txBox="1"/>
          <p:nvPr/>
        </p:nvSpPr>
        <p:spPr>
          <a:xfrm>
            <a:off x="4215664" y="21488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Yaris Ativ HEV／City e:HEV</a:t>
            </a:r>
            <a:endParaRPr lang="en-US" sz="1050" dirty="0"/>
          </a:p>
        </p:txBody>
      </p:sp>
      <p:sp>
        <p:nvSpPr>
          <p:cNvPr id="32" name="shape_97"/>
          <p:cNvSpPr/>
          <p:nvPr/>
        </p:nvSpPr>
        <p:spPr>
          <a:xfrm>
            <a:off x="3783310" y="2839212"/>
            <a:ext cx="210312" cy="210312"/>
          </a:xfrm>
          <a:prstGeom prst="ellipse">
            <a:avLst/>
          </a:prstGeom>
          <a:solidFill>
            <a:srgbClr val="E8604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_98"/>
          <p:cNvSpPr txBox="1"/>
          <p:nvPr/>
        </p:nvSpPr>
        <p:spPr>
          <a:xfrm>
            <a:off x="2974066" y="2542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MG4</a:t>
            </a:r>
            <a:endParaRPr lang="en-US" sz="1050" dirty="0"/>
          </a:p>
        </p:txBody>
      </p:sp>
      <p:sp>
        <p:nvSpPr>
          <p:cNvPr id="34" name="shape_99"/>
          <p:cNvSpPr/>
          <p:nvPr/>
        </p:nvSpPr>
        <p:spPr>
          <a:xfrm>
            <a:off x="8583322" y="2839212"/>
            <a:ext cx="210312" cy="210312"/>
          </a:xfrm>
          <a:prstGeom prst="diamond">
            <a:avLst/>
          </a:prstGeom>
          <a:solidFill>
            <a:srgbClr val="4472C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_100"/>
          <p:cNvSpPr txBox="1"/>
          <p:nvPr/>
        </p:nvSpPr>
        <p:spPr>
          <a:xfrm>
            <a:off x="7774078" y="2542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Civic e:HEV</a:t>
            </a:r>
            <a:endParaRPr lang="en-US" sz="1050" dirty="0"/>
          </a:p>
        </p:txBody>
      </p:sp>
      <p:sp>
        <p:nvSpPr>
          <p:cNvPr id="36" name="shape_101"/>
          <p:cNvSpPr/>
          <p:nvPr/>
        </p:nvSpPr>
        <p:spPr>
          <a:xfrm>
            <a:off x="4063174" y="3771900"/>
            <a:ext cx="210312" cy="210312"/>
          </a:xfrm>
          <a:prstGeom prst="ellipse">
            <a:avLst/>
          </a:prstGeom>
          <a:solidFill>
            <a:srgbClr val="E8604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_102"/>
          <p:cNvSpPr txBox="1"/>
          <p:nvPr/>
        </p:nvSpPr>
        <p:spPr>
          <a:xfrm>
            <a:off x="3253930" y="34747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Jaecoo 5 EV</a:t>
            </a:r>
            <a:endParaRPr lang="en-US" sz="1050" dirty="0"/>
          </a:p>
        </p:txBody>
      </p:sp>
      <p:sp>
        <p:nvSpPr>
          <p:cNvPr id="38" name="shape_103"/>
          <p:cNvSpPr/>
          <p:nvPr/>
        </p:nvSpPr>
        <p:spPr>
          <a:xfrm>
            <a:off x="5601948" y="3771900"/>
            <a:ext cx="210312" cy="210312"/>
          </a:xfrm>
          <a:prstGeom prst="diamond">
            <a:avLst/>
          </a:prstGeom>
          <a:solidFill>
            <a:srgbClr val="4472C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_104"/>
          <p:cNvSpPr txBox="1"/>
          <p:nvPr/>
        </p:nvSpPr>
        <p:spPr>
          <a:xfrm>
            <a:off x="4792704" y="34747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Yaris Cross HEV</a:t>
            </a:r>
            <a:endParaRPr lang="en-US" sz="1050" dirty="0"/>
          </a:p>
        </p:txBody>
      </p:sp>
      <p:sp>
        <p:nvSpPr>
          <p:cNvPr id="40" name="shape_105"/>
          <p:cNvSpPr/>
          <p:nvPr/>
        </p:nvSpPr>
        <p:spPr>
          <a:xfrm>
            <a:off x="7236895" y="3771900"/>
            <a:ext cx="210312" cy="210312"/>
          </a:xfrm>
          <a:prstGeom prst="diamond">
            <a:avLst/>
          </a:prstGeom>
          <a:solidFill>
            <a:srgbClr val="4472C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_106"/>
          <p:cNvSpPr txBox="1"/>
          <p:nvPr/>
        </p:nvSpPr>
        <p:spPr>
          <a:xfrm>
            <a:off x="6427651" y="34747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HR-V e:HEV</a:t>
            </a:r>
            <a:endParaRPr lang="en-US" sz="1050" dirty="0"/>
          </a:p>
        </p:txBody>
      </p:sp>
      <p:sp>
        <p:nvSpPr>
          <p:cNvPr id="42" name="shape_107"/>
          <p:cNvSpPr/>
          <p:nvPr/>
        </p:nvSpPr>
        <p:spPr>
          <a:xfrm>
            <a:off x="4832561" y="4814316"/>
            <a:ext cx="210312" cy="210312"/>
          </a:xfrm>
          <a:prstGeom prst="ellipse">
            <a:avLst/>
          </a:prstGeom>
          <a:solidFill>
            <a:srgbClr val="E8604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_108"/>
          <p:cNvSpPr txBox="1"/>
          <p:nvPr/>
        </p:nvSpPr>
        <p:spPr>
          <a:xfrm>
            <a:off x="4023317" y="45171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Omoda C5 EV</a:t>
            </a:r>
            <a:endParaRPr lang="en-US" sz="1050" dirty="0"/>
          </a:p>
        </p:txBody>
      </p:sp>
      <p:sp>
        <p:nvSpPr>
          <p:cNvPr id="44" name="shape_109"/>
          <p:cNvSpPr/>
          <p:nvPr/>
        </p:nvSpPr>
        <p:spPr>
          <a:xfrm>
            <a:off x="5322083" y="4814316"/>
            <a:ext cx="210312" cy="210312"/>
          </a:xfrm>
          <a:prstGeom prst="diamond">
            <a:avLst/>
          </a:prstGeom>
          <a:solidFill>
            <a:srgbClr val="E8604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_110"/>
          <p:cNvSpPr txBox="1"/>
          <p:nvPr/>
        </p:nvSpPr>
        <p:spPr>
          <a:xfrm>
            <a:off x="4512839" y="50566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Sealion 5</a:t>
            </a:r>
            <a:endParaRPr lang="en-US" sz="1050" dirty="0"/>
          </a:p>
        </p:txBody>
      </p:sp>
      <p:sp>
        <p:nvSpPr>
          <p:cNvPr id="46" name="shape_111"/>
          <p:cNvSpPr/>
          <p:nvPr/>
        </p:nvSpPr>
        <p:spPr>
          <a:xfrm>
            <a:off x="5706777" y="4814316"/>
            <a:ext cx="210312" cy="210312"/>
          </a:xfrm>
          <a:prstGeom prst="ellipse">
            <a:avLst/>
          </a:prstGeom>
          <a:solidFill>
            <a:srgbClr val="E8604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_112"/>
          <p:cNvSpPr txBox="1"/>
          <p:nvPr/>
        </p:nvSpPr>
        <p:spPr>
          <a:xfrm>
            <a:off x="4897533" y="45171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Atto 3</a:t>
            </a:r>
            <a:endParaRPr lang="en-US" sz="1050" dirty="0"/>
          </a:p>
        </p:txBody>
      </p:sp>
      <p:sp>
        <p:nvSpPr>
          <p:cNvPr id="48" name="shape_113"/>
          <p:cNvSpPr/>
          <p:nvPr/>
        </p:nvSpPr>
        <p:spPr>
          <a:xfrm>
            <a:off x="5995297" y="4814316"/>
            <a:ext cx="210312" cy="210312"/>
          </a:xfrm>
          <a:prstGeom prst="ellipse">
            <a:avLst/>
          </a:prstGeom>
          <a:solidFill>
            <a:srgbClr val="E8604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_114"/>
          <p:cNvSpPr txBox="1"/>
          <p:nvPr/>
        </p:nvSpPr>
        <p:spPr>
          <a:xfrm>
            <a:off x="5186053" y="50566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Aion Y Plus</a:t>
            </a:r>
            <a:endParaRPr lang="en-US" sz="1050" dirty="0"/>
          </a:p>
        </p:txBody>
      </p:sp>
      <p:sp>
        <p:nvSpPr>
          <p:cNvPr id="50" name="shape_115"/>
          <p:cNvSpPr/>
          <p:nvPr/>
        </p:nvSpPr>
        <p:spPr>
          <a:xfrm>
            <a:off x="6678143" y="4832604"/>
            <a:ext cx="173736" cy="173736"/>
          </a:xfrm>
          <a:prstGeom prst="rect">
            <a:avLst/>
          </a:prstGeom>
          <a:solidFill>
            <a:srgbClr val="4472C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_116"/>
          <p:cNvSpPr txBox="1"/>
          <p:nvPr/>
        </p:nvSpPr>
        <p:spPr>
          <a:xfrm>
            <a:off x="5850611" y="45171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CX-30</a:t>
            </a:r>
            <a:endParaRPr lang="en-US" sz="1050" dirty="0"/>
          </a:p>
        </p:txBody>
      </p:sp>
      <p:sp>
        <p:nvSpPr>
          <p:cNvPr id="52" name="shape_117"/>
          <p:cNvSpPr/>
          <p:nvPr/>
        </p:nvSpPr>
        <p:spPr>
          <a:xfrm>
            <a:off x="7333068" y="4814316"/>
            <a:ext cx="210312" cy="210312"/>
          </a:xfrm>
          <a:prstGeom prst="diamond">
            <a:avLst/>
          </a:prstGeom>
          <a:solidFill>
            <a:srgbClr val="E8604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_118"/>
          <p:cNvSpPr txBox="1"/>
          <p:nvPr/>
        </p:nvSpPr>
        <p:spPr>
          <a:xfrm>
            <a:off x="6523824" y="50566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Haval H6 HEV</a:t>
            </a:r>
            <a:endParaRPr lang="en-US" sz="1050" dirty="0"/>
          </a:p>
        </p:txBody>
      </p:sp>
      <p:sp>
        <p:nvSpPr>
          <p:cNvPr id="54" name="shape_119"/>
          <p:cNvSpPr/>
          <p:nvPr/>
        </p:nvSpPr>
        <p:spPr>
          <a:xfrm>
            <a:off x="7525415" y="4814316"/>
            <a:ext cx="210312" cy="210312"/>
          </a:xfrm>
          <a:prstGeom prst="diamond">
            <a:avLst/>
          </a:prstGeom>
          <a:solidFill>
            <a:srgbClr val="4472C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text_120"/>
          <p:cNvSpPr txBox="1"/>
          <p:nvPr/>
        </p:nvSpPr>
        <p:spPr>
          <a:xfrm>
            <a:off x="6716171" y="45171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Corolla Cross HEV</a:t>
            </a:r>
            <a:endParaRPr lang="en-US" sz="1050" dirty="0"/>
          </a:p>
        </p:txBody>
      </p:sp>
      <p:sp>
        <p:nvSpPr>
          <p:cNvPr id="56" name="shape_121"/>
          <p:cNvSpPr/>
          <p:nvPr/>
        </p:nvSpPr>
        <p:spPr>
          <a:xfrm>
            <a:off x="8487149" y="4814316"/>
            <a:ext cx="210312" cy="210312"/>
          </a:xfrm>
          <a:prstGeom prst="diamond">
            <a:avLst/>
          </a:prstGeom>
          <a:solidFill>
            <a:srgbClr val="E8604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text_122"/>
          <p:cNvSpPr txBox="1"/>
          <p:nvPr/>
        </p:nvSpPr>
        <p:spPr>
          <a:xfrm>
            <a:off x="7677905" y="50566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H6 PHEV</a:t>
            </a:r>
            <a:endParaRPr lang="en-US" sz="1050" dirty="0"/>
          </a:p>
        </p:txBody>
      </p:sp>
      <p:sp>
        <p:nvSpPr>
          <p:cNvPr id="58" name="shape_123"/>
          <p:cNvSpPr/>
          <p:nvPr/>
        </p:nvSpPr>
        <p:spPr>
          <a:xfrm>
            <a:off x="9737403" y="4814316"/>
            <a:ext cx="210312" cy="210312"/>
          </a:xfrm>
          <a:prstGeom prst="ellipse">
            <a:avLst/>
          </a:prstGeom>
          <a:solidFill>
            <a:srgbClr val="E8604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text_124"/>
          <p:cNvSpPr txBox="1"/>
          <p:nvPr/>
        </p:nvSpPr>
        <p:spPr>
          <a:xfrm>
            <a:off x="8928159" y="45171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Deepal S07</a:t>
            </a:r>
            <a:endParaRPr lang="en-US" sz="1050" dirty="0"/>
          </a:p>
        </p:txBody>
      </p:sp>
      <p:sp>
        <p:nvSpPr>
          <p:cNvPr id="60" name="shape_125"/>
          <p:cNvSpPr/>
          <p:nvPr/>
        </p:nvSpPr>
        <p:spPr>
          <a:xfrm>
            <a:off x="411480" y="6126480"/>
            <a:ext cx="182880" cy="182880"/>
          </a:xfrm>
          <a:prstGeom prst="rect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61" name="text_126"/>
          <p:cNvSpPr txBox="1"/>
          <p:nvPr/>
        </p:nvSpPr>
        <p:spPr>
          <a:xfrm>
            <a:off x="658368" y="6053328"/>
            <a:ext cx="5867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</a:t>
            </a:r>
            <a:endParaRPr lang="en-US" sz="1300" dirty="0"/>
          </a:p>
        </p:txBody>
      </p:sp>
      <p:sp>
        <p:nvSpPr>
          <p:cNvPr id="62" name="shape_127"/>
          <p:cNvSpPr/>
          <p:nvPr/>
        </p:nvSpPr>
        <p:spPr>
          <a:xfrm>
            <a:off x="1473708" y="6126480"/>
            <a:ext cx="182880" cy="18288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63" name="text_128"/>
          <p:cNvSpPr txBox="1"/>
          <p:nvPr/>
        </p:nvSpPr>
        <p:spPr>
          <a:xfrm>
            <a:off x="1720596" y="6053328"/>
            <a:ext cx="42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</a:t>
            </a:r>
            <a:endParaRPr lang="en-US" sz="1300" dirty="0"/>
          </a:p>
        </p:txBody>
      </p:sp>
      <p:sp>
        <p:nvSpPr>
          <p:cNvPr id="64" name="shape_129"/>
          <p:cNvSpPr/>
          <p:nvPr/>
        </p:nvSpPr>
        <p:spPr>
          <a:xfrm>
            <a:off x="3017520" y="6126480"/>
            <a:ext cx="182880" cy="182880"/>
          </a:xfrm>
          <a:prstGeom prst="ellipse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65" name="text_130"/>
          <p:cNvSpPr txBox="1"/>
          <p:nvPr/>
        </p:nvSpPr>
        <p:spPr>
          <a:xfrm>
            <a:off x="3264408" y="605332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</a:t>
            </a:r>
            <a:endParaRPr lang="en-US" sz="1300" dirty="0"/>
          </a:p>
        </p:txBody>
      </p:sp>
      <p:sp>
        <p:nvSpPr>
          <p:cNvPr id="66" name="shape_131"/>
          <p:cNvSpPr/>
          <p:nvPr/>
        </p:nvSpPr>
        <p:spPr>
          <a:xfrm>
            <a:off x="4434840" y="6126480"/>
            <a:ext cx="182880" cy="182880"/>
          </a:xfrm>
          <a:prstGeom prst="diamond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67" name="text_132"/>
          <p:cNvSpPr txBox="1"/>
          <p:nvPr/>
        </p:nvSpPr>
        <p:spPr>
          <a:xfrm>
            <a:off x="4681728" y="605332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HEV・PHEV</a:t>
            </a:r>
            <a:endParaRPr lang="en-US" sz="1300" dirty="0"/>
          </a:p>
        </p:txBody>
      </p:sp>
      <p:sp>
        <p:nvSpPr>
          <p:cNvPr id="68" name="shape_133"/>
          <p:cNvSpPr/>
          <p:nvPr/>
        </p:nvSpPr>
        <p:spPr>
          <a:xfrm>
            <a:off x="5852160" y="6126480"/>
            <a:ext cx="182880" cy="182880"/>
          </a:xfrm>
          <a:prstGeom prst="rect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69" name="text_134"/>
          <p:cNvSpPr txBox="1"/>
          <p:nvPr/>
        </p:nvSpPr>
        <p:spPr>
          <a:xfrm>
            <a:off x="6099048" y="605332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ICE</a:t>
            </a:r>
            <a:endParaRPr lang="en-US" sz="1300" dirty="0"/>
          </a:p>
        </p:txBody>
      </p:sp>
      <p:sp>
        <p:nvSpPr>
          <p:cNvPr id="70" name="summary_135"/>
          <p:cNvSpPr/>
          <p:nvPr/>
        </p:nvSpPr>
        <p:spPr>
          <a:xfrm>
            <a:off x="7269480" y="5989320"/>
            <a:ext cx="3008376" cy="868680"/>
          </a:xfrm>
          <a:prstGeom prst="roundRect">
            <a:avLst>
              <a:gd name="adj" fmla="val 10526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中国系BEVは、日系HEVより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2〜4割安い価格帯に並ぶ</a:t>
            </a:r>
            <a:endParaRPr lang="en-US" sz="1500" dirty="0"/>
          </a:p>
        </p:txBody>
      </p:sp>
      <p:sp>
        <p:nvSpPr>
          <p:cNvPr id="71" name="text_136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出典：各社のタイ公式サイト・販売店・報道の公表価格（2025年8月〜2026年10月、最安グレード）。円の大きさに販売台数を入れる場合は社内PC（MarkLines）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BEVは中国系、HEVは日系。増えた客の4分の3はBEVへ</a:t>
            </a:r>
            <a:endParaRPr lang="en-US" sz="2400" dirty="0"/>
          </a:p>
        </p:txBody>
      </p:sp>
      <p:sp>
        <p:nvSpPr>
          <p:cNvPr id="3" name="grp_137"/>
          <p:cNvSpPr/>
          <p:nvPr/>
        </p:nvSpPr>
        <p:spPr>
          <a:xfrm>
            <a:off x="411480" y="1024128"/>
            <a:ext cx="1944624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4472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 vs 中国系｜PT別</a:t>
            </a:r>
            <a:endParaRPr lang="en-US" sz="1200" dirty="0"/>
          </a:p>
        </p:txBody>
      </p:sp>
      <p:sp>
        <p:nvSpPr>
          <p:cNvPr id="4" name="text_138"/>
          <p:cNvSpPr txBox="1"/>
          <p:nvPr/>
        </p:nvSpPr>
        <p:spPr>
          <a:xfrm>
            <a:off x="2538984" y="987552"/>
            <a:ext cx="7693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問い　</a:t>
            </a:r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どの動力で、日系はシェアを失ったのか</a:t>
            </a:r>
            <a:endParaRPr lang="en-US" sz="1600" dirty="0"/>
          </a:p>
        </p:txBody>
      </p:sp>
      <p:sp>
        <p:nvSpPr>
          <p:cNvPr id="5" name="pc_139"/>
          <p:cNvSpPr/>
          <p:nvPr/>
        </p:nvSpPr>
        <p:spPr>
          <a:xfrm>
            <a:off x="411480" y="1572768"/>
            <a:ext cx="4572000" cy="5330952"/>
          </a:xfrm>
          <a:prstGeom prst="rect">
            <a:avLst/>
          </a:prstGeom>
          <a:solidFill>
            <a:srgbClr val="FAFAFA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101600" tIns="152400" rIns="152400" bIns="10160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社内PCで作成して差し込む</a:t>
            </a:r>
            <a:endParaRPr lang="en-US" sz="12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PT別の販売とシェアの推移</a:t>
            </a:r>
            <a:endParaRPr lang="en-US" sz="12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BEV・HEV・ICEの月次台数</a:t>
            </a:r>
            <a:endParaRPr lang="en-US" sz="12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各PT内の国籍別シェア</a:t>
            </a:r>
            <a:endParaRPr lang="en-US" sz="1200" dirty="0"/>
          </a:p>
        </p:txBody>
      </p:sp>
      <p:graphicFrame>
        <p:nvGraphicFramePr>
          <p:cNvPr id="6" name="chart_pt7" descr=""/>
          <p:cNvGraphicFramePr/>
          <p:nvPr/>
        </p:nvGraphicFramePr>
        <p:xfrm>
          <a:off x="5166360" y="1536192"/>
          <a:ext cx="5111496" cy="2697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_140"/>
          <p:cNvSpPr txBox="1"/>
          <p:nvPr/>
        </p:nvSpPr>
        <p:spPr>
          <a:xfrm>
            <a:off x="5257800" y="4297680"/>
            <a:ext cx="2377440" cy="60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3800" dirty="0"/>
          </a:p>
        </p:txBody>
      </p:sp>
      <p:sp>
        <p:nvSpPr>
          <p:cNvPr id="8" name="text_141"/>
          <p:cNvSpPr txBox="1"/>
          <p:nvPr/>
        </p:nvSpPr>
        <p:spPr>
          <a:xfrm>
            <a:off x="5257800" y="49250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BEVのうち中国系</a:t>
            </a:r>
            <a:endParaRPr lang="en-US" sz="1400" dirty="0"/>
          </a:p>
        </p:txBody>
      </p:sp>
      <p:sp>
        <p:nvSpPr>
          <p:cNvPr id="9" name="text_142"/>
          <p:cNvSpPr txBox="1"/>
          <p:nvPr/>
        </p:nvSpPr>
        <p:spPr>
          <a:xfrm>
            <a:off x="7818120" y="4297680"/>
            <a:ext cx="2377440" cy="60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3800" dirty="0"/>
          </a:p>
        </p:txBody>
      </p:sp>
      <p:sp>
        <p:nvSpPr>
          <p:cNvPr id="10" name="text_143"/>
          <p:cNvSpPr txBox="1"/>
          <p:nvPr/>
        </p:nvSpPr>
        <p:spPr>
          <a:xfrm>
            <a:off x="7818120" y="49250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HEVのうち日系</a:t>
            </a:r>
            <a:endParaRPr lang="en-US" sz="1400" dirty="0"/>
          </a:p>
        </p:txBody>
      </p:sp>
      <p:sp>
        <p:nvSpPr>
          <p:cNvPr id="11" name="shape_144"/>
          <p:cNvSpPr/>
          <p:nvPr/>
        </p:nvSpPr>
        <p:spPr>
          <a:xfrm>
            <a:off x="5166360" y="5760720"/>
            <a:ext cx="5111496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22225">
            <a:solidFill>
              <a:srgbClr val="4472C4"/>
            </a:solidFill>
            <a:prstDash val="solid"/>
          </a:ln>
        </p:spPr>
      </p:sp>
      <p:sp>
        <p:nvSpPr>
          <p:cNvPr id="12" name="fslabel_145"/>
          <p:cNvSpPr/>
          <p:nvPr/>
        </p:nvSpPr>
        <p:spPr>
          <a:xfrm>
            <a:off x="5440680" y="5641848"/>
            <a:ext cx="275082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増えた電動車の行き先（前年比）</a:t>
            </a:r>
            <a:endParaRPr lang="en-US" sz="1300" dirty="0"/>
          </a:p>
        </p:txBody>
      </p:sp>
      <p:sp>
        <p:nvSpPr>
          <p:cNvPr id="13" name="text_146"/>
          <p:cNvSpPr txBox="1"/>
          <p:nvPr/>
        </p:nvSpPr>
        <p:spPr>
          <a:xfrm>
            <a:off x="5303520" y="5961888"/>
            <a:ext cx="48371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 </a:t>
            </a:r>
            <a:pPr algn="ctr" indent="0" marL="0">
              <a:buNone/>
            </a:pPr>
            <a:r>
              <a:rPr lang="en-US" sz="16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+4.8万台（74%）</a:t>
            </a:r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HEV </a:t>
            </a:r>
            <a:pPr algn="ctr" indent="0" marL="0">
              <a:buNone/>
            </a:pPr>
            <a:r>
              <a:rPr lang="en-US" sz="16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+1.8万台（28%）</a:t>
            </a:r>
            <a:endParaRPr lang="en-US" sz="1600" dirty="0"/>
          </a:p>
        </p:txBody>
      </p:sp>
      <p:sp>
        <p:nvSpPr>
          <p:cNvPr id="14" name="text_147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出典：JETRO（2026年7月）、MarkLines（社内）。増加分は2025年1〜6月→2026年1〜6月の登録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タイのEV政策　輸入で市場をつくり、あとで現地生産を求める</a:t>
            </a:r>
            <a:endParaRPr lang="en-US" sz="2400" dirty="0"/>
          </a:p>
        </p:txBody>
      </p:sp>
      <p:sp>
        <p:nvSpPr>
          <p:cNvPr id="3" name="grp_148"/>
          <p:cNvSpPr/>
          <p:nvPr/>
        </p:nvSpPr>
        <p:spPr>
          <a:xfrm>
            <a:off x="411480" y="1024128"/>
            <a:ext cx="1944624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4472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 vs 中国系｜PT別</a:t>
            </a:r>
            <a:endParaRPr lang="en-US" sz="1200" dirty="0"/>
          </a:p>
        </p:txBody>
      </p:sp>
      <p:sp>
        <p:nvSpPr>
          <p:cNvPr id="4" name="text_149"/>
          <p:cNvSpPr txBox="1"/>
          <p:nvPr/>
        </p:nvSpPr>
        <p:spPr>
          <a:xfrm>
            <a:off x="2538984" y="987552"/>
            <a:ext cx="7693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問い　</a:t>
            </a:r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タイ政府は、どのようにEVを広げたのか</a:t>
            </a:r>
            <a:endParaRPr lang="en-US" sz="1600" dirty="0"/>
          </a:p>
        </p:txBody>
      </p:sp>
      <p:sp>
        <p:nvSpPr>
          <p:cNvPr id="5" name="shape_150"/>
          <p:cNvSpPr/>
          <p:nvPr/>
        </p:nvSpPr>
        <p:spPr>
          <a:xfrm>
            <a:off x="411480" y="1600200"/>
            <a:ext cx="3017520" cy="32004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6" name="shape_151"/>
          <p:cNvSpPr/>
          <p:nvPr/>
        </p:nvSpPr>
        <p:spPr>
          <a:xfrm>
            <a:off x="411480" y="1709928"/>
            <a:ext cx="1325880" cy="347472"/>
          </a:xfrm>
          <a:prstGeom prst="homePlate">
            <a:avLst/>
          </a:prstGeom>
          <a:solidFill>
            <a:srgbClr val="1E9C96"/>
          </a:solidFill>
          <a:ln w="12700">
            <a:solidFill>
              <a:srgbClr val="1E9C96"/>
            </a:solidFill>
            <a:prstDash val="solid"/>
          </a:ln>
        </p:spPr>
      </p:sp>
      <p:sp>
        <p:nvSpPr>
          <p:cNvPr id="7" name="text_152"/>
          <p:cNvSpPr txBox="1"/>
          <p:nvPr/>
        </p:nvSpPr>
        <p:spPr>
          <a:xfrm>
            <a:off x="521208" y="170992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01</a:t>
            </a:r>
            <a:endParaRPr lang="en-US" sz="1300" dirty="0"/>
          </a:p>
        </p:txBody>
      </p:sp>
      <p:sp>
        <p:nvSpPr>
          <p:cNvPr id="8" name="text_153"/>
          <p:cNvSpPr txBox="1"/>
          <p:nvPr/>
        </p:nvSpPr>
        <p:spPr>
          <a:xfrm>
            <a:off x="594360" y="21945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買う人への補助</a:t>
            </a:r>
            <a:endParaRPr lang="en-US" sz="2000" dirty="0"/>
          </a:p>
        </p:txBody>
      </p:sp>
      <p:sp>
        <p:nvSpPr>
          <p:cNvPr id="9" name="text_154"/>
          <p:cNvSpPr txBox="1"/>
          <p:nvPr/>
        </p:nvSpPr>
        <p:spPr>
          <a:xfrm>
            <a:off x="594360" y="2743200"/>
            <a:ext cx="2651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EV3.0（2022〜23年）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最大15万バーツ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EV3.5（2024〜27年）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最大10万バーツ、年々縮小</a:t>
            </a:r>
            <a:endParaRPr lang="en-US" sz="1500" dirty="0"/>
          </a:p>
        </p:txBody>
      </p:sp>
      <p:sp>
        <p:nvSpPr>
          <p:cNvPr id="10" name="shape_155"/>
          <p:cNvSpPr/>
          <p:nvPr/>
        </p:nvSpPr>
        <p:spPr>
          <a:xfrm>
            <a:off x="3495294" y="3017520"/>
            <a:ext cx="164592" cy="365760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11" name="shape_156"/>
          <p:cNvSpPr/>
          <p:nvPr/>
        </p:nvSpPr>
        <p:spPr>
          <a:xfrm>
            <a:off x="3610508" y="3017520"/>
            <a:ext cx="164592" cy="365760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12" name="shape_157"/>
          <p:cNvSpPr/>
          <p:nvPr/>
        </p:nvSpPr>
        <p:spPr>
          <a:xfrm>
            <a:off x="3835908" y="1600200"/>
            <a:ext cx="3017520" cy="32004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3" name="shape_158"/>
          <p:cNvSpPr/>
          <p:nvPr/>
        </p:nvSpPr>
        <p:spPr>
          <a:xfrm>
            <a:off x="3835908" y="1709928"/>
            <a:ext cx="1325880" cy="347472"/>
          </a:xfrm>
          <a:prstGeom prst="homePlate">
            <a:avLst/>
          </a:prstGeom>
          <a:solidFill>
            <a:srgbClr val="1E9C96"/>
          </a:solidFill>
          <a:ln w="12700">
            <a:solidFill>
              <a:srgbClr val="1E9C96"/>
            </a:solidFill>
            <a:prstDash val="solid"/>
          </a:ln>
        </p:spPr>
      </p:sp>
      <p:sp>
        <p:nvSpPr>
          <p:cNvPr id="14" name="text_159"/>
          <p:cNvSpPr txBox="1"/>
          <p:nvPr/>
        </p:nvSpPr>
        <p:spPr>
          <a:xfrm>
            <a:off x="3945636" y="170992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02</a:t>
            </a:r>
            <a:endParaRPr lang="en-US" sz="1300" dirty="0"/>
          </a:p>
        </p:txBody>
      </p:sp>
      <p:sp>
        <p:nvSpPr>
          <p:cNvPr id="15" name="text_160"/>
          <p:cNvSpPr txBox="1"/>
          <p:nvPr/>
        </p:nvSpPr>
        <p:spPr>
          <a:xfrm>
            <a:off x="4018788" y="21945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税の優遇</a:t>
            </a:r>
            <a:endParaRPr lang="en-US" sz="2000" dirty="0"/>
          </a:p>
        </p:txBody>
      </p:sp>
      <p:sp>
        <p:nvSpPr>
          <p:cNvPr id="16" name="text_161"/>
          <p:cNvSpPr txBox="1"/>
          <p:nvPr/>
        </p:nvSpPr>
        <p:spPr>
          <a:xfrm>
            <a:off x="4018788" y="2743200"/>
            <a:ext cx="2651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BEVの物品税 8%→2%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中国製EVの関税 0%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（日本製は20%）</a:t>
            </a:r>
            <a:endParaRPr lang="en-US" sz="1500" dirty="0"/>
          </a:p>
        </p:txBody>
      </p:sp>
      <p:sp>
        <p:nvSpPr>
          <p:cNvPr id="17" name="shape_162"/>
          <p:cNvSpPr/>
          <p:nvPr/>
        </p:nvSpPr>
        <p:spPr>
          <a:xfrm>
            <a:off x="6919722" y="3017520"/>
            <a:ext cx="164592" cy="365760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18" name="shape_163"/>
          <p:cNvSpPr/>
          <p:nvPr/>
        </p:nvSpPr>
        <p:spPr>
          <a:xfrm>
            <a:off x="7034936" y="3017520"/>
            <a:ext cx="164592" cy="365760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19" name="shape_164"/>
          <p:cNvSpPr/>
          <p:nvPr/>
        </p:nvSpPr>
        <p:spPr>
          <a:xfrm>
            <a:off x="7260336" y="1600200"/>
            <a:ext cx="3017520" cy="32004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0" name="shape_165"/>
          <p:cNvSpPr/>
          <p:nvPr/>
        </p:nvSpPr>
        <p:spPr>
          <a:xfrm>
            <a:off x="7260336" y="1709928"/>
            <a:ext cx="1325880" cy="347472"/>
          </a:xfrm>
          <a:prstGeom prst="homePlate">
            <a:avLst/>
          </a:prstGeom>
          <a:solidFill>
            <a:srgbClr val="1E9C96"/>
          </a:solidFill>
          <a:ln w="12700">
            <a:solidFill>
              <a:srgbClr val="1E9C96"/>
            </a:solidFill>
            <a:prstDash val="solid"/>
          </a:ln>
        </p:spPr>
      </p:sp>
      <p:sp>
        <p:nvSpPr>
          <p:cNvPr id="21" name="text_166"/>
          <p:cNvSpPr txBox="1"/>
          <p:nvPr/>
        </p:nvSpPr>
        <p:spPr>
          <a:xfrm>
            <a:off x="7370064" y="170992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03</a:t>
            </a:r>
            <a:endParaRPr lang="en-US" sz="1300" dirty="0"/>
          </a:p>
        </p:txBody>
      </p:sp>
      <p:sp>
        <p:nvSpPr>
          <p:cNvPr id="22" name="text_167"/>
          <p:cNvSpPr txBox="1"/>
          <p:nvPr/>
        </p:nvSpPr>
        <p:spPr>
          <a:xfrm>
            <a:off x="7443216" y="21945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現地生産の義務</a:t>
            </a:r>
            <a:endParaRPr lang="en-US" sz="2000" dirty="0"/>
          </a:p>
        </p:txBody>
      </p:sp>
      <p:sp>
        <p:nvSpPr>
          <p:cNvPr id="23" name="text_168"/>
          <p:cNvSpPr txBox="1"/>
          <p:nvPr/>
        </p:nvSpPr>
        <p:spPr>
          <a:xfrm>
            <a:off x="7443216" y="2743200"/>
            <a:ext cx="2651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補助を受けた輸入1台に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現地生産 1〜1.5台（EV3.0）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 2台、2027年 3台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（EV3.5、輸出は1.5台分）</a:t>
            </a:r>
            <a:endParaRPr lang="en-US" sz="1500" dirty="0"/>
          </a:p>
        </p:txBody>
      </p:sp>
      <p:sp>
        <p:nvSpPr>
          <p:cNvPr id="24" name="shape_169"/>
          <p:cNvSpPr/>
          <p:nvPr/>
        </p:nvSpPr>
        <p:spPr>
          <a:xfrm>
            <a:off x="5024628" y="4873752"/>
            <a:ext cx="640080" cy="365760"/>
          </a:xfrm>
          <a:prstGeom prst="downArrow">
            <a:avLst/>
          </a:prstGeom>
          <a:solidFill>
            <a:srgbClr val="FFFFFF"/>
          </a:solidFill>
          <a:ln w="28575">
            <a:solidFill>
              <a:srgbClr val="3FB2AB"/>
            </a:solidFill>
            <a:prstDash val="solid"/>
          </a:ln>
        </p:spPr>
      </p:sp>
      <p:sp>
        <p:nvSpPr>
          <p:cNvPr id="25" name="summary_170"/>
          <p:cNvSpPr/>
          <p:nvPr/>
        </p:nvSpPr>
        <p:spPr>
          <a:xfrm>
            <a:off x="777240" y="5376672"/>
            <a:ext cx="9134856" cy="1325880"/>
          </a:xfrm>
          <a:prstGeom prst="roundRect">
            <a:avLst>
              <a:gd name="adj" fmla="val 6897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補助と関税0%で、中国系は輸入から先に市場に入れた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その後の生産義務が、現地での値下げと販売攻勢を生んでいる</a:t>
            </a:r>
            <a:endParaRPr lang="en-US" sz="1800" dirty="0"/>
          </a:p>
        </p:txBody>
      </p:sp>
      <p:sp>
        <p:nvSpPr>
          <p:cNvPr id="26" name="text_171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出典：BOI（2023〜2025年）、物品税局、The Nation（2026年9月）。2026年からは物品税を投資の度合いで3段階に（9月合意）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政策と販売台数　補助・値下げ・生産義務の時期に販売が動く</a:t>
            </a:r>
            <a:endParaRPr lang="en-US" sz="2400" dirty="0"/>
          </a:p>
        </p:txBody>
      </p:sp>
      <p:sp>
        <p:nvSpPr>
          <p:cNvPr id="3" name="grp_172"/>
          <p:cNvSpPr/>
          <p:nvPr/>
        </p:nvSpPr>
        <p:spPr>
          <a:xfrm>
            <a:off x="411480" y="1024128"/>
            <a:ext cx="1944624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4472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 vs 中国系｜PT別</a:t>
            </a:r>
            <a:endParaRPr lang="en-US" sz="1200" dirty="0"/>
          </a:p>
        </p:txBody>
      </p:sp>
      <p:sp>
        <p:nvSpPr>
          <p:cNvPr id="4" name="text_173"/>
          <p:cNvSpPr txBox="1"/>
          <p:nvPr/>
        </p:nvSpPr>
        <p:spPr>
          <a:xfrm>
            <a:off x="2538984" y="987552"/>
            <a:ext cx="7693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問い　</a:t>
            </a:r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政策の時期と、販売台数の動きは重なるか</a:t>
            </a:r>
            <a:endParaRPr lang="en-US" sz="1600" dirty="0"/>
          </a:p>
        </p:txBody>
      </p:sp>
      <p:sp>
        <p:nvSpPr>
          <p:cNvPr id="5" name="pc_174"/>
          <p:cNvSpPr/>
          <p:nvPr/>
        </p:nvSpPr>
        <p:spPr>
          <a:xfrm>
            <a:off x="411480" y="1572768"/>
            <a:ext cx="9866376" cy="2011680"/>
          </a:xfrm>
          <a:prstGeom prst="rect">
            <a:avLst/>
          </a:prstGeom>
          <a:solidFill>
            <a:srgbClr val="FAFAFA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101600" tIns="152400" rIns="152400" bIns="10160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社内PCで作成して差し込む</a:t>
            </a:r>
            <a:endParaRPr lang="en-US" sz="12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BEV・HEVの月次販売台数（2022年1月〜最新）</a:t>
            </a:r>
            <a:endParaRPr lang="en-US" sz="12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MarkLines：タイ。横軸を下の年表にそろえ、政策の時期に縦の点線を入れる</a:t>
            </a:r>
            <a:endParaRPr lang="en-US" sz="1200" dirty="0"/>
          </a:p>
        </p:txBody>
      </p:sp>
      <p:sp>
        <p:nvSpPr>
          <p:cNvPr id="6" name="shape_175"/>
          <p:cNvSpPr/>
          <p:nvPr/>
        </p:nvSpPr>
        <p:spPr>
          <a:xfrm>
            <a:off x="640080" y="4462272"/>
            <a:ext cx="9409176" cy="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</a:ln>
        </p:spPr>
      </p:sp>
      <p:sp>
        <p:nvSpPr>
          <p:cNvPr id="7" name="shape_176"/>
          <p:cNvSpPr/>
          <p:nvPr/>
        </p:nvSpPr>
        <p:spPr>
          <a:xfrm>
            <a:off x="640080" y="4389120"/>
            <a:ext cx="0" cy="146304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8" name="text_177"/>
          <p:cNvSpPr txBox="1"/>
          <p:nvPr/>
        </p:nvSpPr>
        <p:spPr>
          <a:xfrm>
            <a:off x="594360" y="453542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</a:t>
            </a:r>
            <a:endParaRPr lang="en-US" sz="1200" dirty="0"/>
          </a:p>
        </p:txBody>
      </p:sp>
      <p:sp>
        <p:nvSpPr>
          <p:cNvPr id="9" name="shape_178"/>
          <p:cNvSpPr/>
          <p:nvPr/>
        </p:nvSpPr>
        <p:spPr>
          <a:xfrm>
            <a:off x="2208276" y="4389120"/>
            <a:ext cx="0" cy="146304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10" name="text_179"/>
          <p:cNvSpPr txBox="1"/>
          <p:nvPr/>
        </p:nvSpPr>
        <p:spPr>
          <a:xfrm>
            <a:off x="2162556" y="453542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</a:t>
            </a:r>
            <a:endParaRPr lang="en-US" sz="1200" dirty="0"/>
          </a:p>
        </p:txBody>
      </p:sp>
      <p:sp>
        <p:nvSpPr>
          <p:cNvPr id="11" name="shape_180"/>
          <p:cNvSpPr/>
          <p:nvPr/>
        </p:nvSpPr>
        <p:spPr>
          <a:xfrm>
            <a:off x="3776472" y="4389120"/>
            <a:ext cx="0" cy="146304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12" name="text_181"/>
          <p:cNvSpPr txBox="1"/>
          <p:nvPr/>
        </p:nvSpPr>
        <p:spPr>
          <a:xfrm>
            <a:off x="3730752" y="453542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1200" dirty="0"/>
          </a:p>
        </p:txBody>
      </p:sp>
      <p:sp>
        <p:nvSpPr>
          <p:cNvPr id="13" name="shape_182"/>
          <p:cNvSpPr/>
          <p:nvPr/>
        </p:nvSpPr>
        <p:spPr>
          <a:xfrm>
            <a:off x="5344668" y="4389120"/>
            <a:ext cx="0" cy="146304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14" name="text_183"/>
          <p:cNvSpPr txBox="1"/>
          <p:nvPr/>
        </p:nvSpPr>
        <p:spPr>
          <a:xfrm>
            <a:off x="5298948" y="453542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200" dirty="0"/>
          </a:p>
        </p:txBody>
      </p:sp>
      <p:sp>
        <p:nvSpPr>
          <p:cNvPr id="15" name="shape_184"/>
          <p:cNvSpPr/>
          <p:nvPr/>
        </p:nvSpPr>
        <p:spPr>
          <a:xfrm>
            <a:off x="6912864" y="4389120"/>
            <a:ext cx="0" cy="146304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16" name="text_185"/>
          <p:cNvSpPr txBox="1"/>
          <p:nvPr/>
        </p:nvSpPr>
        <p:spPr>
          <a:xfrm>
            <a:off x="6867144" y="453542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200" dirty="0"/>
          </a:p>
        </p:txBody>
      </p:sp>
      <p:sp>
        <p:nvSpPr>
          <p:cNvPr id="17" name="shape_186"/>
          <p:cNvSpPr/>
          <p:nvPr/>
        </p:nvSpPr>
        <p:spPr>
          <a:xfrm>
            <a:off x="8481060" y="4389120"/>
            <a:ext cx="0" cy="146304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18" name="text_187"/>
          <p:cNvSpPr txBox="1"/>
          <p:nvPr/>
        </p:nvSpPr>
        <p:spPr>
          <a:xfrm>
            <a:off x="8435340" y="453542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1200" dirty="0"/>
          </a:p>
        </p:txBody>
      </p:sp>
      <p:sp>
        <p:nvSpPr>
          <p:cNvPr id="19" name="ev_188"/>
          <p:cNvSpPr/>
          <p:nvPr/>
        </p:nvSpPr>
        <p:spPr>
          <a:xfrm>
            <a:off x="697611" y="4389120"/>
            <a:ext cx="146304" cy="146304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0" name="text_189"/>
          <p:cNvSpPr txBox="1"/>
          <p:nvPr/>
        </p:nvSpPr>
        <p:spPr>
          <a:xfrm>
            <a:off x="320040" y="3712464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EV3.0開始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補助15万</a:t>
            </a:r>
            <a:endParaRPr lang="en-US" sz="1200" dirty="0"/>
          </a:p>
        </p:txBody>
      </p:sp>
      <p:sp>
        <p:nvSpPr>
          <p:cNvPr id="21" name="ev_190"/>
          <p:cNvSpPr/>
          <p:nvPr/>
        </p:nvSpPr>
        <p:spPr>
          <a:xfrm>
            <a:off x="3703320" y="4389120"/>
            <a:ext cx="146304" cy="146304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2" name="text_191"/>
          <p:cNvSpPr txBox="1"/>
          <p:nvPr/>
        </p:nvSpPr>
        <p:spPr>
          <a:xfrm>
            <a:off x="3090672" y="3712464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EV3.5開始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補助10万に縮小</a:t>
            </a:r>
            <a:endParaRPr lang="en-US" sz="1200" dirty="0"/>
          </a:p>
        </p:txBody>
      </p:sp>
      <p:sp>
        <p:nvSpPr>
          <p:cNvPr id="23" name="ev_192"/>
          <p:cNvSpPr/>
          <p:nvPr/>
        </p:nvSpPr>
        <p:spPr>
          <a:xfrm>
            <a:off x="4487418" y="4389120"/>
            <a:ext cx="146304" cy="146304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4" name="text_193"/>
          <p:cNvSpPr txBox="1"/>
          <p:nvPr/>
        </p:nvSpPr>
        <p:spPr>
          <a:xfrm>
            <a:off x="3874770" y="4809744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Atto 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大幅値下げ</a:t>
            </a:r>
            <a:endParaRPr lang="en-US" sz="1200" dirty="0"/>
          </a:p>
        </p:txBody>
      </p:sp>
      <p:sp>
        <p:nvSpPr>
          <p:cNvPr id="25" name="ev_194"/>
          <p:cNvSpPr/>
          <p:nvPr/>
        </p:nvSpPr>
        <p:spPr>
          <a:xfrm>
            <a:off x="6839712" y="4389120"/>
            <a:ext cx="146304" cy="146304"/>
          </a:xfrm>
          <a:prstGeom prst="ellipse">
            <a:avLst/>
          </a:prstGeom>
          <a:solidFill>
            <a:srgbClr val="E8384F"/>
          </a:solidFill>
          <a:ln w="12700">
            <a:solidFill>
              <a:srgbClr val="E8384F"/>
            </a:solidFill>
            <a:prstDash val="solid"/>
          </a:ln>
        </p:spPr>
      </p:sp>
      <p:sp>
        <p:nvSpPr>
          <p:cNvPr id="26" name="text_195"/>
          <p:cNvSpPr txBox="1"/>
          <p:nvPr/>
        </p:nvSpPr>
        <p:spPr>
          <a:xfrm>
            <a:off x="6227064" y="3712464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生産義務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輸入1:2</a:t>
            </a:r>
            <a:endParaRPr lang="en-US" sz="1200" dirty="0"/>
          </a:p>
        </p:txBody>
      </p:sp>
      <p:sp>
        <p:nvSpPr>
          <p:cNvPr id="27" name="ev_196"/>
          <p:cNvSpPr/>
          <p:nvPr/>
        </p:nvSpPr>
        <p:spPr>
          <a:xfrm>
            <a:off x="7885176" y="4389120"/>
            <a:ext cx="146304" cy="146304"/>
          </a:xfrm>
          <a:prstGeom prst="ellipse">
            <a:avLst/>
          </a:prstGeom>
          <a:solidFill>
            <a:srgbClr val="E8384F"/>
          </a:solidFill>
          <a:ln w="12700">
            <a:solidFill>
              <a:srgbClr val="E8384F"/>
            </a:solidFill>
            <a:prstDash val="solid"/>
          </a:ln>
        </p:spPr>
      </p:sp>
      <p:sp>
        <p:nvSpPr>
          <p:cNvPr id="28" name="text_197"/>
          <p:cNvSpPr txBox="1"/>
          <p:nvPr/>
        </p:nvSpPr>
        <p:spPr>
          <a:xfrm>
            <a:off x="7272528" y="4809744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物品税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3段階に合意</a:t>
            </a:r>
            <a:endParaRPr lang="en-US" sz="1200" dirty="0"/>
          </a:p>
        </p:txBody>
      </p:sp>
      <p:sp>
        <p:nvSpPr>
          <p:cNvPr id="29" name="ev_198"/>
          <p:cNvSpPr/>
          <p:nvPr/>
        </p:nvSpPr>
        <p:spPr>
          <a:xfrm>
            <a:off x="8407908" y="4389120"/>
            <a:ext cx="146304" cy="146304"/>
          </a:xfrm>
          <a:prstGeom prst="ellipse">
            <a:avLst/>
          </a:prstGeom>
          <a:solidFill>
            <a:srgbClr val="E8384F"/>
          </a:solidFill>
          <a:ln w="12700">
            <a:solidFill>
              <a:srgbClr val="E8384F"/>
            </a:solidFill>
            <a:prstDash val="solid"/>
          </a:ln>
        </p:spPr>
      </p:sp>
      <p:sp>
        <p:nvSpPr>
          <p:cNvPr id="30" name="text_199"/>
          <p:cNvSpPr txBox="1"/>
          <p:nvPr/>
        </p:nvSpPr>
        <p:spPr>
          <a:xfrm>
            <a:off x="7795260" y="3712464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生産義務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輸入1:3</a:t>
            </a:r>
            <a:endParaRPr lang="en-US" sz="1200" dirty="0"/>
          </a:p>
        </p:txBody>
      </p:sp>
      <p:sp>
        <p:nvSpPr>
          <p:cNvPr id="31" name="shape_200"/>
          <p:cNvSpPr/>
          <p:nvPr/>
        </p:nvSpPr>
        <p:spPr>
          <a:xfrm>
            <a:off x="411480" y="5577840"/>
            <a:ext cx="3166872" cy="1280160"/>
          </a:xfrm>
          <a:prstGeom prst="roundRect">
            <a:avLst>
              <a:gd name="adj" fmla="val 7143"/>
            </a:avLst>
          </a:prstGeom>
          <a:solidFill>
            <a:srgbClr val="EEF3FB"/>
          </a:solidFill>
          <a:ln w="15875">
            <a:solidFill>
              <a:srgbClr val="4472C4"/>
            </a:solidFill>
            <a:prstDash val="solid"/>
          </a:ln>
        </p:spPr>
      </p:sp>
      <p:sp>
        <p:nvSpPr>
          <p:cNvPr id="32" name="text_201"/>
          <p:cNvSpPr txBox="1"/>
          <p:nvPr/>
        </p:nvSpPr>
        <p:spPr>
          <a:xfrm>
            <a:off x="548640" y="5623560"/>
            <a:ext cx="28925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7.6万台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2023年のBEV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補助で急増</a:t>
            </a:r>
            <a:endParaRPr lang="en-US" sz="1600" dirty="0"/>
          </a:p>
        </p:txBody>
      </p:sp>
      <p:sp>
        <p:nvSpPr>
          <p:cNvPr id="33" name="shape_202"/>
          <p:cNvSpPr/>
          <p:nvPr/>
        </p:nvSpPr>
        <p:spPr>
          <a:xfrm>
            <a:off x="3761232" y="5577840"/>
            <a:ext cx="3166872" cy="1280160"/>
          </a:xfrm>
          <a:prstGeom prst="roundRect">
            <a:avLst>
              <a:gd name="adj" fmla="val 7143"/>
            </a:avLst>
          </a:prstGeom>
          <a:solidFill>
            <a:srgbClr val="EEF3FB"/>
          </a:solidFill>
          <a:ln w="15875">
            <a:solidFill>
              <a:srgbClr val="4472C4"/>
            </a:solidFill>
            <a:prstDash val="solid"/>
          </a:ln>
        </p:spPr>
      </p:sp>
      <p:sp>
        <p:nvSpPr>
          <p:cNvPr id="34" name="text_203"/>
          <p:cNvSpPr txBox="1"/>
          <p:nvPr/>
        </p:nvSpPr>
        <p:spPr>
          <a:xfrm>
            <a:off x="3898392" y="5623560"/>
            <a:ext cx="28925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7.0万台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2024年のBEV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補助縮小・値下げ待ち・与信の引き締め</a:t>
            </a:r>
            <a:endParaRPr lang="en-US" sz="1600" dirty="0"/>
          </a:p>
        </p:txBody>
      </p:sp>
      <p:sp>
        <p:nvSpPr>
          <p:cNvPr id="35" name="shape_204"/>
          <p:cNvSpPr/>
          <p:nvPr/>
        </p:nvSpPr>
        <p:spPr>
          <a:xfrm>
            <a:off x="7110984" y="5577840"/>
            <a:ext cx="3166872" cy="1280160"/>
          </a:xfrm>
          <a:prstGeom prst="roundRect">
            <a:avLst>
              <a:gd name="adj" fmla="val 7143"/>
            </a:avLst>
          </a:prstGeom>
          <a:solidFill>
            <a:srgbClr val="EEF3FB"/>
          </a:solidFill>
          <a:ln w="15875">
            <a:solidFill>
              <a:srgbClr val="4472C4"/>
            </a:solidFill>
            <a:prstDash val="solid"/>
          </a:ln>
        </p:spPr>
      </p:sp>
      <p:sp>
        <p:nvSpPr>
          <p:cNvPr id="36" name="text_205"/>
          <p:cNvSpPr txBox="1"/>
          <p:nvPr/>
        </p:nvSpPr>
        <p:spPr>
          <a:xfrm>
            <a:off x="7248144" y="5623560"/>
            <a:ext cx="28925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10.5万台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2026年1〜6月のBEV（+85%）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生産義務の消化で販売攻勢</a:t>
            </a:r>
            <a:endParaRPr lang="en-US" sz="1600" dirty="0"/>
          </a:p>
        </p:txBody>
      </p:sp>
      <p:sp>
        <p:nvSpPr>
          <p:cNvPr id="37" name="text_206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出典：Autolife（2023〜24年）、JETRO（2026年7月）、BOI。下段の要因は時期の一致からの読み取り（因果は未検証）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モデルチェンジの違い　日系は外内装、中国系は画面と価格</a:t>
            </a:r>
            <a:endParaRPr lang="en-US" sz="2400" dirty="0"/>
          </a:p>
        </p:txBody>
      </p:sp>
      <p:sp>
        <p:nvSpPr>
          <p:cNvPr id="3" name="grp_207"/>
          <p:cNvSpPr/>
          <p:nvPr/>
        </p:nvSpPr>
        <p:spPr>
          <a:xfrm>
            <a:off x="411480" y="1024128"/>
            <a:ext cx="1944624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4472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 vs 中国系｜PT別</a:t>
            </a:r>
            <a:endParaRPr lang="en-US" sz="1200" dirty="0"/>
          </a:p>
        </p:txBody>
      </p:sp>
      <p:sp>
        <p:nvSpPr>
          <p:cNvPr id="4" name="text_208"/>
          <p:cNvSpPr txBox="1"/>
          <p:nvPr/>
        </p:nvSpPr>
        <p:spPr>
          <a:xfrm>
            <a:off x="2538984" y="987552"/>
            <a:ext cx="7693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問い　</a:t>
            </a:r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日系と中国系で、モデルチェンジの中身はどう違うのか</a:t>
            </a:r>
            <a:endParaRPr lang="en-US" sz="1600" dirty="0"/>
          </a:p>
        </p:txBody>
      </p:sp>
      <p:sp>
        <p:nvSpPr>
          <p:cNvPr id="5" name="shape_209"/>
          <p:cNvSpPr/>
          <p:nvPr/>
        </p:nvSpPr>
        <p:spPr>
          <a:xfrm>
            <a:off x="411480" y="1536192"/>
            <a:ext cx="4796028" cy="46177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22225">
            <a:solidFill>
              <a:srgbClr val="4472C4"/>
            </a:solidFill>
            <a:prstDash val="solid"/>
          </a:ln>
        </p:spPr>
      </p:sp>
      <p:sp>
        <p:nvSpPr>
          <p:cNvPr id="6" name="ch_210"/>
          <p:cNvSpPr/>
          <p:nvPr/>
        </p:nvSpPr>
        <p:spPr>
          <a:xfrm>
            <a:off x="429768" y="1554480"/>
            <a:ext cx="4759452" cy="438912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Toyota Corolla Cross HEV</a:t>
            </a:r>
            <a:endParaRPr lang="en-US" sz="1700" dirty="0"/>
          </a:p>
        </p:txBody>
      </p:sp>
      <p:sp>
        <p:nvSpPr>
          <p:cNvPr id="7" name="pc_211"/>
          <p:cNvSpPr/>
          <p:nvPr/>
        </p:nvSpPr>
        <p:spPr>
          <a:xfrm>
            <a:off x="594360" y="2103120"/>
            <a:ext cx="2123694" cy="1051560"/>
          </a:xfrm>
          <a:prstGeom prst="rect">
            <a:avLst/>
          </a:prstGeom>
          <a:solidFill>
            <a:srgbClr val="FAFAFA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101600" tIns="152400" rIns="152400" bIns="10160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社内PCで作成して差し込む</a:t>
            </a:r>
            <a:endParaRPr lang="en-US" sz="9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2020年</a:t>
            </a:r>
            <a:endParaRPr lang="en-US" sz="9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カタログ画像を貼る</a:t>
            </a:r>
            <a:endParaRPr lang="en-US" sz="900" dirty="0"/>
          </a:p>
        </p:txBody>
      </p:sp>
      <p:sp>
        <p:nvSpPr>
          <p:cNvPr id="8" name="pc_212"/>
          <p:cNvSpPr/>
          <p:nvPr/>
        </p:nvSpPr>
        <p:spPr>
          <a:xfrm>
            <a:off x="2900934" y="2103120"/>
            <a:ext cx="2123694" cy="1051560"/>
          </a:xfrm>
          <a:prstGeom prst="rect">
            <a:avLst/>
          </a:prstGeom>
          <a:solidFill>
            <a:srgbClr val="FAFAFA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101600" tIns="152400" rIns="152400" bIns="10160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社内PCで作成して差し込む</a:t>
            </a:r>
            <a:endParaRPr lang="en-US" sz="9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2024年</a:t>
            </a:r>
            <a:endParaRPr lang="en-US" sz="9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カタログ画像を貼る</a:t>
            </a:r>
            <a:endParaRPr lang="en-US" sz="900" dirty="0"/>
          </a:p>
        </p:txBody>
      </p:sp>
      <p:sp>
        <p:nvSpPr>
          <p:cNvPr id="9" name="shape_213"/>
          <p:cNvSpPr/>
          <p:nvPr/>
        </p:nvSpPr>
        <p:spPr>
          <a:xfrm>
            <a:off x="2699766" y="2450592"/>
            <a:ext cx="131674" cy="329184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10" name="shape_214"/>
          <p:cNvSpPr/>
          <p:nvPr/>
        </p:nvSpPr>
        <p:spPr>
          <a:xfrm>
            <a:off x="2791938" y="2450592"/>
            <a:ext cx="131674" cy="329184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graphicFrame>
        <p:nvGraphicFramePr>
          <p:cNvPr id="10" name="table_2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91840"/>
          <a:ext cx="4521708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1780794"/>
                <a:gridCol w="1780794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2020年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2024年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外観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グリル・灯火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0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画面・装備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画面・電動パーキング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0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駆動系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1.8L HEV 122PS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B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同じ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燃費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HEV 4.3L/100km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B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同じ駆動系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価格（最上級）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120.4万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B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120.4万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年間販売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社内データ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B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社内データ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_216"/>
          <p:cNvSpPr/>
          <p:nvPr/>
        </p:nvSpPr>
        <p:spPr>
          <a:xfrm>
            <a:off x="5481828" y="1536192"/>
            <a:ext cx="4796028" cy="46177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22225">
            <a:solidFill>
              <a:srgbClr val="E8604C"/>
            </a:solidFill>
            <a:prstDash val="solid"/>
          </a:ln>
        </p:spPr>
      </p:sp>
      <p:sp>
        <p:nvSpPr>
          <p:cNvPr id="13" name="ch_217"/>
          <p:cNvSpPr/>
          <p:nvPr/>
        </p:nvSpPr>
        <p:spPr>
          <a:xfrm>
            <a:off x="5500116" y="1554480"/>
            <a:ext cx="4759452" cy="438912"/>
          </a:xfrm>
          <a:prstGeom prst="rect">
            <a:avLst/>
          </a:prstGeom>
          <a:solidFill>
            <a:srgbClr val="E8604C"/>
          </a:solidFill>
          <a:ln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BYD Atto 3</a:t>
            </a:r>
            <a:endParaRPr lang="en-US" sz="1700" dirty="0"/>
          </a:p>
        </p:txBody>
      </p:sp>
      <p:sp>
        <p:nvSpPr>
          <p:cNvPr id="14" name="pc_218"/>
          <p:cNvSpPr/>
          <p:nvPr/>
        </p:nvSpPr>
        <p:spPr>
          <a:xfrm>
            <a:off x="5664708" y="2103120"/>
            <a:ext cx="2123694" cy="1051560"/>
          </a:xfrm>
          <a:prstGeom prst="rect">
            <a:avLst/>
          </a:prstGeom>
          <a:solidFill>
            <a:srgbClr val="FAFAFA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101600" tIns="152400" rIns="152400" bIns="10160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社内PCで作成して差し込む</a:t>
            </a:r>
            <a:endParaRPr lang="en-US" sz="9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MY2023</a:t>
            </a:r>
            <a:endParaRPr lang="en-US" sz="9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カタログ画像を貼る</a:t>
            </a:r>
            <a:endParaRPr lang="en-US" sz="900" dirty="0"/>
          </a:p>
        </p:txBody>
      </p:sp>
      <p:sp>
        <p:nvSpPr>
          <p:cNvPr id="15" name="pc_219"/>
          <p:cNvSpPr/>
          <p:nvPr/>
        </p:nvSpPr>
        <p:spPr>
          <a:xfrm>
            <a:off x="7971282" y="2103120"/>
            <a:ext cx="2123694" cy="1051560"/>
          </a:xfrm>
          <a:prstGeom prst="rect">
            <a:avLst/>
          </a:prstGeom>
          <a:solidFill>
            <a:srgbClr val="FAFAFA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101600" tIns="152400" rIns="152400" bIns="10160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社内PCで作成して差し込む</a:t>
            </a:r>
            <a:endParaRPr lang="en-US" sz="9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MY2024</a:t>
            </a:r>
            <a:endParaRPr lang="en-US" sz="9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カタログ画像を貼る</a:t>
            </a:r>
            <a:endParaRPr lang="en-US" sz="900" dirty="0"/>
          </a:p>
        </p:txBody>
      </p:sp>
      <p:sp>
        <p:nvSpPr>
          <p:cNvPr id="16" name="shape_220"/>
          <p:cNvSpPr/>
          <p:nvPr/>
        </p:nvSpPr>
        <p:spPr>
          <a:xfrm>
            <a:off x="7770114" y="2450592"/>
            <a:ext cx="131674" cy="329184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17" name="shape_221"/>
          <p:cNvSpPr/>
          <p:nvPr/>
        </p:nvSpPr>
        <p:spPr>
          <a:xfrm>
            <a:off x="7862286" y="2450592"/>
            <a:ext cx="131674" cy="329184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graphicFrame>
        <p:nvGraphicFramePr>
          <p:cNvPr id="19" name="table_2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18988" y="3291840"/>
          <a:ext cx="4521708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1780794"/>
                <a:gridCol w="1780794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MY2023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MY2024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外観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ピラー色・ロゴ・タイヤ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0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画面・装備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12.8型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15.6型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0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電池（標準）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49.92 kWh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50.25 kWh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0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航続（NEDC）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410／480 km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B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同じ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価格（長距離）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119.99万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89.99万（特価77万）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0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年間販売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1.92万台（2023年）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0.77万台（2024年）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00"/>
                    </a:solidFill>
                  </a:tcPr>
                </a:tc>
              </a:tr>
            </a:tbl>
          </a:graphicData>
        </a:graphic>
      </p:graphicFrame>
      <p:sp>
        <p:nvSpPr>
          <p:cNvPr id="19" name="shape_223"/>
          <p:cNvSpPr/>
          <p:nvPr/>
        </p:nvSpPr>
        <p:spPr>
          <a:xfrm>
            <a:off x="411480" y="6446520"/>
            <a:ext cx="182880" cy="182880"/>
          </a:xfrm>
          <a:prstGeom prst="rect">
            <a:avLst/>
          </a:prstGeom>
          <a:solidFill>
            <a:srgbClr val="FFF200"/>
          </a:solidFill>
          <a:ln w="12700">
            <a:solidFill>
              <a:srgbClr val="FFF200"/>
            </a:solidFill>
            <a:prstDash val="solid"/>
          </a:ln>
        </p:spPr>
      </p:sp>
      <p:sp>
        <p:nvSpPr>
          <p:cNvPr id="20" name="text_224"/>
          <p:cNvSpPr txBox="1"/>
          <p:nvPr/>
        </p:nvSpPr>
        <p:spPr>
          <a:xfrm>
            <a:off x="658368" y="6373368"/>
            <a:ext cx="108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変わった項目</a:t>
            </a:r>
            <a:endParaRPr lang="en-US" sz="1300" dirty="0"/>
          </a:p>
        </p:txBody>
      </p:sp>
      <p:sp>
        <p:nvSpPr>
          <p:cNvPr id="21" name="summary_225"/>
          <p:cNvSpPr/>
          <p:nvPr/>
        </p:nvSpPr>
        <p:spPr>
          <a:xfrm>
            <a:off x="2788920" y="6263640"/>
            <a:ext cx="7488936" cy="713232"/>
          </a:xfrm>
          <a:prstGeom prst="roundRect">
            <a:avLst>
              <a:gd name="adj" fmla="val 12821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駆動系はどちらもほぼ同じ。日系は外内装、中国系は画面と価格を変える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Atto 3は改良した2024年に、販売が6割減った</a:t>
            </a:r>
            <a:endParaRPr lang="en-US" sz="1500" dirty="0"/>
          </a:p>
        </p:txBody>
      </p:sp>
      <p:sp>
        <p:nvSpPr>
          <p:cNvPr id="22" name="text_226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出典：Toyota（2020年7月、2024年2月）、BYD Rêver、BYD販売店（2024年4月）、Autolife。価格はバーツ、Atto 3の値下げは2024年7月以降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中国系が買われる理由：入口の値段が下がり続ける</a:t>
            </a:r>
            <a:endParaRPr lang="en-US" sz="2400" dirty="0"/>
          </a:p>
        </p:txBody>
      </p:sp>
      <p:sp>
        <p:nvSpPr>
          <p:cNvPr id="3" name="grp_227"/>
          <p:cNvSpPr/>
          <p:nvPr/>
        </p:nvSpPr>
        <p:spPr>
          <a:xfrm>
            <a:off x="411480" y="1024128"/>
            <a:ext cx="1944624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4472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 vs 中国系｜PT別</a:t>
            </a:r>
            <a:endParaRPr lang="en-US" sz="1200" dirty="0"/>
          </a:p>
        </p:txBody>
      </p:sp>
      <p:sp>
        <p:nvSpPr>
          <p:cNvPr id="4" name="text_228"/>
          <p:cNvSpPr txBox="1"/>
          <p:nvPr/>
        </p:nvSpPr>
        <p:spPr>
          <a:xfrm>
            <a:off x="2538984" y="987552"/>
            <a:ext cx="7693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問い　</a:t>
            </a:r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なぜ、中国系のBEVが買われるのか</a:t>
            </a:r>
            <a:endParaRPr lang="en-US" sz="1600" dirty="0"/>
          </a:p>
        </p:txBody>
      </p:sp>
      <p:sp>
        <p:nvSpPr>
          <p:cNvPr id="5" name="text_229"/>
          <p:cNvSpPr txBox="1"/>
          <p:nvPr/>
        </p:nvSpPr>
        <p:spPr>
          <a:xfrm>
            <a:off x="41148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発売時 → 現在の新車価格（万バーツ）</a:t>
            </a:r>
            <a:endParaRPr lang="en-US" sz="1300" dirty="0"/>
          </a:p>
        </p:txBody>
      </p:sp>
      <p:sp>
        <p:nvSpPr>
          <p:cNvPr id="6" name="text_230"/>
          <p:cNvSpPr txBox="1"/>
          <p:nvPr/>
        </p:nvSpPr>
        <p:spPr>
          <a:xfrm>
            <a:off x="5943600" y="155448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変化</a:t>
            </a:r>
            <a:endParaRPr lang="en-US" sz="1300" dirty="0"/>
          </a:p>
        </p:txBody>
      </p:sp>
      <p:sp>
        <p:nvSpPr>
          <p:cNvPr id="7" name="shape_231"/>
          <p:cNvSpPr/>
          <p:nvPr/>
        </p:nvSpPr>
        <p:spPr>
          <a:xfrm>
            <a:off x="3094673" y="1920240"/>
            <a:ext cx="0" cy="3337560"/>
          </a:xfrm>
          <a:prstGeom prst="line">
            <a:avLst/>
          </a:prstGeom>
          <a:noFill/>
          <a:ln w="9525">
            <a:solidFill>
              <a:srgbClr val="E3E3E3"/>
            </a:solidFill>
            <a:prstDash val="dash"/>
          </a:ln>
        </p:spPr>
      </p:sp>
      <p:sp>
        <p:nvSpPr>
          <p:cNvPr id="8" name="text_232"/>
          <p:cNvSpPr txBox="1"/>
          <p:nvPr/>
        </p:nvSpPr>
        <p:spPr>
          <a:xfrm>
            <a:off x="2774633" y="528523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60万</a:t>
            </a:r>
            <a:endParaRPr lang="en-US" sz="1100" dirty="0"/>
          </a:p>
        </p:txBody>
      </p:sp>
      <p:sp>
        <p:nvSpPr>
          <p:cNvPr id="9" name="shape_233"/>
          <p:cNvSpPr/>
          <p:nvPr/>
        </p:nvSpPr>
        <p:spPr>
          <a:xfrm>
            <a:off x="3929063" y="1920240"/>
            <a:ext cx="0" cy="3337560"/>
          </a:xfrm>
          <a:prstGeom prst="line">
            <a:avLst/>
          </a:prstGeom>
          <a:noFill/>
          <a:ln w="9525">
            <a:solidFill>
              <a:srgbClr val="E3E3E3"/>
            </a:solidFill>
            <a:prstDash val="dash"/>
          </a:ln>
        </p:spPr>
      </p:sp>
      <p:sp>
        <p:nvSpPr>
          <p:cNvPr id="10" name="text_234"/>
          <p:cNvSpPr txBox="1"/>
          <p:nvPr/>
        </p:nvSpPr>
        <p:spPr>
          <a:xfrm>
            <a:off x="3609023" y="528523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80万</a:t>
            </a:r>
            <a:endParaRPr lang="en-US" sz="1100" dirty="0"/>
          </a:p>
        </p:txBody>
      </p:sp>
      <p:sp>
        <p:nvSpPr>
          <p:cNvPr id="11" name="shape_235"/>
          <p:cNvSpPr/>
          <p:nvPr/>
        </p:nvSpPr>
        <p:spPr>
          <a:xfrm>
            <a:off x="4763453" y="1920240"/>
            <a:ext cx="0" cy="3337560"/>
          </a:xfrm>
          <a:prstGeom prst="line">
            <a:avLst/>
          </a:prstGeom>
          <a:noFill/>
          <a:ln w="9525">
            <a:solidFill>
              <a:srgbClr val="E3E3E3"/>
            </a:solidFill>
            <a:prstDash val="dash"/>
          </a:ln>
        </p:spPr>
      </p:sp>
      <p:sp>
        <p:nvSpPr>
          <p:cNvPr id="12" name="text_236"/>
          <p:cNvSpPr txBox="1"/>
          <p:nvPr/>
        </p:nvSpPr>
        <p:spPr>
          <a:xfrm>
            <a:off x="4443413" y="528523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100万</a:t>
            </a:r>
            <a:endParaRPr lang="en-US" sz="1100" dirty="0"/>
          </a:p>
        </p:txBody>
      </p:sp>
      <p:sp>
        <p:nvSpPr>
          <p:cNvPr id="13" name="shape_237"/>
          <p:cNvSpPr/>
          <p:nvPr/>
        </p:nvSpPr>
        <p:spPr>
          <a:xfrm>
            <a:off x="5597842" y="1920240"/>
            <a:ext cx="0" cy="3337560"/>
          </a:xfrm>
          <a:prstGeom prst="line">
            <a:avLst/>
          </a:prstGeom>
          <a:noFill/>
          <a:ln w="9525">
            <a:solidFill>
              <a:srgbClr val="E3E3E3"/>
            </a:solidFill>
            <a:prstDash val="dash"/>
          </a:ln>
        </p:spPr>
      </p:sp>
      <p:sp>
        <p:nvSpPr>
          <p:cNvPr id="14" name="text_238"/>
          <p:cNvSpPr txBox="1"/>
          <p:nvPr/>
        </p:nvSpPr>
        <p:spPr>
          <a:xfrm>
            <a:off x="5277803" y="528523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120万</a:t>
            </a:r>
            <a:endParaRPr lang="en-US" sz="1100" dirty="0"/>
          </a:p>
        </p:txBody>
      </p:sp>
      <p:sp>
        <p:nvSpPr>
          <p:cNvPr id="15" name="text_239"/>
          <p:cNvSpPr txBox="1"/>
          <p:nvPr/>
        </p:nvSpPr>
        <p:spPr>
          <a:xfrm>
            <a:off x="411480" y="2039112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Atto 3（長距離）</a:t>
            </a:r>
            <a:endParaRPr lang="en-US" sz="1250" dirty="0"/>
          </a:p>
        </p:txBody>
      </p:sp>
      <p:sp>
        <p:nvSpPr>
          <p:cNvPr id="16" name="shape_240"/>
          <p:cNvSpPr/>
          <p:nvPr/>
        </p:nvSpPr>
        <p:spPr>
          <a:xfrm>
            <a:off x="4345840" y="2331720"/>
            <a:ext cx="1251585" cy="0"/>
          </a:xfrm>
          <a:prstGeom prst="line">
            <a:avLst/>
          </a:prstGeom>
          <a:noFill/>
          <a:ln w="31750">
            <a:solidFill>
              <a:srgbClr val="E8604C"/>
            </a:solidFill>
            <a:prstDash val="solid"/>
          </a:ln>
        </p:spPr>
      </p:sp>
      <p:sp>
        <p:nvSpPr>
          <p:cNvPr id="17" name="dot_241"/>
          <p:cNvSpPr/>
          <p:nvPr/>
        </p:nvSpPr>
        <p:spPr>
          <a:xfrm>
            <a:off x="5505985" y="2240280"/>
            <a:ext cx="182880" cy="18288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E8604C"/>
            </a:solidFill>
            <a:prstDash val="solid"/>
          </a:ln>
        </p:spPr>
      </p:sp>
      <p:sp>
        <p:nvSpPr>
          <p:cNvPr id="18" name="text_242"/>
          <p:cNvSpPr txBox="1"/>
          <p:nvPr/>
        </p:nvSpPr>
        <p:spPr>
          <a:xfrm>
            <a:off x="5185945" y="194767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119.99万</a:t>
            </a:r>
            <a:endParaRPr lang="en-US" sz="1050" dirty="0"/>
          </a:p>
        </p:txBody>
      </p:sp>
      <p:sp>
        <p:nvSpPr>
          <p:cNvPr id="19" name="text_243"/>
          <p:cNvSpPr txBox="1"/>
          <p:nvPr/>
        </p:nvSpPr>
        <p:spPr>
          <a:xfrm>
            <a:off x="5094505" y="245973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2022年</a:t>
            </a:r>
            <a:endParaRPr lang="en-US" sz="950" dirty="0"/>
          </a:p>
        </p:txBody>
      </p:sp>
      <p:sp>
        <p:nvSpPr>
          <p:cNvPr id="20" name="dot_244"/>
          <p:cNvSpPr/>
          <p:nvPr/>
        </p:nvSpPr>
        <p:spPr>
          <a:xfrm>
            <a:off x="4236112" y="2221992"/>
            <a:ext cx="219456" cy="219456"/>
          </a:xfrm>
          <a:prstGeom prst="ellipse">
            <a:avLst/>
          </a:prstGeom>
          <a:solidFill>
            <a:srgbClr val="E8604C"/>
          </a:solidFill>
          <a:ln w="22225">
            <a:solidFill>
              <a:srgbClr val="E8604C"/>
            </a:solidFill>
            <a:prstDash val="solid"/>
          </a:ln>
        </p:spPr>
      </p:sp>
      <p:sp>
        <p:nvSpPr>
          <p:cNvPr id="21" name="text_245"/>
          <p:cNvSpPr txBox="1"/>
          <p:nvPr/>
        </p:nvSpPr>
        <p:spPr>
          <a:xfrm>
            <a:off x="3934360" y="194767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89.99万</a:t>
            </a:r>
            <a:endParaRPr lang="en-US" sz="1050" dirty="0"/>
          </a:p>
        </p:txBody>
      </p:sp>
      <p:sp>
        <p:nvSpPr>
          <p:cNvPr id="22" name="text_246"/>
          <p:cNvSpPr txBox="1"/>
          <p:nvPr/>
        </p:nvSpPr>
        <p:spPr>
          <a:xfrm>
            <a:off x="3842920" y="245973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</a:t>
            </a:r>
            <a:endParaRPr lang="en-US" sz="950" dirty="0"/>
          </a:p>
        </p:txBody>
      </p:sp>
      <p:sp>
        <p:nvSpPr>
          <p:cNvPr id="23" name="text_247"/>
          <p:cNvSpPr txBox="1"/>
          <p:nvPr/>
        </p:nvSpPr>
        <p:spPr>
          <a:xfrm>
            <a:off x="5943600" y="2039112"/>
            <a:ext cx="868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−25%</a:t>
            </a:r>
            <a:endParaRPr lang="en-US" sz="16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特価なら−36%</a:t>
            </a:r>
            <a:endParaRPr lang="en-US" sz="1600" dirty="0"/>
          </a:p>
        </p:txBody>
      </p:sp>
      <p:sp>
        <p:nvSpPr>
          <p:cNvPr id="24" name="text_248"/>
          <p:cNvSpPr txBox="1"/>
          <p:nvPr/>
        </p:nvSpPr>
        <p:spPr>
          <a:xfrm>
            <a:off x="411480" y="2862072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Dolphin（標準）</a:t>
            </a:r>
            <a:endParaRPr lang="en-US" sz="1250" dirty="0"/>
          </a:p>
        </p:txBody>
      </p:sp>
      <p:sp>
        <p:nvSpPr>
          <p:cNvPr id="25" name="shape_249"/>
          <p:cNvSpPr/>
          <p:nvPr/>
        </p:nvSpPr>
        <p:spPr>
          <a:xfrm>
            <a:off x="2718780" y="3154680"/>
            <a:ext cx="792670" cy="0"/>
          </a:xfrm>
          <a:prstGeom prst="line">
            <a:avLst/>
          </a:prstGeom>
          <a:noFill/>
          <a:ln w="31750">
            <a:solidFill>
              <a:srgbClr val="E8604C"/>
            </a:solidFill>
            <a:prstDash val="solid"/>
          </a:ln>
        </p:spPr>
      </p:sp>
      <p:sp>
        <p:nvSpPr>
          <p:cNvPr id="26" name="dot_250"/>
          <p:cNvSpPr/>
          <p:nvPr/>
        </p:nvSpPr>
        <p:spPr>
          <a:xfrm>
            <a:off x="3420010" y="3063240"/>
            <a:ext cx="182880" cy="18288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E8604C"/>
            </a:solidFill>
            <a:prstDash val="solid"/>
          </a:ln>
        </p:spPr>
      </p:sp>
      <p:sp>
        <p:nvSpPr>
          <p:cNvPr id="27" name="text_251"/>
          <p:cNvSpPr txBox="1"/>
          <p:nvPr/>
        </p:nvSpPr>
        <p:spPr>
          <a:xfrm>
            <a:off x="3099970" y="277063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69.99万</a:t>
            </a:r>
            <a:endParaRPr lang="en-US" sz="1050" dirty="0"/>
          </a:p>
        </p:txBody>
      </p:sp>
      <p:sp>
        <p:nvSpPr>
          <p:cNvPr id="28" name="text_252"/>
          <p:cNvSpPr txBox="1"/>
          <p:nvPr/>
        </p:nvSpPr>
        <p:spPr>
          <a:xfrm>
            <a:off x="3008530" y="328269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2023年</a:t>
            </a:r>
            <a:endParaRPr lang="en-US" sz="950" dirty="0"/>
          </a:p>
        </p:txBody>
      </p:sp>
      <p:sp>
        <p:nvSpPr>
          <p:cNvPr id="29" name="dot_253"/>
          <p:cNvSpPr/>
          <p:nvPr/>
        </p:nvSpPr>
        <p:spPr>
          <a:xfrm>
            <a:off x="2914233" y="3099816"/>
            <a:ext cx="109728" cy="10972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E8604C"/>
            </a:solidFill>
            <a:prstDash val="solid"/>
          </a:ln>
        </p:spPr>
      </p:sp>
      <p:sp>
        <p:nvSpPr>
          <p:cNvPr id="30" name="dot_254"/>
          <p:cNvSpPr/>
          <p:nvPr/>
        </p:nvSpPr>
        <p:spPr>
          <a:xfrm>
            <a:off x="2609052" y="3044952"/>
            <a:ext cx="219456" cy="219456"/>
          </a:xfrm>
          <a:prstGeom prst="ellipse">
            <a:avLst/>
          </a:prstGeom>
          <a:solidFill>
            <a:srgbClr val="E8604C"/>
          </a:solidFill>
          <a:ln w="22225">
            <a:solidFill>
              <a:srgbClr val="E8604C"/>
            </a:solidFill>
            <a:prstDash val="solid"/>
          </a:ln>
        </p:spPr>
      </p:sp>
      <p:sp>
        <p:nvSpPr>
          <p:cNvPr id="31" name="text_255"/>
          <p:cNvSpPr txBox="1"/>
          <p:nvPr/>
        </p:nvSpPr>
        <p:spPr>
          <a:xfrm>
            <a:off x="2307300" y="277063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50.99万</a:t>
            </a:r>
            <a:endParaRPr lang="en-US" sz="1050" dirty="0"/>
          </a:p>
        </p:txBody>
      </p:sp>
      <p:sp>
        <p:nvSpPr>
          <p:cNvPr id="32" name="text_256"/>
          <p:cNvSpPr txBox="1"/>
          <p:nvPr/>
        </p:nvSpPr>
        <p:spPr>
          <a:xfrm>
            <a:off x="2215860" y="328269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</a:t>
            </a:r>
            <a:endParaRPr lang="en-US" sz="950" dirty="0"/>
          </a:p>
        </p:txBody>
      </p:sp>
      <p:sp>
        <p:nvSpPr>
          <p:cNvPr id="33" name="text_257"/>
          <p:cNvSpPr txBox="1"/>
          <p:nvPr/>
        </p:nvSpPr>
        <p:spPr>
          <a:xfrm>
            <a:off x="5943600" y="2862072"/>
            <a:ext cx="868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−27%</a:t>
            </a:r>
            <a:endParaRPr lang="en-US" sz="1600" dirty="0"/>
          </a:p>
        </p:txBody>
      </p:sp>
      <p:sp>
        <p:nvSpPr>
          <p:cNvPr id="34" name="text_258"/>
          <p:cNvSpPr txBox="1"/>
          <p:nvPr/>
        </p:nvSpPr>
        <p:spPr>
          <a:xfrm>
            <a:off x="411480" y="3685032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Omoda C5 EV</a:t>
            </a:r>
            <a:endParaRPr lang="en-US" sz="1250" dirty="0"/>
          </a:p>
        </p:txBody>
      </p:sp>
      <p:sp>
        <p:nvSpPr>
          <p:cNvPr id="35" name="shape_259"/>
          <p:cNvSpPr/>
          <p:nvPr/>
        </p:nvSpPr>
        <p:spPr>
          <a:xfrm>
            <a:off x="3549415" y="3977640"/>
            <a:ext cx="792670" cy="0"/>
          </a:xfrm>
          <a:prstGeom prst="line">
            <a:avLst/>
          </a:prstGeom>
          <a:noFill/>
          <a:ln w="31750">
            <a:solidFill>
              <a:srgbClr val="E8604C"/>
            </a:solidFill>
            <a:prstDash val="solid"/>
          </a:ln>
        </p:spPr>
      </p:sp>
      <p:sp>
        <p:nvSpPr>
          <p:cNvPr id="36" name="dot_260"/>
          <p:cNvSpPr/>
          <p:nvPr/>
        </p:nvSpPr>
        <p:spPr>
          <a:xfrm>
            <a:off x="4250646" y="3886200"/>
            <a:ext cx="182880" cy="18288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E8604C"/>
            </a:solidFill>
            <a:prstDash val="solid"/>
          </a:ln>
        </p:spPr>
      </p:sp>
      <p:sp>
        <p:nvSpPr>
          <p:cNvPr id="37" name="text_261"/>
          <p:cNvSpPr txBox="1"/>
          <p:nvPr/>
        </p:nvSpPr>
        <p:spPr>
          <a:xfrm>
            <a:off x="3930606" y="359359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89.9万</a:t>
            </a:r>
            <a:endParaRPr lang="en-US" sz="1050" dirty="0"/>
          </a:p>
        </p:txBody>
      </p:sp>
      <p:sp>
        <p:nvSpPr>
          <p:cNvPr id="38" name="text_262"/>
          <p:cNvSpPr txBox="1"/>
          <p:nvPr/>
        </p:nvSpPr>
        <p:spPr>
          <a:xfrm>
            <a:off x="3839166" y="410565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2024年</a:t>
            </a:r>
            <a:endParaRPr lang="en-US" sz="950" dirty="0"/>
          </a:p>
        </p:txBody>
      </p:sp>
      <p:sp>
        <p:nvSpPr>
          <p:cNvPr id="39" name="dot_263"/>
          <p:cNvSpPr/>
          <p:nvPr/>
        </p:nvSpPr>
        <p:spPr>
          <a:xfrm>
            <a:off x="3439687" y="3867912"/>
            <a:ext cx="219456" cy="219456"/>
          </a:xfrm>
          <a:prstGeom prst="ellipse">
            <a:avLst/>
          </a:prstGeom>
          <a:solidFill>
            <a:srgbClr val="E8604C"/>
          </a:solidFill>
          <a:ln w="22225">
            <a:solidFill>
              <a:srgbClr val="E8604C"/>
            </a:solidFill>
            <a:prstDash val="solid"/>
          </a:ln>
        </p:spPr>
      </p:sp>
      <p:sp>
        <p:nvSpPr>
          <p:cNvPr id="40" name="text_264"/>
          <p:cNvSpPr txBox="1"/>
          <p:nvPr/>
        </p:nvSpPr>
        <p:spPr>
          <a:xfrm>
            <a:off x="3137935" y="359359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70.9万</a:t>
            </a:r>
            <a:endParaRPr lang="en-US" sz="1050" dirty="0"/>
          </a:p>
        </p:txBody>
      </p:sp>
      <p:sp>
        <p:nvSpPr>
          <p:cNvPr id="41" name="text_265"/>
          <p:cNvSpPr txBox="1"/>
          <p:nvPr/>
        </p:nvSpPr>
        <p:spPr>
          <a:xfrm>
            <a:off x="3046495" y="410565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</a:t>
            </a:r>
            <a:endParaRPr lang="en-US" sz="950" dirty="0"/>
          </a:p>
        </p:txBody>
      </p:sp>
      <p:sp>
        <p:nvSpPr>
          <p:cNvPr id="42" name="text_266"/>
          <p:cNvSpPr txBox="1"/>
          <p:nvPr/>
        </p:nvSpPr>
        <p:spPr>
          <a:xfrm>
            <a:off x="5943600" y="3685032"/>
            <a:ext cx="868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−21%</a:t>
            </a:r>
            <a:endParaRPr lang="en-US" sz="1600" dirty="0"/>
          </a:p>
        </p:txBody>
      </p:sp>
      <p:sp>
        <p:nvSpPr>
          <p:cNvPr id="43" name="text_267"/>
          <p:cNvSpPr txBox="1"/>
          <p:nvPr/>
        </p:nvSpPr>
        <p:spPr>
          <a:xfrm>
            <a:off x="411480" y="4507992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Corolla Cross HEV</a:t>
            </a:r>
            <a:endParaRPr lang="en-US" sz="1250" dirty="0"/>
          </a:p>
          <a:p>
            <a:pPr algn="r"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（最上級）</a:t>
            </a:r>
            <a:endParaRPr lang="en-US" sz="1250" dirty="0"/>
          </a:p>
        </p:txBody>
      </p:sp>
      <p:sp>
        <p:nvSpPr>
          <p:cNvPr id="44" name="dot_268"/>
          <p:cNvSpPr/>
          <p:nvPr/>
        </p:nvSpPr>
        <p:spPr>
          <a:xfrm>
            <a:off x="5504802" y="4690872"/>
            <a:ext cx="219456" cy="219456"/>
          </a:xfrm>
          <a:prstGeom prst="ellipse">
            <a:avLst/>
          </a:prstGeom>
          <a:solidFill>
            <a:srgbClr val="4472C4"/>
          </a:solidFill>
          <a:ln w="22225">
            <a:solidFill>
              <a:srgbClr val="4472C4"/>
            </a:solidFill>
            <a:prstDash val="solid"/>
          </a:ln>
        </p:spPr>
      </p:sp>
      <p:sp>
        <p:nvSpPr>
          <p:cNvPr id="45" name="text_269"/>
          <p:cNvSpPr txBox="1"/>
          <p:nvPr/>
        </p:nvSpPr>
        <p:spPr>
          <a:xfrm>
            <a:off x="5203050" y="441655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120.4万</a:t>
            </a:r>
            <a:endParaRPr lang="en-US" sz="1050" dirty="0"/>
          </a:p>
        </p:txBody>
      </p:sp>
      <p:sp>
        <p:nvSpPr>
          <p:cNvPr id="46" name="text_270"/>
          <p:cNvSpPr txBox="1"/>
          <p:nvPr/>
        </p:nvSpPr>
        <p:spPr>
          <a:xfrm>
            <a:off x="5111610" y="49286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2023→2026年</a:t>
            </a:r>
            <a:endParaRPr lang="en-US" sz="950" dirty="0"/>
          </a:p>
        </p:txBody>
      </p:sp>
      <p:sp>
        <p:nvSpPr>
          <p:cNvPr id="47" name="text_271"/>
          <p:cNvSpPr txBox="1"/>
          <p:nvPr/>
        </p:nvSpPr>
        <p:spPr>
          <a:xfrm>
            <a:off x="5943600" y="4507992"/>
            <a:ext cx="868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±0%</a:t>
            </a:r>
            <a:endParaRPr lang="en-US" sz="16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据え置き</a:t>
            </a:r>
            <a:endParaRPr lang="en-US" sz="1600" dirty="0"/>
          </a:p>
        </p:txBody>
      </p:sp>
      <p:sp>
        <p:nvSpPr>
          <p:cNvPr id="48" name="shape_272"/>
          <p:cNvSpPr/>
          <p:nvPr/>
        </p:nvSpPr>
        <p:spPr>
          <a:xfrm>
            <a:off x="6949440" y="1572768"/>
            <a:ext cx="3328416" cy="3931920"/>
          </a:xfrm>
          <a:prstGeom prst="roundRect">
            <a:avLst>
              <a:gd name="adj" fmla="val 2747"/>
            </a:avLst>
          </a:prstGeom>
          <a:solidFill>
            <a:srgbClr val="EEF3FB"/>
          </a:solidFill>
          <a:ln w="15875">
            <a:solidFill>
              <a:srgbClr val="4472C4"/>
            </a:solidFill>
            <a:prstDash val="solid"/>
          </a:ln>
        </p:spPr>
      </p:sp>
      <p:sp>
        <p:nvSpPr>
          <p:cNvPr id="49" name="tab_273"/>
          <p:cNvSpPr/>
          <p:nvPr/>
        </p:nvSpPr>
        <p:spPr>
          <a:xfrm>
            <a:off x="7059168" y="1664208"/>
            <a:ext cx="2090420" cy="264160"/>
          </a:xfrm>
          <a:prstGeom prst="rect">
            <a:avLst/>
          </a:prstGeom>
          <a:solidFill>
            <a:srgbClr val="FFFFFF"/>
          </a:solidFill>
          <a:ln w="12700">
            <a:solidFill>
              <a:srgbClr val="4472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日系との価格差は広がる</a:t>
            </a:r>
            <a:endParaRPr lang="en-US" sz="1300" dirty="0"/>
          </a:p>
        </p:txBody>
      </p:sp>
      <p:sp>
        <p:nvSpPr>
          <p:cNvPr id="50" name="text_274"/>
          <p:cNvSpPr txBox="1"/>
          <p:nvPr/>
        </p:nvSpPr>
        <p:spPr>
          <a:xfrm>
            <a:off x="7150608" y="2103120"/>
            <a:ext cx="296265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ほぼ同じ</a:t>
            </a:r>
            <a:endParaRPr lang="en-US" sz="2400" dirty="0"/>
          </a:p>
        </p:txBody>
      </p:sp>
      <p:sp>
        <p:nvSpPr>
          <p:cNvPr id="51" name="text_275"/>
          <p:cNvSpPr txBox="1"/>
          <p:nvPr/>
        </p:nvSpPr>
        <p:spPr>
          <a:xfrm>
            <a:off x="7150608" y="2499360"/>
            <a:ext cx="2962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2023年：Atto 3 120万 ≒ Corolla Cross 120万</a:t>
            </a:r>
            <a:endParaRPr lang="en-US" sz="1150" dirty="0"/>
          </a:p>
        </p:txBody>
      </p:sp>
      <p:sp>
        <p:nvSpPr>
          <p:cNvPr id="52" name="text_276"/>
          <p:cNvSpPr txBox="1"/>
          <p:nvPr/>
        </p:nvSpPr>
        <p:spPr>
          <a:xfrm>
            <a:off x="7150608" y="3127248"/>
            <a:ext cx="296265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25〜36%安い</a:t>
            </a:r>
            <a:endParaRPr lang="en-US" sz="2400" dirty="0"/>
          </a:p>
        </p:txBody>
      </p:sp>
      <p:sp>
        <p:nvSpPr>
          <p:cNvPr id="53" name="text_277"/>
          <p:cNvSpPr txBox="1"/>
          <p:nvPr/>
        </p:nvSpPr>
        <p:spPr>
          <a:xfrm>
            <a:off x="7150608" y="3523488"/>
            <a:ext cx="2962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2026年：Atto 3 90万（特価77万）</a:t>
            </a:r>
            <a:endParaRPr lang="en-US" sz="1150" dirty="0"/>
          </a:p>
        </p:txBody>
      </p:sp>
      <p:sp>
        <p:nvSpPr>
          <p:cNvPr id="54" name="text_278"/>
          <p:cNvSpPr txBox="1"/>
          <p:nvPr/>
        </p:nvSpPr>
        <p:spPr>
          <a:xfrm>
            <a:off x="7150608" y="4151376"/>
            <a:ext cx="296265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43万</a:t>
            </a:r>
            <a:endParaRPr lang="en-US" sz="2400" dirty="0"/>
          </a:p>
        </p:txBody>
      </p:sp>
      <p:sp>
        <p:nvSpPr>
          <p:cNvPr id="55" name="text_279"/>
          <p:cNvSpPr txBox="1"/>
          <p:nvPr/>
        </p:nvSpPr>
        <p:spPr>
          <a:xfrm>
            <a:off x="7150608" y="4547616"/>
            <a:ext cx="2962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最安のBEV（Atto 1）。Yaris Ativは57万</a:t>
            </a:r>
            <a:endParaRPr lang="en-US" sz="1150" dirty="0"/>
          </a:p>
        </p:txBody>
      </p:sp>
      <p:sp>
        <p:nvSpPr>
          <p:cNvPr id="56" name="shape_280"/>
          <p:cNvSpPr/>
          <p:nvPr/>
        </p:nvSpPr>
        <p:spPr>
          <a:xfrm>
            <a:off x="411480" y="5669280"/>
            <a:ext cx="4796028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E8384F"/>
            </a:solidFill>
            <a:prstDash val="solid"/>
          </a:ln>
        </p:spPr>
      </p:sp>
      <p:sp>
        <p:nvSpPr>
          <p:cNvPr id="57" name="fslabel_281"/>
          <p:cNvSpPr/>
          <p:nvPr/>
        </p:nvSpPr>
        <p:spPr>
          <a:xfrm>
            <a:off x="2100834" y="5532120"/>
            <a:ext cx="141732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わかったこと</a:t>
            </a:r>
            <a:endParaRPr lang="en-US" sz="1500" dirty="0"/>
          </a:p>
        </p:txBody>
      </p:sp>
      <p:sp>
        <p:nvSpPr>
          <p:cNvPr id="58" name="text_282"/>
          <p:cNvSpPr txBox="1"/>
          <p:nvPr/>
        </p:nvSpPr>
        <p:spPr>
          <a:xfrm>
            <a:off x="640080" y="5870448"/>
            <a:ext cx="43388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中国系はモデルチェンジや現地生産のたびに値段を下げ、日系は据え置く</a:t>
            </a:r>
            <a:endParaRPr lang="en-US" sz="1550" dirty="0"/>
          </a:p>
        </p:txBody>
      </p:sp>
      <p:sp>
        <p:nvSpPr>
          <p:cNvPr id="59" name="summary_283"/>
          <p:cNvSpPr/>
          <p:nvPr/>
        </p:nvSpPr>
        <p:spPr>
          <a:xfrm>
            <a:off x="5481828" y="5577840"/>
            <a:ext cx="4796028" cy="1188720"/>
          </a:xfrm>
          <a:prstGeom prst="roundRect">
            <a:avLst>
              <a:gd name="adj" fmla="val 7692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中国系が買われる理由は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下がり続ける入口の値段</a:t>
            </a:r>
            <a:endParaRPr lang="en-US" sz="1800" dirty="0"/>
          </a:p>
        </p:txBody>
      </p:sp>
      <p:sp>
        <p:nvSpPr>
          <p:cNvPr id="60" name="text_284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出典：BYD Rêver・BYD販売店、The Standard（2023年）、Chobrod（2024年）、Omoda &amp; Jaecoo（2026年9月）、Toyota Thailand。公表価格（バーツ）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競合するのは乗用車のB・Cと、SUVのC</a:t>
            </a:r>
            <a:endParaRPr lang="en-US" sz="2400" dirty="0"/>
          </a:p>
        </p:txBody>
      </p:sp>
      <p:sp>
        <p:nvSpPr>
          <p:cNvPr id="3" name="grp_285"/>
          <p:cNvSpPr/>
          <p:nvPr/>
        </p:nvSpPr>
        <p:spPr>
          <a:xfrm>
            <a:off x="411480" y="1024128"/>
            <a:ext cx="253593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1E9C9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 vs 中国系｜セグメント別</a:t>
            </a:r>
            <a:endParaRPr lang="en-US" sz="1200" dirty="0"/>
          </a:p>
        </p:txBody>
      </p:sp>
      <p:sp>
        <p:nvSpPr>
          <p:cNvPr id="4" name="text_286"/>
          <p:cNvSpPr txBox="1"/>
          <p:nvPr/>
        </p:nvSpPr>
        <p:spPr>
          <a:xfrm>
            <a:off x="3130296" y="987552"/>
            <a:ext cx="710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問い　</a:t>
            </a:r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日系と中国系は、どの車格で競っているのか</a:t>
            </a:r>
            <a:endParaRPr lang="en-US" sz="1600" dirty="0"/>
          </a:p>
        </p:txBody>
      </p:sp>
      <p:graphicFrame>
        <p:nvGraphicFramePr>
          <p:cNvPr id="12" name="table_28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536192"/>
          <a:ext cx="9866376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1499616"/>
                <a:gridCol w="1499616"/>
                <a:gridCol w="1499616"/>
                <a:gridCol w="1499616"/>
                <a:gridCol w="1499616"/>
                <a:gridCol w="1499616"/>
              </a:tblGrid>
              <a:tr h="347472"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動力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乗用車（セダン・ハッチバック）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SUV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347472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Bクラス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Cクラス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Dクラス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Bクラス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Cクラス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Dクラス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BEV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860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Dolphin、Atto 1、Good Cat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860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MG4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860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860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Jaecoo 5 EV、MG ZS EV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860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Atto 3、Deepal S07、Omoda C5 EV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472C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bZ4X（少量）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860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Sealion 7、XPeng G6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PHEV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860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Sealion 6、H6 PHEV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472C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Outlander PHEV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HEV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860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MG3 HEV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472C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Yaris Ativ HEV、City e:HEV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472C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Corolla Altis HEV、Civic e:HEV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472C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Camry、Accord e:HEV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860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Jolion HEV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472C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Yaris Cross、HR-V、Kicks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860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Haval H6 HEV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472C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Corolla Cross HEV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472C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Yaris Ativ、City、Almera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860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MG5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472C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Corolla Altis、Civic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860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MG ZS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472C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CX-3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472C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CX-5、CX-30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472C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Fortuner、Pajero Sport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_288"/>
          <p:cNvSpPr/>
          <p:nvPr/>
        </p:nvSpPr>
        <p:spPr>
          <a:xfrm>
            <a:off x="411480" y="1536192"/>
            <a:ext cx="9866376" cy="3867912"/>
          </a:xfrm>
          <a:prstGeom prst="rect">
            <a:avLst/>
          </a:prstGeom>
          <a:ln w="25400">
            <a:solidFill>
              <a:srgbClr val="4472C4"/>
            </a:solidFill>
            <a:prstDash val="solid"/>
          </a:ln>
        </p:spPr>
      </p:sp>
      <p:sp>
        <p:nvSpPr>
          <p:cNvPr id="7" name="shape_289"/>
          <p:cNvSpPr/>
          <p:nvPr/>
        </p:nvSpPr>
        <p:spPr>
          <a:xfrm>
            <a:off x="1307592" y="1911096"/>
            <a:ext cx="2944368" cy="3465576"/>
          </a:xfrm>
          <a:prstGeom prst="rect">
            <a:avLst/>
          </a:prstGeom>
          <a:ln w="34925">
            <a:solidFill>
              <a:srgbClr val="E8384F"/>
            </a:solidFill>
            <a:prstDash val="solid"/>
          </a:ln>
        </p:spPr>
      </p:sp>
      <p:sp>
        <p:nvSpPr>
          <p:cNvPr id="8" name="shape_290"/>
          <p:cNvSpPr/>
          <p:nvPr/>
        </p:nvSpPr>
        <p:spPr>
          <a:xfrm>
            <a:off x="7306056" y="1911096"/>
            <a:ext cx="1444752" cy="3465576"/>
          </a:xfrm>
          <a:prstGeom prst="rect">
            <a:avLst/>
          </a:prstGeom>
          <a:ln w="34925">
            <a:solidFill>
              <a:srgbClr val="E8384F"/>
            </a:solidFill>
            <a:prstDash val="solid"/>
          </a:ln>
        </p:spPr>
      </p:sp>
      <p:sp>
        <p:nvSpPr>
          <p:cNvPr id="9" name="shape_291"/>
          <p:cNvSpPr/>
          <p:nvPr/>
        </p:nvSpPr>
        <p:spPr>
          <a:xfrm>
            <a:off x="5806440" y="1911096"/>
            <a:ext cx="1444752" cy="3465576"/>
          </a:xfrm>
          <a:prstGeom prst="rect">
            <a:avLst/>
          </a:prstGeom>
          <a:ln w="19050">
            <a:solidFill>
              <a:srgbClr val="E8384F"/>
            </a:solidFill>
            <a:prstDash val="dash"/>
          </a:ln>
        </p:spPr>
      </p:sp>
      <p:sp>
        <p:nvSpPr>
          <p:cNvPr id="10" name="shape_292"/>
          <p:cNvSpPr/>
          <p:nvPr/>
        </p:nvSpPr>
        <p:spPr>
          <a:xfrm>
            <a:off x="411480" y="5568696"/>
            <a:ext cx="182880" cy="182880"/>
          </a:xfrm>
          <a:prstGeom prst="rect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11" name="text_293"/>
          <p:cNvSpPr txBox="1"/>
          <p:nvPr/>
        </p:nvSpPr>
        <p:spPr>
          <a:xfrm>
            <a:off x="658368" y="5495544"/>
            <a:ext cx="5867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</a:t>
            </a:r>
            <a:endParaRPr lang="en-US" sz="1300" dirty="0"/>
          </a:p>
        </p:txBody>
      </p:sp>
      <p:sp>
        <p:nvSpPr>
          <p:cNvPr id="12" name="shape_294"/>
          <p:cNvSpPr/>
          <p:nvPr/>
        </p:nvSpPr>
        <p:spPr>
          <a:xfrm>
            <a:off x="1473708" y="5568696"/>
            <a:ext cx="182880" cy="18288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3" name="text_295"/>
          <p:cNvSpPr txBox="1"/>
          <p:nvPr/>
        </p:nvSpPr>
        <p:spPr>
          <a:xfrm>
            <a:off x="1720596" y="5495544"/>
            <a:ext cx="42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</a:t>
            </a:r>
            <a:endParaRPr lang="en-US" sz="1300" dirty="0"/>
          </a:p>
        </p:txBody>
      </p:sp>
      <p:sp>
        <p:nvSpPr>
          <p:cNvPr id="14" name="text_296"/>
          <p:cNvSpPr txBox="1"/>
          <p:nvPr/>
        </p:nvSpPr>
        <p:spPr>
          <a:xfrm>
            <a:off x="3017520" y="5495544"/>
            <a:ext cx="7260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赤枠＝主な競合、点線＝広がりつつある競合（SUV B）。代表車種（目安）</a:t>
            </a:r>
            <a:endParaRPr lang="en-US" sz="1250" dirty="0"/>
          </a:p>
        </p:txBody>
      </p:sp>
      <p:sp>
        <p:nvSpPr>
          <p:cNvPr id="15" name="summary_297"/>
          <p:cNvSpPr/>
          <p:nvPr/>
        </p:nvSpPr>
        <p:spPr>
          <a:xfrm>
            <a:off x="685800" y="5989320"/>
            <a:ext cx="9317736" cy="868680"/>
          </a:xfrm>
          <a:prstGeom prst="roundRect">
            <a:avLst>
              <a:gd name="adj" fmla="val 10526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同じ車格で、中国系はBEV、日系はHEV・ICEを売り、同じ客を取り合う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この3つのセグメントで、車種の数を比べる</a:t>
            </a:r>
            <a:endParaRPr lang="en-US" sz="1700" dirty="0"/>
          </a:p>
        </p:txBody>
      </p:sp>
      <p:sp>
        <p:nvSpPr>
          <p:cNvPr id="16" name="text_298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出典：各社のタイ公式サイト（2026年10月）。各セルの台数・シェアは社内PC（MarkLines）で追記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車種の数：中国系は数で攻め、日系は少ない車種で大きく売る</a:t>
            </a:r>
            <a:endParaRPr lang="en-US" sz="2400" dirty="0"/>
          </a:p>
        </p:txBody>
      </p:sp>
      <p:sp>
        <p:nvSpPr>
          <p:cNvPr id="3" name="grp_299"/>
          <p:cNvSpPr/>
          <p:nvPr/>
        </p:nvSpPr>
        <p:spPr>
          <a:xfrm>
            <a:off x="411480" y="1024128"/>
            <a:ext cx="253593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1E9C9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 vs 中国系｜セグメント別</a:t>
            </a:r>
            <a:endParaRPr lang="en-US" sz="1200" dirty="0"/>
          </a:p>
        </p:txBody>
      </p:sp>
      <p:sp>
        <p:nvSpPr>
          <p:cNvPr id="4" name="text_300"/>
          <p:cNvSpPr txBox="1"/>
          <p:nvPr/>
        </p:nvSpPr>
        <p:spPr>
          <a:xfrm>
            <a:off x="3130296" y="987552"/>
            <a:ext cx="710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問い　</a:t>
            </a:r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競合するセグメントで、車種の数はどう違うのか</a:t>
            </a:r>
            <a:endParaRPr lang="en-US" sz="1600" dirty="0"/>
          </a:p>
        </p:txBody>
      </p:sp>
      <p:graphicFrame>
        <p:nvGraphicFramePr>
          <p:cNvPr id="5" name="chart_launch8" descr=""/>
          <p:cNvGraphicFramePr/>
          <p:nvPr/>
        </p:nvGraphicFramePr>
        <p:xfrm>
          <a:off x="411480" y="1536192"/>
          <a:ext cx="324612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_suvn" descr=""/>
          <p:cNvGraphicFramePr/>
          <p:nvPr/>
        </p:nvGraphicFramePr>
        <p:xfrm>
          <a:off x="3794760" y="1536192"/>
          <a:ext cx="315468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_suvper" descr=""/>
          <p:cNvGraphicFramePr/>
          <p:nvPr/>
        </p:nvGraphicFramePr>
        <p:xfrm>
          <a:off x="7086600" y="1536192"/>
          <a:ext cx="3191256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pc_301"/>
          <p:cNvSpPr/>
          <p:nvPr/>
        </p:nvSpPr>
        <p:spPr>
          <a:xfrm>
            <a:off x="411480" y="4709160"/>
            <a:ext cx="9866376" cy="566928"/>
          </a:xfrm>
          <a:prstGeom prst="rect">
            <a:avLst/>
          </a:prstGeom>
          <a:solidFill>
            <a:srgbClr val="FAFAFA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101600" tIns="152400" rIns="152400" bIns="10160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社内PCで作成して差し込む</a:t>
            </a:r>
            <a:endParaRPr lang="en-US" sz="9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乗用車B・Cの同じ比較（社内データ）</a:t>
            </a:r>
            <a:endParaRPr lang="en-US" sz="900" dirty="0"/>
          </a:p>
        </p:txBody>
      </p:sp>
      <p:sp>
        <p:nvSpPr>
          <p:cNvPr id="9" name="shape_302"/>
          <p:cNvSpPr/>
          <p:nvPr/>
        </p:nvSpPr>
        <p:spPr>
          <a:xfrm>
            <a:off x="411480" y="5550408"/>
            <a:ext cx="4796028" cy="1216152"/>
          </a:xfrm>
          <a:prstGeom prst="roundRect">
            <a:avLst>
              <a:gd name="adj" fmla="val 9023"/>
            </a:avLst>
          </a:prstGeom>
          <a:solidFill>
            <a:srgbClr val="FFFFFF"/>
          </a:solidFill>
          <a:ln w="22225">
            <a:solidFill>
              <a:srgbClr val="E8384F"/>
            </a:solidFill>
            <a:prstDash val="solid"/>
          </a:ln>
        </p:spPr>
      </p:sp>
      <p:sp>
        <p:nvSpPr>
          <p:cNvPr id="10" name="fslabel_303"/>
          <p:cNvSpPr/>
          <p:nvPr/>
        </p:nvSpPr>
        <p:spPr>
          <a:xfrm>
            <a:off x="2100834" y="5413248"/>
            <a:ext cx="141732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わかったこと</a:t>
            </a:r>
            <a:endParaRPr lang="en-US" sz="1500" dirty="0"/>
          </a:p>
        </p:txBody>
      </p:sp>
      <p:sp>
        <p:nvSpPr>
          <p:cNvPr id="11" name="text_304"/>
          <p:cNvSpPr txBox="1"/>
          <p:nvPr/>
        </p:nvSpPr>
        <p:spPr>
          <a:xfrm>
            <a:off x="640080" y="5751576"/>
            <a:ext cx="43388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SUVで中国系は13車種（うち7車種が新顔）、1車種0.3万台。日系は7車種で1.2万台</a:t>
            </a:r>
            <a:endParaRPr lang="en-US" sz="1500" dirty="0"/>
          </a:p>
        </p:txBody>
      </p:sp>
      <p:sp>
        <p:nvSpPr>
          <p:cNvPr id="12" name="summary_305"/>
          <p:cNvSpPr/>
          <p:nvPr/>
        </p:nvSpPr>
        <p:spPr>
          <a:xfrm>
            <a:off x="5481828" y="5458968"/>
            <a:ext cx="4796028" cy="1307592"/>
          </a:xfrm>
          <a:prstGeom prst="roundRect">
            <a:avLst>
              <a:gd name="adj" fmla="val 6993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同じ席を多くの車種で分け合うと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1車種あたりの台数は小さくなる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次の車種を急ぐ理由になる（p.13）</a:t>
            </a:r>
            <a:endParaRPr lang="en-US" sz="1600" dirty="0"/>
          </a:p>
        </p:txBody>
      </p:sp>
      <p:sp>
        <p:nvSpPr>
          <p:cNvPr id="13" name="text_306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出典：発売時期一覧（2026年10月、提供ファイル、2026年は1〜10月）、Autolife（B・BC-SUV、2024・2025年、掲載車種で集計）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モデルチェンジが早まるのは、中国系どうしで席を奪い合うから</a:t>
            </a:r>
            <a:endParaRPr lang="en-US" sz="2400" dirty="0"/>
          </a:p>
        </p:txBody>
      </p:sp>
      <p:sp>
        <p:nvSpPr>
          <p:cNvPr id="3" name="grp_307"/>
          <p:cNvSpPr/>
          <p:nvPr/>
        </p:nvSpPr>
        <p:spPr>
          <a:xfrm>
            <a:off x="411480" y="1024128"/>
            <a:ext cx="14630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中国系どうし</a:t>
            </a:r>
            <a:endParaRPr lang="en-US" sz="1200" dirty="0"/>
          </a:p>
        </p:txBody>
      </p:sp>
      <p:sp>
        <p:nvSpPr>
          <p:cNvPr id="4" name="text_308"/>
          <p:cNvSpPr txBox="1"/>
          <p:nvPr/>
        </p:nvSpPr>
        <p:spPr>
          <a:xfrm>
            <a:off x="2057400" y="987552"/>
            <a:ext cx="8174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問い　</a:t>
            </a:r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なぜ中国系のモデルチェンジは早いのか</a:t>
            </a:r>
            <a:endParaRPr lang="en-US" sz="1600" dirty="0"/>
          </a:p>
        </p:txBody>
      </p:sp>
      <p:sp>
        <p:nvSpPr>
          <p:cNvPr id="5" name="wl_309"/>
          <p:cNvSpPr/>
          <p:nvPr/>
        </p:nvSpPr>
        <p:spPr>
          <a:xfrm>
            <a:off x="411480" y="1783080"/>
            <a:ext cx="868680" cy="1600200"/>
          </a:xfrm>
          <a:prstGeom prst="roundRect">
            <a:avLst>
              <a:gd name="adj" fmla="val 6316"/>
            </a:avLst>
          </a:prstGeom>
          <a:solidFill>
            <a:srgbClr val="E8604C"/>
          </a:solidFill>
          <a:ln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</a:t>
            </a:r>
            <a:endParaRPr lang="en-US" sz="1700" dirty="0"/>
          </a:p>
        </p:txBody>
      </p:sp>
      <p:sp>
        <p:nvSpPr>
          <p:cNvPr id="6" name="wb_310"/>
          <p:cNvSpPr/>
          <p:nvPr/>
        </p:nvSpPr>
        <p:spPr>
          <a:xfrm>
            <a:off x="1417320" y="1783080"/>
            <a:ext cx="195453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5875">
            <a:solidFill>
              <a:srgbClr val="E8604C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同じセグメントに多くの車種</a:t>
            </a:r>
            <a:endParaRPr lang="en-US" sz="15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SUVで13車種、1車種0.3万台（p.12）</a:t>
            </a:r>
            <a:endParaRPr lang="en-US" sz="1500" dirty="0"/>
          </a:p>
        </p:txBody>
      </p:sp>
      <p:sp>
        <p:nvSpPr>
          <p:cNvPr id="7" name="shape_311"/>
          <p:cNvSpPr/>
          <p:nvPr/>
        </p:nvSpPr>
        <p:spPr>
          <a:xfrm>
            <a:off x="3435858" y="2418588"/>
            <a:ext cx="131674" cy="329184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8" name="shape_312"/>
          <p:cNvSpPr/>
          <p:nvPr/>
        </p:nvSpPr>
        <p:spPr>
          <a:xfrm>
            <a:off x="3528030" y="2418588"/>
            <a:ext cx="131674" cy="329184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9" name="wb_313"/>
          <p:cNvSpPr/>
          <p:nvPr/>
        </p:nvSpPr>
        <p:spPr>
          <a:xfrm>
            <a:off x="3719322" y="1783080"/>
            <a:ext cx="195453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5875">
            <a:solidFill>
              <a:srgbClr val="E8604C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1車種の販売が小さく、すぐ落ちる</a:t>
            </a:r>
            <a:endParaRPr lang="en-US" sz="15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上位10車種の6割が翌年に半減（p.14）</a:t>
            </a:r>
            <a:endParaRPr lang="en-US" sz="1500" dirty="0"/>
          </a:p>
        </p:txBody>
      </p:sp>
      <p:sp>
        <p:nvSpPr>
          <p:cNvPr id="10" name="shape_314"/>
          <p:cNvSpPr/>
          <p:nvPr/>
        </p:nvSpPr>
        <p:spPr>
          <a:xfrm>
            <a:off x="5737860" y="2418588"/>
            <a:ext cx="131674" cy="329184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11" name="shape_315"/>
          <p:cNvSpPr/>
          <p:nvPr/>
        </p:nvSpPr>
        <p:spPr>
          <a:xfrm>
            <a:off x="5830032" y="2418588"/>
            <a:ext cx="131674" cy="329184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12" name="wb_316"/>
          <p:cNvSpPr/>
          <p:nvPr/>
        </p:nvSpPr>
        <p:spPr>
          <a:xfrm>
            <a:off x="6021324" y="1783080"/>
            <a:ext cx="195453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5875">
            <a:solidFill>
              <a:srgbClr val="E8604C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次の車種を急ぐ</a:t>
            </a:r>
            <a:endParaRPr lang="en-US" sz="15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Chery系は新車名を連投して2位に（p.15）</a:t>
            </a:r>
            <a:endParaRPr lang="en-US" sz="1500" dirty="0"/>
          </a:p>
        </p:txBody>
      </p:sp>
      <p:sp>
        <p:nvSpPr>
          <p:cNvPr id="13" name="shape_317"/>
          <p:cNvSpPr/>
          <p:nvPr/>
        </p:nvSpPr>
        <p:spPr>
          <a:xfrm>
            <a:off x="8039862" y="2418588"/>
            <a:ext cx="131674" cy="329184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14" name="shape_318"/>
          <p:cNvSpPr/>
          <p:nvPr/>
        </p:nvSpPr>
        <p:spPr>
          <a:xfrm>
            <a:off x="8132034" y="2418588"/>
            <a:ext cx="131674" cy="329184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15" name="wb_319"/>
          <p:cNvSpPr/>
          <p:nvPr/>
        </p:nvSpPr>
        <p:spPr>
          <a:xfrm>
            <a:off x="8323326" y="1783080"/>
            <a:ext cx="1954530" cy="1600200"/>
          </a:xfrm>
          <a:prstGeom prst="roundRect">
            <a:avLst>
              <a:gd name="adj" fmla="val 4571"/>
            </a:avLst>
          </a:prstGeom>
          <a:solidFill>
            <a:srgbClr val="FDEDEE"/>
          </a:solidFill>
          <a:ln w="25400">
            <a:solidFill>
              <a:srgbClr val="E8604C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モデルチェンジが早まる</a:t>
            </a:r>
            <a:endParaRPr lang="en-US" sz="15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部分改良の間隔 2.0年</a:t>
            </a:r>
            <a:endParaRPr lang="en-US" sz="1500" dirty="0"/>
          </a:p>
        </p:txBody>
      </p:sp>
      <p:sp>
        <p:nvSpPr>
          <p:cNvPr id="16" name="wl_320"/>
          <p:cNvSpPr/>
          <p:nvPr/>
        </p:nvSpPr>
        <p:spPr>
          <a:xfrm>
            <a:off x="411480" y="3749040"/>
            <a:ext cx="868680" cy="1600200"/>
          </a:xfrm>
          <a:prstGeom prst="roundRect">
            <a:avLst>
              <a:gd name="adj" fmla="val 6316"/>
            </a:avLst>
          </a:prstGeom>
          <a:solidFill>
            <a:srgbClr val="4472C4"/>
          </a:solidFill>
          <a:ln>
            <a:solidFill>
              <a:srgbClr val="4472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</a:t>
            </a:r>
            <a:endParaRPr lang="en-US" sz="1700" dirty="0"/>
          </a:p>
        </p:txBody>
      </p:sp>
      <p:sp>
        <p:nvSpPr>
          <p:cNvPr id="17" name="wb_321"/>
          <p:cNvSpPr/>
          <p:nvPr/>
        </p:nvSpPr>
        <p:spPr>
          <a:xfrm>
            <a:off x="1417320" y="3749040"/>
            <a:ext cx="195453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5875">
            <a:solidFill>
              <a:srgbClr val="4472C4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少ない車種で大きく売る</a:t>
            </a:r>
            <a:endParaRPr lang="en-US" sz="15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SUVで7車種、1車種1.2万台（p.12）</a:t>
            </a:r>
            <a:endParaRPr lang="en-US" sz="1500" dirty="0"/>
          </a:p>
        </p:txBody>
      </p:sp>
      <p:sp>
        <p:nvSpPr>
          <p:cNvPr id="18" name="shape_322"/>
          <p:cNvSpPr/>
          <p:nvPr/>
        </p:nvSpPr>
        <p:spPr>
          <a:xfrm>
            <a:off x="3435858" y="4384548"/>
            <a:ext cx="131674" cy="329184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19" name="shape_323"/>
          <p:cNvSpPr/>
          <p:nvPr/>
        </p:nvSpPr>
        <p:spPr>
          <a:xfrm>
            <a:off x="3528030" y="4384548"/>
            <a:ext cx="131674" cy="329184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20" name="wb_324"/>
          <p:cNvSpPr/>
          <p:nvPr/>
        </p:nvSpPr>
        <p:spPr>
          <a:xfrm>
            <a:off x="3719322" y="3749040"/>
            <a:ext cx="195453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5875">
            <a:solidFill>
              <a:srgbClr val="4472C4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数年たっても売れ続ける</a:t>
            </a:r>
            <a:endParaRPr lang="en-US" sz="15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Corolla Crossは6年目も年1.4万台（p.14）</a:t>
            </a:r>
            <a:endParaRPr lang="en-US" sz="1500" dirty="0"/>
          </a:p>
        </p:txBody>
      </p:sp>
      <p:sp>
        <p:nvSpPr>
          <p:cNvPr id="21" name="shape_325"/>
          <p:cNvSpPr/>
          <p:nvPr/>
        </p:nvSpPr>
        <p:spPr>
          <a:xfrm>
            <a:off x="5737860" y="4384548"/>
            <a:ext cx="131674" cy="329184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22" name="shape_326"/>
          <p:cNvSpPr/>
          <p:nvPr/>
        </p:nvSpPr>
        <p:spPr>
          <a:xfrm>
            <a:off x="5830032" y="4384548"/>
            <a:ext cx="131674" cy="329184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23" name="wb_327"/>
          <p:cNvSpPr/>
          <p:nvPr/>
        </p:nvSpPr>
        <p:spPr>
          <a:xfrm>
            <a:off x="6021324" y="3749040"/>
            <a:ext cx="195453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5875">
            <a:solidFill>
              <a:srgbClr val="4472C4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長く売って開発費を回収</a:t>
            </a:r>
            <a:endParaRPr lang="en-US" sz="15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価格も据え置き（p.10）</a:t>
            </a:r>
            <a:endParaRPr lang="en-US" sz="1500" dirty="0"/>
          </a:p>
        </p:txBody>
      </p:sp>
      <p:sp>
        <p:nvSpPr>
          <p:cNvPr id="24" name="shape_328"/>
          <p:cNvSpPr/>
          <p:nvPr/>
        </p:nvSpPr>
        <p:spPr>
          <a:xfrm>
            <a:off x="8039862" y="4384548"/>
            <a:ext cx="131674" cy="329184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25" name="shape_329"/>
          <p:cNvSpPr/>
          <p:nvPr/>
        </p:nvSpPr>
        <p:spPr>
          <a:xfrm>
            <a:off x="8132034" y="4384548"/>
            <a:ext cx="131674" cy="329184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26" name="wb_330"/>
          <p:cNvSpPr/>
          <p:nvPr/>
        </p:nvSpPr>
        <p:spPr>
          <a:xfrm>
            <a:off x="8323326" y="3749040"/>
            <a:ext cx="1954530" cy="1600200"/>
          </a:xfrm>
          <a:prstGeom prst="roundRect">
            <a:avLst>
              <a:gd name="adj" fmla="val 4571"/>
            </a:avLst>
          </a:prstGeom>
          <a:solidFill>
            <a:srgbClr val="EEF3FB"/>
          </a:solidFill>
          <a:ln w="25400">
            <a:solidFill>
              <a:srgbClr val="4472C4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モデルチェンジは遅くてよい</a:t>
            </a:r>
            <a:endParaRPr lang="en-US" sz="15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部分改良の間隔 3.3年</a:t>
            </a:r>
            <a:endParaRPr lang="en-US" sz="1500" dirty="0"/>
          </a:p>
        </p:txBody>
      </p:sp>
      <p:sp>
        <p:nvSpPr>
          <p:cNvPr id="27" name="summary_331"/>
          <p:cNvSpPr/>
          <p:nvPr/>
        </p:nvSpPr>
        <p:spPr>
          <a:xfrm>
            <a:off x="685800" y="5669280"/>
            <a:ext cx="9317736" cy="1143000"/>
          </a:xfrm>
          <a:prstGeom prst="roundRect">
            <a:avLst>
              <a:gd name="adj" fmla="val 8000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速さは、中国系どうしで生き残るための条件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日系との勝敗は、動力の品ぞろえと入口の値段で決まる</a:t>
            </a:r>
            <a:endParaRPr lang="en-US" sz="1900" dirty="0"/>
          </a:p>
        </p:txBody>
      </p:sp>
      <p:sp>
        <p:nvSpPr>
          <p:cNvPr id="28" name="text_332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出典：本資料のp.10〜15。部分改良の間隔は各社のタイ公式資料から集計（価格だけの変更を除く）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中国系の売れ筋は1年で入れ替わり、日系は数年売れる</a:t>
            </a:r>
            <a:endParaRPr lang="en-US" sz="2400" dirty="0"/>
          </a:p>
        </p:txBody>
      </p:sp>
      <p:sp>
        <p:nvSpPr>
          <p:cNvPr id="3" name="grp_333"/>
          <p:cNvSpPr/>
          <p:nvPr/>
        </p:nvSpPr>
        <p:spPr>
          <a:xfrm>
            <a:off x="411480" y="1024128"/>
            <a:ext cx="14630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中国系どうし</a:t>
            </a:r>
            <a:endParaRPr lang="en-US" sz="1200" dirty="0"/>
          </a:p>
        </p:txBody>
      </p:sp>
      <p:sp>
        <p:nvSpPr>
          <p:cNvPr id="4" name="text_334"/>
          <p:cNvSpPr txBox="1"/>
          <p:nvPr/>
        </p:nvSpPr>
        <p:spPr>
          <a:xfrm>
            <a:off x="2057400" y="987552"/>
            <a:ext cx="8174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問い　</a:t>
            </a:r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中国系と日系の車は、どれくらい長く売れるのか</a:t>
            </a:r>
            <a:endParaRPr lang="en-US" sz="1600" dirty="0"/>
          </a:p>
        </p:txBody>
      </p:sp>
      <p:graphicFrame>
        <p:nvGraphicFramePr>
          <p:cNvPr id="5" name="chart_life8" descr=""/>
          <p:cNvGraphicFramePr/>
          <p:nvPr/>
        </p:nvGraphicFramePr>
        <p:xfrm>
          <a:off x="411480" y="1536192"/>
          <a:ext cx="5029200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_jplong" descr=""/>
          <p:cNvGraphicFramePr/>
          <p:nvPr/>
        </p:nvGraphicFramePr>
        <p:xfrm>
          <a:off x="5577840" y="1536192"/>
          <a:ext cx="4700016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_335"/>
          <p:cNvSpPr/>
          <p:nvPr/>
        </p:nvSpPr>
        <p:spPr>
          <a:xfrm>
            <a:off x="411480" y="5577840"/>
            <a:ext cx="4796028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22225">
            <a:solidFill>
              <a:srgbClr val="E8384F"/>
            </a:solidFill>
            <a:prstDash val="solid"/>
          </a:ln>
        </p:spPr>
      </p:sp>
      <p:sp>
        <p:nvSpPr>
          <p:cNvPr id="8" name="fslabel_336"/>
          <p:cNvSpPr/>
          <p:nvPr/>
        </p:nvSpPr>
        <p:spPr>
          <a:xfrm>
            <a:off x="2100834" y="5440680"/>
            <a:ext cx="141732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わかったこと</a:t>
            </a:r>
            <a:endParaRPr lang="en-US" sz="1500" dirty="0"/>
          </a:p>
        </p:txBody>
      </p:sp>
      <p:sp>
        <p:nvSpPr>
          <p:cNvPr id="9" name="text_337"/>
          <p:cNvSpPr txBox="1"/>
          <p:nvPr/>
        </p:nvSpPr>
        <p:spPr>
          <a:xfrm>
            <a:off x="640080" y="5779008"/>
            <a:ext cx="43388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中国系BEVは上位10車種の6割が翌年に半減。日系は発売4〜7年目でも年1〜6万台</a:t>
            </a:r>
            <a:endParaRPr lang="en-US" sz="1500" dirty="0"/>
          </a:p>
        </p:txBody>
      </p:sp>
      <p:sp>
        <p:nvSpPr>
          <p:cNvPr id="10" name="summary_338"/>
          <p:cNvSpPr/>
          <p:nvPr/>
        </p:nvSpPr>
        <p:spPr>
          <a:xfrm>
            <a:off x="5481828" y="5486400"/>
            <a:ext cx="4796028" cy="1280160"/>
          </a:xfrm>
          <a:prstGeom prst="roundRect">
            <a:avLst>
              <a:gd name="adj" fmla="val 7143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中国系は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次の車種を出し続けないと席を失う</a:t>
            </a:r>
            <a:endParaRPr lang="en-US" sz="17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日系は長く売るほうが合理的</a:t>
            </a:r>
            <a:endParaRPr lang="en-US" sz="1700" dirty="0"/>
          </a:p>
        </p:txBody>
      </p:sp>
      <p:sp>
        <p:nvSpPr>
          <p:cNvPr id="11" name="text_339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出典：Autolife（BEV登録 2023・2024年、Bセダン・B/BC-SUV 2024・2025年）。BEV全体は7.6万台→7.0万台（−8%）。Teslaは米国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中国系の上位は2年で入れ替わり、次の車種を出せる企業が残る</a:t>
            </a:r>
            <a:endParaRPr lang="en-US" sz="2400" dirty="0"/>
          </a:p>
        </p:txBody>
      </p:sp>
      <p:sp>
        <p:nvSpPr>
          <p:cNvPr id="3" name="grp_340"/>
          <p:cNvSpPr/>
          <p:nvPr/>
        </p:nvSpPr>
        <p:spPr>
          <a:xfrm>
            <a:off x="411480" y="1024128"/>
            <a:ext cx="14630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中国系どうし</a:t>
            </a:r>
            <a:endParaRPr lang="en-US" sz="1200" dirty="0"/>
          </a:p>
        </p:txBody>
      </p:sp>
      <p:sp>
        <p:nvSpPr>
          <p:cNvPr id="4" name="text_341"/>
          <p:cNvSpPr txBox="1"/>
          <p:nvPr/>
        </p:nvSpPr>
        <p:spPr>
          <a:xfrm>
            <a:off x="2057400" y="987552"/>
            <a:ext cx="8174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問い　</a:t>
            </a:r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中国系どうしでは、どの企業が残っているのか</a:t>
            </a:r>
            <a:endParaRPr lang="en-US" sz="1600" dirty="0"/>
          </a:p>
        </p:txBody>
      </p:sp>
      <p:graphicFrame>
        <p:nvGraphicFramePr>
          <p:cNvPr id="5" name="chart_churn2" descr=""/>
          <p:cNvGraphicFramePr/>
          <p:nvPr/>
        </p:nvGraphicFramePr>
        <p:xfrm>
          <a:off x="411480" y="1536192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pc_342"/>
          <p:cNvSpPr/>
          <p:nvPr/>
        </p:nvSpPr>
        <p:spPr>
          <a:xfrm>
            <a:off x="5760720" y="1600200"/>
            <a:ext cx="4517136" cy="2011680"/>
          </a:xfrm>
          <a:prstGeom prst="rect">
            <a:avLst/>
          </a:prstGeom>
          <a:solidFill>
            <a:srgbClr val="FAFAFA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101600" tIns="152400" rIns="152400" bIns="10160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社内PCで作成して差し込む</a:t>
            </a:r>
            <a:endParaRPr lang="en-US" sz="10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上位企業の車種別販売の推移（社内データ）</a:t>
            </a:r>
            <a:endParaRPr lang="en-US" sz="10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BYD・Chery系・MG・Aion／Toyota・Honda</a:t>
            </a:r>
            <a:endParaRPr lang="en-US" sz="10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1車種依存か、複数車種か</a:t>
            </a:r>
            <a:endParaRPr lang="en-US" sz="1000" dirty="0"/>
          </a:p>
        </p:txBody>
      </p:sp>
      <p:sp>
        <p:nvSpPr>
          <p:cNvPr id="7" name="cc_343"/>
          <p:cNvSpPr/>
          <p:nvPr/>
        </p:nvSpPr>
        <p:spPr>
          <a:xfrm>
            <a:off x="5760720" y="3767328"/>
            <a:ext cx="2189988" cy="1554480"/>
          </a:xfrm>
          <a:prstGeom prst="roundRect">
            <a:avLst>
              <a:gd name="adj" fmla="val 4706"/>
            </a:avLst>
          </a:prstGeom>
          <a:solidFill>
            <a:srgbClr val="FDEDEE"/>
          </a:solidFill>
          <a:ln w="15875">
            <a:solidFill>
              <a:srgbClr val="E8604C"/>
            </a:solidFill>
          </a:ln>
        </p:spPr>
        <p:txBody>
          <a:bodyPr wrap="square" lIns="50800" tIns="101600" rIns="101600" bIns="508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Chery系</a:t>
            </a:r>
            <a:endParaRPr lang="en-US" sz="15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Jaecoo 5 EVが販売の約5割。新車名を連投して2位に</a:t>
            </a:r>
            <a:endParaRPr lang="en-US" sz="1500" dirty="0"/>
          </a:p>
        </p:txBody>
      </p:sp>
      <p:sp>
        <p:nvSpPr>
          <p:cNvPr id="8" name="cc_344"/>
          <p:cNvSpPr/>
          <p:nvPr/>
        </p:nvSpPr>
        <p:spPr>
          <a:xfrm>
            <a:off x="8087868" y="3767328"/>
            <a:ext cx="2189988" cy="1554480"/>
          </a:xfrm>
          <a:prstGeom prst="roundRect">
            <a:avLst>
              <a:gd name="adj" fmla="val 4706"/>
            </a:avLst>
          </a:prstGeom>
          <a:solidFill>
            <a:srgbClr val="F2F2F2"/>
          </a:solidFill>
          <a:ln w="15875">
            <a:solidFill>
              <a:srgbClr val="BFBFBF"/>
            </a:solidFill>
          </a:ln>
        </p:spPr>
        <p:txBody>
          <a:bodyPr wrap="square" lIns="50800" tIns="101600" rIns="101600" bIns="508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Neta</a:t>
            </a:r>
            <a:endParaRPr lang="en-US" sz="15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Neta Vだけに頼り、次の車種が出ず撤退へ</a:t>
            </a:r>
            <a:endParaRPr lang="en-US" sz="1500" dirty="0"/>
          </a:p>
        </p:txBody>
      </p:sp>
      <p:sp>
        <p:nvSpPr>
          <p:cNvPr id="9" name="shape_345"/>
          <p:cNvSpPr/>
          <p:nvPr/>
        </p:nvSpPr>
        <p:spPr>
          <a:xfrm>
            <a:off x="411480" y="5532120"/>
            <a:ext cx="4796028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22225">
            <a:solidFill>
              <a:srgbClr val="E8384F"/>
            </a:solidFill>
            <a:prstDash val="solid"/>
          </a:ln>
        </p:spPr>
      </p:sp>
      <p:sp>
        <p:nvSpPr>
          <p:cNvPr id="10" name="fslabel_346"/>
          <p:cNvSpPr/>
          <p:nvPr/>
        </p:nvSpPr>
        <p:spPr>
          <a:xfrm>
            <a:off x="2100834" y="5394960"/>
            <a:ext cx="141732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わかったこと</a:t>
            </a:r>
            <a:endParaRPr lang="en-US" sz="1500" dirty="0"/>
          </a:p>
        </p:txBody>
      </p:sp>
      <p:sp>
        <p:nvSpPr>
          <p:cNvPr id="11" name="text_347"/>
          <p:cNvSpPr txBox="1"/>
          <p:nvPr/>
        </p:nvSpPr>
        <p:spPr>
          <a:xfrm>
            <a:off x="640080" y="5733288"/>
            <a:ext cx="43388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BYDは半減、Netaは撤退へ。2024年に1%未満だったChery系・Geely系が上位に</a:t>
            </a:r>
            <a:endParaRPr lang="en-US" sz="1550" dirty="0"/>
          </a:p>
        </p:txBody>
      </p:sp>
      <p:sp>
        <p:nvSpPr>
          <p:cNvPr id="12" name="summary_348"/>
          <p:cNvSpPr/>
          <p:nvPr/>
        </p:nvSpPr>
        <p:spPr>
          <a:xfrm>
            <a:off x="5481828" y="5422392"/>
            <a:ext cx="4796028" cy="1298448"/>
          </a:xfrm>
          <a:prstGeom prst="roundRect">
            <a:avLst>
              <a:gd name="adj" fmla="val 7042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中国系は一括りにせず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残る企業を見極めて付き合う</a:t>
            </a:r>
            <a:endParaRPr lang="en-US" sz="17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競合・協業の相手を企業ごとに決める</a:t>
            </a:r>
            <a:endParaRPr lang="en-US" sz="1700" dirty="0"/>
          </a:p>
        </p:txBody>
      </p:sp>
      <p:sp>
        <p:nvSpPr>
          <p:cNvPr id="13" name="text_349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出典：Autolife（2024年）、JETRO（2026年7月）。BYDはDenzaを含む。Geely系はVolvoを除く。2024年のChery系・Geely系は上位10社外（1%未満）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日系の戦略　4つの打ち手と、中国企業との向き合い方</a:t>
            </a:r>
            <a:endParaRPr lang="en-US" sz="2400" dirty="0"/>
          </a:p>
        </p:txBody>
      </p:sp>
      <p:sp>
        <p:nvSpPr>
          <p:cNvPr id="3" name="shape_350"/>
          <p:cNvSpPr/>
          <p:nvPr/>
        </p:nvSpPr>
        <p:spPr>
          <a:xfrm>
            <a:off x="411480" y="1188720"/>
            <a:ext cx="320040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22225">
            <a:solidFill>
              <a:srgbClr val="4472C4"/>
            </a:solidFill>
            <a:prstDash val="solid"/>
          </a:ln>
        </p:spPr>
      </p:sp>
      <p:sp>
        <p:nvSpPr>
          <p:cNvPr id="4" name="fslabel_351"/>
          <p:cNvSpPr/>
          <p:nvPr/>
        </p:nvSpPr>
        <p:spPr>
          <a:xfrm>
            <a:off x="1633220" y="1014984"/>
            <a:ext cx="75692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守る</a:t>
            </a:r>
            <a:endParaRPr lang="en-US" sz="1900" dirty="0"/>
          </a:p>
        </p:txBody>
      </p:sp>
      <p:sp>
        <p:nvSpPr>
          <p:cNvPr id="5" name="text_352"/>
          <p:cNvSpPr txBox="1"/>
          <p:nvPr/>
        </p:nvSpPr>
        <p:spPr>
          <a:xfrm>
            <a:off x="594360" y="15087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ピックアップ・HEVセダン</a:t>
            </a:r>
            <a:endParaRPr lang="en-US" sz="1600" dirty="0"/>
          </a:p>
        </p:txBody>
      </p:sp>
      <p:sp>
        <p:nvSpPr>
          <p:cNvPr id="6" name="text_353"/>
          <p:cNvSpPr txBox="1"/>
          <p:nvPr/>
        </p:nvSpPr>
        <p:spPr>
          <a:xfrm>
            <a:off x="594360" y="2194560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モデルを長く売り、残価を守る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（毎年の刷新はしない）</a:t>
            </a:r>
            <a:endParaRPr lang="en-US" sz="1600" dirty="0"/>
          </a:p>
        </p:txBody>
      </p:sp>
      <p:sp>
        <p:nvSpPr>
          <p:cNvPr id="7" name="shape_354"/>
          <p:cNvSpPr/>
          <p:nvPr/>
        </p:nvSpPr>
        <p:spPr>
          <a:xfrm>
            <a:off x="3776472" y="1188720"/>
            <a:ext cx="320040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22225">
            <a:solidFill>
              <a:srgbClr val="4472C4"/>
            </a:solidFill>
            <a:prstDash val="solid"/>
          </a:ln>
        </p:spPr>
      </p:sp>
      <p:sp>
        <p:nvSpPr>
          <p:cNvPr id="8" name="fslabel_355"/>
          <p:cNvSpPr/>
          <p:nvPr/>
        </p:nvSpPr>
        <p:spPr>
          <a:xfrm>
            <a:off x="4756912" y="1014984"/>
            <a:ext cx="123952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迎え撃つ</a:t>
            </a:r>
            <a:endParaRPr lang="en-US" sz="1900" dirty="0"/>
          </a:p>
        </p:txBody>
      </p:sp>
      <p:sp>
        <p:nvSpPr>
          <p:cNvPr id="9" name="text_356"/>
          <p:cNvSpPr txBox="1"/>
          <p:nvPr/>
        </p:nvSpPr>
        <p:spPr>
          <a:xfrm>
            <a:off x="3959352" y="15087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C-SUVのHEV／PHEV</a:t>
            </a:r>
            <a:endParaRPr lang="en-US" sz="1600" dirty="0"/>
          </a:p>
        </p:txBody>
      </p:sp>
      <p:sp>
        <p:nvSpPr>
          <p:cNvPr id="10" name="text_357"/>
          <p:cNvSpPr txBox="1"/>
          <p:nvPr/>
        </p:nvSpPr>
        <p:spPr>
          <a:xfrm>
            <a:off x="3959352" y="2194560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高い残価を、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月々の支払いの安さに変える</a:t>
            </a:r>
            <a:endParaRPr lang="en-US" sz="1600" dirty="0"/>
          </a:p>
        </p:txBody>
      </p:sp>
      <p:sp>
        <p:nvSpPr>
          <p:cNvPr id="11" name="shape_358"/>
          <p:cNvSpPr/>
          <p:nvPr/>
        </p:nvSpPr>
        <p:spPr>
          <a:xfrm>
            <a:off x="411480" y="4142232"/>
            <a:ext cx="320040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22225">
            <a:solidFill>
              <a:srgbClr val="E8384F"/>
            </a:solidFill>
            <a:prstDash val="solid"/>
          </a:ln>
        </p:spPr>
      </p:sp>
      <p:sp>
        <p:nvSpPr>
          <p:cNvPr id="12" name="fslabel_359"/>
          <p:cNvSpPr/>
          <p:nvPr/>
        </p:nvSpPr>
        <p:spPr>
          <a:xfrm>
            <a:off x="1512570" y="3968496"/>
            <a:ext cx="99822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埋める</a:t>
            </a:r>
            <a:endParaRPr lang="en-US" sz="1900" dirty="0"/>
          </a:p>
        </p:txBody>
      </p:sp>
      <p:sp>
        <p:nvSpPr>
          <p:cNvPr id="13" name="text_360"/>
          <p:cNvSpPr txBox="1"/>
          <p:nvPr/>
        </p:nvSpPr>
        <p:spPr>
          <a:xfrm>
            <a:off x="594360" y="4462272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</a:t>
            </a:r>
            <a:endParaRPr lang="en-US" sz="1600" dirty="0"/>
          </a:p>
        </p:txBody>
      </p:sp>
      <p:sp>
        <p:nvSpPr>
          <p:cNvPr id="14" name="text_361"/>
          <p:cNvSpPr txBox="1"/>
          <p:nvPr/>
        </p:nvSpPr>
        <p:spPr>
          <a:xfrm>
            <a:off x="594360" y="5148072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中国の開発体制で短い周期のBEVを持つ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（bZ3X、e:N2、6e）</a:t>
            </a:r>
            <a:endParaRPr lang="en-US" sz="1600" dirty="0"/>
          </a:p>
        </p:txBody>
      </p:sp>
      <p:sp>
        <p:nvSpPr>
          <p:cNvPr id="15" name="shape_362"/>
          <p:cNvSpPr/>
          <p:nvPr/>
        </p:nvSpPr>
        <p:spPr>
          <a:xfrm>
            <a:off x="3776472" y="4142232"/>
            <a:ext cx="320040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22225">
            <a:solidFill>
              <a:srgbClr val="4472C4"/>
            </a:solidFill>
            <a:prstDash val="solid"/>
          </a:ln>
        </p:spPr>
      </p:sp>
      <p:sp>
        <p:nvSpPr>
          <p:cNvPr id="16" name="fslabel_363"/>
          <p:cNvSpPr/>
          <p:nvPr/>
        </p:nvSpPr>
        <p:spPr>
          <a:xfrm>
            <a:off x="4998212" y="3968496"/>
            <a:ext cx="75692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拾う</a:t>
            </a:r>
            <a:endParaRPr lang="en-US" sz="1900" dirty="0"/>
          </a:p>
        </p:txBody>
      </p:sp>
      <p:sp>
        <p:nvSpPr>
          <p:cNvPr id="17" name="text_364"/>
          <p:cNvSpPr txBox="1"/>
          <p:nvPr/>
        </p:nvSpPr>
        <p:spPr>
          <a:xfrm>
            <a:off x="3959352" y="4462272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撤退する中国ブランドの顧客</a:t>
            </a:r>
            <a:endParaRPr lang="en-US" sz="1600" dirty="0"/>
          </a:p>
        </p:txBody>
      </p:sp>
      <p:sp>
        <p:nvSpPr>
          <p:cNvPr id="18" name="text_365"/>
          <p:cNvSpPr txBox="1"/>
          <p:nvPr/>
        </p:nvSpPr>
        <p:spPr>
          <a:xfrm>
            <a:off x="3959352" y="5148072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認定中古・整備・販売店ごと受け止める</a:t>
            </a:r>
            <a:endParaRPr lang="en-US" sz="1600" dirty="0"/>
          </a:p>
        </p:txBody>
      </p:sp>
      <p:sp>
        <p:nvSpPr>
          <p:cNvPr id="19" name="shape_366"/>
          <p:cNvSpPr/>
          <p:nvPr/>
        </p:nvSpPr>
        <p:spPr>
          <a:xfrm>
            <a:off x="7296912" y="1188720"/>
            <a:ext cx="2980944" cy="5577840"/>
          </a:xfrm>
          <a:prstGeom prst="roundRect">
            <a:avLst>
              <a:gd name="adj" fmla="val 3067"/>
            </a:avLst>
          </a:prstGeom>
          <a:solidFill>
            <a:srgbClr val="EEF3FB"/>
          </a:solidFill>
          <a:ln w="15875">
            <a:solidFill>
              <a:srgbClr val="4472C4"/>
            </a:solidFill>
            <a:prstDash val="solid"/>
          </a:ln>
        </p:spPr>
      </p:sp>
      <p:sp>
        <p:nvSpPr>
          <p:cNvPr id="20" name="tab_367"/>
          <p:cNvSpPr/>
          <p:nvPr/>
        </p:nvSpPr>
        <p:spPr>
          <a:xfrm>
            <a:off x="7406640" y="1280160"/>
            <a:ext cx="2230120" cy="28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472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中国企業との向き合い方</a:t>
            </a:r>
            <a:endParaRPr lang="en-US" sz="1400" dirty="0"/>
          </a:p>
        </p:txBody>
      </p:sp>
      <p:sp>
        <p:nvSpPr>
          <p:cNvPr id="21" name="role_368"/>
          <p:cNvSpPr/>
          <p:nvPr/>
        </p:nvSpPr>
        <p:spPr>
          <a:xfrm>
            <a:off x="7479792" y="1828800"/>
            <a:ext cx="960120" cy="1325880"/>
          </a:xfrm>
          <a:prstGeom prst="roundRect">
            <a:avLst>
              <a:gd name="adj" fmla="val 7619"/>
            </a:avLst>
          </a:prstGeom>
          <a:solidFill>
            <a:srgbClr val="1E9C96"/>
          </a:solidFill>
          <a:ln>
            <a:solidFill>
              <a:srgbClr val="1E9C9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競合</a:t>
            </a:r>
            <a:endParaRPr lang="en-US" sz="1700" dirty="0"/>
          </a:p>
        </p:txBody>
      </p:sp>
      <p:sp>
        <p:nvSpPr>
          <p:cNvPr id="22" name="text_369"/>
          <p:cNvSpPr txBox="1"/>
          <p:nvPr/>
        </p:nvSpPr>
        <p:spPr>
          <a:xfrm>
            <a:off x="8577072" y="1828800"/>
            <a:ext cx="15636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BYD・MG・Chery系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次の車種を出し続ける相手と正面から</a:t>
            </a:r>
            <a:endParaRPr lang="en-US" sz="1600" dirty="0"/>
          </a:p>
        </p:txBody>
      </p:sp>
      <p:sp>
        <p:nvSpPr>
          <p:cNvPr id="23" name="role_370"/>
          <p:cNvSpPr/>
          <p:nvPr/>
        </p:nvSpPr>
        <p:spPr>
          <a:xfrm>
            <a:off x="7479792" y="3429000"/>
            <a:ext cx="960120" cy="1325880"/>
          </a:xfrm>
          <a:prstGeom prst="roundRect">
            <a:avLst>
              <a:gd name="adj" fmla="val 7619"/>
            </a:avLst>
          </a:prstGeom>
          <a:solidFill>
            <a:srgbClr val="1E9C96"/>
          </a:solidFill>
          <a:ln>
            <a:solidFill>
              <a:srgbClr val="1E9C9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協業</a:t>
            </a:r>
            <a:endParaRPr lang="en-US" sz="1700" dirty="0"/>
          </a:p>
        </p:txBody>
      </p:sp>
      <p:sp>
        <p:nvSpPr>
          <p:cNvPr id="24" name="text_371"/>
          <p:cNvSpPr txBox="1"/>
          <p:nvPr/>
        </p:nvSpPr>
        <p:spPr>
          <a:xfrm>
            <a:off x="8577072" y="3429000"/>
            <a:ext cx="15636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残る企業の電池・開発体制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BYD・GAC・Changanなどを企業ごとに選ぶ</a:t>
            </a:r>
            <a:endParaRPr lang="en-US" sz="1600" dirty="0"/>
          </a:p>
        </p:txBody>
      </p:sp>
      <p:sp>
        <p:nvSpPr>
          <p:cNvPr id="25" name="role_372"/>
          <p:cNvSpPr/>
          <p:nvPr/>
        </p:nvSpPr>
        <p:spPr>
          <a:xfrm>
            <a:off x="7479792" y="5029200"/>
            <a:ext cx="960120" cy="1325880"/>
          </a:xfrm>
          <a:prstGeom prst="roundRect">
            <a:avLst>
              <a:gd name="adj" fmla="val 7619"/>
            </a:avLst>
          </a:prstGeom>
          <a:solidFill>
            <a:srgbClr val="1E9C96"/>
          </a:solidFill>
          <a:ln>
            <a:solidFill>
              <a:srgbClr val="1E9C9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受け皿</a:t>
            </a:r>
            <a:endParaRPr lang="en-US" sz="1700" dirty="0"/>
          </a:p>
        </p:txBody>
      </p:sp>
      <p:sp>
        <p:nvSpPr>
          <p:cNvPr id="26" name="text_373"/>
          <p:cNvSpPr txBox="1"/>
          <p:nvPr/>
        </p:nvSpPr>
        <p:spPr>
          <a:xfrm>
            <a:off x="8577072" y="5029200"/>
            <a:ext cx="15636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撤退ブランド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顧客・販売店を引き取る</a:t>
            </a:r>
            <a:endParaRPr lang="en-US" sz="1600" dirty="0"/>
          </a:p>
        </p:txBody>
      </p:sp>
      <p:sp>
        <p:nvSpPr>
          <p:cNvPr id="27" name="text_374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出典：本資料の検証、Toyota（bZ3の共同開発）、各社発表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結論</a:t>
            </a:r>
            <a:endParaRPr lang="en-US" sz="2400" dirty="0"/>
          </a:p>
        </p:txBody>
      </p:sp>
      <p:sp>
        <p:nvSpPr>
          <p:cNvPr id="3" name="num_375"/>
          <p:cNvSpPr/>
          <p:nvPr/>
        </p:nvSpPr>
        <p:spPr>
          <a:xfrm>
            <a:off x="502920" y="1344168"/>
            <a:ext cx="685800" cy="685800"/>
          </a:xfrm>
          <a:prstGeom prst="ellipse">
            <a:avLst/>
          </a:prstGeom>
          <a:solidFill>
            <a:srgbClr val="1E9C96"/>
          </a:solidFill>
          <a:ln>
            <a:solidFill>
              <a:srgbClr val="1E9C9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4" name="text_376"/>
          <p:cNvSpPr txBox="1"/>
          <p:nvPr/>
        </p:nvSpPr>
        <p:spPr>
          <a:xfrm>
            <a:off x="1463040" y="1234440"/>
            <a:ext cx="8769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PT別：政策と値下げでBEV市場が急拡大し、日系にはBEVの商品がない</a:t>
            </a:r>
            <a:endParaRPr lang="en-US" sz="2000" dirty="0"/>
          </a:p>
        </p:txBody>
      </p:sp>
      <p:sp>
        <p:nvSpPr>
          <p:cNvPr id="5" name="num_377"/>
          <p:cNvSpPr/>
          <p:nvPr/>
        </p:nvSpPr>
        <p:spPr>
          <a:xfrm>
            <a:off x="502920" y="2670048"/>
            <a:ext cx="685800" cy="685800"/>
          </a:xfrm>
          <a:prstGeom prst="ellipse">
            <a:avLst/>
          </a:prstGeom>
          <a:solidFill>
            <a:srgbClr val="1E9C96"/>
          </a:solidFill>
          <a:ln>
            <a:solidFill>
              <a:srgbClr val="1E9C9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6" name="text_378"/>
          <p:cNvSpPr txBox="1"/>
          <p:nvPr/>
        </p:nvSpPr>
        <p:spPr>
          <a:xfrm>
            <a:off x="1463040" y="2560320"/>
            <a:ext cx="8769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セグメント別：競合は乗用車のB・CとSUVのC。中国系は多くの車種と安い入口の値段で攻める</a:t>
            </a:r>
            <a:endParaRPr lang="en-US" sz="2000" dirty="0"/>
          </a:p>
        </p:txBody>
      </p:sp>
      <p:sp>
        <p:nvSpPr>
          <p:cNvPr id="7" name="num_379"/>
          <p:cNvSpPr/>
          <p:nvPr/>
        </p:nvSpPr>
        <p:spPr>
          <a:xfrm>
            <a:off x="502920" y="3995928"/>
            <a:ext cx="685800" cy="685800"/>
          </a:xfrm>
          <a:prstGeom prst="ellipse">
            <a:avLst/>
          </a:prstGeom>
          <a:solidFill>
            <a:srgbClr val="1E9C96"/>
          </a:solidFill>
          <a:ln>
            <a:solidFill>
              <a:srgbClr val="1E9C9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8" name="text_380"/>
          <p:cNvSpPr txBox="1"/>
          <p:nvPr/>
        </p:nvSpPr>
        <p:spPr>
          <a:xfrm>
            <a:off x="1463040" y="3886200"/>
            <a:ext cx="8769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中国系どうし：売れ筋は1年で入れ替わり、日系は数年売れる。速さは勝敗を分けていない</a:t>
            </a:r>
            <a:endParaRPr lang="en-US" sz="2000" dirty="0"/>
          </a:p>
        </p:txBody>
      </p:sp>
      <p:sp>
        <p:nvSpPr>
          <p:cNvPr id="9" name="summary_381"/>
          <p:cNvSpPr/>
          <p:nvPr/>
        </p:nvSpPr>
        <p:spPr>
          <a:xfrm>
            <a:off x="777240" y="5349240"/>
            <a:ext cx="9134856" cy="1463040"/>
          </a:xfrm>
          <a:prstGeom prst="roundRect">
            <a:avLst>
              <a:gd name="adj" fmla="val 6250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日系がタイで取るべきこと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BEVの商品を持ち、HEVは長く売って残価を守り、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残価の高さを、月々の支払いの安さに変える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ai OEM Research">
  <a:themeElements>
    <a:clrScheme name="Thai OEM Research">
      <a:dk1>
        <a:srgbClr val="333333"/>
      </a:dk1>
      <a:lt1>
        <a:srgbClr val="FFFFFF"/>
      </a:lt1>
      <a:dk2>
        <a:srgbClr val="3F3F3F"/>
      </a:dk2>
      <a:lt2>
        <a:srgbClr val="F2F2F2"/>
      </a:lt2>
      <a:accent1>
        <a:srgbClr val="4472C4"/>
      </a:accent1>
      <a:accent2>
        <a:srgbClr val="E8604C"/>
      </a:accent2>
      <a:accent3>
        <a:srgbClr val="3FB2AB"/>
      </a:accent3>
      <a:accent4>
        <a:srgbClr val="7F7F7F"/>
      </a:accent4>
      <a:accent5>
        <a:srgbClr val="EEF3FB"/>
      </a:accent5>
      <a:accent6>
        <a:srgbClr val="D3F0ED"/>
      </a:accent6>
      <a:hlink>
        <a:srgbClr val="2F5597"/>
      </a:hlink>
      <a:folHlink>
        <a:srgbClr val="7F7F7F"/>
      </a:folHlink>
    </a:clrScheme>
    <a:fontScheme name="Thai OEM Research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タイ市場における中国系OEMの台頭と日系の戦略</dc:title>
  <dc:subject>PptxGenJS Presentation</dc:subject>
  <dc:creator>[発表者名]</dc:creator>
  <cp:lastModifiedBy>[発表者名]</cp:lastModifiedBy>
  <cp:revision>1</cp:revision>
  <dcterms:created xsi:type="dcterms:W3CDTF">2026-10-15T06:33:33Z</dcterms:created>
  <dcterms:modified xsi:type="dcterms:W3CDTF">2026-10-15T06:33:33Z</dcterms:modified>
</cp:coreProperties>
</file>