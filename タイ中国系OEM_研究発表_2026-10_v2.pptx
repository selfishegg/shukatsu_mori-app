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7.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8.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9.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0.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bc827a4-63c4-cadc-7940-684f44a59859}">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Appendix" id="{98467de6-c597-8258-6aca-66f518cd2b7d}">
          <p14:sldIdLst>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2026年1〜6月の乗用車登録（万台）</a:t>
            </a:r>
          </a:p>
        </c:rich>
      </c:tx>
      <c:layout/>
      <c:overlay val="0"/>
    </c:title>
    <c:autoTitleDeleted val="0"/>
    <c:plotArea>
      <c:layout/>
      <c:barChart>
        <c:barDir val="bar"/>
        <c:grouping val="stacked"/>
        <c:varyColors val="0"/>
        <c:ser>
          <c:idx val="0"/>
          <c:order val="0"/>
          <c:tx>
            <c:strRef>
              <c:f>Sheet1!$B$1</c:f>
              <c:strCache>
                <c:ptCount val="1"/>
                <c:pt idx="0">
                  <c:v>中国系</c:v>
                </c:pt>
              </c:strCache>
            </c:strRef>
          </c:tx>
          <c:spPr>
            <a:solidFill>
              <a:srgbClr val="E8604C"/>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Sheet1!$B$2:$B$4</c:f>
              <c:numCache>
                <c:formatCode>General</c:formatCode>
                <c:ptCount val="3"/>
                <c:pt idx="0">
                  <c:v>9.48</c:v>
                </c:pt>
                <c:pt idx="1">
                  <c:v>0.14</c:v>
                </c:pt>
                <c:pt idx="2">
                  <c:v>0.71</c:v>
                </c:pt>
              </c:numCache>
            </c:numRef>
          </c:val>
        </c:ser>
        <c:ser>
          <c:idx val="1"/>
          <c:order val="1"/>
          <c:tx>
            <c:strRef>
              <c:f>Sheet1!$C$1</c:f>
              <c:strCache>
                <c:ptCount val="1"/>
                <c:pt idx="0">
                  <c:v>日系</c:v>
                </c:pt>
              </c:strCache>
            </c:strRef>
          </c:tx>
          <c:spPr>
            <a:solidFill>
              <a:srgbClr val="4472C4"/>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Sheet1!$C$2:$C$4</c:f>
              <c:numCache>
                <c:formatCode>General</c:formatCode>
                <c:ptCount val="3"/>
                <c:pt idx="0">
                  <c:v>0.11</c:v>
                </c:pt>
                <c:pt idx="1">
                  <c:v>8.79</c:v>
                </c:pt>
                <c:pt idx="2">
                  <c:v>0.01</c:v>
                </c:pt>
              </c:numCache>
            </c:numRef>
          </c:val>
        </c:ser>
        <c:ser>
          <c:idx val="2"/>
          <c:order val="2"/>
          <c:tx>
            <c:strRef>
              <c:f>Sheet1!$D$1</c:f>
              <c:strCache>
                <c:ptCount val="1"/>
                <c:pt idx="0">
                  <c:v>その他</c:v>
                </c:pt>
              </c:strCache>
            </c:strRef>
          </c:tx>
          <c:spPr>
            <a:solidFill>
              <a:srgbClr val="BFBFBF"/>
            </a:solidFill>
            <a:effectLst/>
          </c:spPr>
          <c:invertIfNegative val="0"/>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Sheet1!$A$2:$A$4</c:f>
              <c:multiLvlStrCache>
                <c:ptCount val="3"/>
                <c:lvl>
                  <c:pt idx="0">
                    <c:v>BEV</c:v>
                  </c:pt>
                  <c:pt idx="1">
                    <c:v>HEV</c:v>
                  </c:pt>
                  <c:pt idx="2">
                    <c:v>PHEV</c:v>
                  </c:pt>
                </c:lvl>
              </c:multiLvlStrCache>
            </c:multiLvlStrRef>
          </c:cat>
          <c:val>
            <c:numRef>
              <c:f>Sheet1!$D$2:$D$4</c:f>
              <c:numCache>
                <c:formatCode>General</c:formatCode>
                <c:ptCount val="3"/>
                <c:pt idx="0">
                  <c:v>0.89</c:v>
                </c:pt>
                <c:pt idx="1">
                  <c:v>0.06</c:v>
                </c:pt>
                <c:pt idx="2">
                  <c:v>0.3</c:v>
                </c:pt>
              </c:numCache>
            </c:numRef>
          </c:val>
        </c:ser>
        <c:dLbls>
          <c:numFmt formatCode="[&lt;0.5]&quot;&quot;;0.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改良前後の電池容量の変化（タイ仕様）</a:t>
            </a:r>
          </a:p>
        </c:rich>
      </c:tx>
      <c:layout/>
      <c:overlay val="0"/>
    </c:title>
    <c:autoTitleDeleted val="0"/>
    <c:plotArea>
      <c:layout/>
      <c:barChart>
        <c:barDir val="bar"/>
        <c:grouping val="clustered"/>
        <c:varyColors val="0"/>
        <c:ser>
          <c:idx val="0"/>
          <c:order val="0"/>
          <c:tx>
            <c:strRef>
              <c:f>Sheet1!$B$1</c:f>
              <c:strCache>
                <c:ptCount val="1"/>
                <c:pt idx="0">
                  <c:v>増加</c:v>
                </c:pt>
              </c:strCache>
            </c:strRef>
          </c:tx>
          <c:spPr>
            <a:solidFill>
              <a:srgbClr val="E8604C"/>
            </a:solidFill>
            <a:effectLst/>
          </c:spPr>
          <c:invertIfNegative val="0"/>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Dolphin</c:v>
                  </c:pt>
                  <c:pt idx="1">
                    <c:v>Atto 3</c:v>
                  </c:pt>
                  <c:pt idx="2">
                    <c:v>MG4（標準）</c:v>
                  </c:pt>
                  <c:pt idx="3">
                    <c:v>MG4（長距離）</c:v>
                  </c:pt>
                  <c:pt idx="4">
                    <c:v>Omoda C5 EV</c:v>
                  </c:pt>
                </c:lvl>
              </c:multiLvlStrCache>
            </c:multiLvlStrRef>
          </c:cat>
          <c:val>
            <c:numRef>
              <c:f>Sheet1!$B$2:$B$6</c:f>
              <c:numCache>
                <c:formatCode>General</c:formatCode>
                <c:ptCount val="5"/>
                <c:pt idx="0">
                  <c:v>11.9</c:v>
                </c:pt>
                <c:pt idx="1">
                  <c:v>0.7</c:v>
                </c:pt>
                <c:pt idx="2">
                  <c:v>0</c:v>
                </c:pt>
                <c:pt idx="3">
                  <c:v>0</c:v>
                </c:pt>
                <c:pt idx="4">
                  <c:v>0</c:v>
                </c:pt>
              </c:numCache>
            </c:numRef>
          </c:val>
        </c:ser>
        <c:ser>
          <c:idx val="1"/>
          <c:order val="1"/>
          <c:tx>
            <c:strRef>
              <c:f>Sheet1!$C$1</c:f>
              <c:strCache>
                <c:ptCount val="1"/>
                <c:pt idx="0">
                  <c:v>減少</c:v>
                </c:pt>
              </c:strCache>
            </c:strRef>
          </c:tx>
          <c:spPr>
            <a:solidFill>
              <a:srgbClr val="F4B3A6"/>
            </a:solidFill>
            <a:effectLst/>
          </c:spPr>
          <c:invertIfNegative val="0"/>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Sheet1!$A$2:$A$6</c:f>
              <c:multiLvlStrCache>
                <c:ptCount val="5"/>
                <c:lvl>
                  <c:pt idx="0">
                    <c:v>Dolphin</c:v>
                  </c:pt>
                  <c:pt idx="1">
                    <c:v>Atto 3</c:v>
                  </c:pt>
                  <c:pt idx="2">
                    <c:v>MG4（標準）</c:v>
                  </c:pt>
                  <c:pt idx="3">
                    <c:v>MG4（長距離）</c:v>
                  </c:pt>
                  <c:pt idx="4">
                    <c:v>Omoda C5 EV</c:v>
                  </c:pt>
                </c:lvl>
              </c:multiLvlStrCache>
            </c:multiLvlStrRef>
          </c:cat>
          <c:val>
            <c:numRef>
              <c:f>Sheet1!$C$2:$C$6</c:f>
              <c:numCache>
                <c:formatCode>General</c:formatCode>
                <c:ptCount val="5"/>
                <c:pt idx="0">
                  <c:v>0</c:v>
                </c:pt>
                <c:pt idx="1">
                  <c:v>0</c:v>
                </c:pt>
                <c:pt idx="2">
                  <c:v>-3.9</c:v>
                </c:pt>
                <c:pt idx="3">
                  <c:v>-2.8</c:v>
                </c:pt>
                <c:pt idx="4">
                  <c:v>-17</c:v>
                </c:pt>
              </c:numCache>
            </c:numRef>
          </c:val>
        </c:ser>
        <c:dLbls>
          <c:numFmt formatCode="+0.0&quot;%&quot;;−0.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20"/>
          <c:min val="-25"/>
        </c:scaling>
        <c:delete val="0"/>
        <c:axPos val="b"/>
        <c:majorGridlines>
          <c:spPr>
            <a:ln w="9525" cap="flat">
              <a:solidFill>
                <a:srgbClr val="E3E3E3"/>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中古の掲載価格（走行2万〜10万km）</a:t>
            </a:r>
          </a:p>
        </c:rich>
      </c:tx>
      <c:layout/>
      <c:overlay val="0"/>
    </c:title>
    <c:autoTitleDeleted val="0"/>
    <c:plotArea>
      <c:layout/>
      <c:barChart>
        <c:barDir val="col"/>
        <c:grouping val="clustered"/>
        <c:varyColors val="0"/>
        <c:ser>
          <c:idx val="0"/>
          <c:order val="0"/>
          <c:tx>
            <c:strRef>
              <c:f>Sheet1!$B$1</c:f>
              <c:strCache>
                <c:ptCount val="1"/>
                <c:pt idx="0">
                  <c:v>発売時の新車価格に対する比率</c:v>
                </c:pt>
              </c:strCache>
            </c:strRef>
          </c:tx>
          <c:spPr>
            <a:solidFill>
              <a:srgbClr val="595959"/>
            </a:solidFill>
            <a:effectLst/>
          </c:spPr>
          <c:invertIfNegative val="0"/>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Atto 3（2023年式）</c:v>
                  </c:pt>
                  <c:pt idx="1">
                    <c:v>Corolla Cross HEV（2023年式）</c:v>
                  </c:pt>
                </c:lvl>
              </c:multiLvlStrCache>
            </c:multiLvlStrRef>
          </c:cat>
          <c:val>
            <c:numRef>
              <c:f>Sheet1!$B$2:$B$3</c:f>
              <c:numCache>
                <c:formatCode>General</c:formatCode>
                <c:ptCount val="2"/>
                <c:pt idx="0">
                  <c:v>38.9</c:v>
                </c:pt>
                <c:pt idx="1">
                  <c:v>63</c:v>
                </c:pt>
              </c:numCache>
            </c:numRef>
          </c:val>
        </c:ser>
        <c:ser>
          <c:idx val="1"/>
          <c:order val="1"/>
          <c:tx>
            <c:strRef>
              <c:f>Sheet1!$C$1</c:f>
              <c:strCache>
                <c:ptCount val="1"/>
                <c:pt idx="0">
                  <c:v>今の新車価格に対する比率</c:v>
                </c:pt>
              </c:strCache>
            </c:strRef>
          </c:tx>
          <c:spPr>
            <a:solidFill>
              <a:srgbClr val="BFBFBF"/>
            </a:solidFill>
            <a:effectLst/>
          </c:spPr>
          <c:invertIfNegative val="0"/>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Sheet1!$A$2:$A$3</c:f>
              <c:multiLvlStrCache>
                <c:ptCount val="2"/>
                <c:lvl>
                  <c:pt idx="0">
                    <c:v>Atto 3（2023年式）</c:v>
                  </c:pt>
                  <c:pt idx="1">
                    <c:v>Corolla Cross HEV（2023年式）</c:v>
                  </c:pt>
                </c:lvl>
              </c:multiLvlStrCache>
            </c:multiLvlStrRef>
          </c:cat>
          <c:val>
            <c:numRef>
              <c:f>Sheet1!$C$2:$C$3</c:f>
              <c:numCache>
                <c:formatCode>General</c:formatCode>
                <c:ptCount val="2"/>
                <c:pt idx="0">
                  <c:v>60.7</c:v>
                </c:pt>
                <c:pt idx="1">
                  <c:v>63</c:v>
                </c:pt>
              </c:numCache>
            </c:numRef>
          </c:val>
        </c:ser>
        <c:dLbls>
          <c:numFmt formatCode="0.0&quot;%&quot;"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新車価格（万バーツ）</a:t>
            </a:r>
          </a:p>
        </c:rich>
      </c:tx>
      <c:layout/>
      <c:overlay val="0"/>
    </c:title>
    <c:autoTitleDeleted val="0"/>
    <c:plotArea>
      <c:layout/>
      <c:barChart>
        <c:barDir val="bar"/>
        <c:grouping val="stacked"/>
        <c:varyColors val="0"/>
        <c:ser>
          <c:idx val="0"/>
          <c:order val="0"/>
          <c:tx>
            <c:strRef>
              <c:f>Sheet1!$B$1</c:f>
              <c:strCache>
                <c:ptCount val="1"/>
                <c:pt idx="0">
                  <c:v>中国系</c:v>
                </c:pt>
              </c:strCache>
            </c:strRef>
          </c:tx>
          <c:spPr>
            <a:solidFill>
              <a:srgbClr val="E8604C"/>
            </a:solidFill>
            <a:effectLst/>
          </c:spPr>
          <c:invertIfNegative val="0"/>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Atto 1（BEV）</c:v>
                  </c:pt>
                  <c:pt idx="1">
                    <c:v>Yaris Ativ（ICE）</c:v>
                  </c:pt>
                  <c:pt idx="2">
                    <c:v>Atto 3 特価（BEV）</c:v>
                  </c:pt>
                  <c:pt idx="3">
                    <c:v>Atto 3（BEV）</c:v>
                  </c:pt>
                  <c:pt idx="4">
                    <c:v>Corolla Cross HEV</c:v>
                  </c:pt>
                </c:lvl>
              </c:multiLvlStrCache>
            </c:multiLvlStrRef>
          </c:cat>
          <c:val>
            <c:numRef>
              <c:f>Sheet1!$B$2:$B$6</c:f>
              <c:numCache>
                <c:formatCode>General</c:formatCode>
                <c:ptCount val="5"/>
                <c:pt idx="0">
                  <c:v>43</c:v>
                </c:pt>
                <c:pt idx="1">
                  <c:v>0</c:v>
                </c:pt>
                <c:pt idx="2">
                  <c:v>67</c:v>
                </c:pt>
                <c:pt idx="3">
                  <c:v>80</c:v>
                </c:pt>
                <c:pt idx="4">
                  <c:v>0</c:v>
                </c:pt>
              </c:numCache>
            </c:numRef>
          </c:val>
        </c:ser>
        <c:ser>
          <c:idx val="1"/>
          <c:order val="1"/>
          <c:tx>
            <c:strRef>
              <c:f>Sheet1!$C$1</c:f>
              <c:strCache>
                <c:ptCount val="1"/>
                <c:pt idx="0">
                  <c:v>日系</c:v>
                </c:pt>
              </c:strCache>
            </c:strRef>
          </c:tx>
          <c:spPr>
            <a:solidFill>
              <a:srgbClr val="4472C4"/>
            </a:solidFill>
            <a:effectLst/>
          </c:spPr>
          <c:invertIfNegative val="0"/>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Atto 1（BEV）</c:v>
                  </c:pt>
                  <c:pt idx="1">
                    <c:v>Yaris Ativ（ICE）</c:v>
                  </c:pt>
                  <c:pt idx="2">
                    <c:v>Atto 3 特価（BEV）</c:v>
                  </c:pt>
                  <c:pt idx="3">
                    <c:v>Atto 3（BEV）</c:v>
                  </c:pt>
                  <c:pt idx="4">
                    <c:v>Corolla Cross HEV</c:v>
                  </c:pt>
                </c:lvl>
              </c:multiLvlStrCache>
            </c:multiLvlStrRef>
          </c:cat>
          <c:val>
            <c:numRef>
              <c:f>Sheet1!$C$2:$C$6</c:f>
              <c:numCache>
                <c:formatCode>General</c:formatCode>
                <c:ptCount val="5"/>
                <c:pt idx="0">
                  <c:v>0</c:v>
                </c:pt>
                <c:pt idx="1">
                  <c:v>56.9</c:v>
                </c:pt>
                <c:pt idx="2">
                  <c:v>0</c:v>
                </c:pt>
                <c:pt idx="3">
                  <c:v>0</c:v>
                </c:pt>
                <c:pt idx="4">
                  <c:v>98.9</c:v>
                </c:pt>
              </c:numCache>
            </c:numRef>
          </c:val>
        </c:ser>
        <c:dLbls>
          <c:numFmt formatCode="0.0;;;" sourceLinked="0"/>
          <c:txPr>
            <a:bodyPr/>
            <a:lstStyle/>
            <a:p>
              <a:pPr>
                <a:defRPr b="0" i="0" strike="noStrike" sz="1300" u="none">
                  <a:solidFill>
                    <a:srgbClr val="FFFFFF"/>
                  </a:solidFill>
                  <a:latin typeface="Arial"/>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5年の保有費（万バーツ）Atto 3 vs Cross</a:t>
            </a:r>
          </a:p>
        </c:rich>
      </c:tx>
      <c:layout/>
      <c:overlay val="0"/>
    </c:title>
    <c:autoTitleDeleted val="0"/>
    <c:plotArea>
      <c:layout/>
      <c:barChart>
        <c:barDir val="col"/>
        <c:grouping val="stacked"/>
        <c:varyColors val="0"/>
        <c:ser>
          <c:idx val="0"/>
          <c:order val="0"/>
          <c:tx>
            <c:strRef>
              <c:f>Sheet1!$B$1</c:f>
              <c:strCache>
                <c:ptCount val="1"/>
                <c:pt idx="0">
                  <c:v>中国系</c:v>
                </c:pt>
              </c:strCache>
            </c:strRef>
          </c:tx>
          <c:spPr>
            <a:solidFill>
              <a:srgbClr val="E8604C"/>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BEV（通常価格）</c:v>
                  </c:pt>
                  <c:pt idx="1">
                    <c:v>BEV（特価）</c:v>
                  </c:pt>
                  <c:pt idx="2">
                    <c:v>HEV</c:v>
                  </c:pt>
                </c:lvl>
              </c:multiLvlStrCache>
            </c:multiLvlStrRef>
          </c:cat>
          <c:val>
            <c:numRef>
              <c:f>Sheet1!$B$2:$B$4</c:f>
              <c:numCache>
                <c:formatCode>General</c:formatCode>
                <c:ptCount val="3"/>
                <c:pt idx="0">
                  <c:v>66.6</c:v>
                </c:pt>
                <c:pt idx="1">
                  <c:v>53.6</c:v>
                </c:pt>
                <c:pt idx="2">
                  <c:v>0</c:v>
                </c:pt>
              </c:numCache>
            </c:numRef>
          </c:val>
        </c:ser>
        <c:ser>
          <c:idx val="1"/>
          <c:order val="1"/>
          <c:tx>
            <c:strRef>
              <c:f>Sheet1!$C$1</c:f>
              <c:strCache>
                <c:ptCount val="1"/>
                <c:pt idx="0">
                  <c:v>日系</c:v>
                </c:pt>
              </c:strCache>
            </c:strRef>
          </c:tx>
          <c:spPr>
            <a:solidFill>
              <a:srgbClr val="4472C4"/>
            </a:solidFill>
            <a:effectLst/>
          </c:spPr>
          <c:invertIfNegative val="0"/>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BEV（通常価格）</c:v>
                  </c:pt>
                  <c:pt idx="1">
                    <c:v>BEV（特価）</c:v>
                  </c:pt>
                  <c:pt idx="2">
                    <c:v>HEV</c:v>
                  </c:pt>
                </c:lvl>
              </c:multiLvlStrCache>
            </c:multiLvlStrRef>
          </c:cat>
          <c:val>
            <c:numRef>
              <c:f>Sheet1!$C$2:$C$4</c:f>
              <c:numCache>
                <c:formatCode>General</c:formatCode>
                <c:ptCount val="3"/>
                <c:pt idx="0">
                  <c:v>0</c:v>
                </c:pt>
                <c:pt idx="1">
                  <c:v>0</c:v>
                </c:pt>
                <c:pt idx="2">
                  <c:v>60.1</c:v>
                </c:pt>
              </c:numCache>
            </c:numRef>
          </c:val>
        </c:ser>
        <c:dLbls>
          <c:numFmt formatCode="0.0;;;" sourceLinked="0"/>
          <c:txPr>
            <a:bodyPr/>
            <a:lstStyle/>
            <a:p>
              <a:pPr>
                <a:defRPr b="0" i="0" strike="noStrike" sz="1400" u="none">
                  <a:solidFill>
                    <a:srgbClr val="FFFFFF"/>
                  </a:solidFill>
                  <a:latin typeface="Arial"/>
                </a:defRPr>
              </a:pPr>
            </a:p>
          </c:txPr>
          <c:dLblPos val="inEnd"/>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8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中国系（13件）</c:v>
                </c:pt>
              </c:strCache>
            </c:strRef>
          </c:tx>
          <c:spPr>
            <a:solidFill>
              <a:srgbClr val="E8604C"/>
            </a:solidFill>
            <a:effectLst/>
          </c:spPr>
          <c:invertIfNegative val="0"/>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電池・航続</c:v>
                  </c:pt>
                  <c:pt idx="1">
                    <c:v>価格</c:v>
                  </c:pt>
                  <c:pt idx="2">
                    <c:v>外装・内装</c:v>
                  </c:pt>
                  <c:pt idx="3">
                    <c:v>画面・装備</c:v>
                  </c:pt>
                  <c:pt idx="4">
                    <c:v>運転支援</c:v>
                  </c:pt>
                  <c:pt idx="5">
                    <c:v>現地生産化</c:v>
                  </c:pt>
                </c:lvl>
              </c:multiLvlStrCache>
            </c:multiLvlStrRef>
          </c:cat>
          <c:val>
            <c:numRef>
              <c:f>Sheet1!$B$2:$B$7</c:f>
              <c:numCache>
                <c:formatCode>General</c:formatCode>
                <c:ptCount val="6"/>
                <c:pt idx="0">
                  <c:v>54</c:v>
                </c:pt>
                <c:pt idx="1">
                  <c:v>54</c:v>
                </c:pt>
                <c:pt idx="2">
                  <c:v>54</c:v>
                </c:pt>
                <c:pt idx="3">
                  <c:v>62</c:v>
                </c:pt>
                <c:pt idx="4">
                  <c:v>23</c:v>
                </c:pt>
                <c:pt idx="5">
                  <c:v>31</c:v>
                </c:pt>
              </c:numCache>
            </c:numRef>
          </c:val>
        </c:ser>
        <c:ser>
          <c:idx val="1"/>
          <c:order val="1"/>
          <c:tx>
            <c:strRef>
              <c:f>Sheet1!$C$1</c:f>
              <c:strCache>
                <c:ptCount val="1"/>
                <c:pt idx="0">
                  <c:v>日系（8件）</c:v>
                </c:pt>
              </c:strCache>
            </c:strRef>
          </c:tx>
          <c:spPr>
            <a:solidFill>
              <a:srgbClr val="4472C4"/>
            </a:solidFill>
            <a:effectLst/>
          </c:spPr>
          <c:invertIfNegative val="0"/>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Sheet1!$A$2:$A$7</c:f>
              <c:multiLvlStrCache>
                <c:ptCount val="6"/>
                <c:lvl>
                  <c:pt idx="0">
                    <c:v>電池・航続</c:v>
                  </c:pt>
                  <c:pt idx="1">
                    <c:v>価格</c:v>
                  </c:pt>
                  <c:pt idx="2">
                    <c:v>外装・内装</c:v>
                  </c:pt>
                  <c:pt idx="3">
                    <c:v>画面・装備</c:v>
                  </c:pt>
                  <c:pt idx="4">
                    <c:v>運転支援</c:v>
                  </c:pt>
                  <c:pt idx="5">
                    <c:v>現地生産化</c:v>
                  </c:pt>
                </c:lvl>
              </c:multiLvlStrCache>
            </c:multiLvlStrRef>
          </c:cat>
          <c:val>
            <c:numRef>
              <c:f>Sheet1!$C$2:$C$7</c:f>
              <c:numCache>
                <c:formatCode>General</c:formatCode>
                <c:ptCount val="6"/>
                <c:pt idx="0">
                  <c:v>0</c:v>
                </c:pt>
                <c:pt idx="1">
                  <c:v>38</c:v>
                </c:pt>
                <c:pt idx="2">
                  <c:v>100</c:v>
                </c:pt>
                <c:pt idx="3">
                  <c:v>88</c:v>
                </c:pt>
                <c:pt idx="4">
                  <c:v>75</c:v>
                </c:pt>
                <c:pt idx="5">
                  <c:v>0</c:v>
                </c:pt>
              </c:numCache>
            </c:numRef>
          </c:val>
        </c:ser>
        <c:dLbls>
          <c:numFmt formatCode="0&quot;%&quot;"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中古の平均掲載価格（2024年=100）</a:t>
            </a:r>
          </a:p>
        </c:rich>
      </c:tx>
      <c:layout/>
      <c:overlay val="0"/>
    </c:title>
    <c:autoTitleDeleted val="0"/>
    <c:plotArea>
      <c:layout/>
      <c:barChart>
        <c:barDir val="col"/>
        <c:grouping val="clustered"/>
        <c:varyColors val="0"/>
        <c:ser>
          <c:idx val="0"/>
          <c:order val="0"/>
          <c:tx>
            <c:strRef>
              <c:f>Sheet1!$B$1</c:f>
              <c:strCache>
                <c:ptCount val="1"/>
                <c:pt idx="0">
                  <c:v>2024年1〜10月</c:v>
                </c:pt>
              </c:strCache>
            </c:strRef>
          </c:tx>
          <c:spPr>
            <a:solidFill>
              <a:srgbClr val="BFBFBF"/>
            </a:solidFill>
            <a:effectLst/>
          </c:spPr>
          <c:invertIfNegative val="0"/>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c:v>
                  </c:pt>
                  <c:pt idx="1">
                    <c:v>Dolphin</c:v>
                  </c:pt>
                  <c:pt idx="2">
                    <c:v>Seal</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2025年1〜10月</c:v>
                </c:pt>
              </c:strCache>
            </c:strRef>
          </c:tx>
          <c:spPr>
            <a:solidFill>
              <a:srgbClr val="E8604C"/>
            </a:solidFill>
            <a:effectLst/>
          </c:spPr>
          <c:invertIfNegative val="0"/>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c:v>
                  </c:pt>
                  <c:pt idx="1">
                    <c:v>Dolphin</c:v>
                  </c:pt>
                  <c:pt idx="2">
                    <c:v>Seal</c:v>
                  </c:pt>
                </c:lvl>
              </c:multiLvlStrCache>
            </c:multiLvlStrRef>
          </c:cat>
          <c:val>
            <c:numRef>
              <c:f>Sheet1!$C$2:$C$4</c:f>
              <c:numCache>
                <c:formatCode>General</c:formatCode>
                <c:ptCount val="3"/>
                <c:pt idx="0">
                  <c:v>70</c:v>
                </c:pt>
                <c:pt idx="1">
                  <c:v>78</c:v>
                </c:pt>
                <c:pt idx="2">
                  <c:v>79</c:v>
                </c:pt>
              </c:numCache>
            </c:numRef>
          </c:val>
        </c:ser>
        <c:dLbls>
          <c:numFmt formatCode="#,##0" sourceLinked="0"/>
          <c:txPr>
            <a:bodyPr/>
            <a:lstStyle/>
            <a:p>
              <a:pPr>
                <a:defRPr b="0" i="0" strike="noStrike" sz="14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5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月々の元本の支払い（バーツ、金利・頭金を除く）</a:t>
            </a:r>
          </a:p>
        </c:rich>
      </c:tx>
      <c:layout/>
      <c:overlay val="0"/>
    </c:title>
    <c:autoTitleDeleted val="0"/>
    <c:plotArea>
      <c:layout/>
      <c:barChart>
        <c:barDir val="col"/>
        <c:grouping val="clustered"/>
        <c:varyColors val="0"/>
        <c:ser>
          <c:idx val="0"/>
          <c:order val="0"/>
          <c:tx>
            <c:strRef>
              <c:f>Sheet1!$B$1</c:f>
              <c:strCache>
                <c:ptCount val="1"/>
                <c:pt idx="0">
                  <c:v>通常の5年ローン</c:v>
                </c:pt>
              </c:strCache>
            </c:strRef>
          </c:tx>
          <c:spPr>
            <a:solidFill>
              <a:srgbClr val="BFBFBF"/>
            </a:solidFill>
            <a:effectLst/>
          </c:spPr>
          <c:invertIfNegative val="0"/>
          <c:dLbls>
            <c:numFmt formatCode="#,##0"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3（通常価格）</c:v>
                  </c:pt>
                  <c:pt idx="1">
                    <c:v>Atto 3（特価）</c:v>
                  </c:pt>
                  <c:pt idx="2">
                    <c:v>Corolla Cross HEV</c:v>
                  </c:pt>
                </c:lvl>
              </c:multiLvlStrCache>
            </c:multiLvlStrRef>
          </c:cat>
          <c:val>
            <c:numRef>
              <c:f>Sheet1!$B$2:$B$4</c:f>
              <c:numCache>
                <c:formatCode>General</c:formatCode>
                <c:ptCount val="3"/>
                <c:pt idx="0">
                  <c:v>13332</c:v>
                </c:pt>
                <c:pt idx="1">
                  <c:v>11165</c:v>
                </c:pt>
                <c:pt idx="2">
                  <c:v>16483</c:v>
                </c:pt>
              </c:numCache>
            </c:numRef>
          </c:val>
        </c:ser>
        <c:ser>
          <c:idx val="1"/>
          <c:order val="1"/>
          <c:tx>
            <c:strRef>
              <c:f>Sheet1!$C$1</c:f>
              <c:strCache>
                <c:ptCount val="1"/>
                <c:pt idx="0">
                  <c:v>残クレ（5年後の残価を差し引く）</c:v>
                </c:pt>
              </c:strCache>
            </c:strRef>
          </c:tx>
          <c:spPr>
            <a:solidFill>
              <a:srgbClr val="1E9C96"/>
            </a:solidFill>
            <a:effectLst/>
          </c:spPr>
          <c:invertIfNegative val="0"/>
          <c:dLbls>
            <c:numFmt formatCode="#,##0"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cat>
            <c:multiLvlStrRef>
              <c:f>Sheet1!$A$2:$A$4</c:f>
              <c:multiLvlStrCache>
                <c:ptCount val="3"/>
                <c:lvl>
                  <c:pt idx="0">
                    <c:v>Atto 3（通常価格）</c:v>
                  </c:pt>
                  <c:pt idx="1">
                    <c:v>Atto 3（特価）</c:v>
                  </c:pt>
                  <c:pt idx="2">
                    <c:v>Corolla Cross HEV</c:v>
                  </c:pt>
                </c:lvl>
              </c:multiLvlStrCache>
            </c:multiLvlStrRef>
          </c:cat>
          <c:val>
            <c:numRef>
              <c:f>Sheet1!$C$2:$C$4</c:f>
              <c:numCache>
                <c:formatCode>General</c:formatCode>
                <c:ptCount val="3"/>
                <c:pt idx="0">
                  <c:v>7332</c:v>
                </c:pt>
                <c:pt idx="1">
                  <c:v>5165</c:v>
                </c:pt>
                <c:pt idx="2">
                  <c:v>5769</c:v>
                </c:pt>
              </c:numCache>
            </c:numRef>
          </c:val>
        </c:ser>
        <c:dLbls>
          <c:numFmt formatCode="#,##0"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3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900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2026年1〜6月のBEV登録に占める割合</a:t>
            </a:r>
          </a:p>
        </c:rich>
      </c:tx>
      <c:layout/>
      <c:overlay val="0"/>
    </c:title>
    <c:autoTitleDeleted val="0"/>
    <c:plotArea>
      <c:layout/>
      <c:barChart>
        <c:barDir val="bar"/>
        <c:grouping val="clustered"/>
        <c:varyColors val="0"/>
        <c:ser>
          <c:idx val="0"/>
          <c:order val="0"/>
          <c:tx>
            <c:strRef>
              <c:f>Sheet1!$B$1</c:f>
              <c:strCache>
                <c:ptCount val="1"/>
                <c:pt idx="0">
                  <c:v>BEV登録に占める割合</c:v>
                </c:pt>
              </c:strCache>
            </c:strRef>
          </c:tx>
          <c:spPr>
            <a:solidFill>
              <a:srgbClr val="E8604C"/>
            </a:solidFill>
            <a:effectLst/>
          </c:spPr>
          <c:invertIfNegative val="0"/>
          <c:dLbls>
            <c:numFmt formatCode="0.0&quot;%&quot;"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BYD・Denza</c:v>
                  </c:pt>
                  <c:pt idx="1">
                    <c:v>Chery</c:v>
                  </c:pt>
                  <c:pt idx="2">
                    <c:v>MG</c:v>
                  </c:pt>
                  <c:pt idx="3">
                    <c:v>GAC Aion</c:v>
                  </c:pt>
                  <c:pt idx="4">
                    <c:v>Geely・Zeekr</c:v>
                  </c:pt>
                  <c:pt idx="5">
                    <c:v>Changan</c:v>
                  </c:pt>
                  <c:pt idx="6">
                    <c:v>XPeng</c:v>
                  </c:pt>
                  <c:pt idx="7">
                    <c:v>GWM</c:v>
                  </c:pt>
                  <c:pt idx="8">
                    <c:v>Neta</c:v>
                  </c:pt>
                </c:lvl>
              </c:multiLvlStrCache>
            </c:multiLvlStrRef>
          </c:cat>
          <c:val>
            <c:numRef>
              <c:f>Sheet1!$B$2:$B$10</c:f>
              <c:numCache>
                <c:formatCode>General</c:formatCode>
                <c:ptCount val="9"/>
                <c:pt idx="0">
                  <c:v>21</c:v>
                </c:pt>
                <c:pt idx="1">
                  <c:v>18.5</c:v>
                </c:pt>
                <c:pt idx="2">
                  <c:v>14.3</c:v>
                </c:pt>
                <c:pt idx="3">
                  <c:v>11.2</c:v>
                </c:pt>
                <c:pt idx="4">
                  <c:v>9.8</c:v>
                </c:pt>
                <c:pt idx="5">
                  <c:v>9.1</c:v>
                </c:pt>
                <c:pt idx="6">
                  <c:v>3</c:v>
                </c:pt>
                <c:pt idx="7">
                  <c:v>1.9</c:v>
                </c:pt>
                <c:pt idx="8">
                  <c:v>0.3</c:v>
                </c:pt>
              </c:numCache>
            </c:numRef>
          </c:val>
        </c:ser>
        <c:dLbls>
          <c:numFmt formatCode="0.0&quot;%&quot;" sourceLinked="0"/>
          <c:txPr>
            <a:bodyPr/>
            <a:lstStyle/>
            <a:p>
              <a:pPr>
                <a:defRPr b="0" i="0" strike="noStrike" sz="1300" u="none">
                  <a:solidFill>
                    <a:srgbClr val="333333"/>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25"/>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タイでの新車種の発売数（年）</a:t>
            </a:r>
          </a:p>
        </c:rich>
      </c:tx>
      <c:layout/>
      <c:overlay val="0"/>
    </c:title>
    <c:autoTitleDeleted val="0"/>
    <c:plotArea>
      <c:layout/>
      <c:barChart>
        <c:barDir val="col"/>
        <c:grouping val="clustered"/>
        <c:varyColors val="0"/>
        <c:ser>
          <c:idx val="0"/>
          <c:order val="0"/>
          <c:tx>
            <c:strRef>
              <c:f>Sheet1!$B$1</c:f>
              <c:strCache>
                <c:ptCount val="1"/>
                <c:pt idx="0">
                  <c:v>中国系</c:v>
                </c:pt>
              </c:strCache>
            </c:strRef>
          </c:tx>
          <c:spPr>
            <a:solidFill>
              <a:srgbClr val="E8604C"/>
            </a:solidFill>
            <a:effectLst/>
          </c:spPr>
          <c:invertIfNegative val="0"/>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2018</c:v>
                  </c:pt>
                  <c:pt idx="1">
                    <c:v>2019</c:v>
                  </c:pt>
                  <c:pt idx="2">
                    <c:v>2020</c:v>
                  </c:pt>
                  <c:pt idx="3">
                    <c:v>2021</c:v>
                  </c:pt>
                  <c:pt idx="4">
                    <c:v>2022</c:v>
                  </c:pt>
                  <c:pt idx="5">
                    <c:v>2023</c:v>
                  </c:pt>
                  <c:pt idx="6">
                    <c:v>2024</c:v>
                  </c:pt>
                  <c:pt idx="7">
                    <c:v>2025</c:v>
                  </c:pt>
                  <c:pt idx="8">
                    <c:v>2026</c:v>
                  </c:pt>
                </c:lvl>
              </c:multiLvlStrCache>
            </c:multiLvlStrRef>
          </c:cat>
          <c:val>
            <c:numRef>
              <c:f>Sheet1!$B$2:$B$10</c:f>
              <c:numCache>
                <c:formatCode>General</c:formatCode>
                <c:ptCount val="9"/>
                <c:pt idx="0">
                  <c:v>0</c:v>
                </c:pt>
                <c:pt idx="1">
                  <c:v>1</c:v>
                </c:pt>
                <c:pt idx="2">
                  <c:v>0</c:v>
                </c:pt>
                <c:pt idx="3">
                  <c:v>4</c:v>
                </c:pt>
                <c:pt idx="4">
                  <c:v>4</c:v>
                </c:pt>
                <c:pt idx="5">
                  <c:v>10</c:v>
                </c:pt>
                <c:pt idx="6">
                  <c:v>19</c:v>
                </c:pt>
                <c:pt idx="7">
                  <c:v>19</c:v>
                </c:pt>
                <c:pt idx="8">
                  <c:v>16</c:v>
                </c:pt>
              </c:numCache>
            </c:numRef>
          </c:val>
        </c:ser>
        <c:ser>
          <c:idx val="1"/>
          <c:order val="1"/>
          <c:tx>
            <c:strRef>
              <c:f>Sheet1!$C$1</c:f>
              <c:strCache>
                <c:ptCount val="1"/>
                <c:pt idx="0">
                  <c:v>日系</c:v>
                </c:pt>
              </c:strCache>
            </c:strRef>
          </c:tx>
          <c:spPr>
            <a:solidFill>
              <a:srgbClr val="4472C4"/>
            </a:solidFill>
            <a:effectLst/>
          </c:spPr>
          <c:invertIfNegative val="0"/>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2018</c:v>
                  </c:pt>
                  <c:pt idx="1">
                    <c:v>2019</c:v>
                  </c:pt>
                  <c:pt idx="2">
                    <c:v>2020</c:v>
                  </c:pt>
                  <c:pt idx="3">
                    <c:v>2021</c:v>
                  </c:pt>
                  <c:pt idx="4">
                    <c:v>2022</c:v>
                  </c:pt>
                  <c:pt idx="5">
                    <c:v>2023</c:v>
                  </c:pt>
                  <c:pt idx="6">
                    <c:v>2024</c:v>
                  </c:pt>
                  <c:pt idx="7">
                    <c:v>2025</c:v>
                  </c:pt>
                  <c:pt idx="8">
                    <c:v>2026</c:v>
                  </c:pt>
                </c:lvl>
              </c:multiLvlStrCache>
            </c:multiLvlStrRef>
          </c:cat>
          <c:val>
            <c:numRef>
              <c:f>Sheet1!$C$2:$C$10</c:f>
              <c:numCache>
                <c:formatCode>General</c:formatCode>
                <c:ptCount val="9"/>
                <c:pt idx="0">
                  <c:v>3</c:v>
                </c:pt>
                <c:pt idx="1">
                  <c:v>10</c:v>
                </c:pt>
                <c:pt idx="2">
                  <c:v>6</c:v>
                </c:pt>
                <c:pt idx="3">
                  <c:v>5</c:v>
                </c:pt>
                <c:pt idx="4">
                  <c:v>5</c:v>
                </c:pt>
                <c:pt idx="5">
                  <c:v>11</c:v>
                </c:pt>
                <c:pt idx="6">
                  <c:v>3</c:v>
                </c:pt>
                <c:pt idx="7">
                  <c:v>5</c:v>
                </c:pt>
                <c:pt idx="8">
                  <c:v>5</c:v>
                </c:pt>
              </c:numCache>
            </c:numRef>
          </c:val>
        </c:ser>
        <c:dLbls>
          <c:numFmt formatCode="#,##0" sourceLinked="0"/>
          <c:txPr>
            <a:bodyPr/>
            <a:lstStyle/>
            <a:p>
              <a:pPr>
                <a:defRPr b="0" i="0" strike="noStrike" sz="1200" u="none">
                  <a:solidFill>
                    <a:srgbClr val="333333"/>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2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開発期間（か月）</a:t>
            </a:r>
          </a:p>
        </c:rich>
      </c:tx>
      <c:layout/>
      <c:overlay val="0"/>
    </c:title>
    <c:autoTitleDeleted val="0"/>
    <c:plotArea>
      <c:layout/>
      <c:barChart>
        <c:barDir val="bar"/>
        <c:grouping val="stacked"/>
        <c:varyColors val="0"/>
        <c:ser>
          <c:idx val="0"/>
          <c:order val="0"/>
          <c:tx>
            <c:strRef>
              <c:f>Sheet1!$B$1</c:f>
              <c:strCache>
                <c:ptCount val="1"/>
                <c:pt idx="0">
                  <c:v>デザイン・設計の検証</c:v>
                </c:pt>
              </c:strCache>
            </c:strRef>
          </c:tx>
          <c:spPr>
            <a:solidFill>
              <a:srgbClr val="404040"/>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Sheet1!$B$2:$B$5</c:f>
              <c:numCache>
                <c:formatCode>General</c:formatCode>
                <c:ptCount val="4"/>
                <c:pt idx="0">
                  <c:v>10</c:v>
                </c:pt>
                <c:pt idx="1">
                  <c:v>28</c:v>
                </c:pt>
                <c:pt idx="2">
                  <c:v>25</c:v>
                </c:pt>
                <c:pt idx="3">
                  <c:v>23</c:v>
                </c:pt>
              </c:numCache>
            </c:numRef>
          </c:val>
        </c:ser>
        <c:ser>
          <c:idx val="1"/>
          <c:order val="1"/>
          <c:tx>
            <c:strRef>
              <c:f>Sheet1!$C$1</c:f>
              <c:strCache>
                <c:ptCount val="1"/>
                <c:pt idx="0">
                  <c:v>設計・金型・試験</c:v>
                </c:pt>
              </c:strCache>
            </c:strRef>
          </c:tx>
          <c:spPr>
            <a:solidFill>
              <a:srgbClr val="7F7F7F"/>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Sheet1!$C$2:$C$5</c:f>
              <c:numCache>
                <c:formatCode>General</c:formatCode>
                <c:ptCount val="4"/>
                <c:pt idx="0">
                  <c:v>5</c:v>
                </c:pt>
                <c:pt idx="1">
                  <c:v>7</c:v>
                </c:pt>
                <c:pt idx="2">
                  <c:v>12</c:v>
                </c:pt>
                <c:pt idx="3">
                  <c:v>21</c:v>
                </c:pt>
              </c:numCache>
            </c:numRef>
          </c:val>
        </c:ser>
        <c:ser>
          <c:idx val="2"/>
          <c:order val="2"/>
          <c:tx>
            <c:strRef>
              <c:f>Sheet1!$D$1</c:f>
              <c:strCache>
                <c:ptCount val="1"/>
                <c:pt idx="0">
                  <c:v>量産準備</c:v>
                </c:pt>
              </c:strCache>
            </c:strRef>
          </c:tx>
          <c:spPr>
            <a:solidFill>
              <a:srgbClr val="BFBFBF"/>
            </a:solidFill>
            <a:effectLst/>
          </c:spPr>
          <c:invertIfNegative val="0"/>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中国の新興EV</c:v>
                  </c:pt>
                  <c:pt idx="1">
                    <c:v>量販メーカー</c:v>
                  </c:pt>
                  <c:pt idx="2">
                    <c:v>スポーツカー</c:v>
                  </c:pt>
                  <c:pt idx="3">
                    <c:v>高級車</c:v>
                  </c:pt>
                </c:lvl>
              </c:multiLvlStrCache>
            </c:multiLvlStrRef>
          </c:cat>
          <c:val>
            <c:numRef>
              <c:f>Sheet1!$D$2:$D$5</c:f>
              <c:numCache>
                <c:formatCode>General</c:formatCode>
                <c:ptCount val="4"/>
                <c:pt idx="0">
                  <c:v>9</c:v>
                </c:pt>
                <c:pt idx="1">
                  <c:v>10</c:v>
                </c:pt>
                <c:pt idx="2">
                  <c:v>11</c:v>
                </c:pt>
                <c:pt idx="3">
                  <c:v>9</c:v>
                </c:pt>
              </c:numCache>
            </c:numRef>
          </c:val>
        </c:ser>
        <c:dLbls>
          <c:numFmt formatCode="#,##0" sourceLinked="0"/>
          <c:txPr>
            <a:bodyPr/>
            <a:lstStyle/>
            <a:p>
              <a:pPr>
                <a:defRPr b="0"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6B6B"/>
                </a:solidFill>
                <a:latin typeface="Arial"/>
              </a:defRPr>
            </a:pPr>
            <a:r>
              <a:rPr sz="1400" b="0" i="0" u="none" strike="noStrike">
                <a:solidFill>
                  <a:srgbClr val="6B6B6B"/>
                </a:solidFill>
                <a:latin typeface="Arial"/>
              </a:rPr>
              <a:t>新車販売（万台）</a:t>
            </a:r>
          </a:p>
        </c:rich>
      </c:tx>
      <c:layout/>
      <c:overlay val="0"/>
    </c:title>
    <c:autoTitleDeleted val="0"/>
    <c:plotArea>
      <c:layout/>
      <c:barChart>
        <c:barDir val="col"/>
        <c:grouping val="stacked"/>
        <c:varyColors val="0"/>
        <c:ser>
          <c:idx val="0"/>
          <c:order val="0"/>
          <c:tx>
            <c:strRef>
              <c:f>Sheet1!$B$1</c:f>
              <c:strCache>
                <c:ptCount val="1"/>
                <c:pt idx="0">
                  <c:v>ピックアップ</c:v>
                </c:pt>
              </c:strCache>
            </c:strRef>
          </c:tx>
          <c:spPr>
            <a:solidFill>
              <a:srgbClr val="404040"/>
            </a:solidFill>
            <a:effectLst/>
          </c:spPr>
          <c:invertIfNegative val="0"/>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2022年</c:v>
                  </c:pt>
                  <c:pt idx="1">
                    <c:v>2025年</c:v>
                  </c:pt>
                </c:lvl>
              </c:multiLvlStrCache>
            </c:multiLvlStrRef>
          </c:cat>
          <c:val>
            <c:numRef>
              <c:f>Sheet1!$B$2:$B$3</c:f>
              <c:numCache>
                <c:formatCode>General</c:formatCode>
                <c:ptCount val="2"/>
                <c:pt idx="0">
                  <c:v>38.8</c:v>
                </c:pt>
                <c:pt idx="1">
                  <c:v>14.4</c:v>
                </c:pt>
              </c:numCache>
            </c:numRef>
          </c:val>
        </c:ser>
        <c:ser>
          <c:idx val="1"/>
          <c:order val="1"/>
          <c:tx>
            <c:strRef>
              <c:f>Sheet1!$C$1</c:f>
              <c:strCache>
                <c:ptCount val="1"/>
                <c:pt idx="0">
                  <c:v>それ以外</c:v>
                </c:pt>
              </c:strCache>
            </c:strRef>
          </c:tx>
          <c:spPr>
            <a:solidFill>
              <a:srgbClr val="BFBFBF"/>
            </a:solidFill>
            <a:effectLst/>
          </c:spPr>
          <c:invertIfNegative val="0"/>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2022年</c:v>
                  </c:pt>
                  <c:pt idx="1">
                    <c:v>2025年</c:v>
                  </c:pt>
                </c:lvl>
              </c:multiLvlStrCache>
            </c:multiLvlStrRef>
          </c:cat>
          <c:val>
            <c:numRef>
              <c:f>Sheet1!$C$2:$C$3</c:f>
              <c:numCache>
                <c:formatCode>General</c:formatCode>
                <c:ptCount val="2"/>
                <c:pt idx="0">
                  <c:v>46.1</c:v>
                </c:pt>
                <c:pt idx="1">
                  <c:v>47.7</c:v>
                </c:pt>
              </c:numCache>
            </c:numRef>
          </c:val>
        </c:ser>
        <c:dLbls>
          <c:numFmt formatCode="0.0&quot;万&quot;" sourceLinked="0"/>
          <c:txPr>
            <a:bodyPr/>
            <a:lstStyle/>
            <a:p>
              <a:pPr>
                <a:defRPr b="0" i="0" strike="noStrike" sz="1400" u="none">
                  <a:solidFill>
                    <a:srgbClr val="FFFFFF"/>
                  </a:solidFill>
                  <a:latin typeface="Arial"/>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0B0B0"/>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6B6B"/>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の自動車市場で中国系が伸びている。その要因としてよく挙げられるモデルチェンジの速さが、本当にシェア拡大の要因なのかを検証し、日系が取るべき戦略を示す。発表は10分で、詳しいデータは付録にまとめ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結論を述べる。問いは、中国車のモデルチェンジの速さがシェア拡大の要因かどうかである。検証の結果、速さは中国系どうしの生き残り条件であり、日系の失点はBEVに商品がないことでほぼ説明できた。そのため日系は、BEVの商品を持つこと、HEVは長く売って残価を守ること、その高い残価を残価設定ローンで月々の支払いの安さに変えることが必須である。加えて、ピックアップとHEVの収益を守り、撤退する中国ブランドの顧客を拾い、中国企業を相手によって使い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まずASEAN全体を見る。中国系はタイとインドネシアで伸びている。ベトナムだけは地場のVinFastが強い。中国系の伸びが最も大きく、データもそろうタイに絞って分析する。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タイをパワートレイン別に見る。2026年上半期の登録で、BEVは前年比85%増、HEVは26%増と、どちらも伸びている。BEVの9割は中国系、HEVの98%は日系で、パワートレインごとにすみ分けがはっきりしている。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系シェアは2022年の85%から2026年の62%へ、23ポイント下がった。これを分解すると、BEV市場が広がった効果が25ポイントで、ほぼすべてを説明する。BEV以外の市場の中では、日系のシェアはむしろ86%から88%に上がっている。セグメント別の推移は社内データで差し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国籍の上位4社について、車種別の販売推移を見る。BYDは複数の車種で台数を積み上げているが、他の中国系の多くは主力1車種に頼っている。日系はトヨタを筆頭に、複数の車種で売っている。図は社内データで差し込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する仮説をツリーにした。EVには電池という分かりやすい指標があり、中国車どうしの競争が激しく、電池の効率化や小型化が速い。そのためモデルチェンジが速くなり、勝ち残った車が日本車と勝負する。その途中で、電池はスマホのように劣化して中古価格が下がる、1世代前の車の値段が下がって1車種依存の企業が弱る、いつの間にか日系ICEより安く燃費の良い車になる、という枝が生まれる。日本車との勝負の観点は、政策支援、供給力、価格競争、ヒット車種の数である。H1からH5を順に検証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ワートレインとセグメントのマトリクスで、中国系と日系の車種を並べた。BEVの行は中国系だけで、日系はほぼ商品がない。HEVとICEの行は日系が大半を占める。正面からぶつかっている場所は意外に少なく、モデルチェンジの速さが効くのは主にBEVの行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H1を検証する。中国系の部分改良の間隔は約2年で、日系の3.3年より速い。ただし中身を見ると、電池容量はDolphinのように増えた車もあれば、Omoda C5 EVのように17%減った車もある。航続距離の中央値は変わらず、価格は中央値で19%下がった。改良の中身は、電池を小さくして安くする、充電を速くする、装備を増やすの3方向である。速さは支持できるが、電池の持ちの向上という中身は修正が必要である。改良が販売を伸ばしたかは、社内データ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H2を検証する。2023年式のAtto 3は、発売時の価格に対して39%まで下がり、同じ年式のCorolla Cross HEVの63%より大きく下がっている。ただしAtto 3の新車は120万バーツから77万バーツへ36%値下げされた。今の新車価格で比べると61%で、Corolla Crossとほぼ同じになる。24ポイントの差のうち約22ポイントは新車値下げで説明できる。電池劣化は平均で年2.3%で、暑さや急速充電で悪化する補助要因と見るのが妥当である。電池劣化の寄与を確かめるには、SOHと成約価格のデータが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H3を検証する。買う時点では、BEVが日系より安くなっている。最安のAtto 1は43万バーツで、トヨタの量販セダンYaris Ativの57万より安い。C-SUVでも、Atto 3はCorolla Cross HEVより2割から3割安い。IEAも、タイでは2024年にBEVとICEの購入価格が並んだとしている。ただし5年の保有費で見ると、BEVは値引きがなければHEVより高く、値引きがあれば安い。日系は入口価格では勝てないが、残価と保有費で戦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H4を検証する。政策では中国製EVの関税が0%で、補助金も最大15万バーツ出た。供給では承認されたBEVの生産能力が年38.6万台あり、輸入1台につき現地で2台から3台の生産が求められる。価格ではAtto 3が36%値下げされ、中国の自動車産業の利益率は3.4%まで下がっている。この3つが掛け合わさってBEV市場が急拡大した。ただし日系はBEVの商品がなく、正面から価格で負けたというより、ほぼ不戦敗である。BEV以外では日系のシェアは上がっ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H5を検証する。BYDは5つ以上の車種で売り、BEVの首位を保っている。一方、Neta Vの1車種に頼ったNetaは、BEV内のシェアが0.3%まで落ち、販売店は60から20に減り、補助金約20億バーツの返還を求められている。仮説の方向は支持できる。ただし強さを決めるのは車種の数よりも売れる車種の数と、生産能力や販売網である。1車種依存の企業は、世代交代で旧型の値段が下がると立て直せない。社内データで車種構成と販売の安定性を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検証をまとめる。もっとも大事なのはH1で、モデルチェンジは確かに速いが、それは中国系どうしの生き残り条件だった。中国系のシェア拡大の主因は、政策と供給と価格でできたBEV市場に、日系の商品がないことである。中古価格の下落は電池劣化より新車値下げと陳腐化、EVの安さは入口価格では成立するが保有費は条件しだい、強さを決めるのは売れる車種の数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日系の打ち手は4つである。ピックアップとHEVセダンは守る。ここではモデルを長く売り、残価を守る。毎年刷新すると旧型の残価が下がり、日系の強みを自ら崩すためである。C-SUVのHEVとPHEVでは中国系を迎え撃ち、高い残価を残価設定ローンで月々の支払いの安さに変える。BEVは中国の開発体制を使って短い周期の商品を持ち、空白を埋める。撤退する中国ブランドの顧客は、認定中古や整備で拾う。中国企業とは、BYDやMGのような強い相手とは競い、電池やソフトでは協業し、撤退するブランドの受け皿になる、という3つの関係を使い分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述べる。中国系のシェア拡大は、政策と供給と価格でできたBEV市場に、日系の商品がなかったことによる。モデルチェンジの速さは中国系どうしの生き残り条件で、中身は電池の持ちより値下げ、充電、装備である。中古EVが安いのは主に新車値下げのためで、日系は残価と保有費で戦える。日系はBEVの商品を持ち、HEVは長く売って残価を守り、残価設定ローンで月々の支払いを下げるべきである。以上で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1417320"/>
            <a:ext cx="10689336" cy="292608"/>
          </a:xfrm>
          <a:prstGeom prst="rect">
            <a:avLst/>
          </a:prstGeom>
          <a:solidFill>
            <a:srgbClr val="C4E6E4"/>
          </a:solidFill>
          <a:ln w="12700">
            <a:solidFill>
              <a:srgbClr val="C4E6E4"/>
            </a:solidFill>
            <a:prstDash val="solid"/>
          </a:ln>
        </p:spPr>
      </p:sp>
      <p:sp>
        <p:nvSpPr>
          <p:cNvPr id="3" name="Shape 1"/>
          <p:cNvSpPr/>
          <p:nvPr/>
        </p:nvSpPr>
        <p:spPr>
          <a:xfrm>
            <a:off x="0" y="1709928"/>
            <a:ext cx="10689336" cy="3657600"/>
          </a:xfrm>
          <a:prstGeom prst="rect">
            <a:avLst/>
          </a:prstGeom>
          <a:solidFill>
            <a:srgbClr val="62C1BC"/>
          </a:solidFill>
          <a:ln w="12700">
            <a:solidFill>
              <a:srgbClr val="62C1BC"/>
            </a:solidFill>
            <a:prstDash val="solid"/>
          </a:ln>
        </p:spPr>
      </p:sp>
      <p:sp>
        <p:nvSpPr>
          <p:cNvPr id="4" name="Shape 2"/>
          <p:cNvSpPr/>
          <p:nvPr/>
        </p:nvSpPr>
        <p:spPr>
          <a:xfrm>
            <a:off x="0" y="5367528"/>
            <a:ext cx="10689336" cy="292608"/>
          </a:xfrm>
          <a:prstGeom prst="rect">
            <a:avLst/>
          </a:prstGeom>
          <a:solidFill>
            <a:srgbClr val="C4E6E4"/>
          </a:solidFill>
          <a:ln w="12700">
            <a:solidFill>
              <a:srgbClr val="C4E6E4"/>
            </a:solidFill>
            <a:prstDash val="solid"/>
          </a:ln>
        </p:spPr>
      </p:sp>
      <p:sp>
        <p:nvSpPr>
          <p:cNvPr id="5" name="Text 3"/>
          <p:cNvSpPr/>
          <p:nvPr>
            <p:ph idx="103" type="title" hasCustomPrompt="1"/>
          </p:nvPr>
        </p:nvSpPr>
        <p:spPr>
          <a:xfrm>
            <a:off x="548640" y="1965960"/>
            <a:ext cx="9592056" cy="2103120"/>
          </a:xfrm>
          <a:prstGeom prst="rect">
            <a:avLst/>
          </a:prstGeom>
          <a:noFill/>
          <a:ln/>
        </p:spPr>
        <p:txBody>
          <a:bodyPr wrap="square" rtlCol="0"/>
          <a:lstStyle>
            <a:lvl1pPr algn="ctr" indent="0" marL="0">
              <a:buNone/>
              <a:defRPr lang="en-US" sz="3600" b="1" dirty="0">
                <a:solidFill>
                  <a:srgbClr val="262626"/>
                </a:solidFill>
                <a:latin typeface="Arial" pitchFamily="34" charset="0"/>
                <a:ea typeface="Arial" pitchFamily="34" charset="-122"/>
                <a:cs typeface="Arial" pitchFamily="34" charset="-120"/>
              </a:defRPr>
            </a:lvl1pPr>
          </a:lstStyle>
          <a:p>
            <a:pPr algn="ctr" indent="0" marL="0">
              <a:buNone/>
            </a:pPr>
            <a:endParaRPr lang="en-US" sz="3600" dirty="0"/>
          </a:p>
        </p:txBody>
      </p:sp>
      <p:sp>
        <p:nvSpPr>
          <p:cNvPr id="6" name="Text 3"/>
          <p:cNvSpPr/>
          <p:nvPr>
            <p:ph idx="104" type="body" hasCustomPrompt="1"/>
          </p:nvPr>
        </p:nvSpPr>
        <p:spPr>
          <a:xfrm>
            <a:off x="548640" y="4160520"/>
            <a:ext cx="9592056" cy="1005840"/>
          </a:xfrm>
          <a:prstGeom prst="rect">
            <a:avLst/>
          </a:prstGeom>
          <a:noFill/>
          <a:ln/>
        </p:spPr>
        <p:txBody>
          <a:bodyPr wrap="square" rtlCol="0"/>
          <a:lstStyle>
            <a:lvl1pPr algn="r" indent="0" marL="0">
              <a:buNone/>
              <a:defRPr lang="en-US" sz="1800" dirty="0">
                <a:solidFill>
                  <a:srgbClr val="262626"/>
                </a:solidFill>
                <a:latin typeface="Arial" pitchFamily="34" charset="0"/>
                <a:ea typeface="Arial" pitchFamily="34" charset="-122"/>
                <a:cs typeface="Arial" pitchFamily="34" charset="-120"/>
              </a:defRPr>
            </a:lvl1pPr>
          </a:lstStyle>
          <a:p>
            <a:pPr algn="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rtlCol="0"/>
          <a:lstStyle>
            <a:lvl1pPr algn="l" indent="0" marL="0">
              <a:buNone/>
              <a:defRPr lang="en-US" sz="2400" b="1" dirty="0">
                <a:solidFill>
                  <a:srgbClr val="3F3F3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3" type="title" hasCustomPrompt="1"/>
          </p:nvPr>
        </p:nvSpPr>
        <p:spPr>
          <a:xfrm>
            <a:off x="548640" y="1965960"/>
            <a:ext cx="9592056" cy="2103120"/>
          </a:xfrm>
          <a:prstGeom prst="rect">
            <a:avLst/>
          </a:prstGeom>
          <a:noFill/>
          <a:ln/>
        </p:spPr>
        <p:txBody>
          <a:bodyPr wrap="square" rtlCol="0" anchor="ctr"/>
          <a:lstStyle/>
          <a:p>
            <a:pPr algn="ctr" indent="0" marL="0">
              <a:buNone/>
            </a:pPr>
            <a:r>
              <a:rPr lang="en-US" sz="3600" b="1" dirty="0">
                <a:solidFill>
                  <a:srgbClr val="262626"/>
                </a:solidFill>
                <a:latin typeface="Arial" pitchFamily="34" charset="0"/>
                <a:ea typeface="Arial" pitchFamily="34" charset="-122"/>
                <a:cs typeface="Arial" pitchFamily="34" charset="-120"/>
              </a:rPr>
              <a:t>タイ市場における中国系OEMの台頭と</a:t>
            </a:r>
            <a:endParaRPr lang="en-US" sz="3600" dirty="0"/>
          </a:p>
          <a:p>
            <a:pPr algn="ctr" indent="0" marL="0">
              <a:buNone/>
            </a:pPr>
            <a:r>
              <a:rPr lang="en-US" sz="3600" b="1" dirty="0">
                <a:solidFill>
                  <a:srgbClr val="262626"/>
                </a:solidFill>
                <a:latin typeface="Arial" pitchFamily="34" charset="0"/>
                <a:ea typeface="Arial" pitchFamily="34" charset="-122"/>
                <a:cs typeface="Arial" pitchFamily="34" charset="-120"/>
              </a:rPr>
              <a:t>日系OEMが取るべき戦略</a:t>
            </a:r>
            <a:endParaRPr lang="en-US" sz="3600" dirty="0"/>
          </a:p>
        </p:txBody>
      </p:sp>
      <p:sp>
        <p:nvSpPr>
          <p:cNvPr id="3" name="Text 3"/>
          <p:cNvSpPr/>
          <p:nvPr>
            <p:ph idx="104" type="body" hasCustomPrompt="1"/>
          </p:nvPr>
        </p:nvSpPr>
        <p:spPr>
          <a:xfrm>
            <a:off x="548640" y="4160520"/>
            <a:ext cx="9592056" cy="1005840"/>
          </a:xfrm>
          <a:prstGeom prst="rect">
            <a:avLst/>
          </a:prstGeom>
          <a:noFill/>
          <a:ln/>
        </p:spPr>
        <p:txBody>
          <a:bodyPr wrap="square" rtlCol="0" anchor="ctr"/>
          <a:lstStyle/>
          <a:p>
            <a:pPr algn="r" indent="0" marL="0">
              <a:buNone/>
            </a:pPr>
            <a:r>
              <a:rPr lang="en-US" sz="1800" dirty="0">
                <a:solidFill>
                  <a:srgbClr val="262626"/>
                </a:solidFill>
                <a:latin typeface="Arial" pitchFamily="34" charset="0"/>
                <a:ea typeface="Arial" pitchFamily="34" charset="-122"/>
                <a:cs typeface="Arial" pitchFamily="34" charset="-120"/>
              </a:rPr>
              <a:t>モデルチェンジの速さは、本当にシェア拡大の要因か</a:t>
            </a:r>
            <a:endParaRPr lang="en-US" sz="1800" dirty="0"/>
          </a:p>
          <a:p>
            <a:pPr algn="r" indent="0" marL="0">
              <a:buNone/>
            </a:pPr>
            <a:r>
              <a:rPr lang="en-US" sz="1800" dirty="0">
                <a:solidFill>
                  <a:srgbClr val="262626"/>
                </a:solidFill>
                <a:latin typeface="Arial" pitchFamily="34" charset="0"/>
                <a:ea typeface="Arial" pitchFamily="34" charset="-122"/>
                <a:cs typeface="Arial" pitchFamily="34" charset="-120"/>
              </a:rPr>
              <a:t>2026年10月　[発表者名]</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結論：日系がタイで取るべきこと</a:t>
            </a:r>
            <a:endParaRPr lang="en-US" sz="2400" dirty="0"/>
          </a:p>
        </p:txBody>
      </p:sp>
      <p:sp>
        <p:nvSpPr>
          <p:cNvPr id="3" name="shape_1"/>
          <p:cNvSpPr/>
          <p:nvPr/>
        </p:nvSpPr>
        <p:spPr>
          <a:xfrm>
            <a:off x="411480" y="1188720"/>
            <a:ext cx="9866376" cy="960120"/>
          </a:xfrm>
          <a:prstGeom prst="roundRect">
            <a:avLst>
              <a:gd name="adj" fmla="val 11429"/>
            </a:avLst>
          </a:prstGeom>
          <a:solidFill>
            <a:srgbClr val="FFFFFF"/>
          </a:solidFill>
          <a:ln w="22225">
            <a:solidFill>
              <a:srgbClr val="4472C4"/>
            </a:solidFill>
            <a:prstDash val="solid"/>
          </a:ln>
        </p:spPr>
      </p:sp>
      <p:sp>
        <p:nvSpPr>
          <p:cNvPr id="4" name="fslabel_2"/>
          <p:cNvSpPr/>
          <p:nvPr/>
        </p:nvSpPr>
        <p:spPr>
          <a:xfrm>
            <a:off x="4991608" y="10332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問い</a:t>
            </a:r>
            <a:endParaRPr lang="en-US" sz="1700" dirty="0"/>
          </a:p>
        </p:txBody>
      </p:sp>
      <p:sp>
        <p:nvSpPr>
          <p:cNvPr id="5" name="text_3"/>
          <p:cNvSpPr txBox="1"/>
          <p:nvPr/>
        </p:nvSpPr>
        <p:spPr>
          <a:xfrm>
            <a:off x="685800" y="1353312"/>
            <a:ext cx="9317736" cy="6858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中国車はモデルチェンジが速い。それは本当にタイでのシェア拡大の要因か</a:t>
            </a:r>
            <a:endParaRPr lang="en-US" sz="2000" dirty="0"/>
          </a:p>
        </p:txBody>
      </p:sp>
      <p:sp>
        <p:nvSpPr>
          <p:cNvPr id="6" name="shape_4"/>
          <p:cNvSpPr/>
          <p:nvPr/>
        </p:nvSpPr>
        <p:spPr>
          <a:xfrm>
            <a:off x="411480" y="2606040"/>
            <a:ext cx="4750308" cy="2971800"/>
          </a:xfrm>
          <a:prstGeom prst="roundRect">
            <a:avLst>
              <a:gd name="adj" fmla="val 3692"/>
            </a:avLst>
          </a:prstGeom>
          <a:solidFill>
            <a:srgbClr val="FFFFFF"/>
          </a:solidFill>
          <a:ln w="22225">
            <a:solidFill>
              <a:srgbClr val="E8384F"/>
            </a:solidFill>
            <a:prstDash val="solid"/>
          </a:ln>
        </p:spPr>
      </p:sp>
      <p:sp>
        <p:nvSpPr>
          <p:cNvPr id="7" name="fslabel_5"/>
          <p:cNvSpPr/>
          <p:nvPr/>
        </p:nvSpPr>
        <p:spPr>
          <a:xfrm>
            <a:off x="1462024" y="2450592"/>
            <a:ext cx="26492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取らないといけないこと</a:t>
            </a:r>
            <a:endParaRPr lang="en-US" sz="1700" dirty="0"/>
          </a:p>
        </p:txBody>
      </p:sp>
      <p:sp>
        <p:nvSpPr>
          <p:cNvPr id="8" name="text_6"/>
          <p:cNvSpPr txBox="1"/>
          <p:nvPr/>
        </p:nvSpPr>
        <p:spPr>
          <a:xfrm>
            <a:off x="685800" y="2926080"/>
            <a:ext cx="4293108" cy="2468880"/>
          </a:xfrm>
          <a:prstGeom prst="rect">
            <a:avLst/>
          </a:prstGeom>
          <a:noFill/>
          <a:ln/>
        </p:spPr>
        <p:txBody>
          <a:bodyPr wrap="square" lIns="0" tIns="0" rIns="0" bIns="0" rtlCol="0" anchor="ctr"/>
          <a:lstStyle/>
          <a:p>
            <a:pPr indent="0" marL="0">
              <a:spcAft>
                <a:spcPts val="1400"/>
              </a:spcAft>
              <a:buNone/>
            </a:pPr>
            <a:r>
              <a:rPr lang="en-US" sz="2000" dirty="0">
                <a:solidFill>
                  <a:srgbClr val="333333"/>
                </a:solidFill>
                <a:latin typeface="Arial" pitchFamily="34" charset="0"/>
                <a:ea typeface="Arial" pitchFamily="34" charset="-122"/>
                <a:cs typeface="Arial" pitchFamily="34" charset="-120"/>
              </a:rPr>
              <a:t>✓ BEVの商品を持つ</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HEVは長く売り、残価を守る</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残クレで月々の支払いを下げる</a:t>
            </a:r>
            <a:endParaRPr lang="en-US" sz="1600" dirty="0"/>
          </a:p>
        </p:txBody>
      </p:sp>
      <p:sp>
        <p:nvSpPr>
          <p:cNvPr id="9" name="shape_7"/>
          <p:cNvSpPr/>
          <p:nvPr/>
        </p:nvSpPr>
        <p:spPr>
          <a:xfrm>
            <a:off x="5527548" y="2606040"/>
            <a:ext cx="4750308" cy="2971800"/>
          </a:xfrm>
          <a:prstGeom prst="roundRect">
            <a:avLst>
              <a:gd name="adj" fmla="val 3692"/>
            </a:avLst>
          </a:prstGeom>
          <a:solidFill>
            <a:srgbClr val="FFFFFF"/>
          </a:solidFill>
          <a:ln w="22225">
            <a:solidFill>
              <a:srgbClr val="4472C4"/>
            </a:solidFill>
            <a:prstDash val="solid"/>
          </a:ln>
        </p:spPr>
      </p:sp>
      <p:sp>
        <p:nvSpPr>
          <p:cNvPr id="10" name="fslabel_8"/>
          <p:cNvSpPr/>
          <p:nvPr/>
        </p:nvSpPr>
        <p:spPr>
          <a:xfrm>
            <a:off x="7117842" y="2450592"/>
            <a:ext cx="15697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取るべきこと</a:t>
            </a:r>
            <a:endParaRPr lang="en-US" sz="1700" dirty="0"/>
          </a:p>
        </p:txBody>
      </p:sp>
      <p:sp>
        <p:nvSpPr>
          <p:cNvPr id="11" name="text_9"/>
          <p:cNvSpPr txBox="1"/>
          <p:nvPr/>
        </p:nvSpPr>
        <p:spPr>
          <a:xfrm>
            <a:off x="5801868" y="2926080"/>
            <a:ext cx="4293108" cy="2468880"/>
          </a:xfrm>
          <a:prstGeom prst="rect">
            <a:avLst/>
          </a:prstGeom>
          <a:noFill/>
          <a:ln/>
        </p:spPr>
        <p:txBody>
          <a:bodyPr wrap="square" lIns="0" tIns="0" rIns="0" bIns="0" rtlCol="0" anchor="ctr"/>
          <a:lstStyle/>
          <a:p>
            <a:pPr indent="0" marL="0">
              <a:spcAft>
                <a:spcPts val="1400"/>
              </a:spcAft>
              <a:buNone/>
            </a:pPr>
            <a:r>
              <a:rPr lang="en-US" sz="2000" dirty="0">
                <a:solidFill>
                  <a:srgbClr val="333333"/>
                </a:solidFill>
                <a:latin typeface="Arial" pitchFamily="34" charset="0"/>
                <a:ea typeface="Arial" pitchFamily="34" charset="-122"/>
                <a:cs typeface="Arial" pitchFamily="34" charset="-120"/>
              </a:rPr>
              <a:t>✓ ピックアップとHEVの収益を守る</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撤退する中国系の顧客を拾う</a:t>
            </a:r>
            <a:endParaRPr lang="en-US" sz="1600" dirty="0"/>
          </a:p>
          <a:p>
            <a:pPr indent="0" marL="0">
              <a:spcAft>
                <a:spcPts val="1400"/>
              </a:spcAft>
              <a:buNone/>
            </a:pPr>
            <a:r>
              <a:rPr lang="en-US" sz="2000" dirty="0">
                <a:solidFill>
                  <a:srgbClr val="333333"/>
                </a:solidFill>
                <a:latin typeface="Arial" pitchFamily="34" charset="0"/>
                <a:ea typeface="Arial" pitchFamily="34" charset="-122"/>
                <a:cs typeface="Arial" pitchFamily="34" charset="-120"/>
              </a:rPr>
              <a:t>✓ 中国企業と使い分けて付き合う</a:t>
            </a:r>
            <a:endParaRPr lang="en-US" sz="1600" dirty="0"/>
          </a:p>
        </p:txBody>
      </p:sp>
      <p:sp>
        <p:nvSpPr>
          <p:cNvPr id="12" name="summary_10"/>
          <p:cNvSpPr/>
          <p:nvPr/>
        </p:nvSpPr>
        <p:spPr>
          <a:xfrm>
            <a:off x="960120" y="5897880"/>
            <a:ext cx="8769096" cy="1051560"/>
          </a:xfrm>
          <a:prstGeom prst="roundRect">
            <a:avLst>
              <a:gd name="adj" fmla="val 8696"/>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2000" dirty="0">
                <a:solidFill>
                  <a:srgbClr val="333333"/>
                </a:solidFill>
                <a:latin typeface="Arial" pitchFamily="34" charset="0"/>
                <a:ea typeface="Arial" pitchFamily="34" charset="-122"/>
                <a:cs typeface="Arial" pitchFamily="34" charset="-120"/>
              </a:rPr>
              <a:t>モデルチェンジの速さは、中国系どうしの生き残り条件</a:t>
            </a:r>
            <a:endParaRPr lang="en-US" sz="2000" dirty="0"/>
          </a:p>
          <a:p>
            <a:pPr algn="ctr" indent="0" marL="0">
              <a:buNone/>
            </a:pPr>
            <a:r>
              <a:rPr lang="en-US" sz="2000" dirty="0">
                <a:solidFill>
                  <a:srgbClr val="E8384F"/>
                </a:solidFill>
                <a:latin typeface="Arial" pitchFamily="34" charset="0"/>
                <a:ea typeface="Arial" pitchFamily="34" charset="-122"/>
                <a:cs typeface="Arial" pitchFamily="34" charset="-120"/>
              </a:rPr>
              <a:t>日系の失点は「BEVに商品がない」ことでほぼ説明できる</a:t>
            </a:r>
            <a:endParaRPr lang="en-US" sz="2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市場分析①　ASEANで中国系が伸び、ベトナムは地場が強い</a:t>
            </a:r>
            <a:endParaRPr lang="en-US" sz="2400" dirty="0"/>
          </a:p>
        </p:txBody>
      </p:sp>
      <p:sp>
        <p:nvSpPr>
          <p:cNvPr id="3" name="pc_11"/>
          <p:cNvSpPr/>
          <p:nvPr/>
        </p:nvSpPr>
        <p:spPr>
          <a:xfrm>
            <a:off x="411480" y="1097280"/>
            <a:ext cx="64008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900" b="1" dirty="0">
                <a:solidFill>
                  <a:srgbClr val="333333"/>
                </a:solidFill>
                <a:latin typeface="Arial" pitchFamily="34" charset="0"/>
                <a:ea typeface="Arial" pitchFamily="34" charset="-122"/>
                <a:cs typeface="Arial" pitchFamily="34" charset="-120"/>
              </a:rPr>
              <a:t>ASEAN各国の中国系・日系シェアの推移</a:t>
            </a:r>
            <a:endParaRPr lang="en-US" sz="1200" dirty="0"/>
          </a:p>
          <a:p>
            <a:pPr algn="ctr" indent="0" marL="0">
              <a:spcAft>
                <a:spcPts val="500"/>
              </a:spcAft>
              <a:buNone/>
            </a:pPr>
            <a:r>
              <a:rPr lang="en-US" sz="1400" dirty="0">
                <a:solidFill>
                  <a:srgbClr val="6B6B6B"/>
                </a:solidFill>
                <a:latin typeface="Arial" pitchFamily="34" charset="0"/>
                <a:ea typeface="Arial" pitchFamily="34" charset="-122"/>
                <a:cs typeface="Arial" pitchFamily="34" charset="-120"/>
              </a:rPr>
              <a:t>MarkLines：ASEAN各国の車種別月次販売</a:t>
            </a:r>
            <a:endParaRPr lang="en-US" sz="1200" dirty="0"/>
          </a:p>
          <a:p>
            <a:pPr algn="ctr" indent="0" marL="0">
              <a:spcAft>
                <a:spcPts val="500"/>
              </a:spcAft>
              <a:buNone/>
            </a:pPr>
            <a:r>
              <a:rPr lang="en-US" sz="1400" dirty="0">
                <a:solidFill>
                  <a:srgbClr val="6B6B6B"/>
                </a:solidFill>
                <a:latin typeface="Arial" pitchFamily="34" charset="0"/>
                <a:ea typeface="Arial" pitchFamily="34" charset="-122"/>
                <a:cs typeface="Arial" pitchFamily="34" charset="-120"/>
              </a:rPr>
              <a:t>国ごとの小さな折れ線（日系・中国系・地場・その他）</a:t>
            </a:r>
            <a:endParaRPr lang="en-US" sz="1200" dirty="0"/>
          </a:p>
        </p:txBody>
      </p:sp>
      <p:sp>
        <p:nvSpPr>
          <p:cNvPr id="4" name="shape_12"/>
          <p:cNvSpPr/>
          <p:nvPr/>
        </p:nvSpPr>
        <p:spPr>
          <a:xfrm>
            <a:off x="7086600" y="1097280"/>
            <a:ext cx="3191256" cy="3566160"/>
          </a:xfrm>
          <a:prstGeom prst="roundRect">
            <a:avLst>
              <a:gd name="adj" fmla="val 2865"/>
            </a:avLst>
          </a:prstGeom>
          <a:solidFill>
            <a:srgbClr val="EEF3FB"/>
          </a:solidFill>
          <a:ln w="15875">
            <a:solidFill>
              <a:srgbClr val="4472C4"/>
            </a:solidFill>
            <a:prstDash val="solid"/>
          </a:ln>
        </p:spPr>
      </p:sp>
      <p:sp>
        <p:nvSpPr>
          <p:cNvPr id="5" name="tab_13"/>
          <p:cNvSpPr/>
          <p:nvPr/>
        </p:nvSpPr>
        <p:spPr>
          <a:xfrm>
            <a:off x="7196328" y="1188720"/>
            <a:ext cx="1417320" cy="30480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500" b="1" dirty="0">
                <a:solidFill>
                  <a:srgbClr val="333333"/>
                </a:solidFill>
                <a:latin typeface="Arial" pitchFamily="34" charset="0"/>
                <a:ea typeface="Arial" pitchFamily="34" charset="-122"/>
                <a:cs typeface="Arial" pitchFamily="34" charset="-120"/>
              </a:rPr>
              <a:t>見るポイント</a:t>
            </a:r>
            <a:endParaRPr lang="en-US" sz="1500" dirty="0"/>
          </a:p>
        </p:txBody>
      </p:sp>
      <p:sp>
        <p:nvSpPr>
          <p:cNvPr id="6" name="text_14"/>
          <p:cNvSpPr txBox="1"/>
          <p:nvPr/>
        </p:nvSpPr>
        <p:spPr>
          <a:xfrm>
            <a:off x="7269480" y="1691640"/>
            <a:ext cx="2825496" cy="2834640"/>
          </a:xfrm>
          <a:prstGeom prst="rect">
            <a:avLst/>
          </a:prstGeom>
          <a:noFill/>
          <a:ln/>
        </p:spPr>
        <p:txBody>
          <a:bodyPr wrap="square" lIns="0" tIns="0" rIns="0" bIns="0" rtlCol="0" anchor="ctr"/>
          <a:lstStyle/>
          <a:p>
            <a:pPr indent="0" marL="0">
              <a:spcAft>
                <a:spcPts val="1200"/>
              </a:spcAft>
              <a:buNone/>
            </a:pPr>
            <a:r>
              <a:rPr lang="en-US" sz="1600" dirty="0">
                <a:solidFill>
                  <a:srgbClr val="333333"/>
                </a:solidFill>
                <a:latin typeface="Arial" pitchFamily="34" charset="0"/>
                <a:ea typeface="Arial" pitchFamily="34" charset="-122"/>
                <a:cs typeface="Arial" pitchFamily="34" charset="-120"/>
              </a:rPr>
              <a:t>✓ タイ・インドネシアで中国系が伸びる</a:t>
            </a:r>
            <a:endParaRPr lang="en-US" sz="1600" dirty="0"/>
          </a:p>
          <a:p>
            <a:pPr indent="0" marL="0">
              <a:spcAft>
                <a:spcPts val="1200"/>
              </a:spcAft>
              <a:buNone/>
            </a:pPr>
            <a:r>
              <a:rPr lang="en-US" sz="1600" dirty="0">
                <a:solidFill>
                  <a:srgbClr val="333333"/>
                </a:solidFill>
                <a:latin typeface="Arial" pitchFamily="34" charset="0"/>
                <a:ea typeface="Arial" pitchFamily="34" charset="-122"/>
                <a:cs typeface="Arial" pitchFamily="34" charset="-120"/>
              </a:rPr>
              <a:t>✓ ベトナムは地場（VinFast）が強い</a:t>
            </a:r>
            <a:endParaRPr lang="en-US" sz="1600" dirty="0"/>
          </a:p>
          <a:p>
            <a:pPr indent="0" marL="0">
              <a:spcAft>
                <a:spcPts val="1200"/>
              </a:spcAft>
              <a:buNone/>
            </a:pPr>
            <a:r>
              <a:rPr lang="en-US" sz="1600" dirty="0">
                <a:solidFill>
                  <a:srgbClr val="333333"/>
                </a:solidFill>
                <a:latin typeface="Arial" pitchFamily="34" charset="0"/>
                <a:ea typeface="Arial" pitchFamily="34" charset="-122"/>
                <a:cs typeface="Arial" pitchFamily="34" charset="-120"/>
              </a:rPr>
              <a:t>✓ 日系はどの国でも最大勢力</a:t>
            </a:r>
            <a:endParaRPr lang="en-US" sz="1600" dirty="0"/>
          </a:p>
        </p:txBody>
      </p:sp>
      <p:sp>
        <p:nvSpPr>
          <p:cNvPr id="7" name="shape_15"/>
          <p:cNvSpPr/>
          <p:nvPr/>
        </p:nvSpPr>
        <p:spPr>
          <a:xfrm>
            <a:off x="8407908" y="4800600"/>
            <a:ext cx="548640" cy="411480"/>
          </a:xfrm>
          <a:prstGeom prst="downArrow">
            <a:avLst/>
          </a:prstGeom>
          <a:solidFill>
            <a:srgbClr val="FFFFFF"/>
          </a:solidFill>
          <a:ln w="28575">
            <a:solidFill>
              <a:srgbClr val="3FB2AB"/>
            </a:solidFill>
            <a:prstDash val="solid"/>
          </a:ln>
        </p:spPr>
      </p:sp>
      <p:sp>
        <p:nvSpPr>
          <p:cNvPr id="8" name="summary_16"/>
          <p:cNvSpPr/>
          <p:nvPr/>
        </p:nvSpPr>
        <p:spPr>
          <a:xfrm>
            <a:off x="7086600" y="5349240"/>
            <a:ext cx="3191256" cy="1554480"/>
          </a:xfrm>
          <a:prstGeom prst="roundRect">
            <a:avLst>
              <a:gd name="adj" fmla="val 588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以降はタイに絞る</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中国系の伸びが最も大きく、データもそろう</a:t>
            </a:r>
            <a:endParaRPr lang="en-US" sz="2000" dirty="0"/>
          </a:p>
        </p:txBody>
      </p:sp>
      <p:sp>
        <p:nvSpPr>
          <p:cNvPr id="9" name="text_1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市場分析②　BEVの9割が中国系、HEVの98%が日系</a:t>
            </a:r>
            <a:endParaRPr lang="en-US" sz="2400" dirty="0"/>
          </a:p>
        </p:txBody>
      </p:sp>
      <p:sp>
        <p:nvSpPr>
          <p:cNvPr id="3" name="pc_18"/>
          <p:cNvSpPr/>
          <p:nvPr/>
        </p:nvSpPr>
        <p:spPr>
          <a:xfrm>
            <a:off x="411480" y="1097280"/>
            <a:ext cx="45720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800" b="1" dirty="0">
                <a:solidFill>
                  <a:srgbClr val="333333"/>
                </a:solidFill>
                <a:latin typeface="Arial" pitchFamily="34" charset="0"/>
                <a:ea typeface="Arial" pitchFamily="34" charset="-122"/>
                <a:cs typeface="Arial" pitchFamily="34" charset="-120"/>
              </a:rPr>
              <a:t>パワートレイン別の販売とシェアの推移</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BEV・HEV・ICEの月次台数</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各パワートレイン内の国籍別シェア</a:t>
            </a:r>
            <a:endParaRPr lang="en-US" sz="1200" dirty="0"/>
          </a:p>
        </p:txBody>
      </p:sp>
      <p:graphicFrame>
        <p:nvGraphicFramePr>
          <p:cNvPr id="4" name="chart_pt" descr=""/>
          <p:cNvGraphicFramePr/>
          <p:nvPr/>
        </p:nvGraphicFramePr>
        <p:xfrm>
          <a:off x="5166360" y="1097280"/>
          <a:ext cx="5111496" cy="3108960"/>
        </p:xfrm>
        <a:graphic xmlns:a="http://schemas.openxmlformats.org/drawingml/2006/main">
          <a:graphicData uri="http://schemas.openxmlformats.org/drawingml/2006/chart">
            <c:chart xmlns:c="http://schemas.openxmlformats.org/drawingml/2006/chart" r:id="rId1"/>
          </a:graphicData>
        </a:graphic>
      </p:graphicFrame>
      <p:sp>
        <p:nvSpPr>
          <p:cNvPr id="5" name="text_19"/>
          <p:cNvSpPr txBox="1"/>
          <p:nvPr/>
        </p:nvSpPr>
        <p:spPr>
          <a:xfrm>
            <a:off x="5257800" y="4389120"/>
            <a:ext cx="2377440" cy="635000"/>
          </a:xfrm>
          <a:prstGeom prst="rect">
            <a:avLst/>
          </a:prstGeom>
          <a:noFill/>
          <a:ln/>
        </p:spPr>
        <p:txBody>
          <a:bodyPr wrap="square" lIns="0" tIns="0" rIns="0" bIns="0" rtlCol="0" anchor="t"/>
          <a:lstStyle/>
          <a:p>
            <a:pPr algn="l" indent="0" marL="0">
              <a:buNone/>
            </a:pPr>
            <a:r>
              <a:rPr lang="en-US" sz="4000" b="1" dirty="0">
                <a:solidFill>
                  <a:srgbClr val="E8604C"/>
                </a:solidFill>
                <a:latin typeface="Arial" pitchFamily="34" charset="0"/>
                <a:ea typeface="Arial" pitchFamily="34" charset="-122"/>
                <a:cs typeface="Arial" pitchFamily="34" charset="-120"/>
              </a:rPr>
              <a:t>90%</a:t>
            </a:r>
            <a:endParaRPr lang="en-US" sz="4000" dirty="0"/>
          </a:p>
        </p:txBody>
      </p:sp>
      <p:sp>
        <p:nvSpPr>
          <p:cNvPr id="6" name="text_20"/>
          <p:cNvSpPr txBox="1"/>
          <p:nvPr/>
        </p:nvSpPr>
        <p:spPr>
          <a:xfrm>
            <a:off x="5257800" y="5049520"/>
            <a:ext cx="237744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BEVのうち中国系</a:t>
            </a:r>
            <a:endParaRPr lang="en-US" sz="1400" dirty="0"/>
          </a:p>
        </p:txBody>
      </p:sp>
      <p:sp>
        <p:nvSpPr>
          <p:cNvPr id="7" name="text_21"/>
          <p:cNvSpPr txBox="1"/>
          <p:nvPr/>
        </p:nvSpPr>
        <p:spPr>
          <a:xfrm>
            <a:off x="7818120" y="4389120"/>
            <a:ext cx="2377440" cy="635000"/>
          </a:xfrm>
          <a:prstGeom prst="rect">
            <a:avLst/>
          </a:prstGeom>
          <a:noFill/>
          <a:ln/>
        </p:spPr>
        <p:txBody>
          <a:bodyPr wrap="square" lIns="0" tIns="0" rIns="0" bIns="0" rtlCol="0" anchor="t"/>
          <a:lstStyle/>
          <a:p>
            <a:pPr algn="l" indent="0" marL="0">
              <a:buNone/>
            </a:pPr>
            <a:r>
              <a:rPr lang="en-US" sz="4000" b="1" dirty="0">
                <a:solidFill>
                  <a:srgbClr val="4472C4"/>
                </a:solidFill>
                <a:latin typeface="Arial" pitchFamily="34" charset="0"/>
                <a:ea typeface="Arial" pitchFamily="34" charset="-122"/>
                <a:cs typeface="Arial" pitchFamily="34" charset="-120"/>
              </a:rPr>
              <a:t>98%</a:t>
            </a:r>
            <a:endParaRPr lang="en-US" sz="4000" dirty="0"/>
          </a:p>
        </p:txBody>
      </p:sp>
      <p:sp>
        <p:nvSpPr>
          <p:cNvPr id="8" name="text_22"/>
          <p:cNvSpPr txBox="1"/>
          <p:nvPr/>
        </p:nvSpPr>
        <p:spPr>
          <a:xfrm>
            <a:off x="7818120" y="5049520"/>
            <a:ext cx="237744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HEVのうち日系</a:t>
            </a:r>
            <a:endParaRPr lang="en-US" sz="1400" dirty="0"/>
          </a:p>
        </p:txBody>
      </p:sp>
      <p:sp>
        <p:nvSpPr>
          <p:cNvPr id="9" name="shape_23"/>
          <p:cNvSpPr/>
          <p:nvPr/>
        </p:nvSpPr>
        <p:spPr>
          <a:xfrm>
            <a:off x="5166360" y="5852160"/>
            <a:ext cx="5111496" cy="1005840"/>
          </a:xfrm>
          <a:prstGeom prst="roundRect">
            <a:avLst>
              <a:gd name="adj" fmla="val 10909"/>
            </a:avLst>
          </a:prstGeom>
          <a:solidFill>
            <a:srgbClr val="FFFFFF"/>
          </a:solidFill>
          <a:ln w="22225">
            <a:solidFill>
              <a:srgbClr val="4472C4"/>
            </a:solidFill>
            <a:prstDash val="solid"/>
          </a:ln>
        </p:spPr>
      </p:sp>
      <p:sp>
        <p:nvSpPr>
          <p:cNvPr id="10" name="fslabel_24"/>
          <p:cNvSpPr/>
          <p:nvPr/>
        </p:nvSpPr>
        <p:spPr>
          <a:xfrm>
            <a:off x="5440680" y="5724144"/>
            <a:ext cx="807720" cy="256032"/>
          </a:xfrm>
          <a:prstGeom prst="rect">
            <a:avLst/>
          </a:prstGeom>
          <a:solidFill>
            <a:srgbClr val="FFFFFF"/>
          </a:solidFill>
          <a:ln/>
        </p:spPr>
        <p:txBody>
          <a:bodyPr wrap="square" lIns="0" tIns="0" rIns="0" bIns="0" rtlCol="0" anchor="ctr"/>
          <a:lstStyle/>
          <a:p>
            <a:pPr algn="ctr" indent="0" marL="0">
              <a:buNone/>
            </a:pPr>
            <a:r>
              <a:rPr lang="en-US" sz="1400" b="1" dirty="0">
                <a:solidFill>
                  <a:srgbClr val="4472C4"/>
                </a:solidFill>
                <a:latin typeface="Arial" pitchFamily="34" charset="0"/>
                <a:ea typeface="Arial" pitchFamily="34" charset="-122"/>
                <a:cs typeface="Arial" pitchFamily="34" charset="-120"/>
              </a:rPr>
              <a:t>前年比</a:t>
            </a:r>
            <a:endParaRPr lang="en-US" sz="1400" dirty="0"/>
          </a:p>
        </p:txBody>
      </p:sp>
      <p:sp>
        <p:nvSpPr>
          <p:cNvPr id="11" name="text_25"/>
          <p:cNvSpPr txBox="1"/>
          <p:nvPr/>
        </p:nvSpPr>
        <p:spPr>
          <a:xfrm>
            <a:off x="5303520" y="6053328"/>
            <a:ext cx="4837176" cy="685800"/>
          </a:xfrm>
          <a:prstGeom prst="rect">
            <a:avLst/>
          </a:prstGeom>
          <a:noFill/>
          <a:ln/>
        </p:spPr>
        <p:txBody>
          <a:bodyPr wrap="square" lIns="0" tIns="0" rIns="0" bIns="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BEV </a:t>
            </a:r>
            <a:pPr algn="ctr" indent="0" marL="0">
              <a:buNone/>
            </a:pPr>
            <a:r>
              <a:rPr lang="en-US" sz="1800" b="1" dirty="0">
                <a:solidFill>
                  <a:srgbClr val="333333"/>
                </a:solidFill>
                <a:latin typeface="Arial" pitchFamily="34" charset="0"/>
                <a:ea typeface="Arial" pitchFamily="34" charset="-122"/>
                <a:cs typeface="Arial" pitchFamily="34" charset="-120"/>
              </a:rPr>
              <a:t>+85%</a:t>
            </a:r>
            <a:pPr algn="ctr" indent="0" marL="0">
              <a:buNone/>
            </a:pPr>
            <a:r>
              <a:rPr lang="en-US" sz="1800" dirty="0">
                <a:solidFill>
                  <a:srgbClr val="333333"/>
                </a:solidFill>
                <a:latin typeface="Arial" pitchFamily="34" charset="0"/>
                <a:ea typeface="Arial" pitchFamily="34" charset="-122"/>
                <a:cs typeface="Arial" pitchFamily="34" charset="-120"/>
              </a:rPr>
              <a:t>　HEV </a:t>
            </a:r>
            <a:pPr algn="ctr" indent="0" marL="0">
              <a:buNone/>
            </a:pPr>
            <a:r>
              <a:rPr lang="en-US" sz="1800" b="1" dirty="0">
                <a:solidFill>
                  <a:srgbClr val="333333"/>
                </a:solidFill>
                <a:latin typeface="Arial" pitchFamily="34" charset="0"/>
                <a:ea typeface="Arial" pitchFamily="34" charset="-122"/>
                <a:cs typeface="Arial" pitchFamily="34" charset="-120"/>
              </a:rPr>
              <a:t>+26%</a:t>
            </a:r>
            <a:pPr algn="ctr" indent="0" marL="0">
              <a:buNone/>
            </a:pPr>
            <a:r>
              <a:rPr lang="en-US" sz="1800" dirty="0">
                <a:solidFill>
                  <a:srgbClr val="333333"/>
                </a:solidFill>
                <a:latin typeface="Arial" pitchFamily="34" charset="0"/>
                <a:ea typeface="Arial" pitchFamily="34" charset="-122"/>
                <a:cs typeface="Arial" pitchFamily="34" charset="-120"/>
              </a:rPr>
              <a:t>　PHEV </a:t>
            </a:r>
            <a:pPr algn="ctr" indent="0" marL="0">
              <a:buNone/>
            </a:pPr>
            <a:r>
              <a:rPr lang="en-US" sz="1800" b="1" dirty="0">
                <a:solidFill>
                  <a:srgbClr val="333333"/>
                </a:solidFill>
                <a:latin typeface="Arial" pitchFamily="34" charset="0"/>
                <a:ea typeface="Arial" pitchFamily="34" charset="-122"/>
                <a:cs typeface="Arial" pitchFamily="34" charset="-120"/>
              </a:rPr>
              <a:t>−10%</a:t>
            </a:r>
            <a:endParaRPr lang="en-US" sz="1800" dirty="0"/>
          </a:p>
        </p:txBody>
      </p:sp>
      <p:sp>
        <p:nvSpPr>
          <p:cNvPr id="12" name="text_2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市場分析③　日系の失点は、ほぼBEV比率の上昇による</a:t>
            </a:r>
            <a:endParaRPr lang="en-US" sz="2400" dirty="0"/>
          </a:p>
        </p:txBody>
      </p:sp>
      <p:sp>
        <p:nvSpPr>
          <p:cNvPr id="3" name="pc_27"/>
          <p:cNvSpPr/>
          <p:nvPr/>
        </p:nvSpPr>
        <p:spPr>
          <a:xfrm>
            <a:off x="411480" y="1097280"/>
            <a:ext cx="4572000" cy="58064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800" b="1" dirty="0">
                <a:solidFill>
                  <a:srgbClr val="333333"/>
                </a:solidFill>
                <a:latin typeface="Arial" pitchFamily="34" charset="0"/>
                <a:ea typeface="Arial" pitchFamily="34" charset="-122"/>
                <a:cs typeface="Arial" pitchFamily="34" charset="-120"/>
              </a:rPr>
              <a:t>セグメント別の販売とシェアの推移</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A/B・C・D・SUV・MPV（ピックアップは別掲）</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セグメント×パワートレインで同じ分解</a:t>
            </a:r>
            <a:endParaRPr lang="en-US" sz="1200" dirty="0"/>
          </a:p>
        </p:txBody>
      </p:sp>
      <p:sp>
        <p:nvSpPr>
          <p:cNvPr id="4" name="text_28"/>
          <p:cNvSpPr txBox="1"/>
          <p:nvPr/>
        </p:nvSpPr>
        <p:spPr>
          <a:xfrm>
            <a:off x="5257800" y="1143000"/>
            <a:ext cx="4937760" cy="36576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日系シェアの変化の分解（pt）</a:t>
            </a:r>
            <a:endParaRPr lang="en-US" sz="1400" dirty="0"/>
          </a:p>
        </p:txBody>
      </p:sp>
      <p:sp>
        <p:nvSpPr>
          <p:cNvPr id="5" name="shape_29"/>
          <p:cNvSpPr/>
          <p:nvPr/>
        </p:nvSpPr>
        <p:spPr>
          <a:xfrm>
            <a:off x="5257800" y="1709562"/>
            <a:ext cx="777240" cy="4051158"/>
          </a:xfrm>
          <a:prstGeom prst="rect">
            <a:avLst/>
          </a:prstGeom>
          <a:solidFill>
            <a:srgbClr val="4472C4"/>
          </a:solidFill>
          <a:ln w="12700">
            <a:solidFill>
              <a:srgbClr val="4472C4"/>
            </a:solidFill>
            <a:prstDash val="solid"/>
          </a:ln>
        </p:spPr>
      </p:sp>
      <p:sp>
        <p:nvSpPr>
          <p:cNvPr id="6" name="text_30"/>
          <p:cNvSpPr txBox="1"/>
          <p:nvPr/>
        </p:nvSpPr>
        <p:spPr>
          <a:xfrm>
            <a:off x="5074920" y="134380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85.2%</a:t>
            </a:r>
            <a:endParaRPr lang="en-US" sz="1500" dirty="0"/>
          </a:p>
        </p:txBody>
      </p:sp>
      <p:sp>
        <p:nvSpPr>
          <p:cNvPr id="7" name="text_31"/>
          <p:cNvSpPr txBox="1"/>
          <p:nvPr/>
        </p:nvSpPr>
        <p:spPr>
          <a:xfrm>
            <a:off x="5074920"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2022年</a:t>
            </a:r>
            <a:endParaRPr lang="en-US" sz="1200" dirty="0"/>
          </a:p>
        </p:txBody>
      </p:sp>
      <p:sp>
        <p:nvSpPr>
          <p:cNvPr id="8" name="shape_32"/>
          <p:cNvSpPr/>
          <p:nvPr/>
        </p:nvSpPr>
        <p:spPr>
          <a:xfrm>
            <a:off x="6236208" y="1709562"/>
            <a:ext cx="777240" cy="1207740"/>
          </a:xfrm>
          <a:prstGeom prst="rect">
            <a:avLst/>
          </a:prstGeom>
          <a:solidFill>
            <a:srgbClr val="E8604C"/>
          </a:solidFill>
          <a:ln w="12700">
            <a:solidFill>
              <a:srgbClr val="E8604C"/>
            </a:solidFill>
            <a:prstDash val="solid"/>
          </a:ln>
        </p:spPr>
      </p:sp>
      <p:sp>
        <p:nvSpPr>
          <p:cNvPr id="9" name="text_33"/>
          <p:cNvSpPr txBox="1"/>
          <p:nvPr/>
        </p:nvSpPr>
        <p:spPr>
          <a:xfrm>
            <a:off x="6053328" y="134380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−25.4</a:t>
            </a:r>
            <a:endParaRPr lang="en-US" sz="1500" dirty="0"/>
          </a:p>
        </p:txBody>
      </p:sp>
      <p:sp>
        <p:nvSpPr>
          <p:cNvPr id="10" name="text_34"/>
          <p:cNvSpPr txBox="1"/>
          <p:nvPr/>
        </p:nvSpPr>
        <p:spPr>
          <a:xfrm>
            <a:off x="6053328"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BEV比率</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の上昇</a:t>
            </a:r>
            <a:endParaRPr lang="en-US" sz="1200" dirty="0"/>
          </a:p>
        </p:txBody>
      </p:sp>
      <p:sp>
        <p:nvSpPr>
          <p:cNvPr id="11" name="shape_35"/>
          <p:cNvSpPr/>
          <p:nvPr/>
        </p:nvSpPr>
        <p:spPr>
          <a:xfrm>
            <a:off x="7214616" y="2871582"/>
            <a:ext cx="777240" cy="45720"/>
          </a:xfrm>
          <a:prstGeom prst="rect">
            <a:avLst/>
          </a:prstGeom>
          <a:solidFill>
            <a:srgbClr val="A9C0E8"/>
          </a:solidFill>
          <a:ln w="12700">
            <a:solidFill>
              <a:srgbClr val="A9C0E8"/>
            </a:solidFill>
            <a:prstDash val="solid"/>
          </a:ln>
        </p:spPr>
      </p:sp>
      <p:sp>
        <p:nvSpPr>
          <p:cNvPr id="12" name="text_36"/>
          <p:cNvSpPr txBox="1"/>
          <p:nvPr/>
        </p:nvSpPr>
        <p:spPr>
          <a:xfrm>
            <a:off x="7031736" y="2505822"/>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+0.6</a:t>
            </a:r>
            <a:endParaRPr lang="en-US" sz="1500" dirty="0"/>
          </a:p>
        </p:txBody>
      </p:sp>
      <p:sp>
        <p:nvSpPr>
          <p:cNvPr id="13" name="text_37"/>
          <p:cNvSpPr txBox="1"/>
          <p:nvPr/>
        </p:nvSpPr>
        <p:spPr>
          <a:xfrm>
            <a:off x="7031736"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BEV内の</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日系</a:t>
            </a:r>
            <a:endParaRPr lang="en-US" sz="1200" dirty="0"/>
          </a:p>
        </p:txBody>
      </p:sp>
      <p:sp>
        <p:nvSpPr>
          <p:cNvPr id="14" name="shape_38"/>
          <p:cNvSpPr/>
          <p:nvPr/>
        </p:nvSpPr>
        <p:spPr>
          <a:xfrm>
            <a:off x="8193024" y="2822204"/>
            <a:ext cx="777240" cy="66568"/>
          </a:xfrm>
          <a:prstGeom prst="rect">
            <a:avLst/>
          </a:prstGeom>
          <a:solidFill>
            <a:srgbClr val="A9C0E8"/>
          </a:solidFill>
          <a:ln w="12700">
            <a:solidFill>
              <a:srgbClr val="A9C0E8"/>
            </a:solidFill>
            <a:prstDash val="solid"/>
          </a:ln>
        </p:spPr>
      </p:sp>
      <p:sp>
        <p:nvSpPr>
          <p:cNvPr id="15" name="text_39"/>
          <p:cNvSpPr txBox="1"/>
          <p:nvPr/>
        </p:nvSpPr>
        <p:spPr>
          <a:xfrm>
            <a:off x="8010144" y="2456444"/>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+1.4</a:t>
            </a:r>
            <a:endParaRPr lang="en-US" sz="1500" dirty="0"/>
          </a:p>
        </p:txBody>
      </p:sp>
      <p:sp>
        <p:nvSpPr>
          <p:cNvPr id="16" name="text_40"/>
          <p:cNvSpPr txBox="1"/>
          <p:nvPr/>
        </p:nvSpPr>
        <p:spPr>
          <a:xfrm>
            <a:off x="8010144"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BEV以外</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の日系</a:t>
            </a:r>
            <a:endParaRPr lang="en-US" sz="1200" dirty="0"/>
          </a:p>
        </p:txBody>
      </p:sp>
      <p:sp>
        <p:nvSpPr>
          <p:cNvPr id="17" name="shape_41"/>
          <p:cNvSpPr/>
          <p:nvPr/>
        </p:nvSpPr>
        <p:spPr>
          <a:xfrm>
            <a:off x="9171432" y="2822204"/>
            <a:ext cx="777240" cy="2938516"/>
          </a:xfrm>
          <a:prstGeom prst="rect">
            <a:avLst/>
          </a:prstGeom>
          <a:solidFill>
            <a:srgbClr val="4472C4"/>
          </a:solidFill>
          <a:ln w="12700">
            <a:solidFill>
              <a:srgbClr val="4472C4"/>
            </a:solidFill>
            <a:prstDash val="solid"/>
          </a:ln>
        </p:spPr>
      </p:sp>
      <p:sp>
        <p:nvSpPr>
          <p:cNvPr id="18" name="text_42"/>
          <p:cNvSpPr txBox="1"/>
          <p:nvPr/>
        </p:nvSpPr>
        <p:spPr>
          <a:xfrm>
            <a:off x="8988552" y="2456444"/>
            <a:ext cx="1143000" cy="329184"/>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61.8%</a:t>
            </a:r>
            <a:endParaRPr lang="en-US" sz="1500" dirty="0"/>
          </a:p>
        </p:txBody>
      </p:sp>
      <p:sp>
        <p:nvSpPr>
          <p:cNvPr id="19" name="text_43"/>
          <p:cNvSpPr txBox="1"/>
          <p:nvPr/>
        </p:nvSpPr>
        <p:spPr>
          <a:xfrm>
            <a:off x="8988552" y="5824728"/>
            <a:ext cx="1143000" cy="54864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2026年</a:t>
            </a:r>
            <a:endParaRPr lang="en-US" sz="1200" dirty="0"/>
          </a:p>
          <a:p>
            <a:pPr algn="ctr" indent="0" marL="0">
              <a:buNone/>
            </a:pPr>
            <a:r>
              <a:rPr lang="en-US" sz="1200" dirty="0">
                <a:solidFill>
                  <a:srgbClr val="6B6B6B"/>
                </a:solidFill>
                <a:latin typeface="Arial" pitchFamily="34" charset="0"/>
                <a:ea typeface="Arial" pitchFamily="34" charset="-122"/>
                <a:cs typeface="Arial" pitchFamily="34" charset="-120"/>
              </a:rPr>
              <a:t>1〜7月</a:t>
            </a:r>
            <a:endParaRPr lang="en-US" sz="1200" dirty="0"/>
          </a:p>
        </p:txBody>
      </p:sp>
      <p:sp>
        <p:nvSpPr>
          <p:cNvPr id="20" name="shape_44"/>
          <p:cNvSpPr/>
          <p:nvPr/>
        </p:nvSpPr>
        <p:spPr>
          <a:xfrm>
            <a:off x="5212080" y="5760720"/>
            <a:ext cx="4892040" cy="0"/>
          </a:xfrm>
          <a:prstGeom prst="line">
            <a:avLst/>
          </a:prstGeom>
          <a:noFill/>
          <a:ln w="12700">
            <a:solidFill>
              <a:srgbClr val="B0B0B0"/>
            </a:solidFill>
            <a:prstDash val="solid"/>
          </a:ln>
        </p:spPr>
      </p:sp>
      <p:sp>
        <p:nvSpPr>
          <p:cNvPr id="21" name="summary_45"/>
          <p:cNvSpPr/>
          <p:nvPr/>
        </p:nvSpPr>
        <p:spPr>
          <a:xfrm>
            <a:off x="8275320" y="1600200"/>
            <a:ext cx="2002536" cy="1417320"/>
          </a:xfrm>
          <a:prstGeom prst="roundRect">
            <a:avLst>
              <a:gd name="adj" fmla="val 645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400" dirty="0">
                <a:solidFill>
                  <a:srgbClr val="333333"/>
                </a:solidFill>
                <a:latin typeface="Arial" pitchFamily="34" charset="0"/>
                <a:ea typeface="Arial" pitchFamily="34" charset="-122"/>
                <a:cs typeface="Arial" pitchFamily="34" charset="-120"/>
              </a:rPr>
              <a:t>BEV以外の</a:t>
            </a:r>
            <a:endParaRPr lang="en-US" sz="1600" dirty="0"/>
          </a:p>
          <a:p>
            <a:pPr algn="ctr" indent="0" marL="0">
              <a:buNone/>
            </a:pPr>
            <a:r>
              <a:rPr lang="en-US" sz="1400" dirty="0">
                <a:solidFill>
                  <a:srgbClr val="333333"/>
                </a:solidFill>
                <a:latin typeface="Arial" pitchFamily="34" charset="0"/>
                <a:ea typeface="Arial" pitchFamily="34" charset="-122"/>
                <a:cs typeface="Arial" pitchFamily="34" charset="-120"/>
              </a:rPr>
              <a:t>日系シェア</a:t>
            </a:r>
            <a:endParaRPr lang="en-US" sz="1600" dirty="0"/>
          </a:p>
          <a:p>
            <a:pPr algn="ctr" indent="0" marL="0">
              <a:buNone/>
            </a:pPr>
            <a:r>
              <a:rPr lang="en-US" sz="2400" b="1" dirty="0">
                <a:solidFill>
                  <a:srgbClr val="E8384F"/>
                </a:solidFill>
                <a:latin typeface="Arial" pitchFamily="34" charset="0"/>
                <a:ea typeface="Arial" pitchFamily="34" charset="-122"/>
                <a:cs typeface="Arial" pitchFamily="34" charset="-120"/>
              </a:rPr>
              <a:t>86%→88%</a:t>
            </a:r>
            <a:endParaRPr lang="en-US" sz="1600" dirty="0"/>
          </a:p>
        </p:txBody>
      </p:sp>
      <p:sp>
        <p:nvSpPr>
          <p:cNvPr id="22" name="text_4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出典：TMT、Thansettakijから試算（BEV内の日系は1%→3%と仮定）。BEV比率の上昇にはピックアップ縮小による分母の減少も含む</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市場分析④　中国系は1車種依存、日系は複数車種で売る</a:t>
            </a:r>
            <a:endParaRPr lang="en-US" sz="2400" dirty="0"/>
          </a:p>
        </p:txBody>
      </p:sp>
      <p:sp>
        <p:nvSpPr>
          <p:cNvPr id="3" name="rowlab_47"/>
          <p:cNvSpPr/>
          <p:nvPr/>
        </p:nvSpPr>
        <p:spPr>
          <a:xfrm>
            <a:off x="411480" y="1097280"/>
            <a:ext cx="438912" cy="2240280"/>
          </a:xfrm>
          <a:prstGeom prst="rect">
            <a:avLst/>
          </a:prstGeom>
          <a:solidFill>
            <a:srgbClr val="E8604C"/>
          </a:solidFill>
          <a:ln>
            <a:solidFill>
              <a:srgbClr val="E8604C"/>
            </a:solidFill>
          </a:ln>
        </p:spPr>
        <p:txBody>
          <a:bodyPr wrap="square" lIns="0" tIns="0" rIns="0" bIns="0" rtlCol="0" anchor="ctr" vert="eaVert"/>
          <a:lstStyle/>
          <a:p>
            <a:pPr algn="ctr" indent="0" marL="0">
              <a:buNone/>
            </a:pPr>
            <a:r>
              <a:rPr lang="en-US" sz="1600" b="1" dirty="0">
                <a:solidFill>
                  <a:srgbClr val="FFFFFF"/>
                </a:solidFill>
                <a:latin typeface="Arial" pitchFamily="34" charset="0"/>
                <a:ea typeface="Arial" pitchFamily="34" charset="-122"/>
                <a:cs typeface="Arial" pitchFamily="34" charset="-120"/>
              </a:rPr>
              <a:t>中国系</a:t>
            </a:r>
            <a:endParaRPr lang="en-US" sz="1600" dirty="0"/>
          </a:p>
        </p:txBody>
      </p:sp>
      <p:sp>
        <p:nvSpPr>
          <p:cNvPr id="4" name="pc_48"/>
          <p:cNvSpPr/>
          <p:nvPr/>
        </p:nvSpPr>
        <p:spPr>
          <a:xfrm>
            <a:off x="978408"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1位　BYD（候補）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5" name="pc_49"/>
          <p:cNvSpPr/>
          <p:nvPr/>
        </p:nvSpPr>
        <p:spPr>
          <a:xfrm>
            <a:off x="3337560"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2位　Chery系（候補）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6" name="pc_50"/>
          <p:cNvSpPr/>
          <p:nvPr/>
        </p:nvSpPr>
        <p:spPr>
          <a:xfrm>
            <a:off x="5696712"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3位　MG（候補）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7" name="pc_51"/>
          <p:cNvSpPr/>
          <p:nvPr/>
        </p:nvSpPr>
        <p:spPr>
          <a:xfrm>
            <a:off x="8055864" y="109728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4位　GAC Aion（候補）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8" name="rowlab_52"/>
          <p:cNvSpPr/>
          <p:nvPr/>
        </p:nvSpPr>
        <p:spPr>
          <a:xfrm>
            <a:off x="411480" y="3474720"/>
            <a:ext cx="438912" cy="2240280"/>
          </a:xfrm>
          <a:prstGeom prst="rect">
            <a:avLst/>
          </a:prstGeom>
          <a:solidFill>
            <a:srgbClr val="4472C4"/>
          </a:solidFill>
          <a:ln>
            <a:solidFill>
              <a:srgbClr val="4472C4"/>
            </a:solidFill>
          </a:ln>
        </p:spPr>
        <p:txBody>
          <a:bodyPr wrap="square" lIns="0" tIns="0" rIns="0" bIns="0" rtlCol="0" anchor="ctr" vert="eaVert"/>
          <a:lstStyle/>
          <a:p>
            <a:pPr algn="ctr" indent="0" marL="0">
              <a:buNone/>
            </a:pPr>
            <a:r>
              <a:rPr lang="en-US" sz="1600" b="1" dirty="0">
                <a:solidFill>
                  <a:srgbClr val="FFFFFF"/>
                </a:solidFill>
                <a:latin typeface="Arial" pitchFamily="34" charset="0"/>
                <a:ea typeface="Arial" pitchFamily="34" charset="-122"/>
                <a:cs typeface="Arial" pitchFamily="34" charset="-120"/>
              </a:rPr>
              <a:t>日系</a:t>
            </a:r>
            <a:endParaRPr lang="en-US" sz="1600" dirty="0"/>
          </a:p>
        </p:txBody>
      </p:sp>
      <p:sp>
        <p:nvSpPr>
          <p:cNvPr id="9" name="pc_53"/>
          <p:cNvSpPr/>
          <p:nvPr/>
        </p:nvSpPr>
        <p:spPr>
          <a:xfrm>
            <a:off x="978408"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1位　Toyota（候補）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0" name="pc_54"/>
          <p:cNvSpPr/>
          <p:nvPr/>
        </p:nvSpPr>
        <p:spPr>
          <a:xfrm>
            <a:off x="3337560"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2位　Honda（候補）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1" name="pc_55"/>
          <p:cNvSpPr/>
          <p:nvPr/>
        </p:nvSpPr>
        <p:spPr>
          <a:xfrm>
            <a:off x="5696712"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3位　Isuzu（候補）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2" name="pc_56"/>
          <p:cNvSpPr/>
          <p:nvPr/>
        </p:nvSpPr>
        <p:spPr>
          <a:xfrm>
            <a:off x="8055864" y="3474720"/>
            <a:ext cx="2221992" cy="224028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4位　Mitsubishi（候補）</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車種別の月次販売</a:t>
            </a:r>
            <a:endParaRPr lang="en-US" sz="1000" dirty="0"/>
          </a:p>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（積み上げ面）</a:t>
            </a:r>
            <a:endParaRPr lang="en-US" sz="1000" dirty="0"/>
          </a:p>
        </p:txBody>
      </p:sp>
      <p:sp>
        <p:nvSpPr>
          <p:cNvPr id="13" name="summary_57"/>
          <p:cNvSpPr/>
          <p:nvPr/>
        </p:nvSpPr>
        <p:spPr>
          <a:xfrm>
            <a:off x="411480" y="5897880"/>
            <a:ext cx="986637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dirty="0">
                <a:solidFill>
                  <a:srgbClr val="333333"/>
                </a:solidFill>
                <a:latin typeface="Arial" pitchFamily="34" charset="0"/>
                <a:ea typeface="Arial" pitchFamily="34" charset="-122"/>
                <a:cs typeface="Arial" pitchFamily="34" charset="-120"/>
              </a:rPr>
              <a:t>BYDは複数車種で売るが、多くの中国系は主力1車種に頼る</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日系はトヨタを筆頭に複数車種で売る</a:t>
            </a:r>
            <a:endParaRPr lang="en-US" sz="1900" dirty="0"/>
          </a:p>
        </p:txBody>
      </p:sp>
      <p:sp>
        <p:nvSpPr>
          <p:cNvPr id="14" name="text_5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出典：MarkLines（社内）。企業名は2026年上半期のBEV・全体登録の上位からの候補</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仮説のロジックツリー</a:t>
            </a:r>
            <a:endParaRPr lang="en-US" sz="2400" dirty="0"/>
          </a:p>
        </p:txBody>
      </p:sp>
      <p:sp>
        <p:nvSpPr>
          <p:cNvPr id="3" name="node_59"/>
          <p:cNvSpPr/>
          <p:nvPr/>
        </p:nvSpPr>
        <p:spPr>
          <a:xfrm>
            <a:off x="411480"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①</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電池という</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分かりやすい</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指標</a:t>
            </a:r>
            <a:endParaRPr lang="en-US" sz="1500" dirty="0"/>
          </a:p>
        </p:txBody>
      </p:sp>
      <p:sp>
        <p:nvSpPr>
          <p:cNvPr id="4" name="shape_60"/>
          <p:cNvSpPr/>
          <p:nvPr/>
        </p:nvSpPr>
        <p:spPr>
          <a:xfrm>
            <a:off x="2127123" y="1545336"/>
            <a:ext cx="186538" cy="384048"/>
          </a:xfrm>
          <a:prstGeom prst="chevron">
            <a:avLst/>
          </a:prstGeom>
          <a:solidFill>
            <a:srgbClr val="3FB2AB"/>
          </a:solidFill>
          <a:ln w="12700">
            <a:solidFill>
              <a:srgbClr val="3FB2AB"/>
            </a:solidFill>
            <a:prstDash val="solid"/>
          </a:ln>
        </p:spPr>
      </p:sp>
      <p:sp>
        <p:nvSpPr>
          <p:cNvPr id="5" name="shape_61"/>
          <p:cNvSpPr/>
          <p:nvPr/>
        </p:nvSpPr>
        <p:spPr>
          <a:xfrm>
            <a:off x="2257699" y="1545336"/>
            <a:ext cx="186538" cy="384048"/>
          </a:xfrm>
          <a:prstGeom prst="chevron">
            <a:avLst/>
          </a:prstGeom>
          <a:solidFill>
            <a:srgbClr val="3FB2AB"/>
          </a:solidFill>
          <a:ln w="12700">
            <a:solidFill>
              <a:srgbClr val="3FB2AB"/>
            </a:solidFill>
            <a:prstDash val="solid"/>
          </a:ln>
        </p:spPr>
      </p:sp>
      <p:sp>
        <p:nvSpPr>
          <p:cNvPr id="6" name="node_62"/>
          <p:cNvSpPr/>
          <p:nvPr/>
        </p:nvSpPr>
        <p:spPr>
          <a:xfrm>
            <a:off x="2452878"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②</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中国車どうし</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の競争が激化</a:t>
            </a:r>
            <a:endParaRPr lang="en-US" sz="1500" dirty="0"/>
          </a:p>
        </p:txBody>
      </p:sp>
      <p:sp>
        <p:nvSpPr>
          <p:cNvPr id="7" name="shape_63"/>
          <p:cNvSpPr/>
          <p:nvPr/>
        </p:nvSpPr>
        <p:spPr>
          <a:xfrm>
            <a:off x="4168521" y="1545336"/>
            <a:ext cx="186538" cy="384048"/>
          </a:xfrm>
          <a:prstGeom prst="chevron">
            <a:avLst/>
          </a:prstGeom>
          <a:solidFill>
            <a:srgbClr val="3FB2AB"/>
          </a:solidFill>
          <a:ln w="12700">
            <a:solidFill>
              <a:srgbClr val="3FB2AB"/>
            </a:solidFill>
            <a:prstDash val="solid"/>
          </a:ln>
        </p:spPr>
      </p:sp>
      <p:sp>
        <p:nvSpPr>
          <p:cNvPr id="8" name="shape_64"/>
          <p:cNvSpPr/>
          <p:nvPr/>
        </p:nvSpPr>
        <p:spPr>
          <a:xfrm>
            <a:off x="4299097" y="1545336"/>
            <a:ext cx="186538" cy="384048"/>
          </a:xfrm>
          <a:prstGeom prst="chevron">
            <a:avLst/>
          </a:prstGeom>
          <a:solidFill>
            <a:srgbClr val="3FB2AB"/>
          </a:solidFill>
          <a:ln w="12700">
            <a:solidFill>
              <a:srgbClr val="3FB2AB"/>
            </a:solidFill>
            <a:prstDash val="solid"/>
          </a:ln>
        </p:spPr>
      </p:sp>
      <p:sp>
        <p:nvSpPr>
          <p:cNvPr id="9" name="node_65"/>
          <p:cNvSpPr/>
          <p:nvPr/>
        </p:nvSpPr>
        <p:spPr>
          <a:xfrm>
            <a:off x="4494276"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③</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電池の効率化・</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小型化が速い</a:t>
            </a:r>
            <a:endParaRPr lang="en-US" sz="1500" dirty="0"/>
          </a:p>
        </p:txBody>
      </p:sp>
      <p:sp>
        <p:nvSpPr>
          <p:cNvPr id="10" name="shape_66"/>
          <p:cNvSpPr/>
          <p:nvPr/>
        </p:nvSpPr>
        <p:spPr>
          <a:xfrm>
            <a:off x="6209919" y="1545336"/>
            <a:ext cx="186538" cy="384048"/>
          </a:xfrm>
          <a:prstGeom prst="chevron">
            <a:avLst/>
          </a:prstGeom>
          <a:solidFill>
            <a:srgbClr val="3FB2AB"/>
          </a:solidFill>
          <a:ln w="12700">
            <a:solidFill>
              <a:srgbClr val="3FB2AB"/>
            </a:solidFill>
            <a:prstDash val="solid"/>
          </a:ln>
        </p:spPr>
      </p:sp>
      <p:sp>
        <p:nvSpPr>
          <p:cNvPr id="11" name="shape_67"/>
          <p:cNvSpPr/>
          <p:nvPr/>
        </p:nvSpPr>
        <p:spPr>
          <a:xfrm>
            <a:off x="6340495" y="1545336"/>
            <a:ext cx="186538" cy="384048"/>
          </a:xfrm>
          <a:prstGeom prst="chevron">
            <a:avLst/>
          </a:prstGeom>
          <a:solidFill>
            <a:srgbClr val="3FB2AB"/>
          </a:solidFill>
          <a:ln w="12700">
            <a:solidFill>
              <a:srgbClr val="3FB2AB"/>
            </a:solidFill>
            <a:prstDash val="solid"/>
          </a:ln>
        </p:spPr>
      </p:sp>
      <p:sp>
        <p:nvSpPr>
          <p:cNvPr id="12" name="node_68"/>
          <p:cNvSpPr/>
          <p:nvPr/>
        </p:nvSpPr>
        <p:spPr>
          <a:xfrm>
            <a:off x="6535674"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④</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モデル</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チェンジが速い</a:t>
            </a:r>
            <a:endParaRPr lang="en-US" sz="1500" dirty="0"/>
          </a:p>
        </p:txBody>
      </p:sp>
      <p:sp>
        <p:nvSpPr>
          <p:cNvPr id="13" name="shape_69"/>
          <p:cNvSpPr/>
          <p:nvPr/>
        </p:nvSpPr>
        <p:spPr>
          <a:xfrm>
            <a:off x="8251317" y="1545336"/>
            <a:ext cx="186538" cy="384048"/>
          </a:xfrm>
          <a:prstGeom prst="chevron">
            <a:avLst/>
          </a:prstGeom>
          <a:solidFill>
            <a:srgbClr val="3FB2AB"/>
          </a:solidFill>
          <a:ln w="12700">
            <a:solidFill>
              <a:srgbClr val="3FB2AB"/>
            </a:solidFill>
            <a:prstDash val="solid"/>
          </a:ln>
        </p:spPr>
      </p:sp>
      <p:sp>
        <p:nvSpPr>
          <p:cNvPr id="14" name="shape_70"/>
          <p:cNvSpPr/>
          <p:nvPr/>
        </p:nvSpPr>
        <p:spPr>
          <a:xfrm>
            <a:off x="8381893" y="1545336"/>
            <a:ext cx="186538" cy="384048"/>
          </a:xfrm>
          <a:prstGeom prst="chevron">
            <a:avLst/>
          </a:prstGeom>
          <a:solidFill>
            <a:srgbClr val="3FB2AB"/>
          </a:solidFill>
          <a:ln w="12700">
            <a:solidFill>
              <a:srgbClr val="3FB2AB"/>
            </a:solidFill>
            <a:prstDash val="solid"/>
          </a:ln>
        </p:spPr>
      </p:sp>
      <p:sp>
        <p:nvSpPr>
          <p:cNvPr id="15" name="node_71"/>
          <p:cNvSpPr/>
          <p:nvPr/>
        </p:nvSpPr>
        <p:spPr>
          <a:xfrm>
            <a:off x="8577072" y="1143000"/>
            <a:ext cx="1700784" cy="1188720"/>
          </a:xfrm>
          <a:prstGeom prst="roundRect">
            <a:avLst>
              <a:gd name="adj" fmla="val 7692"/>
            </a:avLst>
          </a:prstGeom>
          <a:solidFill>
            <a:srgbClr val="EEF3FB"/>
          </a:solidFill>
          <a:ln w="19050">
            <a:solidFill>
              <a:srgbClr val="4472C4"/>
            </a:solidFill>
          </a:ln>
        </p:spPr>
        <p:txBody>
          <a:bodyPr wrap="square" lIns="50800" tIns="50800" rIns="50800" bIns="5080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⑤</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勝ち残りが</a:t>
            </a:r>
            <a:endParaRPr lang="en-US" sz="1500" dirty="0"/>
          </a:p>
          <a:p>
            <a:pPr algn="ctr" indent="0" marL="0">
              <a:buNone/>
            </a:pPr>
            <a:r>
              <a:rPr lang="en-US" sz="1500" b="1" dirty="0">
                <a:solidFill>
                  <a:srgbClr val="333333"/>
                </a:solidFill>
                <a:latin typeface="Arial" pitchFamily="34" charset="0"/>
                <a:ea typeface="Arial" pitchFamily="34" charset="-122"/>
                <a:cs typeface="Arial" pitchFamily="34" charset="-120"/>
              </a:rPr>
              <a:t>日本車と勝負</a:t>
            </a:r>
            <a:endParaRPr lang="en-US" sz="1500" dirty="0"/>
          </a:p>
        </p:txBody>
      </p:sp>
      <p:sp>
        <p:nvSpPr>
          <p:cNvPr id="16" name="node_72"/>
          <p:cNvSpPr/>
          <p:nvPr/>
        </p:nvSpPr>
        <p:spPr>
          <a:xfrm>
            <a:off x="411480" y="2971800"/>
            <a:ext cx="3742182"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⑥ </a:t>
            </a:r>
            <a:pPr algn="ctr" indent="0" marL="0">
              <a:buNone/>
            </a:pPr>
            <a:r>
              <a:rPr lang="en-US" sz="1500" dirty="0">
                <a:solidFill>
                  <a:srgbClr val="333333"/>
                </a:solidFill>
                <a:latin typeface="Arial" pitchFamily="34" charset="0"/>
                <a:ea typeface="Arial" pitchFamily="34" charset="-122"/>
                <a:cs typeface="Arial" pitchFamily="34" charset="-120"/>
              </a:rPr>
              <a:t>電池はスマホのように劣化</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 中古価格がICEより下がる</a:t>
            </a:r>
            <a:endParaRPr lang="en-US" sz="1500" dirty="0"/>
          </a:p>
        </p:txBody>
      </p:sp>
      <p:sp>
        <p:nvSpPr>
          <p:cNvPr id="17" name="node_73"/>
          <p:cNvSpPr/>
          <p:nvPr/>
        </p:nvSpPr>
        <p:spPr>
          <a:xfrm>
            <a:off x="4494276" y="2971800"/>
            <a:ext cx="3742182"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⑦ </a:t>
            </a:r>
            <a:pPr algn="ctr" indent="0" marL="0">
              <a:buNone/>
            </a:pPr>
            <a:r>
              <a:rPr lang="en-US" sz="1500" dirty="0">
                <a:solidFill>
                  <a:srgbClr val="333333"/>
                </a:solidFill>
                <a:latin typeface="Arial" pitchFamily="34" charset="0"/>
                <a:ea typeface="Arial" pitchFamily="34" charset="-122"/>
                <a:cs typeface="Arial" pitchFamily="34" charset="-120"/>
              </a:rPr>
              <a:t>1世代前の車の値段が下がる</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 1車種依存の企業は弱い</a:t>
            </a:r>
            <a:endParaRPr lang="en-US" sz="1500" dirty="0"/>
          </a:p>
        </p:txBody>
      </p:sp>
      <p:sp>
        <p:nvSpPr>
          <p:cNvPr id="18" name="node_74"/>
          <p:cNvSpPr/>
          <p:nvPr/>
        </p:nvSpPr>
        <p:spPr>
          <a:xfrm>
            <a:off x="8577072" y="2971800"/>
            <a:ext cx="1700784" cy="1325880"/>
          </a:xfrm>
          <a:prstGeom prst="roundRect">
            <a:avLst>
              <a:gd name="adj" fmla="val 6897"/>
            </a:avLst>
          </a:prstGeom>
          <a:solidFill>
            <a:srgbClr val="FFFFFF"/>
          </a:solidFill>
          <a:ln w="19050">
            <a:solidFill>
              <a:srgbClr val="E8384F"/>
            </a:solidFill>
          </a:ln>
        </p:spPr>
        <p:txBody>
          <a:bodyPr wrap="square" lIns="50800" tIns="50800" rIns="50800" bIns="5080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⑧ </a:t>
            </a:r>
            <a:pPr algn="ctr" indent="0" marL="0">
              <a:buNone/>
            </a:pPr>
            <a:r>
              <a:rPr lang="en-US" sz="1500" dirty="0">
                <a:solidFill>
                  <a:srgbClr val="333333"/>
                </a:solidFill>
                <a:latin typeface="Arial" pitchFamily="34" charset="0"/>
                <a:ea typeface="Arial" pitchFamily="34" charset="-122"/>
                <a:cs typeface="Arial" pitchFamily="34" charset="-120"/>
              </a:rPr>
              <a:t>日系ICEより</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安く燃費の</a:t>
            </a:r>
            <a:endParaRPr lang="en-US" sz="1500" dirty="0"/>
          </a:p>
          <a:p>
            <a:pPr algn="ctr" indent="0" marL="0">
              <a:buNone/>
            </a:pPr>
            <a:r>
              <a:rPr lang="en-US" sz="1500" dirty="0">
                <a:solidFill>
                  <a:srgbClr val="333333"/>
                </a:solidFill>
                <a:latin typeface="Arial" pitchFamily="34" charset="0"/>
                <a:ea typeface="Arial" pitchFamily="34" charset="-122"/>
                <a:cs typeface="Arial" pitchFamily="34" charset="-120"/>
              </a:rPr>
              <a:t>良い車に</a:t>
            </a:r>
            <a:endParaRPr lang="en-US" sz="1500" dirty="0"/>
          </a:p>
        </p:txBody>
      </p:sp>
      <p:sp>
        <p:nvSpPr>
          <p:cNvPr id="19" name="shape_75"/>
          <p:cNvSpPr/>
          <p:nvPr/>
        </p:nvSpPr>
        <p:spPr>
          <a:xfrm>
            <a:off x="1261872" y="2331720"/>
            <a:ext cx="0" cy="640080"/>
          </a:xfrm>
          <a:prstGeom prst="line">
            <a:avLst/>
          </a:prstGeom>
          <a:noFill/>
          <a:ln w="19050">
            <a:solidFill>
              <a:srgbClr val="A6A6A6"/>
            </a:solidFill>
            <a:prstDash val="solid"/>
            <a:tailEnd type="triangle"/>
          </a:ln>
        </p:spPr>
      </p:sp>
      <p:sp>
        <p:nvSpPr>
          <p:cNvPr id="20" name="shape_76"/>
          <p:cNvSpPr/>
          <p:nvPr/>
        </p:nvSpPr>
        <p:spPr>
          <a:xfrm>
            <a:off x="7386066" y="2331720"/>
            <a:ext cx="0" cy="640080"/>
          </a:xfrm>
          <a:prstGeom prst="line">
            <a:avLst/>
          </a:prstGeom>
          <a:noFill/>
          <a:ln w="19050">
            <a:solidFill>
              <a:srgbClr val="A6A6A6"/>
            </a:solidFill>
            <a:prstDash val="solid"/>
            <a:tailEnd type="triangle"/>
          </a:ln>
        </p:spPr>
      </p:sp>
      <p:sp>
        <p:nvSpPr>
          <p:cNvPr id="21" name="shape_77"/>
          <p:cNvSpPr/>
          <p:nvPr/>
        </p:nvSpPr>
        <p:spPr>
          <a:xfrm>
            <a:off x="9427464" y="2331720"/>
            <a:ext cx="0" cy="640080"/>
          </a:xfrm>
          <a:prstGeom prst="line">
            <a:avLst/>
          </a:prstGeom>
          <a:noFill/>
          <a:ln w="19050">
            <a:solidFill>
              <a:srgbClr val="A6A6A6"/>
            </a:solidFill>
            <a:prstDash val="solid"/>
            <a:tailEnd type="triangle"/>
          </a:ln>
        </p:spPr>
      </p:sp>
      <p:sp>
        <p:nvSpPr>
          <p:cNvPr id="22" name="shape_78"/>
          <p:cNvSpPr/>
          <p:nvPr/>
        </p:nvSpPr>
        <p:spPr>
          <a:xfrm>
            <a:off x="411480" y="4709160"/>
            <a:ext cx="9866376" cy="1234440"/>
          </a:xfrm>
          <a:prstGeom prst="roundRect">
            <a:avLst>
              <a:gd name="adj" fmla="val 8889"/>
            </a:avLst>
          </a:prstGeom>
          <a:solidFill>
            <a:srgbClr val="FFFFFF"/>
          </a:solidFill>
          <a:ln w="22225">
            <a:solidFill>
              <a:srgbClr val="4472C4"/>
            </a:solidFill>
            <a:prstDash val="solid"/>
          </a:ln>
        </p:spPr>
      </p:sp>
      <p:sp>
        <p:nvSpPr>
          <p:cNvPr id="23" name="fslabel_79"/>
          <p:cNvSpPr/>
          <p:nvPr/>
        </p:nvSpPr>
        <p:spPr>
          <a:xfrm>
            <a:off x="3626612" y="4562856"/>
            <a:ext cx="3436112" cy="292608"/>
          </a:xfrm>
          <a:prstGeom prst="rect">
            <a:avLst/>
          </a:prstGeom>
          <a:solidFill>
            <a:srgbClr val="FFFFFF"/>
          </a:solidFill>
          <a:ln/>
        </p:spPr>
        <p:txBody>
          <a:bodyPr wrap="square" lIns="0" tIns="0" rIns="0" bIns="0" rtlCol="0" anchor="ctr"/>
          <a:lstStyle/>
          <a:p>
            <a:pPr algn="ctr" indent="0" marL="0">
              <a:buNone/>
            </a:pPr>
            <a:r>
              <a:rPr lang="en-US" sz="1600" b="1" dirty="0">
                <a:solidFill>
                  <a:srgbClr val="4472C4"/>
                </a:solidFill>
                <a:latin typeface="Arial" pitchFamily="34" charset="0"/>
                <a:ea typeface="Arial" pitchFamily="34" charset="-122"/>
                <a:cs typeface="Arial" pitchFamily="34" charset="-120"/>
              </a:rPr>
              <a:t>⑨ 日本車との勝負の観点（複数）</a:t>
            </a:r>
            <a:endParaRPr lang="en-US" sz="1600" dirty="0"/>
          </a:p>
        </p:txBody>
      </p:sp>
      <p:sp>
        <p:nvSpPr>
          <p:cNvPr id="24" name="item_80"/>
          <p:cNvSpPr/>
          <p:nvPr/>
        </p:nvSpPr>
        <p:spPr>
          <a:xfrm>
            <a:off x="685800"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政策支援</a:t>
            </a:r>
            <a:endParaRPr lang="en-US" sz="1700" dirty="0"/>
          </a:p>
        </p:txBody>
      </p:sp>
      <p:sp>
        <p:nvSpPr>
          <p:cNvPr id="25" name="shape_81"/>
          <p:cNvSpPr/>
          <p:nvPr/>
        </p:nvSpPr>
        <p:spPr>
          <a:xfrm>
            <a:off x="2619756" y="5148072"/>
            <a:ext cx="457200" cy="457200"/>
          </a:xfrm>
          <a:prstGeom prst="mathMultiply">
            <a:avLst/>
          </a:prstGeom>
          <a:solidFill>
            <a:srgbClr val="3FB2AB"/>
          </a:solidFill>
          <a:ln w="12700">
            <a:solidFill>
              <a:srgbClr val="3FB2AB"/>
            </a:solidFill>
            <a:prstDash val="solid"/>
          </a:ln>
        </p:spPr>
      </p:sp>
      <p:sp>
        <p:nvSpPr>
          <p:cNvPr id="26" name="item_82"/>
          <p:cNvSpPr/>
          <p:nvPr/>
        </p:nvSpPr>
        <p:spPr>
          <a:xfrm>
            <a:off x="3182112"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供給力</a:t>
            </a:r>
            <a:endParaRPr lang="en-US" sz="1700" dirty="0"/>
          </a:p>
        </p:txBody>
      </p:sp>
      <p:sp>
        <p:nvSpPr>
          <p:cNvPr id="27" name="shape_83"/>
          <p:cNvSpPr/>
          <p:nvPr/>
        </p:nvSpPr>
        <p:spPr>
          <a:xfrm>
            <a:off x="5116068" y="5148072"/>
            <a:ext cx="457200" cy="457200"/>
          </a:xfrm>
          <a:prstGeom prst="mathMultiply">
            <a:avLst/>
          </a:prstGeom>
          <a:solidFill>
            <a:srgbClr val="3FB2AB"/>
          </a:solidFill>
          <a:ln w="12700">
            <a:solidFill>
              <a:srgbClr val="3FB2AB"/>
            </a:solidFill>
            <a:prstDash val="solid"/>
          </a:ln>
        </p:spPr>
      </p:sp>
      <p:sp>
        <p:nvSpPr>
          <p:cNvPr id="28" name="item_84"/>
          <p:cNvSpPr/>
          <p:nvPr/>
        </p:nvSpPr>
        <p:spPr>
          <a:xfrm>
            <a:off x="5678424"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価格競争</a:t>
            </a:r>
            <a:endParaRPr lang="en-US" sz="1700" dirty="0"/>
          </a:p>
        </p:txBody>
      </p:sp>
      <p:sp>
        <p:nvSpPr>
          <p:cNvPr id="29" name="shape_85"/>
          <p:cNvSpPr/>
          <p:nvPr/>
        </p:nvSpPr>
        <p:spPr>
          <a:xfrm>
            <a:off x="7612380" y="5148072"/>
            <a:ext cx="457200" cy="457200"/>
          </a:xfrm>
          <a:prstGeom prst="mathMultiply">
            <a:avLst/>
          </a:prstGeom>
          <a:solidFill>
            <a:srgbClr val="3FB2AB"/>
          </a:solidFill>
          <a:ln w="12700">
            <a:solidFill>
              <a:srgbClr val="3FB2AB"/>
            </a:solidFill>
            <a:prstDash val="solid"/>
          </a:ln>
        </p:spPr>
      </p:sp>
      <p:sp>
        <p:nvSpPr>
          <p:cNvPr id="30" name="item_86"/>
          <p:cNvSpPr/>
          <p:nvPr/>
        </p:nvSpPr>
        <p:spPr>
          <a:xfrm>
            <a:off x="8174736" y="5056632"/>
            <a:ext cx="1828800" cy="640080"/>
          </a:xfrm>
          <a:prstGeom prst="roundRect">
            <a:avLst>
              <a:gd name="adj" fmla="val 11429"/>
            </a:avLst>
          </a:prstGeom>
          <a:solidFill>
            <a:srgbClr val="F2F2F2"/>
          </a:solidFill>
          <a:ln>
            <a:solidFill>
              <a:srgbClr val="F2F2F2"/>
            </a:solidFill>
          </a:ln>
        </p:spPr>
        <p:txBody>
          <a:bodyPr wrap="square" lIns="0" tIns="0" rIns="0" bIns="0" rtlCol="0" anchor="ctr"/>
          <a:lstStyle/>
          <a:p>
            <a:pPr algn="ctr" indent="0" marL="0">
              <a:buNone/>
            </a:pPr>
            <a:r>
              <a:rPr lang="en-US" sz="1700" b="1" dirty="0">
                <a:solidFill>
                  <a:srgbClr val="333333"/>
                </a:solidFill>
                <a:latin typeface="Arial" pitchFamily="34" charset="0"/>
                <a:ea typeface="Arial" pitchFamily="34" charset="-122"/>
                <a:cs typeface="Arial" pitchFamily="34" charset="-120"/>
              </a:rPr>
              <a:t>ヒット車種の数</a:t>
            </a:r>
            <a:endParaRPr lang="en-US" sz="1700" dirty="0"/>
          </a:p>
        </p:txBody>
      </p:sp>
      <p:sp>
        <p:nvSpPr>
          <p:cNvPr id="31" name="shape_87"/>
          <p:cNvSpPr/>
          <p:nvPr/>
        </p:nvSpPr>
        <p:spPr>
          <a:xfrm>
            <a:off x="2282571" y="4297680"/>
            <a:ext cx="0" cy="274320"/>
          </a:xfrm>
          <a:prstGeom prst="line">
            <a:avLst/>
          </a:prstGeom>
          <a:noFill/>
          <a:ln w="19050">
            <a:solidFill>
              <a:srgbClr val="A6A6A6"/>
            </a:solidFill>
            <a:prstDash val="solid"/>
            <a:tailEnd type="triangle"/>
          </a:ln>
        </p:spPr>
      </p:sp>
      <p:sp>
        <p:nvSpPr>
          <p:cNvPr id="32" name="shape_88"/>
          <p:cNvSpPr/>
          <p:nvPr/>
        </p:nvSpPr>
        <p:spPr>
          <a:xfrm>
            <a:off x="6365367" y="4297680"/>
            <a:ext cx="0" cy="274320"/>
          </a:xfrm>
          <a:prstGeom prst="line">
            <a:avLst/>
          </a:prstGeom>
          <a:noFill/>
          <a:ln w="19050">
            <a:solidFill>
              <a:srgbClr val="A6A6A6"/>
            </a:solidFill>
            <a:prstDash val="solid"/>
            <a:tailEnd type="triangle"/>
          </a:ln>
        </p:spPr>
      </p:sp>
      <p:sp>
        <p:nvSpPr>
          <p:cNvPr id="33" name="shape_89"/>
          <p:cNvSpPr/>
          <p:nvPr/>
        </p:nvSpPr>
        <p:spPr>
          <a:xfrm>
            <a:off x="9427464" y="4297680"/>
            <a:ext cx="0" cy="274320"/>
          </a:xfrm>
          <a:prstGeom prst="line">
            <a:avLst/>
          </a:prstGeom>
          <a:noFill/>
          <a:ln w="19050">
            <a:solidFill>
              <a:srgbClr val="A6A6A6"/>
            </a:solidFill>
            <a:prstDash val="solid"/>
            <a:tailEnd type="triangle"/>
          </a:ln>
        </p:spPr>
      </p:sp>
      <p:sp>
        <p:nvSpPr>
          <p:cNvPr id="34" name="htag_90"/>
          <p:cNvSpPr/>
          <p:nvPr/>
        </p:nvSpPr>
        <p:spPr>
          <a:xfrm>
            <a:off x="7870698" y="9784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H1</a:t>
            </a:r>
            <a:endParaRPr lang="en-US" sz="1200" dirty="0"/>
          </a:p>
        </p:txBody>
      </p:sp>
      <p:sp>
        <p:nvSpPr>
          <p:cNvPr id="35" name="htag_91"/>
          <p:cNvSpPr/>
          <p:nvPr/>
        </p:nvSpPr>
        <p:spPr>
          <a:xfrm>
            <a:off x="3787902"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H2</a:t>
            </a:r>
            <a:endParaRPr lang="en-US" sz="1200" dirty="0"/>
          </a:p>
        </p:txBody>
      </p:sp>
      <p:sp>
        <p:nvSpPr>
          <p:cNvPr id="36" name="htag_92"/>
          <p:cNvSpPr/>
          <p:nvPr/>
        </p:nvSpPr>
        <p:spPr>
          <a:xfrm>
            <a:off x="7870698"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H5</a:t>
            </a:r>
            <a:endParaRPr lang="en-US" sz="1200" dirty="0"/>
          </a:p>
        </p:txBody>
      </p:sp>
      <p:sp>
        <p:nvSpPr>
          <p:cNvPr id="37" name="htag_93"/>
          <p:cNvSpPr/>
          <p:nvPr/>
        </p:nvSpPr>
        <p:spPr>
          <a:xfrm>
            <a:off x="9912096" y="2807208"/>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H3</a:t>
            </a:r>
            <a:endParaRPr lang="en-US" sz="1200" dirty="0"/>
          </a:p>
        </p:txBody>
      </p:sp>
      <p:sp>
        <p:nvSpPr>
          <p:cNvPr id="38" name="htag_94"/>
          <p:cNvSpPr/>
          <p:nvPr/>
        </p:nvSpPr>
        <p:spPr>
          <a:xfrm>
            <a:off x="502920" y="4471416"/>
            <a:ext cx="475488" cy="475488"/>
          </a:xfrm>
          <a:prstGeom prst="ellipse">
            <a:avLst/>
          </a:prstGeom>
          <a:solidFill>
            <a:srgbClr val="4472C4"/>
          </a:solidFill>
          <a:ln w="19050">
            <a:solidFill>
              <a:srgbClr val="FFFFFF"/>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H4</a:t>
            </a:r>
            <a:endParaRPr lang="en-US" sz="1200" dirty="0"/>
          </a:p>
        </p:txBody>
      </p:sp>
      <p:sp>
        <p:nvSpPr>
          <p:cNvPr id="39" name="summary_95"/>
          <p:cNvSpPr/>
          <p:nvPr/>
        </p:nvSpPr>
        <p:spPr>
          <a:xfrm>
            <a:off x="411480" y="6263640"/>
            <a:ext cx="9866376" cy="685800"/>
          </a:xfrm>
          <a:prstGeom prst="roundRect">
            <a:avLst>
              <a:gd name="adj" fmla="val 1333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仮説：電池の進化が速いから、モデルチェンジが速く、それが中国系のシェア拡大を生んだ</a:t>
            </a:r>
            <a:endParaRPr lang="en-US" sz="17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仮説のマトリクス　正面からぶつかる場所は少ない</a:t>
            </a:r>
            <a:endParaRPr lang="en-US" sz="2400" dirty="0"/>
          </a:p>
        </p:txBody>
      </p:sp>
      <p:graphicFrame>
        <p:nvGraphicFramePr>
          <p:cNvPr id="9" name="table_96"/>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051560"/>
                <a:gridCol w="2926080"/>
                <a:gridCol w="2962656"/>
                <a:gridCol w="2926080"/>
              </a:tblGrid>
              <a:tr h="457200">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A/Bセグメント（小型）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C・SUV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D以上・PPV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91440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BEV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Dolphin、Atto 1、MG4</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日系：なし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Atto 3、Deepal S07、Omoda C5 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日系：bZ4X（少量）</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Seal、Sealion 7、XPeng G6</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日系：なし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DEEEA"/>
                    </a:solidFill>
                  </a:tcPr>
                </a:tc>
              </a:tr>
              <a:tr h="77724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PHEV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FFF"/>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Sealion 6 DM-i、Haval H6 PHEV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Outlander PHEV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91440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HEV</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MG3 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Yaris Ativ HEV、City e:HEV、Kicks</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Haval H6 HEV、Jolion HEV</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Corolla Cross HEV、HR-V e:HEV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Camry HEV、Accord e:HEV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AF0FB"/>
                    </a:solidFill>
                  </a:tcPr>
                </a:tc>
              </a:tr>
              <a:tr h="777240">
                <a:tc>
                  <a:txBody>
                    <a:bodyPr/>
                    <a:lstStyle/>
                    <a:p>
                      <a:pPr algn="ctr" indent="0" marL="0">
                        <a:buNone/>
                      </a:pPr>
                      <a:r>
                        <a:rPr lang="en-US" sz="1600" b="1" dirty="0">
                          <a:solidFill>
                            <a:srgbClr val="333333"/>
                          </a:solidFill>
                          <a:latin typeface="Arial" pitchFamily="34" charset="0"/>
                          <a:ea typeface="Arial" pitchFamily="34" charset="-122"/>
                          <a:cs typeface="Arial" pitchFamily="34" charset="-120"/>
                        </a:rPr>
                        <a:t>ICE</a:t>
                      </a:r>
                      <a:endParaRPr lang="en-US" sz="16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FFF"/>
                    </a:solidFill>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MG5</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Yaris Ativ、City、Almera</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MG ZS</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CX-30、CX-5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b="1" dirty="0">
                          <a:solidFill>
                            <a:srgbClr val="E8604C"/>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p>
                      <a:pPr indent="0" marL="0">
                        <a:buNone/>
                      </a:pPr>
                      <a:r>
                        <a:rPr lang="en-US" sz="1400" b="1" dirty="0">
                          <a:solidFill>
                            <a:srgbClr val="4472C4"/>
                          </a:solidFill>
                          <a:latin typeface="Arial" pitchFamily="34" charset="0"/>
                          <a:ea typeface="Arial" pitchFamily="34" charset="-122"/>
                          <a:cs typeface="Arial" pitchFamily="34" charset="-120"/>
                        </a:rPr>
                        <a:t>Fortuner、Pajero Sport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97"/>
          <p:cNvSpPr/>
          <p:nvPr/>
        </p:nvSpPr>
        <p:spPr>
          <a:xfrm>
            <a:off x="411480" y="1097280"/>
            <a:ext cx="9866376" cy="3840480"/>
          </a:xfrm>
          <a:prstGeom prst="rect">
            <a:avLst/>
          </a:prstGeom>
          <a:ln w="25400">
            <a:solidFill>
              <a:srgbClr val="4472C4"/>
            </a:solidFill>
            <a:prstDash val="solid"/>
          </a:ln>
        </p:spPr>
      </p:sp>
      <p:sp>
        <p:nvSpPr>
          <p:cNvPr id="5" name="shape_98"/>
          <p:cNvSpPr/>
          <p:nvPr/>
        </p:nvSpPr>
        <p:spPr>
          <a:xfrm>
            <a:off x="411480" y="5084064"/>
            <a:ext cx="182880" cy="182880"/>
          </a:xfrm>
          <a:prstGeom prst="rect">
            <a:avLst/>
          </a:prstGeom>
          <a:solidFill>
            <a:srgbClr val="E8604C"/>
          </a:solidFill>
          <a:ln w="12700">
            <a:solidFill>
              <a:srgbClr val="E8604C"/>
            </a:solidFill>
            <a:prstDash val="solid"/>
          </a:ln>
        </p:spPr>
      </p:sp>
      <p:sp>
        <p:nvSpPr>
          <p:cNvPr id="6" name="text_99"/>
          <p:cNvSpPr txBox="1"/>
          <p:nvPr/>
        </p:nvSpPr>
        <p:spPr>
          <a:xfrm>
            <a:off x="658368" y="5010912"/>
            <a:ext cx="5867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中国系</a:t>
            </a:r>
            <a:endParaRPr lang="en-US" sz="1300" dirty="0"/>
          </a:p>
        </p:txBody>
      </p:sp>
      <p:sp>
        <p:nvSpPr>
          <p:cNvPr id="7" name="shape_100"/>
          <p:cNvSpPr/>
          <p:nvPr/>
        </p:nvSpPr>
        <p:spPr>
          <a:xfrm>
            <a:off x="1473708" y="5084064"/>
            <a:ext cx="182880" cy="182880"/>
          </a:xfrm>
          <a:prstGeom prst="rect">
            <a:avLst/>
          </a:prstGeom>
          <a:solidFill>
            <a:srgbClr val="4472C4"/>
          </a:solidFill>
          <a:ln w="12700">
            <a:solidFill>
              <a:srgbClr val="4472C4"/>
            </a:solidFill>
            <a:prstDash val="solid"/>
          </a:ln>
        </p:spPr>
      </p:sp>
      <p:sp>
        <p:nvSpPr>
          <p:cNvPr id="8" name="text_101"/>
          <p:cNvSpPr txBox="1"/>
          <p:nvPr/>
        </p:nvSpPr>
        <p:spPr>
          <a:xfrm>
            <a:off x="1720596" y="5010912"/>
            <a:ext cx="4216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日系</a:t>
            </a:r>
            <a:endParaRPr lang="en-US" sz="1300" dirty="0"/>
          </a:p>
        </p:txBody>
      </p:sp>
      <p:sp>
        <p:nvSpPr>
          <p:cNvPr id="9" name="text_102"/>
          <p:cNvSpPr txBox="1"/>
          <p:nvPr/>
        </p:nvSpPr>
        <p:spPr>
          <a:xfrm>
            <a:off x="3017520" y="5010912"/>
            <a:ext cx="7260336" cy="329184"/>
          </a:xfrm>
          <a:prstGeom prst="rect">
            <a:avLst/>
          </a:prstGeom>
          <a:noFill/>
          <a:ln/>
        </p:spPr>
        <p:txBody>
          <a:bodyPr wrap="square" lIns="0" tIns="0" rIns="0" bIns="0" rtlCol="0" anchor="ctr"/>
          <a:lstStyle/>
          <a:p>
            <a:pPr algn="r" indent="0" marL="0">
              <a:buNone/>
            </a:pPr>
            <a:r>
              <a:rPr lang="en-US" sz="1300" dirty="0">
                <a:solidFill>
                  <a:srgbClr val="6B6B6B"/>
                </a:solidFill>
                <a:latin typeface="Arial" pitchFamily="34" charset="0"/>
                <a:ea typeface="Arial" pitchFamily="34" charset="-122"/>
                <a:cs typeface="Arial" pitchFamily="34" charset="-120"/>
              </a:rPr>
              <a:t>ピックアップは対象外（日系91%。与信の引き締めで縮小）</a:t>
            </a:r>
            <a:endParaRPr lang="en-US" sz="1300" dirty="0"/>
          </a:p>
        </p:txBody>
      </p:sp>
      <p:sp>
        <p:nvSpPr>
          <p:cNvPr id="10" name="shape_103"/>
          <p:cNvSpPr/>
          <p:nvPr/>
        </p:nvSpPr>
        <p:spPr>
          <a:xfrm>
            <a:off x="411480" y="5623560"/>
            <a:ext cx="4796028" cy="1280160"/>
          </a:xfrm>
          <a:prstGeom prst="roundRect">
            <a:avLst>
              <a:gd name="adj" fmla="val 8571"/>
            </a:avLst>
          </a:prstGeom>
          <a:solidFill>
            <a:srgbClr val="FFFFFF"/>
          </a:solidFill>
          <a:ln w="22225">
            <a:solidFill>
              <a:srgbClr val="E8604C"/>
            </a:solidFill>
            <a:prstDash val="solid"/>
          </a:ln>
        </p:spPr>
      </p:sp>
      <p:sp>
        <p:nvSpPr>
          <p:cNvPr id="11" name="fslabel_104"/>
          <p:cNvSpPr/>
          <p:nvPr/>
        </p:nvSpPr>
        <p:spPr>
          <a:xfrm>
            <a:off x="2321814" y="5486400"/>
            <a:ext cx="97536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604C"/>
                </a:solidFill>
                <a:latin typeface="Arial" pitchFamily="34" charset="0"/>
                <a:ea typeface="Arial" pitchFamily="34" charset="-122"/>
                <a:cs typeface="Arial" pitchFamily="34" charset="-120"/>
              </a:rPr>
              <a:t>BEVの行</a:t>
            </a:r>
            <a:endParaRPr lang="en-US" sz="1500" dirty="0"/>
          </a:p>
        </p:txBody>
      </p:sp>
      <p:sp>
        <p:nvSpPr>
          <p:cNvPr id="12" name="text_105"/>
          <p:cNvSpPr txBox="1"/>
          <p:nvPr/>
        </p:nvSpPr>
        <p:spPr>
          <a:xfrm>
            <a:off x="640080" y="5852160"/>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中国系だけが競う。モデルチェンジの速さが効くのはここ</a:t>
            </a:r>
            <a:endParaRPr lang="en-US" sz="1600" dirty="0"/>
          </a:p>
        </p:txBody>
      </p:sp>
      <p:sp>
        <p:nvSpPr>
          <p:cNvPr id="13" name="shape_106"/>
          <p:cNvSpPr/>
          <p:nvPr/>
        </p:nvSpPr>
        <p:spPr>
          <a:xfrm>
            <a:off x="5481828" y="5623560"/>
            <a:ext cx="4796028" cy="1280160"/>
          </a:xfrm>
          <a:prstGeom prst="roundRect">
            <a:avLst>
              <a:gd name="adj" fmla="val 8571"/>
            </a:avLst>
          </a:prstGeom>
          <a:solidFill>
            <a:srgbClr val="FFFFFF"/>
          </a:solidFill>
          <a:ln w="22225">
            <a:solidFill>
              <a:srgbClr val="4472C4"/>
            </a:solidFill>
            <a:prstDash val="solid"/>
          </a:ln>
        </p:spPr>
      </p:sp>
      <p:sp>
        <p:nvSpPr>
          <p:cNvPr id="14" name="fslabel_107"/>
          <p:cNvSpPr/>
          <p:nvPr/>
        </p:nvSpPr>
        <p:spPr>
          <a:xfrm>
            <a:off x="7136892" y="5486400"/>
            <a:ext cx="148590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HEV・ICEの行</a:t>
            </a:r>
            <a:endParaRPr lang="en-US" sz="1500" dirty="0"/>
          </a:p>
        </p:txBody>
      </p:sp>
      <p:sp>
        <p:nvSpPr>
          <p:cNvPr id="15" name="text_108"/>
          <p:cNvSpPr txBox="1"/>
          <p:nvPr/>
        </p:nvSpPr>
        <p:spPr>
          <a:xfrm>
            <a:off x="5710428" y="5852160"/>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日系が大半。中国系はHEVで少しずつ参入</a:t>
            </a:r>
            <a:endParaRPr lang="en-US" sz="1600" dirty="0"/>
          </a:p>
        </p:txBody>
      </p:sp>
      <p:sp>
        <p:nvSpPr>
          <p:cNvPr id="16" name="text_10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出典：各社のタイ公式サイト（2026年10月）。各セルの台数・シェアは社内PC（MarkLines）で追記</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検証①　改良は速いが、電池の「持ち」は伸びていない</a:t>
            </a:r>
            <a:endParaRPr lang="en-US" sz="2400" dirty="0"/>
          </a:p>
        </p:txBody>
      </p:sp>
      <p:sp>
        <p:nvSpPr>
          <p:cNvPr id="3" name="hid_110"/>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H1</a:t>
            </a:r>
            <a:endParaRPr lang="en-US" sz="1300" dirty="0"/>
          </a:p>
        </p:txBody>
      </p:sp>
      <p:sp>
        <p:nvSpPr>
          <p:cNvPr id="4" name="text_111"/>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モデルチェンジが速く、中身は電池の持ちの向上</a:t>
            </a:r>
            <a:endParaRPr lang="en-US" sz="1700" dirty="0"/>
          </a:p>
        </p:txBody>
      </p:sp>
      <p:sp>
        <p:nvSpPr>
          <p:cNvPr id="5" name="text_112"/>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13"/>
          <p:cNvSpPr/>
          <p:nvPr/>
        </p:nvSpPr>
        <p:spPr>
          <a:xfrm>
            <a:off x="8997696" y="1024128"/>
            <a:ext cx="1234440" cy="384048"/>
          </a:xfrm>
          <a:prstGeom prst="roundRect">
            <a:avLst>
              <a:gd name="adj" fmla="val 19048"/>
            </a:avLst>
          </a:prstGeom>
          <a:solidFill>
            <a:srgbClr val="D98E04"/>
          </a:solidFill>
          <a:ln>
            <a:solidFill>
              <a:srgbClr val="D98E04"/>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一部支持</a:t>
            </a:r>
            <a:endParaRPr lang="en-US" sz="1500" dirty="0"/>
          </a:p>
        </p:txBody>
      </p:sp>
      <p:graphicFrame>
        <p:nvGraphicFramePr>
          <p:cNvPr id="7" name="chart_batt" descr=""/>
          <p:cNvGraphicFramePr/>
          <p:nvPr/>
        </p:nvGraphicFramePr>
        <p:xfrm>
          <a:off x="411480" y="160020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8" name="shape_114"/>
          <p:cNvSpPr/>
          <p:nvPr/>
        </p:nvSpPr>
        <p:spPr>
          <a:xfrm>
            <a:off x="6263640" y="1600200"/>
            <a:ext cx="4014216" cy="3429000"/>
          </a:xfrm>
          <a:prstGeom prst="roundRect">
            <a:avLst>
              <a:gd name="adj" fmla="val 2667"/>
            </a:avLst>
          </a:prstGeom>
          <a:solidFill>
            <a:srgbClr val="EEF3FB"/>
          </a:solidFill>
          <a:ln w="15875">
            <a:solidFill>
              <a:srgbClr val="4472C4"/>
            </a:solidFill>
            <a:prstDash val="solid"/>
          </a:ln>
        </p:spPr>
      </p:sp>
      <p:sp>
        <p:nvSpPr>
          <p:cNvPr id="9" name="tab_115"/>
          <p:cNvSpPr/>
          <p:nvPr/>
        </p:nvSpPr>
        <p:spPr>
          <a:xfrm>
            <a:off x="6373368" y="1691640"/>
            <a:ext cx="1561592"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中国系 vs 日系</a:t>
            </a:r>
            <a:endParaRPr lang="en-US" sz="1400" dirty="0"/>
          </a:p>
        </p:txBody>
      </p:sp>
      <p:sp>
        <p:nvSpPr>
          <p:cNvPr id="10" name="text_116"/>
          <p:cNvSpPr txBox="1"/>
          <p:nvPr/>
        </p:nvSpPr>
        <p:spPr>
          <a:xfrm>
            <a:off x="6492240" y="2148840"/>
            <a:ext cx="355701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2.0年 vs 3.3年</a:t>
            </a:r>
            <a:endParaRPr lang="en-US" sz="2600" dirty="0"/>
          </a:p>
        </p:txBody>
      </p:sp>
      <p:sp>
        <p:nvSpPr>
          <p:cNvPr id="11" name="text_117"/>
          <p:cNvSpPr txBox="1"/>
          <p:nvPr/>
        </p:nvSpPr>
        <p:spPr>
          <a:xfrm>
            <a:off x="6492240" y="257810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部分改良の間隔（価格だけの変更は除く）</a:t>
            </a:r>
            <a:endParaRPr lang="en-US" sz="1400" dirty="0"/>
          </a:p>
        </p:txBody>
      </p:sp>
      <p:sp>
        <p:nvSpPr>
          <p:cNvPr id="12" name="text_118"/>
          <p:cNvSpPr txBox="1"/>
          <p:nvPr/>
        </p:nvSpPr>
        <p:spPr>
          <a:xfrm>
            <a:off x="6492240" y="3108960"/>
            <a:ext cx="1737360" cy="476250"/>
          </a:xfrm>
          <a:prstGeom prst="rect">
            <a:avLst/>
          </a:prstGeom>
          <a:noFill/>
          <a:ln/>
        </p:spPr>
        <p:txBody>
          <a:bodyPr wrap="square" lIns="0" tIns="0" rIns="0" bIns="0" rtlCol="0" anchor="t"/>
          <a:lstStyle/>
          <a:p>
            <a:pPr algn="l" indent="0" marL="0">
              <a:buNone/>
            </a:pPr>
            <a:r>
              <a:rPr lang="en-US" sz="3000" b="1" dirty="0">
                <a:solidFill>
                  <a:srgbClr val="E8604C"/>
                </a:solidFill>
                <a:latin typeface="Arial" pitchFamily="34" charset="0"/>
                <a:ea typeface="Arial" pitchFamily="34" charset="-122"/>
                <a:cs typeface="Arial" pitchFamily="34" charset="-120"/>
              </a:rPr>
              <a:t>0%</a:t>
            </a:r>
            <a:endParaRPr lang="en-US" sz="3000" dirty="0"/>
          </a:p>
        </p:txBody>
      </p:sp>
      <p:sp>
        <p:nvSpPr>
          <p:cNvPr id="13" name="text_119"/>
          <p:cNvSpPr txBox="1"/>
          <p:nvPr/>
        </p:nvSpPr>
        <p:spPr>
          <a:xfrm>
            <a:off x="6492240" y="3604260"/>
            <a:ext cx="173736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航続の変化（中央値）</a:t>
            </a:r>
            <a:endParaRPr lang="en-US" sz="1400" dirty="0"/>
          </a:p>
        </p:txBody>
      </p:sp>
      <p:sp>
        <p:nvSpPr>
          <p:cNvPr id="14" name="text_120"/>
          <p:cNvSpPr txBox="1"/>
          <p:nvPr/>
        </p:nvSpPr>
        <p:spPr>
          <a:xfrm>
            <a:off x="8229600" y="3108960"/>
            <a:ext cx="1737360" cy="476250"/>
          </a:xfrm>
          <a:prstGeom prst="rect">
            <a:avLst/>
          </a:prstGeom>
          <a:noFill/>
          <a:ln/>
        </p:spPr>
        <p:txBody>
          <a:bodyPr wrap="square" lIns="0" tIns="0" rIns="0" bIns="0" rtlCol="0" anchor="t"/>
          <a:lstStyle/>
          <a:p>
            <a:pPr algn="l" indent="0" marL="0">
              <a:buNone/>
            </a:pPr>
            <a:r>
              <a:rPr lang="en-US" sz="3000" b="1" dirty="0">
                <a:solidFill>
                  <a:srgbClr val="E8604C"/>
                </a:solidFill>
                <a:latin typeface="Arial" pitchFamily="34" charset="0"/>
                <a:ea typeface="Arial" pitchFamily="34" charset="-122"/>
                <a:cs typeface="Arial" pitchFamily="34" charset="-120"/>
              </a:rPr>
              <a:t>−19%</a:t>
            </a:r>
            <a:endParaRPr lang="en-US" sz="3000" dirty="0"/>
          </a:p>
        </p:txBody>
      </p:sp>
      <p:sp>
        <p:nvSpPr>
          <p:cNvPr id="15" name="text_121"/>
          <p:cNvSpPr txBox="1"/>
          <p:nvPr/>
        </p:nvSpPr>
        <p:spPr>
          <a:xfrm>
            <a:off x="8229600" y="3604260"/>
            <a:ext cx="1737360"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価格の変化（中央値）</a:t>
            </a:r>
            <a:endParaRPr lang="en-US" sz="1400" dirty="0"/>
          </a:p>
        </p:txBody>
      </p:sp>
      <p:sp>
        <p:nvSpPr>
          <p:cNvPr id="16" name="text_122"/>
          <p:cNvSpPr txBox="1"/>
          <p:nvPr/>
        </p:nvSpPr>
        <p:spPr>
          <a:xfrm>
            <a:off x="6492240" y="4526280"/>
            <a:ext cx="3557016" cy="32004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中国系13件・日系8件の改良を集計</a:t>
            </a:r>
            <a:endParaRPr lang="en-US" sz="1200" dirty="0"/>
          </a:p>
        </p:txBody>
      </p:sp>
      <p:sp>
        <p:nvSpPr>
          <p:cNvPr id="17" name="shape_123"/>
          <p:cNvSpPr/>
          <p:nvPr/>
        </p:nvSpPr>
        <p:spPr>
          <a:xfrm>
            <a:off x="411480" y="5349240"/>
            <a:ext cx="4796028" cy="1143000"/>
          </a:xfrm>
          <a:prstGeom prst="roundRect">
            <a:avLst>
              <a:gd name="adj" fmla="val 9600"/>
            </a:avLst>
          </a:prstGeom>
          <a:solidFill>
            <a:srgbClr val="FFFFFF"/>
          </a:solidFill>
          <a:ln w="22225">
            <a:solidFill>
              <a:srgbClr val="E8384F"/>
            </a:solidFill>
            <a:prstDash val="solid"/>
          </a:ln>
        </p:spPr>
      </p:sp>
      <p:sp>
        <p:nvSpPr>
          <p:cNvPr id="18" name="fslabel_124"/>
          <p:cNvSpPr/>
          <p:nvPr/>
        </p:nvSpPr>
        <p:spPr>
          <a:xfrm>
            <a:off x="2291334" y="52120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9" name="text_125"/>
          <p:cNvSpPr txBox="1"/>
          <p:nvPr/>
        </p:nvSpPr>
        <p:spPr>
          <a:xfrm>
            <a:off x="640080" y="5559552"/>
            <a:ext cx="4338828" cy="82296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電池は大きくも小さくもなる。航続はほぼ据え置き</a:t>
            </a:r>
            <a:endParaRPr lang="en-US" sz="1600" dirty="0"/>
          </a:p>
        </p:txBody>
      </p:sp>
      <p:sp>
        <p:nvSpPr>
          <p:cNvPr id="20" name="summary_126"/>
          <p:cNvSpPr/>
          <p:nvPr/>
        </p:nvSpPr>
        <p:spPr>
          <a:xfrm>
            <a:off x="5481828" y="5212080"/>
            <a:ext cx="4796028"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改良の中身は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「安く・速く充電・装備を増やす」</a:t>
            </a:r>
            <a:endParaRPr lang="en-US" sz="1700" dirty="0"/>
          </a:p>
        </p:txBody>
      </p:sp>
      <p:sp>
        <p:nvSpPr>
          <p:cNvPr id="21" name="pc_127"/>
          <p:cNvSpPr/>
          <p:nvPr/>
        </p:nvSpPr>
        <p:spPr>
          <a:xfrm>
            <a:off x="411480" y="6601968"/>
            <a:ext cx="9866376" cy="45720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300" b="1" dirty="0">
                <a:solidFill>
                  <a:srgbClr val="333333"/>
                </a:solidFill>
                <a:latin typeface="Arial" pitchFamily="34" charset="0"/>
                <a:ea typeface="Arial" pitchFamily="34" charset="-122"/>
                <a:cs typeface="Arial" pitchFamily="34" charset="-120"/>
              </a:rPr>
              <a:t>S&amp;Pの改良時期 × 改良前後の月次販売（改良で販売が伸びたか）</a:t>
            </a:r>
            <a:endParaRPr lang="en-US" sz="1000" dirty="0"/>
          </a:p>
        </p:txBody>
      </p:sp>
      <p:sp>
        <p:nvSpPr>
          <p:cNvPr id="22" name="text_12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出典：各社のタイ公式資料・販売店資料。中国系は2022年以降の参入で観測期間が短く、間隔は短めに出うる</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検証②　中古EVが安いのは、電池劣化より新車値下げのため</a:t>
            </a:r>
            <a:endParaRPr lang="en-US" sz="2400" dirty="0"/>
          </a:p>
        </p:txBody>
      </p:sp>
      <p:sp>
        <p:nvSpPr>
          <p:cNvPr id="3" name="hid_129"/>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H2</a:t>
            </a:r>
            <a:endParaRPr lang="en-US" sz="1300" dirty="0"/>
          </a:p>
        </p:txBody>
      </p:sp>
      <p:sp>
        <p:nvSpPr>
          <p:cNvPr id="4" name="text_130"/>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電池がスマホのように劣化し、中古価格がICEより下がる</a:t>
            </a:r>
            <a:endParaRPr lang="en-US" sz="1700" dirty="0"/>
          </a:p>
        </p:txBody>
      </p:sp>
      <p:sp>
        <p:nvSpPr>
          <p:cNvPr id="5" name="text_131"/>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32"/>
          <p:cNvSpPr/>
          <p:nvPr/>
        </p:nvSpPr>
        <p:spPr>
          <a:xfrm>
            <a:off x="8997696" y="1024128"/>
            <a:ext cx="1234440" cy="384048"/>
          </a:xfrm>
          <a:prstGeom prst="roundRect">
            <a:avLst>
              <a:gd name="adj" fmla="val 19048"/>
            </a:avLst>
          </a:prstGeom>
          <a:solidFill>
            <a:srgbClr val="7A4FB0"/>
          </a:solidFill>
          <a:ln>
            <a:solidFill>
              <a:srgbClr val="7A4FB0"/>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修正</a:t>
            </a:r>
            <a:endParaRPr lang="en-US" sz="1500" dirty="0"/>
          </a:p>
        </p:txBody>
      </p:sp>
      <p:graphicFrame>
        <p:nvGraphicFramePr>
          <p:cNvPr id="7" name="chart_used" descr=""/>
          <p:cNvGraphicFramePr/>
          <p:nvPr/>
        </p:nvGraphicFramePr>
        <p:xfrm>
          <a:off x="411480" y="160020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8" name="shape_133"/>
          <p:cNvSpPr/>
          <p:nvPr/>
        </p:nvSpPr>
        <p:spPr>
          <a:xfrm>
            <a:off x="6263640" y="1600200"/>
            <a:ext cx="4014216" cy="3429000"/>
          </a:xfrm>
          <a:prstGeom prst="roundRect">
            <a:avLst>
              <a:gd name="adj" fmla="val 2667"/>
            </a:avLst>
          </a:prstGeom>
          <a:solidFill>
            <a:srgbClr val="EEF3FB"/>
          </a:solidFill>
          <a:ln w="15875">
            <a:solidFill>
              <a:srgbClr val="4472C4"/>
            </a:solidFill>
            <a:prstDash val="solid"/>
          </a:ln>
        </p:spPr>
      </p:sp>
      <p:sp>
        <p:nvSpPr>
          <p:cNvPr id="9" name="tab_134"/>
          <p:cNvSpPr/>
          <p:nvPr/>
        </p:nvSpPr>
        <p:spPr>
          <a:xfrm>
            <a:off x="6373368" y="1691640"/>
            <a:ext cx="1974088"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値下がりの2つの要因</a:t>
            </a:r>
            <a:endParaRPr lang="en-US" sz="1400" dirty="0"/>
          </a:p>
        </p:txBody>
      </p:sp>
      <p:sp>
        <p:nvSpPr>
          <p:cNvPr id="10" name="text_135"/>
          <p:cNvSpPr txBox="1"/>
          <p:nvPr/>
        </p:nvSpPr>
        <p:spPr>
          <a:xfrm>
            <a:off x="6492240" y="2148840"/>
            <a:ext cx="3557016" cy="444500"/>
          </a:xfrm>
          <a:prstGeom prst="rect">
            <a:avLst/>
          </a:prstGeom>
          <a:noFill/>
          <a:ln/>
        </p:spPr>
        <p:txBody>
          <a:bodyPr wrap="square" lIns="0" tIns="0" rIns="0" bIns="0" rtlCol="0" anchor="t"/>
          <a:lstStyle/>
          <a:p>
            <a:pPr algn="l" indent="0" marL="0">
              <a:buNone/>
            </a:pPr>
            <a:r>
              <a:rPr lang="en-US" sz="2800" b="1" dirty="0">
                <a:solidFill>
                  <a:srgbClr val="333333"/>
                </a:solidFill>
                <a:latin typeface="Arial" pitchFamily="34" charset="0"/>
                <a:ea typeface="Arial" pitchFamily="34" charset="-122"/>
                <a:cs typeface="Arial" pitchFamily="34" charset="-120"/>
              </a:rPr>
              <a:t>2.3%／年</a:t>
            </a:r>
            <a:endParaRPr lang="en-US" sz="2800" dirty="0"/>
          </a:p>
        </p:txBody>
      </p:sp>
      <p:sp>
        <p:nvSpPr>
          <p:cNvPr id="11" name="text_136"/>
          <p:cNvSpPr txBox="1"/>
          <p:nvPr/>
        </p:nvSpPr>
        <p:spPr>
          <a:xfrm>
            <a:off x="6492240" y="261112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電池容量の平均劣化（実車2.3万台）</a:t>
            </a:r>
            <a:endParaRPr lang="en-US" sz="1400" dirty="0"/>
          </a:p>
        </p:txBody>
      </p:sp>
      <p:sp>
        <p:nvSpPr>
          <p:cNvPr id="12" name="text_137"/>
          <p:cNvSpPr txBox="1"/>
          <p:nvPr/>
        </p:nvSpPr>
        <p:spPr>
          <a:xfrm>
            <a:off x="6492240" y="3246120"/>
            <a:ext cx="3557016" cy="444500"/>
          </a:xfrm>
          <a:prstGeom prst="rect">
            <a:avLst/>
          </a:prstGeom>
          <a:noFill/>
          <a:ln/>
        </p:spPr>
        <p:txBody>
          <a:bodyPr wrap="square" lIns="0" tIns="0" rIns="0" bIns="0" rtlCol="0" anchor="t"/>
          <a:lstStyle/>
          <a:p>
            <a:pPr algn="l" indent="0" marL="0">
              <a:buNone/>
            </a:pPr>
            <a:r>
              <a:rPr lang="en-US" sz="2800" b="1" dirty="0">
                <a:solidFill>
                  <a:srgbClr val="E8604C"/>
                </a:solidFill>
                <a:latin typeface="Arial" pitchFamily="34" charset="0"/>
                <a:ea typeface="Arial" pitchFamily="34" charset="-122"/>
                <a:cs typeface="Arial" pitchFamily="34" charset="-120"/>
              </a:rPr>
              <a:t>−36%</a:t>
            </a:r>
            <a:endParaRPr lang="en-US" sz="2800" dirty="0"/>
          </a:p>
        </p:txBody>
      </p:sp>
      <p:sp>
        <p:nvSpPr>
          <p:cNvPr id="13" name="text_138"/>
          <p:cNvSpPr txBox="1"/>
          <p:nvPr/>
        </p:nvSpPr>
        <p:spPr>
          <a:xfrm>
            <a:off x="6492240" y="3708400"/>
            <a:ext cx="35570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Atto 3の新車価格（120万→77万バーツ）</a:t>
            </a:r>
            <a:endParaRPr lang="en-US" sz="1400" dirty="0"/>
          </a:p>
        </p:txBody>
      </p:sp>
      <p:sp>
        <p:nvSpPr>
          <p:cNvPr id="14" name="shape_139"/>
          <p:cNvSpPr/>
          <p:nvPr/>
        </p:nvSpPr>
        <p:spPr>
          <a:xfrm>
            <a:off x="411480" y="5349240"/>
            <a:ext cx="4796028" cy="1234440"/>
          </a:xfrm>
          <a:prstGeom prst="roundRect">
            <a:avLst>
              <a:gd name="adj" fmla="val 8889"/>
            </a:avLst>
          </a:prstGeom>
          <a:solidFill>
            <a:srgbClr val="FFFFFF"/>
          </a:solidFill>
          <a:ln w="22225">
            <a:solidFill>
              <a:srgbClr val="E8384F"/>
            </a:solidFill>
            <a:prstDash val="solid"/>
          </a:ln>
        </p:spPr>
      </p:sp>
      <p:sp>
        <p:nvSpPr>
          <p:cNvPr id="15" name="fslabel_140"/>
          <p:cNvSpPr/>
          <p:nvPr/>
        </p:nvSpPr>
        <p:spPr>
          <a:xfrm>
            <a:off x="2291334" y="52120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6" name="text_141"/>
          <p:cNvSpPr txBox="1"/>
          <p:nvPr/>
        </p:nvSpPr>
        <p:spPr>
          <a:xfrm>
            <a:off x="640080" y="5559552"/>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24ptの差のうち約22ptは新車値下げで説明できる</a:t>
            </a:r>
            <a:endParaRPr lang="en-US" sz="1600" dirty="0"/>
          </a:p>
        </p:txBody>
      </p:sp>
      <p:sp>
        <p:nvSpPr>
          <p:cNvPr id="17" name="summary_142"/>
          <p:cNvSpPr/>
          <p:nvPr/>
        </p:nvSpPr>
        <p:spPr>
          <a:xfrm>
            <a:off x="5481828" y="5212080"/>
            <a:ext cx="4796028"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中古を下げるのは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新車値下げと世代の陳腐化</a:t>
            </a:r>
            <a:endParaRPr lang="en-US" sz="1700" dirty="0"/>
          </a:p>
          <a:p>
            <a:pPr algn="ctr" indent="0" marL="0">
              <a:buNone/>
            </a:pPr>
            <a:r>
              <a:rPr lang="en-US" sz="1400" dirty="0">
                <a:solidFill>
                  <a:srgbClr val="333333"/>
                </a:solidFill>
                <a:latin typeface="Arial" pitchFamily="34" charset="0"/>
                <a:ea typeface="Arial" pitchFamily="34" charset="-122"/>
                <a:cs typeface="Arial" pitchFamily="34" charset="-120"/>
              </a:rPr>
              <a:t>電池劣化は暑さ・急速充電で効く補助要因</a:t>
            </a:r>
            <a:endParaRPr lang="en-US" sz="1700" dirty="0"/>
          </a:p>
        </p:txBody>
      </p:sp>
      <p:sp>
        <p:nvSpPr>
          <p:cNvPr id="18" name="text_14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出典：One2car（2026年10月、N=7・5）、Geotab（2026年1月）、BYD Rêver。SOH・成約価格は未取得</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検証③　買う時はEVが安い。保有費は値引きと残価しだい</a:t>
            </a:r>
            <a:endParaRPr lang="en-US" sz="2400" dirty="0"/>
          </a:p>
        </p:txBody>
      </p:sp>
      <p:sp>
        <p:nvSpPr>
          <p:cNvPr id="3" name="hid_144"/>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H3</a:t>
            </a:r>
            <a:endParaRPr lang="en-US" sz="1300" dirty="0"/>
          </a:p>
        </p:txBody>
      </p:sp>
      <p:sp>
        <p:nvSpPr>
          <p:cNvPr id="4" name="text_145"/>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競争の結果、EVが日系ICEより安く燃費の良い車になる</a:t>
            </a:r>
            <a:endParaRPr lang="en-US" sz="1700" dirty="0"/>
          </a:p>
        </p:txBody>
      </p:sp>
      <p:sp>
        <p:nvSpPr>
          <p:cNvPr id="5" name="text_146"/>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47"/>
          <p:cNvSpPr/>
          <p:nvPr/>
        </p:nvSpPr>
        <p:spPr>
          <a:xfrm>
            <a:off x="8997696" y="1024128"/>
            <a:ext cx="1234440" cy="384048"/>
          </a:xfrm>
          <a:prstGeom prst="roundRect">
            <a:avLst>
              <a:gd name="adj" fmla="val 19048"/>
            </a:avLst>
          </a:prstGeom>
          <a:solidFill>
            <a:srgbClr val="D98E04"/>
          </a:solidFill>
          <a:ln>
            <a:solidFill>
              <a:srgbClr val="D98E04"/>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一部支持</a:t>
            </a:r>
            <a:endParaRPr lang="en-US" sz="1500" dirty="0"/>
          </a:p>
        </p:txBody>
      </p:sp>
      <p:graphicFrame>
        <p:nvGraphicFramePr>
          <p:cNvPr id="7" name="chart_price" descr=""/>
          <p:cNvGraphicFramePr/>
          <p:nvPr/>
        </p:nvGraphicFramePr>
        <p:xfrm>
          <a:off x="411480" y="1600200"/>
          <a:ext cx="51206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_tco" descr=""/>
          <p:cNvGraphicFramePr/>
          <p:nvPr/>
        </p:nvGraphicFramePr>
        <p:xfrm>
          <a:off x="5760720" y="1600200"/>
          <a:ext cx="4517136" cy="3520440"/>
        </p:xfrm>
        <a:graphic xmlns:a="http://schemas.openxmlformats.org/drawingml/2006/main">
          <a:graphicData uri="http://schemas.openxmlformats.org/drawingml/2006/chart">
            <c:chart xmlns:c="http://schemas.openxmlformats.org/drawingml/2006/chart" r:id="rId2"/>
          </a:graphicData>
        </a:graphic>
      </p:graphicFrame>
      <p:sp>
        <p:nvSpPr>
          <p:cNvPr id="9" name="shape_148"/>
          <p:cNvSpPr/>
          <p:nvPr/>
        </p:nvSpPr>
        <p:spPr>
          <a:xfrm>
            <a:off x="411480" y="5212080"/>
            <a:ext cx="182880" cy="182880"/>
          </a:xfrm>
          <a:prstGeom prst="rect">
            <a:avLst/>
          </a:prstGeom>
          <a:solidFill>
            <a:srgbClr val="E8604C"/>
          </a:solidFill>
          <a:ln w="12700">
            <a:solidFill>
              <a:srgbClr val="E8604C"/>
            </a:solidFill>
            <a:prstDash val="solid"/>
          </a:ln>
        </p:spPr>
      </p:sp>
      <p:sp>
        <p:nvSpPr>
          <p:cNvPr id="10" name="text_149"/>
          <p:cNvSpPr txBox="1"/>
          <p:nvPr/>
        </p:nvSpPr>
        <p:spPr>
          <a:xfrm>
            <a:off x="658368" y="5138928"/>
            <a:ext cx="5867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中国系</a:t>
            </a:r>
            <a:endParaRPr lang="en-US" sz="1300" dirty="0"/>
          </a:p>
        </p:txBody>
      </p:sp>
      <p:sp>
        <p:nvSpPr>
          <p:cNvPr id="11" name="shape_150"/>
          <p:cNvSpPr/>
          <p:nvPr/>
        </p:nvSpPr>
        <p:spPr>
          <a:xfrm>
            <a:off x="1473708" y="5212080"/>
            <a:ext cx="182880" cy="182880"/>
          </a:xfrm>
          <a:prstGeom prst="rect">
            <a:avLst/>
          </a:prstGeom>
          <a:solidFill>
            <a:srgbClr val="4472C4"/>
          </a:solidFill>
          <a:ln w="12700">
            <a:solidFill>
              <a:srgbClr val="4472C4"/>
            </a:solidFill>
            <a:prstDash val="solid"/>
          </a:ln>
        </p:spPr>
      </p:sp>
      <p:sp>
        <p:nvSpPr>
          <p:cNvPr id="12" name="text_151"/>
          <p:cNvSpPr txBox="1"/>
          <p:nvPr/>
        </p:nvSpPr>
        <p:spPr>
          <a:xfrm>
            <a:off x="1720596" y="5138928"/>
            <a:ext cx="421640" cy="329184"/>
          </a:xfrm>
          <a:prstGeom prst="rect">
            <a:avLst/>
          </a:prstGeom>
          <a:noFill/>
          <a:ln/>
        </p:spPr>
        <p:txBody>
          <a:bodyPr wrap="square" lIns="0" tIns="0" rIns="0" bIns="0" rtlCol="0" anchor="ctr"/>
          <a:lstStyle/>
          <a:p>
            <a:pPr indent="0" marL="0">
              <a:buNone/>
            </a:pPr>
            <a:r>
              <a:rPr lang="en-US" sz="1300" dirty="0">
                <a:solidFill>
                  <a:srgbClr val="6B6B6B"/>
                </a:solidFill>
                <a:latin typeface="Arial" pitchFamily="34" charset="0"/>
                <a:ea typeface="Arial" pitchFamily="34" charset="-122"/>
                <a:cs typeface="Arial" pitchFamily="34" charset="-120"/>
              </a:rPr>
              <a:t>日系</a:t>
            </a:r>
            <a:endParaRPr lang="en-US" sz="1300" dirty="0"/>
          </a:p>
        </p:txBody>
      </p:sp>
      <p:sp>
        <p:nvSpPr>
          <p:cNvPr id="13" name="shape_152"/>
          <p:cNvSpPr/>
          <p:nvPr/>
        </p:nvSpPr>
        <p:spPr>
          <a:xfrm>
            <a:off x="411480" y="5577840"/>
            <a:ext cx="4796028" cy="1051560"/>
          </a:xfrm>
          <a:prstGeom prst="roundRect">
            <a:avLst>
              <a:gd name="adj" fmla="val 10435"/>
            </a:avLst>
          </a:prstGeom>
          <a:solidFill>
            <a:srgbClr val="FFFFFF"/>
          </a:solidFill>
          <a:ln w="22225">
            <a:solidFill>
              <a:srgbClr val="E8384F"/>
            </a:solidFill>
            <a:prstDash val="solid"/>
          </a:ln>
        </p:spPr>
      </p:sp>
      <p:sp>
        <p:nvSpPr>
          <p:cNvPr id="14" name="fslabel_153"/>
          <p:cNvSpPr/>
          <p:nvPr/>
        </p:nvSpPr>
        <p:spPr>
          <a:xfrm>
            <a:off x="2291334" y="544068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5" name="text_154"/>
          <p:cNvSpPr txBox="1"/>
          <p:nvPr/>
        </p:nvSpPr>
        <p:spPr>
          <a:xfrm>
            <a:off x="640080" y="5779008"/>
            <a:ext cx="4338828" cy="73152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保有費では、値引きがないとEVが高い</a:t>
            </a:r>
            <a:endParaRPr lang="en-US" sz="1600" dirty="0"/>
          </a:p>
        </p:txBody>
      </p:sp>
      <p:sp>
        <p:nvSpPr>
          <p:cNvPr id="16" name="summary_155"/>
          <p:cNvSpPr/>
          <p:nvPr/>
        </p:nvSpPr>
        <p:spPr>
          <a:xfrm>
            <a:off x="5481828" y="5440680"/>
            <a:ext cx="4796028"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日系は</a:t>
            </a:r>
            <a:pPr algn="ctr" indent="0" marL="0">
              <a:buNone/>
            </a:pPr>
            <a:r>
              <a:rPr lang="en-US" sz="1800" b="1" dirty="0">
                <a:solidFill>
                  <a:srgbClr val="E8384F"/>
                </a:solidFill>
                <a:latin typeface="Arial" pitchFamily="34" charset="0"/>
                <a:ea typeface="Arial" pitchFamily="34" charset="-122"/>
                <a:cs typeface="Arial" pitchFamily="34" charset="-120"/>
              </a:rPr>
              <a:t>残価と保有費</a:t>
            </a:r>
            <a:pPr algn="ctr" indent="0" marL="0">
              <a:buNone/>
            </a:pPr>
            <a:r>
              <a:rPr lang="en-US" sz="1800" dirty="0">
                <a:solidFill>
                  <a:srgbClr val="333333"/>
                </a:solidFill>
                <a:latin typeface="Arial" pitchFamily="34" charset="0"/>
                <a:ea typeface="Arial" pitchFamily="34" charset="-122"/>
                <a:cs typeface="Arial" pitchFamily="34" charset="-120"/>
              </a:rPr>
              <a:t>で戦える</a:t>
            </a:r>
            <a:endParaRPr lang="en-US" sz="1800" dirty="0"/>
          </a:p>
          <a:p>
            <a:pPr algn="ctr" indent="0" marL="0">
              <a:buNone/>
            </a:pPr>
            <a:r>
              <a:rPr lang="en-US" sz="1400" dirty="0">
                <a:solidFill>
                  <a:srgbClr val="333333"/>
                </a:solidFill>
                <a:latin typeface="Arial" pitchFamily="34" charset="0"/>
                <a:ea typeface="Arial" pitchFamily="34" charset="-122"/>
                <a:cs typeface="Arial" pitchFamily="34" charset="-120"/>
              </a:rPr>
              <a:t>入口価格の差は埋まらない</a:t>
            </a:r>
            <a:endParaRPr lang="en-US" sz="1800" dirty="0"/>
          </a:p>
        </p:txBody>
      </p:sp>
      <p:sp>
        <p:nvSpPr>
          <p:cNvPr id="17" name="text_15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出典：各社の価格表（2026年10月）、IEA（2026年）。保有費は年1.5万km・残価等を仮定した試算（付録）</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検証④　政策×供給力×価格でBEV市場ができ、日系は不在</a:t>
            </a:r>
            <a:endParaRPr lang="en-US" sz="2400" dirty="0"/>
          </a:p>
        </p:txBody>
      </p:sp>
      <p:sp>
        <p:nvSpPr>
          <p:cNvPr id="3" name="hid_157"/>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H4</a:t>
            </a:r>
            <a:endParaRPr lang="en-US" sz="1300" dirty="0"/>
          </a:p>
        </p:txBody>
      </p:sp>
      <p:sp>
        <p:nvSpPr>
          <p:cNvPr id="4" name="text_158"/>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日本との勝負は「政策支援×供給力×価格競争」で決まる</a:t>
            </a:r>
            <a:endParaRPr lang="en-US" sz="1700" dirty="0"/>
          </a:p>
        </p:txBody>
      </p:sp>
      <p:sp>
        <p:nvSpPr>
          <p:cNvPr id="5" name="text_159"/>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60"/>
          <p:cNvSpPr/>
          <p:nvPr/>
        </p:nvSpPr>
        <p:spPr>
          <a:xfrm>
            <a:off x="8997696" y="1024128"/>
            <a:ext cx="1234440" cy="384048"/>
          </a:xfrm>
          <a:prstGeom prst="roundRect">
            <a:avLst>
              <a:gd name="adj" fmla="val 19048"/>
            </a:avLst>
          </a:prstGeom>
          <a:solidFill>
            <a:srgbClr val="1E9C96"/>
          </a:solidFill>
          <a:ln>
            <a:solidFill>
              <a:srgbClr val="1E9C96"/>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支持</a:t>
            </a:r>
            <a:endParaRPr lang="en-US" sz="1500" dirty="0"/>
          </a:p>
        </p:txBody>
      </p:sp>
      <p:sp>
        <p:nvSpPr>
          <p:cNvPr id="7" name="shape_161"/>
          <p:cNvSpPr/>
          <p:nvPr/>
        </p:nvSpPr>
        <p:spPr>
          <a:xfrm>
            <a:off x="411480" y="1645920"/>
            <a:ext cx="2788920" cy="2514600"/>
          </a:xfrm>
          <a:prstGeom prst="rect">
            <a:avLst/>
          </a:prstGeom>
          <a:solidFill>
            <a:srgbClr val="F2F2F2"/>
          </a:solidFill>
          <a:ln w="12700">
            <a:solidFill>
              <a:srgbClr val="F2F2F2"/>
            </a:solidFill>
            <a:prstDash val="solid"/>
          </a:ln>
        </p:spPr>
      </p:sp>
      <p:sp>
        <p:nvSpPr>
          <p:cNvPr id="8" name="shape_162"/>
          <p:cNvSpPr/>
          <p:nvPr/>
        </p:nvSpPr>
        <p:spPr>
          <a:xfrm>
            <a:off x="411480" y="1755648"/>
            <a:ext cx="1325880" cy="347472"/>
          </a:xfrm>
          <a:prstGeom prst="homePlate">
            <a:avLst/>
          </a:prstGeom>
          <a:solidFill>
            <a:srgbClr val="1E9C96"/>
          </a:solidFill>
          <a:ln w="12700">
            <a:solidFill>
              <a:srgbClr val="1E9C96"/>
            </a:solidFill>
            <a:prstDash val="solid"/>
          </a:ln>
        </p:spPr>
      </p:sp>
      <p:sp>
        <p:nvSpPr>
          <p:cNvPr id="9" name="text_163"/>
          <p:cNvSpPr txBox="1"/>
          <p:nvPr/>
        </p:nvSpPr>
        <p:spPr>
          <a:xfrm>
            <a:off x="521208"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01</a:t>
            </a:r>
            <a:endParaRPr lang="en-US" sz="1300" dirty="0"/>
          </a:p>
        </p:txBody>
      </p:sp>
      <p:sp>
        <p:nvSpPr>
          <p:cNvPr id="10" name="text_164"/>
          <p:cNvSpPr txBox="1"/>
          <p:nvPr/>
        </p:nvSpPr>
        <p:spPr>
          <a:xfrm>
            <a:off x="594360"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政策支援</a:t>
            </a:r>
            <a:endParaRPr lang="en-US" sz="2100" dirty="0"/>
          </a:p>
        </p:txBody>
      </p:sp>
      <p:sp>
        <p:nvSpPr>
          <p:cNvPr id="11" name="text_165"/>
          <p:cNvSpPr txBox="1"/>
          <p:nvPr/>
        </p:nvSpPr>
        <p:spPr>
          <a:xfrm>
            <a:off x="594360"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中国製EVの関税 0%</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（日本製は20%）</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補助 最大15万バーツ</a:t>
            </a:r>
            <a:endParaRPr lang="en-US" sz="1500" dirty="0"/>
          </a:p>
        </p:txBody>
      </p:sp>
      <p:sp>
        <p:nvSpPr>
          <p:cNvPr id="12" name="shape_166"/>
          <p:cNvSpPr/>
          <p:nvPr/>
        </p:nvSpPr>
        <p:spPr>
          <a:xfrm>
            <a:off x="3328416" y="2656332"/>
            <a:ext cx="493776" cy="493776"/>
          </a:xfrm>
          <a:prstGeom prst="mathMultiply">
            <a:avLst/>
          </a:prstGeom>
          <a:solidFill>
            <a:srgbClr val="3FB2AB"/>
          </a:solidFill>
          <a:ln w="12700">
            <a:solidFill>
              <a:srgbClr val="3FB2AB"/>
            </a:solidFill>
            <a:prstDash val="solid"/>
          </a:ln>
        </p:spPr>
      </p:sp>
      <p:sp>
        <p:nvSpPr>
          <p:cNvPr id="13" name="shape_167"/>
          <p:cNvSpPr/>
          <p:nvPr/>
        </p:nvSpPr>
        <p:spPr>
          <a:xfrm>
            <a:off x="3950208" y="1645920"/>
            <a:ext cx="2788920" cy="2514600"/>
          </a:xfrm>
          <a:prstGeom prst="rect">
            <a:avLst/>
          </a:prstGeom>
          <a:solidFill>
            <a:srgbClr val="F2F2F2"/>
          </a:solidFill>
          <a:ln w="12700">
            <a:solidFill>
              <a:srgbClr val="F2F2F2"/>
            </a:solidFill>
            <a:prstDash val="solid"/>
          </a:ln>
        </p:spPr>
      </p:sp>
      <p:sp>
        <p:nvSpPr>
          <p:cNvPr id="14" name="shape_168"/>
          <p:cNvSpPr/>
          <p:nvPr/>
        </p:nvSpPr>
        <p:spPr>
          <a:xfrm>
            <a:off x="3950208" y="1755648"/>
            <a:ext cx="1325880" cy="347472"/>
          </a:xfrm>
          <a:prstGeom prst="homePlate">
            <a:avLst/>
          </a:prstGeom>
          <a:solidFill>
            <a:srgbClr val="1E9C96"/>
          </a:solidFill>
          <a:ln w="12700">
            <a:solidFill>
              <a:srgbClr val="1E9C96"/>
            </a:solidFill>
            <a:prstDash val="solid"/>
          </a:ln>
        </p:spPr>
      </p:sp>
      <p:sp>
        <p:nvSpPr>
          <p:cNvPr id="15" name="text_169"/>
          <p:cNvSpPr txBox="1"/>
          <p:nvPr/>
        </p:nvSpPr>
        <p:spPr>
          <a:xfrm>
            <a:off x="4059936"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02</a:t>
            </a:r>
            <a:endParaRPr lang="en-US" sz="1300" dirty="0"/>
          </a:p>
        </p:txBody>
      </p:sp>
      <p:sp>
        <p:nvSpPr>
          <p:cNvPr id="16" name="text_170"/>
          <p:cNvSpPr txBox="1"/>
          <p:nvPr/>
        </p:nvSpPr>
        <p:spPr>
          <a:xfrm>
            <a:off x="4133088"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供給力</a:t>
            </a:r>
            <a:endParaRPr lang="en-US" sz="2100" dirty="0"/>
          </a:p>
        </p:txBody>
      </p:sp>
      <p:sp>
        <p:nvSpPr>
          <p:cNvPr id="17" name="text_171"/>
          <p:cNvSpPr txBox="1"/>
          <p:nvPr/>
        </p:nvSpPr>
        <p:spPr>
          <a:xfrm>
            <a:off x="4133088"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承認BEV能力</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38.6万台／年</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輸入1台に</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現地生産2〜3台</a:t>
            </a:r>
            <a:endParaRPr lang="en-US" sz="1500" dirty="0"/>
          </a:p>
        </p:txBody>
      </p:sp>
      <p:sp>
        <p:nvSpPr>
          <p:cNvPr id="18" name="shape_172"/>
          <p:cNvSpPr/>
          <p:nvPr/>
        </p:nvSpPr>
        <p:spPr>
          <a:xfrm>
            <a:off x="6867144" y="2656332"/>
            <a:ext cx="493776" cy="493776"/>
          </a:xfrm>
          <a:prstGeom prst="mathMultiply">
            <a:avLst/>
          </a:prstGeom>
          <a:solidFill>
            <a:srgbClr val="3FB2AB"/>
          </a:solidFill>
          <a:ln w="12700">
            <a:solidFill>
              <a:srgbClr val="3FB2AB"/>
            </a:solidFill>
            <a:prstDash val="solid"/>
          </a:ln>
        </p:spPr>
      </p:sp>
      <p:sp>
        <p:nvSpPr>
          <p:cNvPr id="19" name="shape_173"/>
          <p:cNvSpPr/>
          <p:nvPr/>
        </p:nvSpPr>
        <p:spPr>
          <a:xfrm>
            <a:off x="7488936" y="1645920"/>
            <a:ext cx="2788920" cy="2514600"/>
          </a:xfrm>
          <a:prstGeom prst="rect">
            <a:avLst/>
          </a:prstGeom>
          <a:solidFill>
            <a:srgbClr val="F2F2F2"/>
          </a:solidFill>
          <a:ln w="12700">
            <a:solidFill>
              <a:srgbClr val="F2F2F2"/>
            </a:solidFill>
            <a:prstDash val="solid"/>
          </a:ln>
        </p:spPr>
      </p:sp>
      <p:sp>
        <p:nvSpPr>
          <p:cNvPr id="20" name="shape_174"/>
          <p:cNvSpPr/>
          <p:nvPr/>
        </p:nvSpPr>
        <p:spPr>
          <a:xfrm>
            <a:off x="7488936" y="1755648"/>
            <a:ext cx="1325880" cy="347472"/>
          </a:xfrm>
          <a:prstGeom prst="homePlate">
            <a:avLst/>
          </a:prstGeom>
          <a:solidFill>
            <a:srgbClr val="1E9C96"/>
          </a:solidFill>
          <a:ln w="12700">
            <a:solidFill>
              <a:srgbClr val="1E9C96"/>
            </a:solidFill>
            <a:prstDash val="solid"/>
          </a:ln>
        </p:spPr>
      </p:sp>
      <p:sp>
        <p:nvSpPr>
          <p:cNvPr id="21" name="text_175"/>
          <p:cNvSpPr txBox="1"/>
          <p:nvPr/>
        </p:nvSpPr>
        <p:spPr>
          <a:xfrm>
            <a:off x="7598664" y="175564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03</a:t>
            </a:r>
            <a:endParaRPr lang="en-US" sz="1300" dirty="0"/>
          </a:p>
        </p:txBody>
      </p:sp>
      <p:sp>
        <p:nvSpPr>
          <p:cNvPr id="22" name="text_176"/>
          <p:cNvSpPr txBox="1"/>
          <p:nvPr/>
        </p:nvSpPr>
        <p:spPr>
          <a:xfrm>
            <a:off x="7671816" y="2240280"/>
            <a:ext cx="2423160" cy="457200"/>
          </a:xfrm>
          <a:prstGeom prst="rect">
            <a:avLst/>
          </a:prstGeom>
          <a:noFill/>
          <a:ln/>
        </p:spPr>
        <p:txBody>
          <a:bodyPr wrap="square" lIns="0" tIns="0" rIns="0" bIns="0" rtlCol="0" anchor="ctr"/>
          <a:lstStyle/>
          <a:p>
            <a:pPr algn="ctr" indent="0" marL="0">
              <a:buNone/>
            </a:pPr>
            <a:r>
              <a:rPr lang="en-US" sz="2100" b="1" dirty="0">
                <a:solidFill>
                  <a:srgbClr val="333333"/>
                </a:solidFill>
                <a:latin typeface="Arial" pitchFamily="34" charset="0"/>
                <a:ea typeface="Arial" pitchFamily="34" charset="-122"/>
                <a:cs typeface="Arial" pitchFamily="34" charset="-120"/>
              </a:rPr>
              <a:t>価格競争</a:t>
            </a:r>
            <a:endParaRPr lang="en-US" sz="2100" dirty="0"/>
          </a:p>
        </p:txBody>
      </p:sp>
      <p:sp>
        <p:nvSpPr>
          <p:cNvPr id="23" name="text_177"/>
          <p:cNvSpPr txBox="1"/>
          <p:nvPr/>
        </p:nvSpPr>
        <p:spPr>
          <a:xfrm>
            <a:off x="7671816" y="2788920"/>
            <a:ext cx="2423160" cy="12344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Atto 3 −36%</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中国の自動車産業の</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利益率 3.4%</a:t>
            </a:r>
            <a:endParaRPr lang="en-US" sz="1500" dirty="0"/>
          </a:p>
        </p:txBody>
      </p:sp>
      <p:sp>
        <p:nvSpPr>
          <p:cNvPr id="24" name="shape_178"/>
          <p:cNvSpPr/>
          <p:nvPr/>
        </p:nvSpPr>
        <p:spPr>
          <a:xfrm>
            <a:off x="5024628" y="4297680"/>
            <a:ext cx="640080" cy="457200"/>
          </a:xfrm>
          <a:prstGeom prst="downArrow">
            <a:avLst/>
          </a:prstGeom>
          <a:solidFill>
            <a:srgbClr val="FFFFFF"/>
          </a:solidFill>
          <a:ln w="28575">
            <a:solidFill>
              <a:srgbClr val="3FB2AB"/>
            </a:solidFill>
            <a:prstDash val="solid"/>
          </a:ln>
        </p:spPr>
      </p:sp>
      <p:sp>
        <p:nvSpPr>
          <p:cNvPr id="25" name="summary_179"/>
          <p:cNvSpPr/>
          <p:nvPr/>
        </p:nvSpPr>
        <p:spPr>
          <a:xfrm>
            <a:off x="1143000" y="4846320"/>
            <a:ext cx="8403336" cy="777240"/>
          </a:xfrm>
          <a:prstGeom prst="roundRect">
            <a:avLst>
              <a:gd name="adj" fmla="val 11765"/>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BEV市場が前年比 +85%。日系はBEVの商品がなく、ほぼ不戦敗</a:t>
            </a:r>
            <a:endParaRPr lang="en-US" sz="1800" dirty="0"/>
          </a:p>
        </p:txBody>
      </p:sp>
      <p:sp>
        <p:nvSpPr>
          <p:cNvPr id="26" name="shape_180"/>
          <p:cNvSpPr/>
          <p:nvPr/>
        </p:nvSpPr>
        <p:spPr>
          <a:xfrm>
            <a:off x="411480" y="5943600"/>
            <a:ext cx="4796028" cy="960120"/>
          </a:xfrm>
          <a:prstGeom prst="roundRect">
            <a:avLst>
              <a:gd name="adj" fmla="val 11429"/>
            </a:avLst>
          </a:prstGeom>
          <a:solidFill>
            <a:srgbClr val="FFFFFF"/>
          </a:solidFill>
          <a:ln w="22225">
            <a:solidFill>
              <a:srgbClr val="E8384F"/>
            </a:solidFill>
            <a:prstDash val="solid"/>
          </a:ln>
        </p:spPr>
      </p:sp>
      <p:sp>
        <p:nvSpPr>
          <p:cNvPr id="27" name="fslabel_181"/>
          <p:cNvSpPr/>
          <p:nvPr/>
        </p:nvSpPr>
        <p:spPr>
          <a:xfrm>
            <a:off x="2291334" y="580644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28" name="text_182"/>
          <p:cNvSpPr txBox="1"/>
          <p:nvPr/>
        </p:nvSpPr>
        <p:spPr>
          <a:xfrm>
            <a:off x="640080" y="6126480"/>
            <a:ext cx="4338828" cy="685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正面の価格勝負より、日系不在の市場で伸びた</a:t>
            </a:r>
            <a:endParaRPr lang="en-US" sz="1600" dirty="0"/>
          </a:p>
        </p:txBody>
      </p:sp>
      <p:sp>
        <p:nvSpPr>
          <p:cNvPr id="29" name="shape_183"/>
          <p:cNvSpPr/>
          <p:nvPr/>
        </p:nvSpPr>
        <p:spPr>
          <a:xfrm>
            <a:off x="5481828" y="5943600"/>
            <a:ext cx="4796028" cy="960120"/>
          </a:xfrm>
          <a:prstGeom prst="roundRect">
            <a:avLst>
              <a:gd name="adj" fmla="val 11429"/>
            </a:avLst>
          </a:prstGeom>
          <a:solidFill>
            <a:srgbClr val="FFFFFF"/>
          </a:solidFill>
          <a:ln w="22225">
            <a:solidFill>
              <a:srgbClr val="4472C4"/>
            </a:solidFill>
            <a:prstDash val="solid"/>
          </a:ln>
        </p:spPr>
      </p:sp>
      <p:sp>
        <p:nvSpPr>
          <p:cNvPr id="30" name="fslabel_184"/>
          <p:cNvSpPr/>
          <p:nvPr/>
        </p:nvSpPr>
        <p:spPr>
          <a:xfrm>
            <a:off x="7171182" y="5806440"/>
            <a:ext cx="1417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4472C4"/>
                </a:solidFill>
                <a:latin typeface="Arial" pitchFamily="34" charset="0"/>
                <a:ea typeface="Arial" pitchFamily="34" charset="-122"/>
                <a:cs typeface="Arial" pitchFamily="34" charset="-120"/>
              </a:rPr>
              <a:t>何と言えるか</a:t>
            </a:r>
            <a:endParaRPr lang="en-US" sz="1500" dirty="0"/>
          </a:p>
        </p:txBody>
      </p:sp>
      <p:sp>
        <p:nvSpPr>
          <p:cNvPr id="31" name="text_185"/>
          <p:cNvSpPr txBox="1"/>
          <p:nvPr/>
        </p:nvSpPr>
        <p:spPr>
          <a:xfrm>
            <a:off x="5710428" y="6126480"/>
            <a:ext cx="4338828" cy="685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BEV以外では日系シェア </a:t>
            </a:r>
            <a:pPr algn="ctr" indent="0" marL="0">
              <a:buNone/>
            </a:pPr>
            <a:r>
              <a:rPr lang="en-US" sz="1600" b="1" dirty="0">
                <a:solidFill>
                  <a:srgbClr val="E8384F"/>
                </a:solidFill>
                <a:latin typeface="Arial" pitchFamily="34" charset="0"/>
                <a:ea typeface="Arial" pitchFamily="34" charset="-122"/>
                <a:cs typeface="Arial" pitchFamily="34" charset="-120"/>
              </a:rPr>
              <a:t>86%→88%</a:t>
            </a:r>
            <a:endParaRPr lang="en-US" sz="1600" dirty="0"/>
          </a:p>
        </p:txBody>
      </p:sp>
      <p:sp>
        <p:nvSpPr>
          <p:cNvPr id="32" name="text_18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出典：BOI（2023〜2025年）、物品税局、CPCA、JETRO</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検証⑤　1車種依存は弱い。効くのは「売れる車種」の数</a:t>
            </a:r>
            <a:endParaRPr lang="en-US" sz="2400" dirty="0"/>
          </a:p>
        </p:txBody>
      </p:sp>
      <p:sp>
        <p:nvSpPr>
          <p:cNvPr id="3" name="hid_187"/>
          <p:cNvSpPr/>
          <p:nvPr/>
        </p:nvSpPr>
        <p:spPr>
          <a:xfrm>
            <a:off x="411480" y="987552"/>
            <a:ext cx="457200" cy="457200"/>
          </a:xfrm>
          <a:prstGeom prst="ellipse">
            <a:avLst/>
          </a:prstGeom>
          <a:solidFill>
            <a:srgbClr val="4472C4"/>
          </a:solidFill>
          <a:ln>
            <a:solidFill>
              <a:srgbClr val="4472C4"/>
            </a:solid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H5</a:t>
            </a:r>
            <a:endParaRPr lang="en-US" sz="1300" dirty="0"/>
          </a:p>
        </p:txBody>
      </p:sp>
      <p:sp>
        <p:nvSpPr>
          <p:cNvPr id="4" name="text_188"/>
          <p:cNvSpPr txBox="1"/>
          <p:nvPr/>
        </p:nvSpPr>
        <p:spPr>
          <a:xfrm>
            <a:off x="1005840" y="987552"/>
            <a:ext cx="7763256" cy="457200"/>
          </a:xfrm>
          <a:prstGeom prst="rect">
            <a:avLst/>
          </a:prstGeom>
          <a:noFill/>
          <a:ln/>
        </p:spPr>
        <p:txBody>
          <a:bodyPr wrap="square" lIns="0" tIns="0" rIns="0" bIns="0" rtlCol="0" anchor="ctr"/>
          <a:lstStyle/>
          <a:p>
            <a:pPr indent="0" marL="0">
              <a:buNone/>
            </a:pPr>
            <a:r>
              <a:rPr lang="en-US" sz="1700" dirty="0">
                <a:solidFill>
                  <a:srgbClr val="6B6B6B"/>
                </a:solidFill>
                <a:latin typeface="Arial" pitchFamily="34" charset="0"/>
                <a:ea typeface="Arial" pitchFamily="34" charset="-122"/>
                <a:cs typeface="Arial" pitchFamily="34" charset="-120"/>
              </a:rPr>
              <a:t>ヒット車種の多い企業が強く、1車種依存の企業は弱い</a:t>
            </a:r>
            <a:endParaRPr lang="en-US" sz="1700" dirty="0"/>
          </a:p>
        </p:txBody>
      </p:sp>
      <p:sp>
        <p:nvSpPr>
          <p:cNvPr id="5" name="text_189"/>
          <p:cNvSpPr txBox="1"/>
          <p:nvPr/>
        </p:nvSpPr>
        <p:spPr>
          <a:xfrm>
            <a:off x="8449056" y="987552"/>
            <a:ext cx="548640" cy="4572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判定</a:t>
            </a:r>
            <a:endParaRPr lang="en-US" sz="1400" dirty="0"/>
          </a:p>
        </p:txBody>
      </p:sp>
      <p:sp>
        <p:nvSpPr>
          <p:cNvPr id="6" name="badge_190"/>
          <p:cNvSpPr/>
          <p:nvPr/>
        </p:nvSpPr>
        <p:spPr>
          <a:xfrm>
            <a:off x="8997696" y="1024128"/>
            <a:ext cx="1234440" cy="384048"/>
          </a:xfrm>
          <a:prstGeom prst="roundRect">
            <a:avLst>
              <a:gd name="adj" fmla="val 19048"/>
            </a:avLst>
          </a:prstGeom>
          <a:solidFill>
            <a:srgbClr val="1E9C96"/>
          </a:solidFill>
          <a:ln>
            <a:solidFill>
              <a:srgbClr val="1E9C96"/>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支持</a:t>
            </a:r>
            <a:endParaRPr lang="en-US" sz="1500" dirty="0"/>
          </a:p>
        </p:txBody>
      </p:sp>
      <p:sp>
        <p:nvSpPr>
          <p:cNvPr id="7" name="pc_191"/>
          <p:cNvSpPr/>
          <p:nvPr/>
        </p:nvSpPr>
        <p:spPr>
          <a:xfrm>
            <a:off x="411480" y="1600200"/>
            <a:ext cx="5120640" cy="356616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200" dirty="0">
                <a:solidFill>
                  <a:srgbClr val="6B6B6B"/>
                </a:solidFill>
                <a:latin typeface="Arial" pitchFamily="34" charset="0"/>
                <a:ea typeface="Arial" pitchFamily="34" charset="-122"/>
                <a:cs typeface="Arial" pitchFamily="34" charset="-120"/>
              </a:rPr>
              <a:t>社内PCで作成して差し込む</a:t>
            </a:r>
            <a:endParaRPr lang="en-US" sz="1200" dirty="0"/>
          </a:p>
          <a:p>
            <a:pPr algn="ctr" indent="0" marL="0">
              <a:spcAft>
                <a:spcPts val="500"/>
              </a:spcAft>
              <a:buNone/>
            </a:pPr>
            <a:r>
              <a:rPr lang="en-US" sz="1700" b="1" dirty="0">
                <a:solidFill>
                  <a:srgbClr val="333333"/>
                </a:solidFill>
                <a:latin typeface="Arial" pitchFamily="34" charset="0"/>
                <a:ea typeface="Arial" pitchFamily="34" charset="-122"/>
                <a:cs typeface="Arial" pitchFamily="34" charset="-120"/>
              </a:rPr>
              <a:t>企業別の車種構成と販売の安定性</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上位1車種の比率、売れる車種の数</a:t>
            </a:r>
            <a:endParaRPr lang="en-US" sz="12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主力車種の世代交代の前後で販売を比較</a:t>
            </a:r>
            <a:endParaRPr lang="en-US" sz="1200" dirty="0"/>
          </a:p>
        </p:txBody>
      </p:sp>
      <p:graphicFrame>
        <p:nvGraphicFramePr>
          <p:cNvPr id="14" name="table_192"/>
          <p:cNvGraphicFramePr>
            <a:graphicFrameLocks noGrp="1"/>
          </p:cNvGraphicFramePr>
          <p:nvPr>
            <p:extLst>
              <p:ext uri="{D42A27DB-BD31-4B8C-83A1-F6EECF244321}">
                <p14:modId xmlns:p14="http://schemas.microsoft.com/office/powerpoint/2010/main" val="1579011935"/>
              </p:ext>
            </p:extLst>
          </p:nvPr>
        </p:nvGraphicFramePr>
        <p:xfrm>
          <a:off x="5760720" y="1600200"/>
          <a:ext cx="4517136" cy="914400"/>
        </p:xfrm>
        <a:graphic>
          <a:graphicData uri="http://schemas.openxmlformats.org/drawingml/2006/table">
            <a:tbl>
              <a:tblPr/>
              <a:tblGrid>
                <a:gridCol w="1188720"/>
                <a:gridCol w="1664208"/>
                <a:gridCol w="1664208"/>
              </a:tblGrid>
              <a:tr h="457200">
                <a:tc>
                  <a:txBody>
                    <a:bodyPr/>
                    <a:lstStyle/>
                    <a:p>
                      <a:pPr indent="0" marL="0">
                        <a:buNone/>
                      </a:pP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BYD</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Neta</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1051560">
                <a:tc>
                  <a:txBody>
                    <a:bodyPr/>
                    <a:lstStyle/>
                    <a:p>
                      <a:pPr indent="0" marL="0">
                        <a:buNone/>
                      </a:pPr>
                      <a:r>
                        <a:rPr lang="en-US" sz="1300" dirty="0">
                          <a:solidFill>
                            <a:srgbClr val="333333"/>
                          </a:solidFill>
                          <a:latin typeface="Arial" pitchFamily="34" charset="0"/>
                          <a:ea typeface="Arial" pitchFamily="34" charset="-122"/>
                          <a:cs typeface="Arial" pitchFamily="34" charset="-120"/>
                        </a:rPr>
                        <a:t>主な車種</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Atto 1・Dolphin・Atto 3・Seal・Sealion</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Neta V（1車種）</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300" dirty="0">
                          <a:solidFill>
                            <a:srgbClr val="333333"/>
                          </a:solidFill>
                          <a:latin typeface="Arial" pitchFamily="34" charset="0"/>
                          <a:ea typeface="Arial" pitchFamily="34" charset="-122"/>
                          <a:cs typeface="Arial" pitchFamily="34" charset="-120"/>
                        </a:rPr>
                        <a:t>BEV内シェア</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b="1" dirty="0">
                          <a:solidFill>
                            <a:srgbClr val="333333"/>
                          </a:solidFill>
                          <a:latin typeface="Arial" pitchFamily="34" charset="0"/>
                          <a:ea typeface="Arial" pitchFamily="34" charset="-122"/>
                          <a:cs typeface="Arial" pitchFamily="34" charset="-120"/>
                        </a:rPr>
                        <a:t>21.0%</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b="1" dirty="0">
                          <a:solidFill>
                            <a:srgbClr val="E8384F"/>
                          </a:solidFill>
                          <a:latin typeface="Arial" pitchFamily="34" charset="0"/>
                          <a:ea typeface="Arial" pitchFamily="34" charset="-122"/>
                          <a:cs typeface="Arial" pitchFamily="34" charset="-120"/>
                        </a:rPr>
                        <a:t>0.3%</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1051560">
                <a:tc>
                  <a:txBody>
                    <a:bodyPr/>
                    <a:lstStyle/>
                    <a:p>
                      <a:pPr indent="0" marL="0">
                        <a:buNone/>
                      </a:pPr>
                      <a:r>
                        <a:rPr lang="en-US" sz="1300" dirty="0">
                          <a:solidFill>
                            <a:srgbClr val="333333"/>
                          </a:solidFill>
                          <a:latin typeface="Arial" pitchFamily="34" charset="0"/>
                          <a:ea typeface="Arial" pitchFamily="34" charset="-122"/>
                          <a:cs typeface="Arial" pitchFamily="34" charset="-120"/>
                        </a:rPr>
                        <a:t>その後</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333333"/>
                          </a:solidFill>
                          <a:latin typeface="Arial" pitchFamily="34" charset="0"/>
                          <a:ea typeface="Arial" pitchFamily="34" charset="-122"/>
                          <a:cs typeface="Arial" pitchFamily="34" charset="-120"/>
                        </a:rPr>
                        <a:t>首位を維持</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300" dirty="0">
                          <a:solidFill>
                            <a:srgbClr val="E8384F"/>
                          </a:solidFill>
                          <a:latin typeface="Arial" pitchFamily="34" charset="0"/>
                          <a:ea typeface="Arial" pitchFamily="34" charset="-122"/>
                          <a:cs typeface="Arial" pitchFamily="34" charset="-120"/>
                        </a:rPr>
                        <a:t>販売店60→20</a:t>
                      </a:r>
                      <a:endParaRPr lang="en-US" sz="1300" dirty="0">
                        <a:latin typeface="Arial" charset="0"/>
                        <a:ea typeface="Arial" charset="0"/>
                        <a:cs typeface="Arial" charset="0"/>
                      </a:endParaRPr>
                    </a:p>
                    <a:p>
                      <a:pPr algn="ctr" indent="0" marL="0">
                        <a:buNone/>
                      </a:pPr>
                      <a:r>
                        <a:rPr lang="en-US" sz="1300" dirty="0">
                          <a:solidFill>
                            <a:srgbClr val="E8384F"/>
                          </a:solidFill>
                          <a:latin typeface="Arial" pitchFamily="34" charset="0"/>
                          <a:ea typeface="Arial" pitchFamily="34" charset="-122"/>
                          <a:cs typeface="Arial" pitchFamily="34" charset="-120"/>
                        </a:rPr>
                        <a:t>補助約20億バーツの返還</a:t>
                      </a:r>
                      <a:endParaRPr lang="en-US" sz="13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9" name="shape_193"/>
          <p:cNvSpPr/>
          <p:nvPr/>
        </p:nvSpPr>
        <p:spPr>
          <a:xfrm>
            <a:off x="5760720" y="1600200"/>
            <a:ext cx="4517136" cy="3154680"/>
          </a:xfrm>
          <a:prstGeom prst="rect">
            <a:avLst/>
          </a:prstGeom>
          <a:ln w="25400">
            <a:solidFill>
              <a:srgbClr val="4472C4"/>
            </a:solidFill>
            <a:prstDash val="solid"/>
          </a:ln>
        </p:spPr>
      </p:sp>
      <p:sp>
        <p:nvSpPr>
          <p:cNvPr id="10" name="text_194"/>
          <p:cNvSpPr txBox="1"/>
          <p:nvPr/>
        </p:nvSpPr>
        <p:spPr>
          <a:xfrm>
            <a:off x="5760720" y="4846320"/>
            <a:ext cx="4517136"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2026年1〜6月のBEV登録</a:t>
            </a:r>
            <a:endParaRPr lang="en-US" sz="1200" dirty="0"/>
          </a:p>
        </p:txBody>
      </p:sp>
      <p:sp>
        <p:nvSpPr>
          <p:cNvPr id="11" name="shape_195"/>
          <p:cNvSpPr/>
          <p:nvPr/>
        </p:nvSpPr>
        <p:spPr>
          <a:xfrm>
            <a:off x="411480" y="5440680"/>
            <a:ext cx="4796028" cy="1234440"/>
          </a:xfrm>
          <a:prstGeom prst="roundRect">
            <a:avLst>
              <a:gd name="adj" fmla="val 8889"/>
            </a:avLst>
          </a:prstGeom>
          <a:solidFill>
            <a:srgbClr val="FFFFFF"/>
          </a:solidFill>
          <a:ln w="22225">
            <a:solidFill>
              <a:srgbClr val="E8384F"/>
            </a:solidFill>
            <a:prstDash val="solid"/>
          </a:ln>
        </p:spPr>
      </p:sp>
      <p:sp>
        <p:nvSpPr>
          <p:cNvPr id="12" name="fslabel_196"/>
          <p:cNvSpPr/>
          <p:nvPr/>
        </p:nvSpPr>
        <p:spPr>
          <a:xfrm>
            <a:off x="2291334" y="5303520"/>
            <a:ext cx="1036320" cy="274320"/>
          </a:xfrm>
          <a:prstGeom prst="rect">
            <a:avLst/>
          </a:prstGeom>
          <a:solidFill>
            <a:srgbClr val="FFFFFF"/>
          </a:solidFill>
          <a:ln/>
        </p:spPr>
        <p:txBody>
          <a:bodyPr wrap="square" lIns="0" tIns="0" rIns="0" bIns="0" rtlCol="0" anchor="ctr"/>
          <a:lstStyle/>
          <a:p>
            <a:pPr algn="ctr" indent="0" marL="0">
              <a:buNone/>
            </a:pPr>
            <a:r>
              <a:rPr lang="en-US" sz="1500" b="1" dirty="0">
                <a:solidFill>
                  <a:srgbClr val="E8384F"/>
                </a:solidFill>
                <a:latin typeface="Arial" pitchFamily="34" charset="0"/>
                <a:ea typeface="Arial" pitchFamily="34" charset="-122"/>
                <a:cs typeface="Arial" pitchFamily="34" charset="-120"/>
              </a:rPr>
              <a:t>違った点</a:t>
            </a:r>
            <a:endParaRPr lang="en-US" sz="1500" dirty="0"/>
          </a:p>
        </p:txBody>
      </p:sp>
      <p:sp>
        <p:nvSpPr>
          <p:cNvPr id="13" name="text_197"/>
          <p:cNvSpPr txBox="1"/>
          <p:nvPr/>
        </p:nvSpPr>
        <p:spPr>
          <a:xfrm>
            <a:off x="640080" y="5650992"/>
            <a:ext cx="4338828" cy="9144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車種の数とヒット数は別。供給力は生産能力・現地化・販売網</a:t>
            </a:r>
            <a:endParaRPr lang="en-US" sz="1600" dirty="0"/>
          </a:p>
        </p:txBody>
      </p:sp>
      <p:sp>
        <p:nvSpPr>
          <p:cNvPr id="14" name="summary_198"/>
          <p:cNvSpPr/>
          <p:nvPr/>
        </p:nvSpPr>
        <p:spPr>
          <a:xfrm>
            <a:off x="5481828" y="5303520"/>
            <a:ext cx="4796028"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1車種依存は</a:t>
            </a:r>
            <a:endParaRPr lang="en-US" sz="1700" dirty="0"/>
          </a:p>
          <a:p>
            <a:pPr algn="ctr" indent="0" marL="0">
              <a:buNone/>
            </a:pPr>
            <a:r>
              <a:rPr lang="en-US" sz="1700" b="1" dirty="0">
                <a:solidFill>
                  <a:srgbClr val="E8384F"/>
                </a:solidFill>
                <a:latin typeface="Arial" pitchFamily="34" charset="0"/>
                <a:ea typeface="Arial" pitchFamily="34" charset="-122"/>
                <a:cs typeface="Arial" pitchFamily="34" charset="-120"/>
              </a:rPr>
              <a:t>世代交代の値下がりに弱い</a:t>
            </a:r>
            <a:endParaRPr lang="en-US" sz="1700" dirty="0"/>
          </a:p>
          <a:p>
            <a:pPr algn="ctr" indent="0" marL="0">
              <a:buNone/>
            </a:pPr>
            <a:r>
              <a:rPr lang="en-US" sz="1500" dirty="0">
                <a:solidFill>
                  <a:srgbClr val="333333"/>
                </a:solidFill>
                <a:latin typeface="Arial" pitchFamily="34" charset="0"/>
                <a:ea typeface="Arial" pitchFamily="34" charset="-122"/>
                <a:cs typeface="Arial" pitchFamily="34" charset="-120"/>
              </a:rPr>
              <a:t>中国系の淘汰は始まっている</a:t>
            </a:r>
            <a:endParaRPr lang="en-US" sz="1700" dirty="0"/>
          </a:p>
        </p:txBody>
      </p:sp>
      <p:sp>
        <p:nvSpPr>
          <p:cNvPr id="15" name="text_19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出典：JETRO（2026年7月）、The Nation（2026年）、MarkLines（社内）</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検証のまとめ　何が違い、何と言えるか</a:t>
            </a:r>
            <a:endParaRPr lang="en-US" sz="2400" dirty="0"/>
          </a:p>
        </p:txBody>
      </p:sp>
      <p:graphicFrame>
        <p:nvGraphicFramePr>
          <p:cNvPr id="15" name="table_200"/>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3017520"/>
                <a:gridCol w="1188720"/>
                <a:gridCol w="2743200"/>
                <a:gridCol w="29169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仮説</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判定</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何が違ったか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何と言えるか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H1 モデルチェンジが速く、中身は電池の持ち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一部支持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D98E04"/>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電池は増減両方。航続は据え置き</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indent="0" marL="0">
                        <a:buNone/>
                      </a:pPr>
                      <a:r>
                        <a:rPr lang="en-US" sz="1400" b="1" dirty="0">
                          <a:solidFill>
                            <a:srgbClr val="E8384F"/>
                          </a:solidFill>
                          <a:latin typeface="Arial" pitchFamily="34" charset="0"/>
                          <a:ea typeface="Arial" pitchFamily="34" charset="-122"/>
                          <a:cs typeface="Arial" pitchFamily="34" charset="-120"/>
                        </a:rPr>
                        <a:t>速さは中国系どうしの生き残り条件</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H2 電池劣化で中古価格が下がる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修正</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7A4FB0"/>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差の大半は新車値下げ</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中古を下げるのは値下げと陳腐化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H3 EVが日系ICEより安くなる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一部支持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D98E04"/>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保有費は値引き・残価しだい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日系は残価と保有費で戦える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H4 政策×供給力×価格で勝負</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1E9C96"/>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日系はBEVに不在だった</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失点はBEV市場の拡大でほぼ説明</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49808">
                <a:tc>
                  <a:txBody>
                    <a:bodyPr/>
                    <a:lstStyle/>
                    <a:p>
                      <a:pPr indent="0" marL="0">
                        <a:buNone/>
                      </a:pPr>
                      <a:r>
                        <a:rPr lang="en-US" sz="1400" dirty="0">
                          <a:solidFill>
                            <a:srgbClr val="333333"/>
                          </a:solidFill>
                          <a:latin typeface="Arial" pitchFamily="34" charset="0"/>
                          <a:ea typeface="Arial" pitchFamily="34" charset="-122"/>
                          <a:cs typeface="Arial" pitchFamily="34" charset="-120"/>
                        </a:rPr>
                        <a:t>H5 ヒット車種が多いほど強い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支持</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1E9C96"/>
                    </a:solidFill>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数よりも売れる車種の数</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1車種依存は世代交代に弱い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01"/>
          <p:cNvSpPr/>
          <p:nvPr/>
        </p:nvSpPr>
        <p:spPr>
          <a:xfrm>
            <a:off x="411480" y="1097280"/>
            <a:ext cx="9866376" cy="4206240"/>
          </a:xfrm>
          <a:prstGeom prst="rect">
            <a:avLst/>
          </a:prstGeom>
          <a:ln w="25400">
            <a:solidFill>
              <a:srgbClr val="4472C4"/>
            </a:solidFill>
            <a:prstDash val="solid"/>
          </a:ln>
        </p:spPr>
      </p:sp>
      <p:sp>
        <p:nvSpPr>
          <p:cNvPr id="5" name="shape_202"/>
          <p:cNvSpPr/>
          <p:nvPr/>
        </p:nvSpPr>
        <p:spPr>
          <a:xfrm>
            <a:off x="5024628" y="5440680"/>
            <a:ext cx="640080" cy="411480"/>
          </a:xfrm>
          <a:prstGeom prst="downArrow">
            <a:avLst/>
          </a:prstGeom>
          <a:solidFill>
            <a:srgbClr val="FFFFFF"/>
          </a:solidFill>
          <a:ln w="28575">
            <a:solidFill>
              <a:srgbClr val="3FB2AB"/>
            </a:solidFill>
            <a:prstDash val="solid"/>
          </a:ln>
        </p:spPr>
      </p:sp>
      <p:sp>
        <p:nvSpPr>
          <p:cNvPr id="6" name="summary_203"/>
          <p:cNvSpPr/>
          <p:nvPr/>
        </p:nvSpPr>
        <p:spPr>
          <a:xfrm>
            <a:off x="685800" y="5943600"/>
            <a:ext cx="931773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シェア拡大の主因は「政策×供給×価格でできたBEV市場に、日系の商品がない」こと</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モデルチェンジの速さは、そのBEV市場の中での勝ち残りを決める</a:t>
            </a:r>
            <a:endParaRPr lang="en-US" sz="1700" dirty="0"/>
          </a:p>
        </p:txBody>
      </p:sp>
      <p:sp>
        <p:nvSpPr>
          <p:cNvPr id="7" name="text_20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出典：本資料の検証①〜⑤</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日系の戦略　4つの打ち手と、中国企業との向き合い方</a:t>
            </a:r>
            <a:endParaRPr lang="en-US" sz="2400" dirty="0"/>
          </a:p>
        </p:txBody>
      </p:sp>
      <p:sp>
        <p:nvSpPr>
          <p:cNvPr id="3" name="shape_205"/>
          <p:cNvSpPr/>
          <p:nvPr/>
        </p:nvSpPr>
        <p:spPr>
          <a:xfrm>
            <a:off x="411480" y="1188720"/>
            <a:ext cx="3200400" cy="2606040"/>
          </a:xfrm>
          <a:prstGeom prst="roundRect">
            <a:avLst>
              <a:gd name="adj" fmla="val 4211"/>
            </a:avLst>
          </a:prstGeom>
          <a:solidFill>
            <a:srgbClr val="FFFFFF"/>
          </a:solidFill>
          <a:ln w="22225">
            <a:solidFill>
              <a:srgbClr val="4472C4"/>
            </a:solidFill>
            <a:prstDash val="solid"/>
          </a:ln>
        </p:spPr>
      </p:sp>
      <p:sp>
        <p:nvSpPr>
          <p:cNvPr id="4" name="fslabel_206"/>
          <p:cNvSpPr/>
          <p:nvPr/>
        </p:nvSpPr>
        <p:spPr>
          <a:xfrm>
            <a:off x="1633220" y="1014984"/>
            <a:ext cx="7569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守る</a:t>
            </a:r>
            <a:endParaRPr lang="en-US" sz="1900" dirty="0"/>
          </a:p>
        </p:txBody>
      </p:sp>
      <p:sp>
        <p:nvSpPr>
          <p:cNvPr id="5" name="text_207"/>
          <p:cNvSpPr txBox="1"/>
          <p:nvPr/>
        </p:nvSpPr>
        <p:spPr>
          <a:xfrm>
            <a:off x="594360" y="1508760"/>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ピックアップ・HEVセダン</a:t>
            </a:r>
            <a:endParaRPr lang="en-US" sz="1600" dirty="0"/>
          </a:p>
        </p:txBody>
      </p:sp>
      <p:sp>
        <p:nvSpPr>
          <p:cNvPr id="6" name="text_208"/>
          <p:cNvSpPr txBox="1"/>
          <p:nvPr/>
        </p:nvSpPr>
        <p:spPr>
          <a:xfrm>
            <a:off x="594360" y="2240280"/>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モデルを長く売り、残価を守る</a:t>
            </a:r>
            <a:endParaRPr lang="en-US" sz="1600" dirty="0"/>
          </a:p>
          <a:p>
            <a:pPr algn="ctr" indent="0" marL="0">
              <a:buNone/>
            </a:pPr>
            <a:r>
              <a:rPr lang="en-US" sz="1600" dirty="0">
                <a:solidFill>
                  <a:srgbClr val="333333"/>
                </a:solidFill>
                <a:latin typeface="Arial" pitchFamily="34" charset="0"/>
                <a:ea typeface="Arial" pitchFamily="34" charset="-122"/>
                <a:cs typeface="Arial" pitchFamily="34" charset="-120"/>
              </a:rPr>
              <a:t>（毎年の刷新はしない）</a:t>
            </a:r>
            <a:endParaRPr lang="en-US" sz="1600" dirty="0"/>
          </a:p>
        </p:txBody>
      </p:sp>
      <p:sp>
        <p:nvSpPr>
          <p:cNvPr id="7" name="shape_209"/>
          <p:cNvSpPr/>
          <p:nvPr/>
        </p:nvSpPr>
        <p:spPr>
          <a:xfrm>
            <a:off x="3776472" y="1188720"/>
            <a:ext cx="3200400" cy="2606040"/>
          </a:xfrm>
          <a:prstGeom prst="roundRect">
            <a:avLst>
              <a:gd name="adj" fmla="val 4211"/>
            </a:avLst>
          </a:prstGeom>
          <a:solidFill>
            <a:srgbClr val="FFFFFF"/>
          </a:solidFill>
          <a:ln w="22225">
            <a:solidFill>
              <a:srgbClr val="4472C4"/>
            </a:solidFill>
            <a:prstDash val="solid"/>
          </a:ln>
        </p:spPr>
      </p:sp>
      <p:sp>
        <p:nvSpPr>
          <p:cNvPr id="8" name="fslabel_210"/>
          <p:cNvSpPr/>
          <p:nvPr/>
        </p:nvSpPr>
        <p:spPr>
          <a:xfrm>
            <a:off x="4756912" y="1014984"/>
            <a:ext cx="12395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迎え撃つ</a:t>
            </a:r>
            <a:endParaRPr lang="en-US" sz="1900" dirty="0"/>
          </a:p>
        </p:txBody>
      </p:sp>
      <p:sp>
        <p:nvSpPr>
          <p:cNvPr id="9" name="text_211"/>
          <p:cNvSpPr txBox="1"/>
          <p:nvPr/>
        </p:nvSpPr>
        <p:spPr>
          <a:xfrm>
            <a:off x="3959352" y="1508760"/>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C-SUVのHEV／PHEV</a:t>
            </a:r>
            <a:endParaRPr lang="en-US" sz="1600" dirty="0"/>
          </a:p>
        </p:txBody>
      </p:sp>
      <p:sp>
        <p:nvSpPr>
          <p:cNvPr id="10" name="text_212"/>
          <p:cNvSpPr txBox="1"/>
          <p:nvPr/>
        </p:nvSpPr>
        <p:spPr>
          <a:xfrm>
            <a:off x="3959352" y="2240280"/>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残クレで高い残価を</a:t>
            </a:r>
            <a:endParaRPr lang="en-US" sz="1600" dirty="0"/>
          </a:p>
          <a:p>
            <a:pPr algn="ctr" indent="0" marL="0">
              <a:buNone/>
            </a:pPr>
            <a:r>
              <a:rPr lang="en-US" sz="1600" dirty="0">
                <a:solidFill>
                  <a:srgbClr val="333333"/>
                </a:solidFill>
                <a:latin typeface="Arial" pitchFamily="34" charset="0"/>
                <a:ea typeface="Arial" pitchFamily="34" charset="-122"/>
                <a:cs typeface="Arial" pitchFamily="34" charset="-120"/>
              </a:rPr>
              <a:t>月々の支払いの安さに変える</a:t>
            </a:r>
            <a:endParaRPr lang="en-US" sz="1600" dirty="0"/>
          </a:p>
        </p:txBody>
      </p:sp>
      <p:sp>
        <p:nvSpPr>
          <p:cNvPr id="11" name="shape_213"/>
          <p:cNvSpPr/>
          <p:nvPr/>
        </p:nvSpPr>
        <p:spPr>
          <a:xfrm>
            <a:off x="411480" y="4142232"/>
            <a:ext cx="3200400" cy="2606040"/>
          </a:xfrm>
          <a:prstGeom prst="roundRect">
            <a:avLst>
              <a:gd name="adj" fmla="val 4211"/>
            </a:avLst>
          </a:prstGeom>
          <a:solidFill>
            <a:srgbClr val="FFFFFF"/>
          </a:solidFill>
          <a:ln w="22225">
            <a:solidFill>
              <a:srgbClr val="E8384F"/>
            </a:solidFill>
            <a:prstDash val="solid"/>
          </a:ln>
        </p:spPr>
      </p:sp>
      <p:sp>
        <p:nvSpPr>
          <p:cNvPr id="12" name="fslabel_214"/>
          <p:cNvSpPr/>
          <p:nvPr/>
        </p:nvSpPr>
        <p:spPr>
          <a:xfrm>
            <a:off x="1512570" y="3968496"/>
            <a:ext cx="9982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E8384F"/>
                </a:solidFill>
                <a:latin typeface="Arial" pitchFamily="34" charset="0"/>
                <a:ea typeface="Arial" pitchFamily="34" charset="-122"/>
                <a:cs typeface="Arial" pitchFamily="34" charset="-120"/>
              </a:rPr>
              <a:t>埋める</a:t>
            </a:r>
            <a:endParaRPr lang="en-US" sz="1900" dirty="0"/>
          </a:p>
        </p:txBody>
      </p:sp>
      <p:sp>
        <p:nvSpPr>
          <p:cNvPr id="13" name="text_215"/>
          <p:cNvSpPr txBox="1"/>
          <p:nvPr/>
        </p:nvSpPr>
        <p:spPr>
          <a:xfrm>
            <a:off x="594360" y="4462272"/>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BEV</a:t>
            </a:r>
            <a:endParaRPr lang="en-US" sz="1600" dirty="0"/>
          </a:p>
        </p:txBody>
      </p:sp>
      <p:sp>
        <p:nvSpPr>
          <p:cNvPr id="14" name="text_216"/>
          <p:cNvSpPr txBox="1"/>
          <p:nvPr/>
        </p:nvSpPr>
        <p:spPr>
          <a:xfrm>
            <a:off x="594360" y="5193792"/>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中国の開発体制で短い周期のBEVを持つ</a:t>
            </a:r>
            <a:endParaRPr lang="en-US" sz="1600" dirty="0"/>
          </a:p>
          <a:p>
            <a:pPr algn="ctr" indent="0" marL="0">
              <a:buNone/>
            </a:pPr>
            <a:r>
              <a:rPr lang="en-US" sz="1600" dirty="0">
                <a:solidFill>
                  <a:srgbClr val="333333"/>
                </a:solidFill>
                <a:latin typeface="Arial" pitchFamily="34" charset="0"/>
                <a:ea typeface="Arial" pitchFamily="34" charset="-122"/>
                <a:cs typeface="Arial" pitchFamily="34" charset="-120"/>
              </a:rPr>
              <a:t>（bZ3X、e:N2、6e）</a:t>
            </a:r>
            <a:endParaRPr lang="en-US" sz="1600" dirty="0"/>
          </a:p>
        </p:txBody>
      </p:sp>
      <p:sp>
        <p:nvSpPr>
          <p:cNvPr id="15" name="shape_217"/>
          <p:cNvSpPr/>
          <p:nvPr/>
        </p:nvSpPr>
        <p:spPr>
          <a:xfrm>
            <a:off x="3776472" y="4142232"/>
            <a:ext cx="3200400" cy="2606040"/>
          </a:xfrm>
          <a:prstGeom prst="roundRect">
            <a:avLst>
              <a:gd name="adj" fmla="val 4211"/>
            </a:avLst>
          </a:prstGeom>
          <a:solidFill>
            <a:srgbClr val="FFFFFF"/>
          </a:solidFill>
          <a:ln w="22225">
            <a:solidFill>
              <a:srgbClr val="4472C4"/>
            </a:solidFill>
            <a:prstDash val="solid"/>
          </a:ln>
        </p:spPr>
      </p:sp>
      <p:sp>
        <p:nvSpPr>
          <p:cNvPr id="16" name="fslabel_218"/>
          <p:cNvSpPr/>
          <p:nvPr/>
        </p:nvSpPr>
        <p:spPr>
          <a:xfrm>
            <a:off x="4998212" y="3968496"/>
            <a:ext cx="756920" cy="347472"/>
          </a:xfrm>
          <a:prstGeom prst="rect">
            <a:avLst/>
          </a:prstGeom>
          <a:solidFill>
            <a:srgbClr val="FFFFFF"/>
          </a:solidFill>
          <a:ln/>
        </p:spPr>
        <p:txBody>
          <a:bodyPr wrap="square" lIns="0" tIns="0" rIns="0" bIns="0" rtlCol="0" anchor="ctr"/>
          <a:lstStyle/>
          <a:p>
            <a:pPr algn="ctr" indent="0" marL="0">
              <a:buNone/>
            </a:pPr>
            <a:r>
              <a:rPr lang="en-US" sz="1900" b="1" dirty="0">
                <a:solidFill>
                  <a:srgbClr val="4472C4"/>
                </a:solidFill>
                <a:latin typeface="Arial" pitchFamily="34" charset="0"/>
                <a:ea typeface="Arial" pitchFamily="34" charset="-122"/>
                <a:cs typeface="Arial" pitchFamily="34" charset="-120"/>
              </a:rPr>
              <a:t>拾う</a:t>
            </a:r>
            <a:endParaRPr lang="en-US" sz="1900" dirty="0"/>
          </a:p>
        </p:txBody>
      </p:sp>
      <p:sp>
        <p:nvSpPr>
          <p:cNvPr id="17" name="text_219"/>
          <p:cNvSpPr txBox="1"/>
          <p:nvPr/>
        </p:nvSpPr>
        <p:spPr>
          <a:xfrm>
            <a:off x="3959352" y="4462272"/>
            <a:ext cx="2834640" cy="685800"/>
          </a:xfrm>
          <a:prstGeom prst="rect">
            <a:avLst/>
          </a:prstGeom>
          <a:noFill/>
          <a:ln/>
        </p:spPr>
        <p:txBody>
          <a:bodyPr wrap="square" lIns="0" tIns="0" rIns="0" bIns="0" rtlCol="0" anchor="ctr"/>
          <a:lstStyle/>
          <a:p>
            <a:pPr algn="ctr" indent="0" marL="0">
              <a:buNone/>
            </a:pPr>
            <a:r>
              <a:rPr lang="en-US" sz="1600" b="1" dirty="0">
                <a:solidFill>
                  <a:srgbClr val="6B6B6B"/>
                </a:solidFill>
                <a:latin typeface="Arial" pitchFamily="34" charset="0"/>
                <a:ea typeface="Arial" pitchFamily="34" charset="-122"/>
                <a:cs typeface="Arial" pitchFamily="34" charset="-120"/>
              </a:rPr>
              <a:t>撤退する中国ブランドの顧客</a:t>
            </a:r>
            <a:endParaRPr lang="en-US" sz="1600" dirty="0"/>
          </a:p>
        </p:txBody>
      </p:sp>
      <p:sp>
        <p:nvSpPr>
          <p:cNvPr id="18" name="text_220"/>
          <p:cNvSpPr txBox="1"/>
          <p:nvPr/>
        </p:nvSpPr>
        <p:spPr>
          <a:xfrm>
            <a:off x="3959352" y="5193792"/>
            <a:ext cx="2834640" cy="13716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認定中古・整備で受け止める</a:t>
            </a:r>
            <a:endParaRPr lang="en-US" sz="1600" dirty="0"/>
          </a:p>
        </p:txBody>
      </p:sp>
      <p:sp>
        <p:nvSpPr>
          <p:cNvPr id="19" name="shape_221"/>
          <p:cNvSpPr/>
          <p:nvPr/>
        </p:nvSpPr>
        <p:spPr>
          <a:xfrm>
            <a:off x="7296912" y="1188720"/>
            <a:ext cx="2980944" cy="5577840"/>
          </a:xfrm>
          <a:prstGeom prst="roundRect">
            <a:avLst>
              <a:gd name="adj" fmla="val 3067"/>
            </a:avLst>
          </a:prstGeom>
          <a:solidFill>
            <a:srgbClr val="EEF3FB"/>
          </a:solidFill>
          <a:ln w="15875">
            <a:solidFill>
              <a:srgbClr val="4472C4"/>
            </a:solidFill>
            <a:prstDash val="solid"/>
          </a:ln>
        </p:spPr>
      </p:sp>
      <p:sp>
        <p:nvSpPr>
          <p:cNvPr id="20" name="tab_222"/>
          <p:cNvSpPr/>
          <p:nvPr/>
        </p:nvSpPr>
        <p:spPr>
          <a:xfrm>
            <a:off x="7406640" y="1280160"/>
            <a:ext cx="22301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中国企業との向き合い方</a:t>
            </a:r>
            <a:endParaRPr lang="en-US" sz="1400" dirty="0"/>
          </a:p>
        </p:txBody>
      </p:sp>
      <p:sp>
        <p:nvSpPr>
          <p:cNvPr id="21" name="role_223"/>
          <p:cNvSpPr/>
          <p:nvPr/>
        </p:nvSpPr>
        <p:spPr>
          <a:xfrm>
            <a:off x="7479792" y="18288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競合</a:t>
            </a:r>
            <a:endParaRPr lang="en-US" sz="1700" dirty="0"/>
          </a:p>
        </p:txBody>
      </p:sp>
      <p:sp>
        <p:nvSpPr>
          <p:cNvPr id="22" name="text_224"/>
          <p:cNvSpPr txBox="1"/>
          <p:nvPr/>
        </p:nvSpPr>
        <p:spPr>
          <a:xfrm>
            <a:off x="8577072" y="18288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BYD・MG</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売れる車種の多い相手と正面から</a:t>
            </a:r>
            <a:endParaRPr lang="en-US" sz="1600" dirty="0"/>
          </a:p>
        </p:txBody>
      </p:sp>
      <p:sp>
        <p:nvSpPr>
          <p:cNvPr id="23" name="role_225"/>
          <p:cNvSpPr/>
          <p:nvPr/>
        </p:nvSpPr>
        <p:spPr>
          <a:xfrm>
            <a:off x="7479792" y="34290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協業</a:t>
            </a:r>
            <a:endParaRPr lang="en-US" sz="1700" dirty="0"/>
          </a:p>
        </p:txBody>
      </p:sp>
      <p:sp>
        <p:nvSpPr>
          <p:cNvPr id="24" name="text_226"/>
          <p:cNvSpPr txBox="1"/>
          <p:nvPr/>
        </p:nvSpPr>
        <p:spPr>
          <a:xfrm>
            <a:off x="8577072" y="34290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電池・ソフト・開発</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BYD・GAC・Changanの開発体制を使う</a:t>
            </a:r>
            <a:endParaRPr lang="en-US" sz="1600" dirty="0"/>
          </a:p>
        </p:txBody>
      </p:sp>
      <p:sp>
        <p:nvSpPr>
          <p:cNvPr id="25" name="role_227"/>
          <p:cNvSpPr/>
          <p:nvPr/>
        </p:nvSpPr>
        <p:spPr>
          <a:xfrm>
            <a:off x="7479792" y="5029200"/>
            <a:ext cx="960120" cy="1325880"/>
          </a:xfrm>
          <a:prstGeom prst="roundRect">
            <a:avLst>
              <a:gd name="adj" fmla="val 7619"/>
            </a:avLst>
          </a:prstGeom>
          <a:solidFill>
            <a:srgbClr val="1E9C96"/>
          </a:solidFill>
          <a:ln>
            <a:solidFill>
              <a:srgbClr val="1E9C96"/>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受け皿</a:t>
            </a:r>
            <a:endParaRPr lang="en-US" sz="1700" dirty="0"/>
          </a:p>
        </p:txBody>
      </p:sp>
      <p:sp>
        <p:nvSpPr>
          <p:cNvPr id="26" name="text_228"/>
          <p:cNvSpPr txBox="1"/>
          <p:nvPr/>
        </p:nvSpPr>
        <p:spPr>
          <a:xfrm>
            <a:off x="8577072" y="5029200"/>
            <a:ext cx="1563624" cy="13258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撤退ブランド</a:t>
            </a:r>
            <a:endParaRPr lang="en-US" sz="1600" dirty="0"/>
          </a:p>
          <a:p>
            <a:pPr indent="0" marL="0">
              <a:buNone/>
            </a:pPr>
            <a:r>
              <a:rPr lang="en-US" sz="1400" dirty="0">
                <a:solidFill>
                  <a:srgbClr val="6B6B6B"/>
                </a:solidFill>
                <a:latin typeface="Arial" pitchFamily="34" charset="0"/>
                <a:ea typeface="Arial" pitchFamily="34" charset="-122"/>
                <a:cs typeface="Arial" pitchFamily="34" charset="-120"/>
              </a:rPr>
              <a:t>顧客・販売店を引き取る</a:t>
            </a:r>
            <a:endParaRPr lang="en-US" sz="1600" dirty="0"/>
          </a:p>
        </p:txBody>
      </p:sp>
      <p:sp>
        <p:nvSpPr>
          <p:cNvPr id="27" name="text_22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出典：本資料の検証、Toyota（bZ3の共同開発）、各社発表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結論</a:t>
            </a:r>
            <a:endParaRPr lang="en-US" sz="2400" dirty="0"/>
          </a:p>
        </p:txBody>
      </p:sp>
      <p:sp>
        <p:nvSpPr>
          <p:cNvPr id="3" name="num_230"/>
          <p:cNvSpPr/>
          <p:nvPr/>
        </p:nvSpPr>
        <p:spPr>
          <a:xfrm>
            <a:off x="502920" y="134416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_231"/>
          <p:cNvSpPr txBox="1"/>
          <p:nvPr/>
        </p:nvSpPr>
        <p:spPr>
          <a:xfrm>
            <a:off x="1463040" y="123444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中国系のシェア拡大は、政策×供給×価格でできたBEV市場に、日系の商品がなかったことによる</a:t>
            </a:r>
            <a:endParaRPr lang="en-US" sz="2000" dirty="0"/>
          </a:p>
        </p:txBody>
      </p:sp>
      <p:sp>
        <p:nvSpPr>
          <p:cNvPr id="5" name="num_232"/>
          <p:cNvSpPr/>
          <p:nvPr/>
        </p:nvSpPr>
        <p:spPr>
          <a:xfrm>
            <a:off x="502920" y="267004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6" name="text_233"/>
          <p:cNvSpPr txBox="1"/>
          <p:nvPr/>
        </p:nvSpPr>
        <p:spPr>
          <a:xfrm>
            <a:off x="1463040" y="256032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モデルチェンジの速さは中国系どうしの生き残り条件。中身は電池の持ちより、値下げ・充電・装備</a:t>
            </a:r>
            <a:endParaRPr lang="en-US" sz="2000" dirty="0"/>
          </a:p>
        </p:txBody>
      </p:sp>
      <p:sp>
        <p:nvSpPr>
          <p:cNvPr id="7" name="num_234"/>
          <p:cNvSpPr/>
          <p:nvPr/>
        </p:nvSpPr>
        <p:spPr>
          <a:xfrm>
            <a:off x="502920" y="3995928"/>
            <a:ext cx="685800" cy="685800"/>
          </a:xfrm>
          <a:prstGeom prst="ellipse">
            <a:avLst/>
          </a:prstGeom>
          <a:solidFill>
            <a:srgbClr val="1E9C96"/>
          </a:solidFill>
          <a:ln>
            <a:solidFill>
              <a:srgbClr val="1E9C96"/>
            </a:solid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8" name="text_235"/>
          <p:cNvSpPr txBox="1"/>
          <p:nvPr/>
        </p:nvSpPr>
        <p:spPr>
          <a:xfrm>
            <a:off x="1463040" y="3886200"/>
            <a:ext cx="8769096" cy="914400"/>
          </a:xfrm>
          <a:prstGeom prst="rect">
            <a:avLst/>
          </a:prstGeom>
          <a:noFill/>
          <a:ln/>
        </p:spPr>
        <p:txBody>
          <a:bodyPr wrap="square" lIns="0" tIns="0" rIns="0" bIns="0" rtlCol="0" anchor="ctr"/>
          <a:lstStyle/>
          <a:p>
            <a:pPr indent="0" marL="0">
              <a:buNone/>
            </a:pPr>
            <a:r>
              <a:rPr lang="en-US" sz="2000" dirty="0">
                <a:solidFill>
                  <a:srgbClr val="333333"/>
                </a:solidFill>
                <a:latin typeface="Arial" pitchFamily="34" charset="0"/>
                <a:ea typeface="Arial" pitchFamily="34" charset="-122"/>
                <a:cs typeface="Arial" pitchFamily="34" charset="-120"/>
              </a:rPr>
              <a:t>中古EVが安いのは主に新車値下げのため。日系は残価と保有費で戦える</a:t>
            </a:r>
            <a:endParaRPr lang="en-US" sz="2000" dirty="0"/>
          </a:p>
        </p:txBody>
      </p:sp>
      <p:sp>
        <p:nvSpPr>
          <p:cNvPr id="9" name="summary_236"/>
          <p:cNvSpPr/>
          <p:nvPr/>
        </p:nvSpPr>
        <p:spPr>
          <a:xfrm>
            <a:off x="777240" y="5349240"/>
            <a:ext cx="9134856" cy="1463040"/>
          </a:xfrm>
          <a:prstGeom prst="roundRect">
            <a:avLst>
              <a:gd name="adj" fmla="val 6250"/>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日系がタイで取るべきこと</a:t>
            </a:r>
            <a:endParaRPr lang="en-US" sz="2200" dirty="0"/>
          </a:p>
          <a:p>
            <a:pPr algn="ctr" indent="0" marL="0">
              <a:buNone/>
            </a:pPr>
            <a:r>
              <a:rPr lang="en-US" sz="2200" b="1" dirty="0">
                <a:solidFill>
                  <a:srgbClr val="333333"/>
                </a:solidFill>
                <a:latin typeface="Arial" pitchFamily="34" charset="0"/>
                <a:ea typeface="Arial" pitchFamily="34" charset="-122"/>
                <a:cs typeface="Arial" pitchFamily="34" charset="-120"/>
              </a:rPr>
              <a:t>BEVの商品を持ち、HEVは長く売って残価を守り、</a:t>
            </a:r>
            <a:endParaRPr lang="en-US" sz="2200" dirty="0"/>
          </a:p>
          <a:p>
            <a:pPr algn="ctr" indent="0" marL="0">
              <a:buNone/>
            </a:pPr>
            <a:r>
              <a:rPr lang="en-US" sz="2200" b="1" dirty="0">
                <a:solidFill>
                  <a:srgbClr val="E8384F"/>
                </a:solidFill>
                <a:latin typeface="Arial" pitchFamily="34" charset="0"/>
                <a:ea typeface="Arial" pitchFamily="34" charset="-122"/>
                <a:cs typeface="Arial" pitchFamily="34" charset="-120"/>
              </a:rPr>
              <a:t>残クレで月々の支払いを下げる</a:t>
            </a:r>
            <a:endParaRPr lang="en-US" sz="22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1965960"/>
            <a:ext cx="9592056" cy="2103120"/>
          </a:xfrm>
          <a:prstGeom prst="rect">
            <a:avLst/>
          </a:prstGeom>
          <a:noFill/>
          <a:ln/>
        </p:spPr>
        <p:txBody>
          <a:bodyPr wrap="square" rtlCol="0" anchor="ctr"/>
          <a:lstStyle/>
          <a:p>
            <a:pPr algn="ctr" indent="0" marL="0">
              <a:buNone/>
            </a:pPr>
            <a:r>
              <a:rPr lang="en-US" sz="3600" b="1" dirty="0">
                <a:solidFill>
                  <a:srgbClr val="262626"/>
                </a:solidFill>
                <a:latin typeface="Arial" pitchFamily="34" charset="0"/>
                <a:ea typeface="Arial" pitchFamily="34" charset="-122"/>
                <a:cs typeface="Arial" pitchFamily="34" charset="-120"/>
              </a:rPr>
              <a:t>Appendix</a:t>
            </a:r>
            <a:endParaRPr lang="en-US" sz="3600" dirty="0"/>
          </a:p>
        </p:txBody>
      </p:sp>
      <p:sp>
        <p:nvSpPr>
          <p:cNvPr id="3" name="Text 3"/>
          <p:cNvSpPr/>
          <p:nvPr>
            <p:ph idx="104" type="body" hasCustomPrompt="1"/>
          </p:nvPr>
        </p:nvSpPr>
        <p:spPr>
          <a:xfrm>
            <a:off x="548640" y="4160520"/>
            <a:ext cx="9592056" cy="1005840"/>
          </a:xfrm>
          <a:prstGeom prst="rect">
            <a:avLst/>
          </a:prstGeom>
          <a:noFill/>
          <a:ln/>
        </p:spPr>
        <p:txBody>
          <a:bodyPr wrap="square" rtlCol="0" anchor="ctr"/>
          <a:lstStyle/>
          <a:p>
            <a:pPr algn="r" indent="0" marL="0">
              <a:buNone/>
            </a:pPr>
            <a:r>
              <a:rPr lang="en-US" sz="1800" dirty="0">
                <a:solidFill>
                  <a:srgbClr val="262626"/>
                </a:solidFill>
                <a:latin typeface="Arial" pitchFamily="34" charset="0"/>
                <a:ea typeface="Arial" pitchFamily="34" charset="-122"/>
                <a:cs typeface="Arial" pitchFamily="34" charset="-120"/>
              </a:rPr>
              <a:t>モデルチェンジの中身／電池と中古価格／価格と保有費／市場と政策／中国系の淘汰／日系の打ち手／検証設計／出典</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　モデルチェンジの数え方</a:t>
            </a:r>
            <a:endParaRPr lang="en-US" sz="2400" dirty="0"/>
          </a:p>
        </p:txBody>
      </p:sp>
      <p:sp>
        <p:nvSpPr>
          <p:cNvPr id="3" name="shape_237"/>
          <p:cNvSpPr/>
          <p:nvPr/>
        </p:nvSpPr>
        <p:spPr>
          <a:xfrm>
            <a:off x="411480" y="1234440"/>
            <a:ext cx="2286000" cy="3291840"/>
          </a:xfrm>
          <a:prstGeom prst="rect">
            <a:avLst/>
          </a:prstGeom>
          <a:solidFill>
            <a:srgbClr val="F2F2F2"/>
          </a:solidFill>
          <a:ln w="12700">
            <a:solidFill>
              <a:srgbClr val="F2F2F2"/>
            </a:solidFill>
            <a:prstDash val="solid"/>
          </a:ln>
        </p:spPr>
      </p:sp>
      <p:sp>
        <p:nvSpPr>
          <p:cNvPr id="4" name="shape_238"/>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239"/>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6" name="text_240"/>
          <p:cNvSpPr txBox="1"/>
          <p:nvPr/>
        </p:nvSpPr>
        <p:spPr>
          <a:xfrm>
            <a:off x="594360"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全面刷新</a:t>
            </a:r>
            <a:endParaRPr lang="en-US" sz="2000" dirty="0"/>
          </a:p>
        </p:txBody>
      </p:sp>
      <p:sp>
        <p:nvSpPr>
          <p:cNvPr id="7" name="text_241"/>
          <p:cNvSpPr txBox="1"/>
          <p:nvPr/>
        </p:nvSpPr>
        <p:spPr>
          <a:xfrm>
            <a:off x="594360"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車体・内装・駆動系を</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まとめて刷新</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MG3（2024年）</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Camry（2024年）</a:t>
            </a:r>
            <a:endParaRPr lang="en-US" sz="1400" dirty="0"/>
          </a:p>
        </p:txBody>
      </p:sp>
      <p:sp>
        <p:nvSpPr>
          <p:cNvPr id="8" name="shape_242"/>
          <p:cNvSpPr/>
          <p:nvPr/>
        </p:nvSpPr>
        <p:spPr>
          <a:xfrm>
            <a:off x="2938272" y="1234440"/>
            <a:ext cx="2286000" cy="3291840"/>
          </a:xfrm>
          <a:prstGeom prst="rect">
            <a:avLst/>
          </a:prstGeom>
          <a:solidFill>
            <a:srgbClr val="F2F2F2"/>
          </a:solidFill>
          <a:ln w="12700">
            <a:solidFill>
              <a:srgbClr val="F2F2F2"/>
            </a:solidFill>
            <a:prstDash val="solid"/>
          </a:ln>
        </p:spPr>
      </p:sp>
      <p:sp>
        <p:nvSpPr>
          <p:cNvPr id="9" name="shape_243"/>
          <p:cNvSpPr/>
          <p:nvPr/>
        </p:nvSpPr>
        <p:spPr>
          <a:xfrm>
            <a:off x="2938272" y="1344168"/>
            <a:ext cx="1325880" cy="347472"/>
          </a:xfrm>
          <a:prstGeom prst="homePlate">
            <a:avLst/>
          </a:prstGeom>
          <a:solidFill>
            <a:srgbClr val="1E9C96"/>
          </a:solidFill>
          <a:ln w="12700">
            <a:solidFill>
              <a:srgbClr val="1E9C96"/>
            </a:solidFill>
            <a:prstDash val="solid"/>
          </a:ln>
        </p:spPr>
      </p:sp>
      <p:sp>
        <p:nvSpPr>
          <p:cNvPr id="10" name="text_244"/>
          <p:cNvSpPr txBox="1"/>
          <p:nvPr/>
        </p:nvSpPr>
        <p:spPr>
          <a:xfrm>
            <a:off x="3048000"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1" name="text_245"/>
          <p:cNvSpPr txBox="1"/>
          <p:nvPr/>
        </p:nvSpPr>
        <p:spPr>
          <a:xfrm>
            <a:off x="3121152"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部分改良</a:t>
            </a:r>
            <a:endParaRPr lang="en-US" sz="2000" dirty="0"/>
          </a:p>
        </p:txBody>
      </p:sp>
      <p:sp>
        <p:nvSpPr>
          <p:cNvPr id="12" name="text_246"/>
          <p:cNvSpPr txBox="1"/>
          <p:nvPr/>
        </p:nvSpPr>
        <p:spPr>
          <a:xfrm>
            <a:off x="3121152"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外内装・装備・</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電池の一部を変更</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MG4 MY2026</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Corolla Cross 2024</a:t>
            </a:r>
            <a:endParaRPr lang="en-US" sz="1400" dirty="0"/>
          </a:p>
        </p:txBody>
      </p:sp>
      <p:sp>
        <p:nvSpPr>
          <p:cNvPr id="13" name="shape_247"/>
          <p:cNvSpPr/>
          <p:nvPr/>
        </p:nvSpPr>
        <p:spPr>
          <a:xfrm>
            <a:off x="5465064" y="1234440"/>
            <a:ext cx="2286000" cy="3291840"/>
          </a:xfrm>
          <a:prstGeom prst="rect">
            <a:avLst/>
          </a:prstGeom>
          <a:solidFill>
            <a:srgbClr val="F2F2F2"/>
          </a:solidFill>
          <a:ln w="12700">
            <a:solidFill>
              <a:srgbClr val="F2F2F2"/>
            </a:solidFill>
            <a:prstDash val="solid"/>
          </a:ln>
        </p:spPr>
      </p:sp>
      <p:sp>
        <p:nvSpPr>
          <p:cNvPr id="14" name="shape_248"/>
          <p:cNvSpPr/>
          <p:nvPr/>
        </p:nvSpPr>
        <p:spPr>
          <a:xfrm>
            <a:off x="5465064" y="1344168"/>
            <a:ext cx="1325880" cy="347472"/>
          </a:xfrm>
          <a:prstGeom prst="homePlate">
            <a:avLst/>
          </a:prstGeom>
          <a:solidFill>
            <a:srgbClr val="1E9C96"/>
          </a:solidFill>
          <a:ln w="12700">
            <a:solidFill>
              <a:srgbClr val="1E9C96"/>
            </a:solidFill>
            <a:prstDash val="solid"/>
          </a:ln>
        </p:spPr>
      </p:sp>
      <p:sp>
        <p:nvSpPr>
          <p:cNvPr id="15" name="text_249"/>
          <p:cNvSpPr txBox="1"/>
          <p:nvPr/>
        </p:nvSpPr>
        <p:spPr>
          <a:xfrm>
            <a:off x="5574792"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16" name="text_250"/>
          <p:cNvSpPr txBox="1"/>
          <p:nvPr/>
        </p:nvSpPr>
        <p:spPr>
          <a:xfrm>
            <a:off x="5647944"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年次改良</a:t>
            </a:r>
            <a:endParaRPr lang="en-US" sz="2000" dirty="0"/>
          </a:p>
        </p:txBody>
      </p:sp>
      <p:sp>
        <p:nvSpPr>
          <p:cNvPr id="17" name="text_251"/>
          <p:cNvSpPr txBox="1"/>
          <p:nvPr/>
        </p:nvSpPr>
        <p:spPr>
          <a:xfrm>
            <a:off x="5647944"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容量・装備・</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グレードの更新</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Atto 3 MY2024</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Dolphin 2024</a:t>
            </a:r>
            <a:endParaRPr lang="en-US" sz="1400" dirty="0"/>
          </a:p>
        </p:txBody>
      </p:sp>
      <p:sp>
        <p:nvSpPr>
          <p:cNvPr id="18" name="shape_252"/>
          <p:cNvSpPr/>
          <p:nvPr/>
        </p:nvSpPr>
        <p:spPr>
          <a:xfrm>
            <a:off x="7991856" y="1234440"/>
            <a:ext cx="2286000" cy="3291840"/>
          </a:xfrm>
          <a:prstGeom prst="rect">
            <a:avLst/>
          </a:prstGeom>
          <a:solidFill>
            <a:srgbClr val="F2F2F2"/>
          </a:solidFill>
          <a:ln w="12700">
            <a:solidFill>
              <a:srgbClr val="F2F2F2"/>
            </a:solidFill>
            <a:prstDash val="solid"/>
          </a:ln>
        </p:spPr>
      </p:sp>
      <p:sp>
        <p:nvSpPr>
          <p:cNvPr id="19" name="shape_253"/>
          <p:cNvSpPr/>
          <p:nvPr/>
        </p:nvSpPr>
        <p:spPr>
          <a:xfrm>
            <a:off x="7991856" y="1344168"/>
            <a:ext cx="1325880" cy="347472"/>
          </a:xfrm>
          <a:prstGeom prst="homePlate">
            <a:avLst/>
          </a:prstGeom>
          <a:solidFill>
            <a:srgbClr val="1E9C96"/>
          </a:solidFill>
          <a:ln w="12700">
            <a:solidFill>
              <a:srgbClr val="1E9C96"/>
            </a:solidFill>
            <a:prstDash val="solid"/>
          </a:ln>
        </p:spPr>
      </p:sp>
      <p:sp>
        <p:nvSpPr>
          <p:cNvPr id="20" name="text_254"/>
          <p:cNvSpPr txBox="1"/>
          <p:nvPr/>
        </p:nvSpPr>
        <p:spPr>
          <a:xfrm>
            <a:off x="810158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1" name="text_255"/>
          <p:cNvSpPr txBox="1"/>
          <p:nvPr/>
        </p:nvSpPr>
        <p:spPr>
          <a:xfrm>
            <a:off x="8174736" y="1828800"/>
            <a:ext cx="1920240" cy="457200"/>
          </a:xfrm>
          <a:prstGeom prst="rect">
            <a:avLst/>
          </a:prstGeom>
          <a:noFill/>
          <a:ln/>
        </p:spPr>
        <p:txBody>
          <a:bodyPr wrap="square" lIns="0" tIns="0" rIns="0" bIns="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価格施策</a:t>
            </a:r>
            <a:endParaRPr lang="en-US" sz="2000" dirty="0"/>
          </a:p>
        </p:txBody>
      </p:sp>
      <p:sp>
        <p:nvSpPr>
          <p:cNvPr id="22" name="text_256"/>
          <p:cNvSpPr txBox="1"/>
          <p:nvPr/>
        </p:nvSpPr>
        <p:spPr>
          <a:xfrm>
            <a:off x="8174736" y="2377440"/>
            <a:ext cx="1920240" cy="2011680"/>
          </a:xfrm>
          <a:prstGeom prst="rect">
            <a:avLst/>
          </a:prstGeom>
          <a:noFill/>
          <a:ln/>
        </p:spPr>
        <p:txBody>
          <a:bodyPr wrap="square" lIns="0" tIns="0" rIns="0" bIns="0" rtlCol="0" anchor="t"/>
          <a:lstStyle/>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価格だけを変更</a:t>
            </a:r>
            <a:endParaRPr lang="en-US" sz="1400" dirty="0"/>
          </a:p>
          <a:p>
            <a:pPr algn="ctr" indent="0" marL="0">
              <a:spcAft>
                <a:spcPts val="400"/>
              </a:spcAft>
              <a:buNone/>
            </a:pP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Aion Y Plus</a:t>
            </a:r>
            <a:endParaRPr lang="en-US" sz="1400" dirty="0"/>
          </a:p>
          <a:p>
            <a:pPr algn="ctr" indent="0" marL="0">
              <a:spcAft>
                <a:spcPts val="400"/>
              </a:spcAft>
              <a:buNone/>
            </a:pPr>
            <a:r>
              <a:rPr lang="en-US" sz="1400" dirty="0">
                <a:solidFill>
                  <a:srgbClr val="333333"/>
                </a:solidFill>
                <a:latin typeface="Arial" pitchFamily="34" charset="0"/>
                <a:ea typeface="Arial" pitchFamily="34" charset="-122"/>
                <a:cs typeface="Arial" pitchFamily="34" charset="-120"/>
              </a:rPr>
              <a:t>（2024年11月）</a:t>
            </a:r>
            <a:endParaRPr lang="en-US" sz="1400" dirty="0"/>
          </a:p>
        </p:txBody>
      </p:sp>
      <p:sp>
        <p:nvSpPr>
          <p:cNvPr id="23" name="shape_257"/>
          <p:cNvSpPr/>
          <p:nvPr/>
        </p:nvSpPr>
        <p:spPr>
          <a:xfrm>
            <a:off x="7871460" y="1234440"/>
            <a:ext cx="0" cy="3291840"/>
          </a:xfrm>
          <a:prstGeom prst="line">
            <a:avLst/>
          </a:prstGeom>
          <a:noFill/>
          <a:ln w="19050">
            <a:solidFill>
              <a:srgbClr val="E8384F"/>
            </a:solidFill>
            <a:prstDash val="dash"/>
          </a:ln>
        </p:spPr>
      </p:sp>
      <p:sp>
        <p:nvSpPr>
          <p:cNvPr id="24" name="shape_258"/>
          <p:cNvSpPr/>
          <p:nvPr/>
        </p:nvSpPr>
        <p:spPr>
          <a:xfrm>
            <a:off x="411480" y="4983480"/>
            <a:ext cx="9866376" cy="1737360"/>
          </a:xfrm>
          <a:prstGeom prst="roundRect">
            <a:avLst>
              <a:gd name="adj" fmla="val 6316"/>
            </a:avLst>
          </a:prstGeom>
          <a:solidFill>
            <a:srgbClr val="FFFFFF"/>
          </a:solidFill>
          <a:ln w="22225">
            <a:solidFill>
              <a:srgbClr val="E8384F"/>
            </a:solidFill>
            <a:prstDash val="solid"/>
          </a:ln>
        </p:spPr>
      </p:sp>
      <p:sp>
        <p:nvSpPr>
          <p:cNvPr id="25" name="fslabel_259"/>
          <p:cNvSpPr/>
          <p:nvPr/>
        </p:nvSpPr>
        <p:spPr>
          <a:xfrm>
            <a:off x="4451858" y="4828032"/>
            <a:ext cx="17856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本資料のルール</a:t>
            </a:r>
            <a:endParaRPr lang="en-US" sz="1700" dirty="0"/>
          </a:p>
        </p:txBody>
      </p:sp>
      <p:sp>
        <p:nvSpPr>
          <p:cNvPr id="26" name="text_260"/>
          <p:cNvSpPr txBox="1"/>
          <p:nvPr/>
        </p:nvSpPr>
        <p:spPr>
          <a:xfrm>
            <a:off x="777240" y="5257800"/>
            <a:ext cx="9134856" cy="1371600"/>
          </a:xfrm>
          <a:prstGeom prst="rect">
            <a:avLst/>
          </a:prstGeom>
          <a:noFill/>
          <a:ln/>
        </p:spPr>
        <p:txBody>
          <a:bodyPr wrap="square" lIns="0" tIns="0" rIns="0" bIns="0" rtlCol="0" anchor="ctr"/>
          <a:lstStyle/>
          <a:p>
            <a:pPr indent="0" marL="0">
              <a:spcAft>
                <a:spcPts val="400"/>
              </a:spcAft>
              <a:buNone/>
            </a:pPr>
            <a:r>
              <a:rPr lang="en-US" sz="1600" dirty="0">
                <a:solidFill>
                  <a:srgbClr val="333333"/>
                </a:solidFill>
                <a:latin typeface="Arial" pitchFamily="34" charset="0"/>
                <a:ea typeface="Arial" pitchFamily="34" charset="-122"/>
                <a:cs typeface="Arial" pitchFamily="34" charset="-120"/>
              </a:rPr>
              <a:t>✓ 価格だけの変更はモデルチェンジに数えない</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グレード追加・別名の後継車は、元の車種の世代交代に数えない</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中国で発表された新型と、タイで売られる仕様を分ける</a:t>
            </a:r>
            <a:endParaRPr lang="en-US" sz="1600" dirty="0"/>
          </a:p>
        </p:txBody>
      </p:sp>
      <p:sp>
        <p:nvSpPr>
          <p:cNvPr id="27" name="text_26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出典：各社のタイ公式資料。数え直し後の部分改良の間隔：中国系2.0年、日系3.3年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　中国系の改良の中身①（BYD・SAIC MG・GWM）</a:t>
            </a:r>
            <a:endParaRPr lang="en-US" sz="2400" dirty="0"/>
          </a:p>
        </p:txBody>
      </p:sp>
      <p:graphicFrame>
        <p:nvGraphicFramePr>
          <p:cNvPr id="20" name="table_262"/>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Atto 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49.92→50.25 kWh、航続は据え置き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15.6型画面。7月に同じMY23を大幅値下げ</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Dolphin</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2024/7〜9</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44.9→50.25 kWh、410→435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56.99万バーツ。容量+12%で航続+6%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BYD Seal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世代交代は未確認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タイの旧新比較なし</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値下げは改良に数えない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MG4</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51→49 kWh、425→423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価格・グレードを再編</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MG4 長距離</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 MY</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64→62.2 kWh、540 kmを維持</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新しい内装</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MG3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ICE→1.5L HEV（1.83 kWh）</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車体・内装・安全装備を刷新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ORA Good Cat</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NMC→LFP 57.7 kWh、500→480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充電DC60→70 kW。電池をSVOLTへ</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ORA 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後継（別名）</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58.3 kWh、520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ハッチバック→SUV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3"/>
          <p:cNvSpPr/>
          <p:nvPr/>
        </p:nvSpPr>
        <p:spPr>
          <a:xfrm>
            <a:off x="411480" y="1097280"/>
            <a:ext cx="9866376" cy="5385816"/>
          </a:xfrm>
          <a:prstGeom prst="rect">
            <a:avLst/>
          </a:prstGeom>
          <a:ln w="25400">
            <a:solidFill>
              <a:srgbClr val="4472C4"/>
            </a:solidFill>
            <a:prstDash val="solid"/>
          </a:ln>
        </p:spPr>
      </p:sp>
      <p:sp>
        <p:nvSpPr>
          <p:cNvPr id="5" name="text_26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出典：BYD Rêver、BYD販売店、MG Thailand、GWM（2022〜2026年）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付録3　中国系の改良の中身②（Changan・GAC・Neta 他）</a:t>
            </a:r>
            <a:endParaRPr lang="en-US" sz="2400" dirty="0"/>
          </a:p>
        </p:txBody>
      </p:sp>
      <p:graphicFrame>
        <p:nvGraphicFramePr>
          <p:cNvPr id="21" name="table_265"/>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Deepal S07</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2025/10</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技術改良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66.8→68.8 kWh LFP、30〜80% 15分</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早期特価 109.9万バーツ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Aion Y Plus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価格施策（数えない）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変更なし</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99.59万→82.99万バーツ</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Neta V-II</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部分改良・現地生産</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382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外装・14.6型画面・ADAS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XPeng G6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87.5 NMC→80.8 kWh LFP、10〜80% 12分</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航続570→525 km（WLTP）</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Zeekr X</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2026/3</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66 kWh、470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内装・快適装備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Omoda C5 EV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2026/9</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外内装・電池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61→50.6 kWh、505→422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70.9万（9月限定64.9万）</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Haval H6 PHEV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34 kWh NMC→27.4 kWh LFP、EV航続201→150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電池を安価なLFPへ</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21792">
                <a:tc>
                  <a:txBody>
                    <a:bodyPr/>
                    <a:lstStyle/>
                    <a:p>
                      <a:pPr indent="0" marL="0">
                        <a:buNone/>
                      </a:pPr>
                      <a:r>
                        <a:rPr lang="en-US" sz="1200" dirty="0">
                          <a:solidFill>
                            <a:srgbClr val="333333"/>
                          </a:solidFill>
                          <a:latin typeface="Arial" pitchFamily="34" charset="0"/>
                          <a:ea typeface="Arial" pitchFamily="34" charset="-122"/>
                          <a:cs typeface="Arial" pitchFamily="34" charset="-120"/>
                        </a:rPr>
                        <a:t>Sealion 6 DM-i</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2026</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年次改良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18.3→26.6 kWh、EV航続95→150 km</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急速充電18→55 kW</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6"/>
          <p:cNvSpPr/>
          <p:nvPr/>
        </p:nvSpPr>
        <p:spPr>
          <a:xfrm>
            <a:off x="411480" y="1097280"/>
            <a:ext cx="9866376" cy="5385816"/>
          </a:xfrm>
          <a:prstGeom prst="rect">
            <a:avLst/>
          </a:prstGeom>
          <a:ln w="25400">
            <a:solidFill>
              <a:srgbClr val="4472C4"/>
            </a:solidFill>
            <a:prstDash val="solid"/>
          </a:ln>
        </p:spPr>
      </p:sp>
      <p:sp>
        <p:nvSpPr>
          <p:cNvPr id="5" name="text_26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出典：Changan、GAC、Neta、XPeng、Zeekr、Omoda、GWM、BYDのタイ公式資料（2024〜2026年）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付録4　日系の改良の中身　HEVでも駆動系の更新はある</a:t>
            </a:r>
            <a:endParaRPr lang="en-US" sz="2400" dirty="0"/>
          </a:p>
        </p:txBody>
      </p:sp>
      <p:graphicFrame>
        <p:nvGraphicFramePr>
          <p:cNvPr id="22" name="table_268"/>
          <p:cNvGraphicFramePr>
            <a:graphicFrameLocks noGrp="1"/>
          </p:cNvGraphicFramePr>
          <p:nvPr>
            <p:extLst>
              <p:ext uri="{D42A27DB-BD31-4B8C-83A1-F6EECF244321}">
                <p14:modId xmlns:p14="http://schemas.microsoft.com/office/powerpoint/2010/main" val="1579011935"/>
              </p:ext>
            </p:extLst>
          </p:nvPr>
        </p:nvGraphicFramePr>
        <p:xfrm>
          <a:off x="411480" y="1097280"/>
          <a:ext cx="9866376" cy="914400"/>
        </p:xfrm>
        <a:graphic>
          <a:graphicData uri="http://schemas.openxmlformats.org/drawingml/2006/table">
            <a:tbl>
              <a:tblPr/>
              <a:tblGrid>
                <a:gridCol w="1600200"/>
                <a:gridCol w="960120"/>
                <a:gridCol w="1737360"/>
                <a:gridCol w="2743200"/>
                <a:gridCol w="2825496"/>
              </a:tblGrid>
              <a:tr h="411480">
                <a:tc>
                  <a:txBody>
                    <a:bodyPr/>
                    <a:lstStyle/>
                    <a:p>
                      <a:pPr indent="0" marL="0">
                        <a:buNone/>
                      </a:pPr>
                      <a:r>
                        <a:rPr lang="en-US" sz="1200" b="1" dirty="0">
                          <a:solidFill>
                            <a:srgbClr val="333333"/>
                          </a:solidFill>
                          <a:latin typeface="Arial" pitchFamily="34" charset="0"/>
                          <a:ea typeface="Arial" pitchFamily="34" charset="-122"/>
                          <a:cs typeface="Arial" pitchFamily="34" charset="-120"/>
                        </a:rPr>
                        <a:t>車種</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時期</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分類</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電池・航続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200" b="1" dirty="0">
                          <a:solidFill>
                            <a:srgbClr val="333333"/>
                          </a:solidFill>
                          <a:latin typeface="Arial" pitchFamily="34" charset="0"/>
                          <a:ea typeface="Arial" pitchFamily="34" charset="-122"/>
                          <a:cs typeface="Arial" pitchFamily="34" charset="-120"/>
                        </a:rPr>
                        <a:t>価格・その他</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Corolla Cross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1.8L HEV 122 PSを継続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グリル・灯火・画面・電動パーキング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HR-V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2024/11</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1.5L e:HEV、25.6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グリル・ランプ・8型画面・安全装備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Kicks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2022/7</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駆動系の改良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第2世代e-POWER、136 PS</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内装・安全装備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Camry</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2024/10</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新ハイブリッド、227 PS、25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外内装・車体・安全装備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Yaris Ativ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2022</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全面刷新</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1.2L ICE</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車体・内装・安全装備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Yaris Ativ</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2025/8</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駆動系の追加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1.5L HEV、29.4 km/L</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GR Sportを追加</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640080">
                <a:tc>
                  <a:txBody>
                    <a:bodyPr/>
                    <a:lstStyle/>
                    <a:p>
                      <a:pPr indent="0" marL="0">
                        <a:buNone/>
                      </a:pPr>
                      <a:r>
                        <a:rPr lang="en-US" sz="1200" dirty="0">
                          <a:solidFill>
                            <a:srgbClr val="333333"/>
                          </a:solidFill>
                          <a:latin typeface="Arial" pitchFamily="34" charset="0"/>
                          <a:ea typeface="Arial" pitchFamily="34" charset="-122"/>
                          <a:cs typeface="Arial" pitchFamily="34" charset="-120"/>
                        </a:rPr>
                        <a:t>Almera</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2023/5</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部分改良</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1.0Lターボを継続</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200" dirty="0">
                          <a:solidFill>
                            <a:srgbClr val="333333"/>
                          </a:solidFill>
                          <a:latin typeface="Arial" pitchFamily="34" charset="0"/>
                          <a:ea typeface="Arial" pitchFamily="34" charset="-122"/>
                          <a:cs typeface="Arial" pitchFamily="34" charset="-120"/>
                        </a:rPr>
                        <a:t>外観・コネクト・安全装備</a:t>
                      </a:r>
                      <a:endParaRPr lang="en-US" sz="12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269"/>
          <p:cNvSpPr/>
          <p:nvPr/>
        </p:nvSpPr>
        <p:spPr>
          <a:xfrm>
            <a:off x="411480" y="1097280"/>
            <a:ext cx="9866376" cy="4892040"/>
          </a:xfrm>
          <a:prstGeom prst="rect">
            <a:avLst/>
          </a:prstGeom>
          <a:ln w="25400">
            <a:solidFill>
              <a:srgbClr val="4472C4"/>
            </a:solidFill>
            <a:prstDash val="solid"/>
          </a:ln>
        </p:spPr>
      </p:sp>
      <p:sp>
        <p:nvSpPr>
          <p:cNvPr id="5" name="summary_270"/>
          <p:cNvSpPr/>
          <p:nvPr/>
        </p:nvSpPr>
        <p:spPr>
          <a:xfrm>
            <a:off x="1783080" y="6035040"/>
            <a:ext cx="7123176" cy="777240"/>
          </a:xfrm>
          <a:prstGeom prst="roundRect">
            <a:avLst>
              <a:gd name="adj" fmla="val 11765"/>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日系の部分改良は外内装・装備が中心。全面刷新で駆動系も変える</a:t>
            </a:r>
            <a:endParaRPr lang="en-US" sz="1600" dirty="0"/>
          </a:p>
        </p:txBody>
      </p:sp>
      <p:sp>
        <p:nvSpPr>
          <p:cNvPr id="6" name="text_271"/>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出典：Toyota、Honda、Nissanのタイ公式資料（2020〜2025年）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付録5　改良で変わった項目の割合（中国系 vs 日系）</a:t>
            </a:r>
            <a:endParaRPr lang="en-US" sz="2400" dirty="0"/>
          </a:p>
        </p:txBody>
      </p:sp>
      <p:graphicFrame>
        <p:nvGraphicFramePr>
          <p:cNvPr id="3" name="chart_agg" descr=""/>
          <p:cNvGraphicFramePr/>
          <p:nvPr/>
        </p:nvGraphicFramePr>
        <p:xfrm>
          <a:off x="411480" y="1097280"/>
          <a:ext cx="6675120" cy="5669280"/>
        </p:xfrm>
        <a:graphic xmlns:a="http://schemas.openxmlformats.org/drawingml/2006/main">
          <a:graphicData uri="http://schemas.openxmlformats.org/drawingml/2006/chart">
            <c:chart xmlns:c="http://schemas.openxmlformats.org/drawingml/2006/chart" r:id="rId1"/>
          </a:graphicData>
        </a:graphic>
      </p:graphicFrame>
      <p:sp>
        <p:nvSpPr>
          <p:cNvPr id="4" name="shape_272"/>
          <p:cNvSpPr/>
          <p:nvPr/>
        </p:nvSpPr>
        <p:spPr>
          <a:xfrm>
            <a:off x="7360920" y="1188720"/>
            <a:ext cx="2916936" cy="5577840"/>
          </a:xfrm>
          <a:prstGeom prst="roundRect">
            <a:avLst>
              <a:gd name="adj" fmla="val 3135"/>
            </a:avLst>
          </a:prstGeom>
          <a:solidFill>
            <a:srgbClr val="EEF3FB"/>
          </a:solidFill>
          <a:ln w="15875">
            <a:solidFill>
              <a:srgbClr val="4472C4"/>
            </a:solidFill>
            <a:prstDash val="solid"/>
          </a:ln>
        </p:spPr>
      </p:sp>
      <p:sp>
        <p:nvSpPr>
          <p:cNvPr id="5" name="tab_273"/>
          <p:cNvSpPr/>
          <p:nvPr/>
        </p:nvSpPr>
        <p:spPr>
          <a:xfrm>
            <a:off x="7470648" y="1280160"/>
            <a:ext cx="9855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読み取り</a:t>
            </a:r>
            <a:endParaRPr lang="en-US" sz="1400" dirty="0"/>
          </a:p>
        </p:txBody>
      </p:sp>
      <p:sp>
        <p:nvSpPr>
          <p:cNvPr id="6" name="text_274"/>
          <p:cNvSpPr txBox="1"/>
          <p:nvPr/>
        </p:nvSpPr>
        <p:spPr>
          <a:xfrm>
            <a:off x="7543800" y="1783080"/>
            <a:ext cx="2551176" cy="4754880"/>
          </a:xfrm>
          <a:prstGeom prst="rect">
            <a:avLst/>
          </a:prstGeom>
          <a:noFill/>
          <a:ln/>
        </p:spPr>
        <p:txBody>
          <a:bodyPr wrap="square" lIns="0" tIns="0" rIns="0" bIns="0" rtlCol="0" anchor="t"/>
          <a:lstStyle/>
          <a:p>
            <a:pPr indent="0" marL="0">
              <a:spcAft>
                <a:spcPts val="1400"/>
              </a:spcAft>
              <a:buNone/>
            </a:pPr>
            <a:r>
              <a:rPr lang="en-US" sz="1500" dirty="0">
                <a:solidFill>
                  <a:srgbClr val="333333"/>
                </a:solidFill>
                <a:latin typeface="Arial" pitchFamily="34" charset="0"/>
                <a:ea typeface="Arial" pitchFamily="34" charset="-122"/>
                <a:cs typeface="Arial" pitchFamily="34" charset="-120"/>
              </a:rPr>
              <a:t>✓ 中国系の電池変更は、増加5件・減少2件</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航続の中央値は0%、価格の中央値は−19%</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日系は運転支援・装備の更新が多い</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日系は元から現地生産</a:t>
            </a:r>
            <a:endParaRPr lang="en-US" sz="1600" dirty="0"/>
          </a:p>
        </p:txBody>
      </p:sp>
      <p:sp>
        <p:nvSpPr>
          <p:cNvPr id="7" name="text_275"/>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出典：各社のタイ公式資料から集計（価格だけの変更を除く前の件数）</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付録6　「電池の持ち」の3つの意味　進んだのは充電とコスト</a:t>
            </a:r>
            <a:endParaRPr lang="en-US" sz="2400" dirty="0"/>
          </a:p>
        </p:txBody>
      </p:sp>
      <p:sp>
        <p:nvSpPr>
          <p:cNvPr id="3" name="shape_276"/>
          <p:cNvSpPr/>
          <p:nvPr/>
        </p:nvSpPr>
        <p:spPr>
          <a:xfrm>
            <a:off x="411480" y="1234440"/>
            <a:ext cx="3017520" cy="3474720"/>
          </a:xfrm>
          <a:prstGeom prst="rect">
            <a:avLst/>
          </a:prstGeom>
          <a:solidFill>
            <a:srgbClr val="F2F2F2"/>
          </a:solidFill>
          <a:ln w="12700">
            <a:solidFill>
              <a:srgbClr val="F2F2F2"/>
            </a:solidFill>
            <a:prstDash val="solid"/>
          </a:ln>
        </p:spPr>
      </p:sp>
      <p:sp>
        <p:nvSpPr>
          <p:cNvPr id="4" name="shape_277"/>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278"/>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01</a:t>
            </a:r>
            <a:endParaRPr lang="en-US" sz="1300" dirty="0"/>
          </a:p>
        </p:txBody>
      </p:sp>
      <p:sp>
        <p:nvSpPr>
          <p:cNvPr id="6" name="text_279"/>
          <p:cNvSpPr txBox="1"/>
          <p:nvPr/>
        </p:nvSpPr>
        <p:spPr>
          <a:xfrm>
            <a:off x="594360"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航続</a:t>
            </a:r>
            <a:endParaRPr lang="en-US" sz="2200" dirty="0"/>
          </a:p>
        </p:txBody>
      </p:sp>
      <p:sp>
        <p:nvSpPr>
          <p:cNvPr id="7" name="text_280"/>
          <p:cNvSpPr txBox="1"/>
          <p:nvPr/>
        </p:nvSpPr>
        <p:spPr>
          <a:xfrm>
            <a:off x="594360"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1回の充電で走る距離</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中央値0%（据え置き）</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Omoda C5 EV −16%</a:t>
            </a:r>
            <a:endParaRPr lang="en-US" sz="1500" dirty="0"/>
          </a:p>
        </p:txBody>
      </p:sp>
      <p:sp>
        <p:nvSpPr>
          <p:cNvPr id="8" name="shape_281"/>
          <p:cNvSpPr/>
          <p:nvPr/>
        </p:nvSpPr>
        <p:spPr>
          <a:xfrm>
            <a:off x="3358134" y="2697480"/>
            <a:ext cx="548640" cy="548640"/>
          </a:xfrm>
          <a:prstGeom prst="mathPlus">
            <a:avLst/>
          </a:prstGeom>
          <a:solidFill>
            <a:srgbClr val="3FB2AB"/>
          </a:solidFill>
          <a:ln w="12700">
            <a:solidFill>
              <a:srgbClr val="3FB2AB"/>
            </a:solidFill>
            <a:prstDash val="solid"/>
          </a:ln>
        </p:spPr>
      </p:sp>
      <p:sp>
        <p:nvSpPr>
          <p:cNvPr id="9" name="shape_282"/>
          <p:cNvSpPr/>
          <p:nvPr/>
        </p:nvSpPr>
        <p:spPr>
          <a:xfrm>
            <a:off x="3835908" y="1234440"/>
            <a:ext cx="3017520" cy="3474720"/>
          </a:xfrm>
          <a:prstGeom prst="rect">
            <a:avLst/>
          </a:prstGeom>
          <a:solidFill>
            <a:srgbClr val="F2F2F2"/>
          </a:solidFill>
          <a:ln w="12700">
            <a:solidFill>
              <a:srgbClr val="F2F2F2"/>
            </a:solidFill>
            <a:prstDash val="solid"/>
          </a:ln>
        </p:spPr>
      </p:sp>
      <p:sp>
        <p:nvSpPr>
          <p:cNvPr id="10" name="shape_283"/>
          <p:cNvSpPr/>
          <p:nvPr/>
        </p:nvSpPr>
        <p:spPr>
          <a:xfrm>
            <a:off x="3835908" y="1344168"/>
            <a:ext cx="1325880" cy="347472"/>
          </a:xfrm>
          <a:prstGeom prst="homePlate">
            <a:avLst/>
          </a:prstGeom>
          <a:solidFill>
            <a:srgbClr val="1E9C96"/>
          </a:solidFill>
          <a:ln w="12700">
            <a:solidFill>
              <a:srgbClr val="1E9C96"/>
            </a:solidFill>
            <a:prstDash val="solid"/>
          </a:ln>
        </p:spPr>
      </p:sp>
      <p:sp>
        <p:nvSpPr>
          <p:cNvPr id="11" name="text_284"/>
          <p:cNvSpPr txBox="1"/>
          <p:nvPr/>
        </p:nvSpPr>
        <p:spPr>
          <a:xfrm>
            <a:off x="3945636"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02</a:t>
            </a:r>
            <a:endParaRPr lang="en-US" sz="1300" dirty="0"/>
          </a:p>
        </p:txBody>
      </p:sp>
      <p:sp>
        <p:nvSpPr>
          <p:cNvPr id="12" name="text_285"/>
          <p:cNvSpPr txBox="1"/>
          <p:nvPr/>
        </p:nvSpPr>
        <p:spPr>
          <a:xfrm>
            <a:off x="4018788"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寿命</a:t>
            </a:r>
            <a:endParaRPr lang="en-US" sz="2200" dirty="0"/>
          </a:p>
        </p:txBody>
      </p:sp>
      <p:sp>
        <p:nvSpPr>
          <p:cNvPr id="13" name="text_286"/>
          <p:cNvSpPr txBox="1"/>
          <p:nvPr/>
        </p:nvSpPr>
        <p:spPr>
          <a:xfrm>
            <a:off x="4018788"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劣化の遅さ</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LFPへの切り替え</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（Good Cat、G6、H6 PHEV）</a:t>
            </a:r>
            <a:endParaRPr lang="en-US" sz="1500" dirty="0"/>
          </a:p>
        </p:txBody>
      </p:sp>
      <p:sp>
        <p:nvSpPr>
          <p:cNvPr id="14" name="shape_287"/>
          <p:cNvSpPr/>
          <p:nvPr/>
        </p:nvSpPr>
        <p:spPr>
          <a:xfrm>
            <a:off x="6782562" y="2697480"/>
            <a:ext cx="548640" cy="548640"/>
          </a:xfrm>
          <a:prstGeom prst="mathPlus">
            <a:avLst/>
          </a:prstGeom>
          <a:solidFill>
            <a:srgbClr val="3FB2AB"/>
          </a:solidFill>
          <a:ln w="12700">
            <a:solidFill>
              <a:srgbClr val="3FB2AB"/>
            </a:solidFill>
            <a:prstDash val="solid"/>
          </a:ln>
        </p:spPr>
      </p:sp>
      <p:sp>
        <p:nvSpPr>
          <p:cNvPr id="15" name="shape_288"/>
          <p:cNvSpPr/>
          <p:nvPr/>
        </p:nvSpPr>
        <p:spPr>
          <a:xfrm>
            <a:off x="7260336" y="1234440"/>
            <a:ext cx="3017520" cy="3474720"/>
          </a:xfrm>
          <a:prstGeom prst="rect">
            <a:avLst/>
          </a:prstGeom>
          <a:solidFill>
            <a:srgbClr val="F2F2F2"/>
          </a:solidFill>
          <a:ln w="12700">
            <a:solidFill>
              <a:srgbClr val="F2F2F2"/>
            </a:solidFill>
            <a:prstDash val="solid"/>
          </a:ln>
        </p:spPr>
      </p:sp>
      <p:sp>
        <p:nvSpPr>
          <p:cNvPr id="16" name="shape_289"/>
          <p:cNvSpPr/>
          <p:nvPr/>
        </p:nvSpPr>
        <p:spPr>
          <a:xfrm>
            <a:off x="7260336" y="1344168"/>
            <a:ext cx="1325880" cy="347472"/>
          </a:xfrm>
          <a:prstGeom prst="homePlate">
            <a:avLst/>
          </a:prstGeom>
          <a:solidFill>
            <a:srgbClr val="1E9C96"/>
          </a:solidFill>
          <a:ln w="12700">
            <a:solidFill>
              <a:srgbClr val="1E9C96"/>
            </a:solidFill>
            <a:prstDash val="solid"/>
          </a:ln>
        </p:spPr>
      </p:sp>
      <p:sp>
        <p:nvSpPr>
          <p:cNvPr id="17" name="text_290"/>
          <p:cNvSpPr txBox="1"/>
          <p:nvPr/>
        </p:nvSpPr>
        <p:spPr>
          <a:xfrm>
            <a:off x="737006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Point 03</a:t>
            </a:r>
            <a:endParaRPr lang="en-US" sz="1300" dirty="0"/>
          </a:p>
        </p:txBody>
      </p:sp>
      <p:sp>
        <p:nvSpPr>
          <p:cNvPr id="18" name="text_291"/>
          <p:cNvSpPr txBox="1"/>
          <p:nvPr/>
        </p:nvSpPr>
        <p:spPr>
          <a:xfrm>
            <a:off x="7443216"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充電速度</a:t>
            </a:r>
            <a:endParaRPr lang="en-US" sz="2200" dirty="0"/>
          </a:p>
        </p:txBody>
      </p:sp>
      <p:sp>
        <p:nvSpPr>
          <p:cNvPr id="19" name="text_292"/>
          <p:cNvSpPr txBox="1"/>
          <p:nvPr/>
        </p:nvSpPr>
        <p:spPr>
          <a:xfrm>
            <a:off x="7443216" y="2377440"/>
            <a:ext cx="2651760" cy="219456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急速充電の時間</a:t>
            </a:r>
            <a:endParaRPr lang="en-US" sz="1500" dirty="0"/>
          </a:p>
          <a:p>
            <a:pPr algn="ctr" indent="0" marL="0">
              <a:spcAft>
                <a:spcPts val="400"/>
              </a:spcAft>
              <a:buNone/>
            </a:pP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XPeng G6　10〜80% 12分</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Deepal S07　30〜80% 15分</a:t>
            </a:r>
            <a:endParaRPr lang="en-US" sz="1500" dirty="0"/>
          </a:p>
        </p:txBody>
      </p:sp>
      <p:sp>
        <p:nvSpPr>
          <p:cNvPr id="20" name="summary_293"/>
          <p:cNvSpPr/>
          <p:nvPr/>
        </p:nvSpPr>
        <p:spPr>
          <a:xfrm>
            <a:off x="960120" y="5120640"/>
            <a:ext cx="8769096"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電池の進化は「同じ距離をより小さく安い電池で」に使われた</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航続を伸ばす方向には、あまり使われていない</a:t>
            </a:r>
            <a:endParaRPr lang="en-US" sz="1800" dirty="0"/>
          </a:p>
        </p:txBody>
      </p:sp>
      <p:sp>
        <p:nvSpPr>
          <p:cNvPr id="21" name="text_29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出典：XPeng、Changan、GWM、Omodaのタイ公式資料、BloombergNEF（電池価格 前年比−20%）</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付録7　電池劣化の実データ　暑さと急速充電で進む</a:t>
            </a:r>
            <a:endParaRPr lang="en-US" sz="2400" dirty="0"/>
          </a:p>
        </p:txBody>
      </p:sp>
      <p:sp>
        <p:nvSpPr>
          <p:cNvPr id="3" name="text_295"/>
          <p:cNvSpPr txBox="1"/>
          <p:nvPr/>
        </p:nvSpPr>
        <p:spPr>
          <a:xfrm>
            <a:off x="411480" y="128016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2.3%／年</a:t>
            </a:r>
            <a:endParaRPr lang="en-US" sz="3400" dirty="0"/>
          </a:p>
        </p:txBody>
      </p:sp>
      <p:sp>
        <p:nvSpPr>
          <p:cNvPr id="4" name="text_296"/>
          <p:cNvSpPr txBox="1"/>
          <p:nvPr/>
        </p:nvSpPr>
        <p:spPr>
          <a:xfrm>
            <a:off x="411480" y="184150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電池容量の平均劣化</a:t>
            </a:r>
            <a:endParaRPr lang="en-US" sz="1400" dirty="0"/>
          </a:p>
          <a:p>
            <a:pPr algn="l" indent="0" marL="0">
              <a:buNone/>
            </a:pPr>
            <a:r>
              <a:rPr lang="en-US" sz="1400" dirty="0">
                <a:solidFill>
                  <a:srgbClr val="6B6B6B"/>
                </a:solidFill>
                <a:latin typeface="Arial" pitchFamily="34" charset="0"/>
                <a:ea typeface="Arial" pitchFamily="34" charset="-122"/>
                <a:cs typeface="Arial" pitchFamily="34" charset="-120"/>
              </a:rPr>
              <a:t>（実車2.3万台・21車種）</a:t>
            </a:r>
            <a:endParaRPr lang="en-US" sz="1400" dirty="0"/>
          </a:p>
        </p:txBody>
      </p:sp>
      <p:sp>
        <p:nvSpPr>
          <p:cNvPr id="5" name="text_297"/>
          <p:cNvSpPr txBox="1"/>
          <p:nvPr/>
        </p:nvSpPr>
        <p:spPr>
          <a:xfrm>
            <a:off x="3154680" y="128016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3.0%／年</a:t>
            </a:r>
            <a:endParaRPr lang="en-US" sz="3400" dirty="0"/>
          </a:p>
        </p:txBody>
      </p:sp>
      <p:sp>
        <p:nvSpPr>
          <p:cNvPr id="6" name="text_298"/>
          <p:cNvSpPr txBox="1"/>
          <p:nvPr/>
        </p:nvSpPr>
        <p:spPr>
          <a:xfrm>
            <a:off x="3154680" y="184150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急速充電の多い車</a:t>
            </a:r>
            <a:endParaRPr lang="en-US" sz="1400" dirty="0"/>
          </a:p>
        </p:txBody>
      </p:sp>
      <p:sp>
        <p:nvSpPr>
          <p:cNvPr id="7" name="text_299"/>
          <p:cNvSpPr txBox="1"/>
          <p:nvPr/>
        </p:nvSpPr>
        <p:spPr>
          <a:xfrm>
            <a:off x="411480" y="3200400"/>
            <a:ext cx="2606040" cy="539750"/>
          </a:xfrm>
          <a:prstGeom prst="rect">
            <a:avLst/>
          </a:prstGeom>
          <a:noFill/>
          <a:ln/>
        </p:spPr>
        <p:txBody>
          <a:bodyPr wrap="square" lIns="0" tIns="0" rIns="0" bIns="0" rtlCol="0" anchor="t"/>
          <a:lstStyle/>
          <a:p>
            <a:pPr algn="l" indent="0" marL="0">
              <a:buNone/>
            </a:pPr>
            <a:r>
              <a:rPr lang="en-US" sz="3400" b="1" dirty="0">
                <a:solidFill>
                  <a:srgbClr val="E8384F"/>
                </a:solidFill>
                <a:latin typeface="Arial" pitchFamily="34" charset="0"/>
                <a:ea typeface="Arial" pitchFamily="34" charset="-122"/>
                <a:cs typeface="Arial" pitchFamily="34" charset="-120"/>
              </a:rPr>
              <a:t>+0.4pt／年</a:t>
            </a:r>
            <a:endParaRPr lang="en-US" sz="3400" dirty="0"/>
          </a:p>
        </p:txBody>
      </p:sp>
      <p:sp>
        <p:nvSpPr>
          <p:cNvPr id="8" name="text_300"/>
          <p:cNvSpPr txBox="1"/>
          <p:nvPr/>
        </p:nvSpPr>
        <p:spPr>
          <a:xfrm>
            <a:off x="411480" y="376174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暑い地域での上乗せ</a:t>
            </a:r>
            <a:endParaRPr lang="en-US" sz="1400" dirty="0"/>
          </a:p>
        </p:txBody>
      </p:sp>
      <p:sp>
        <p:nvSpPr>
          <p:cNvPr id="9" name="text_301"/>
          <p:cNvSpPr txBox="1"/>
          <p:nvPr/>
        </p:nvSpPr>
        <p:spPr>
          <a:xfrm>
            <a:off x="3154680" y="3200400"/>
            <a:ext cx="2606040" cy="539750"/>
          </a:xfrm>
          <a:prstGeom prst="rect">
            <a:avLst/>
          </a:prstGeom>
          <a:noFill/>
          <a:ln/>
        </p:spPr>
        <p:txBody>
          <a:bodyPr wrap="square" lIns="0" tIns="0" rIns="0" bIns="0" rtlCol="0" anchor="t"/>
          <a:lstStyle/>
          <a:p>
            <a:pPr algn="l" indent="0" marL="0">
              <a:buNone/>
            </a:pPr>
            <a:r>
              <a:rPr lang="en-US" sz="3400" b="1" dirty="0">
                <a:solidFill>
                  <a:srgbClr val="333333"/>
                </a:solidFill>
                <a:latin typeface="Arial" pitchFamily="34" charset="0"/>
                <a:ea typeface="Arial" pitchFamily="34" charset="-122"/>
                <a:cs typeface="Arial" pitchFamily="34" charset="-120"/>
              </a:rPr>
              <a:t>95%</a:t>
            </a:r>
            <a:endParaRPr lang="en-US" sz="3400" dirty="0"/>
          </a:p>
        </p:txBody>
      </p:sp>
      <p:sp>
        <p:nvSpPr>
          <p:cNvPr id="10" name="text_302"/>
          <p:cNvSpPr txBox="1"/>
          <p:nvPr/>
        </p:nvSpPr>
        <p:spPr>
          <a:xfrm>
            <a:off x="3154680" y="3761740"/>
            <a:ext cx="2606040" cy="73152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BYD Seal（LFP）の5万km後の</a:t>
            </a:r>
            <a:endParaRPr lang="en-US" sz="1400" dirty="0"/>
          </a:p>
          <a:p>
            <a:pPr algn="l" indent="0" marL="0">
              <a:buNone/>
            </a:pPr>
            <a:r>
              <a:rPr lang="en-US" sz="1400" dirty="0">
                <a:solidFill>
                  <a:srgbClr val="6B6B6B"/>
                </a:solidFill>
                <a:latin typeface="Arial" pitchFamily="34" charset="0"/>
                <a:ea typeface="Arial" pitchFamily="34" charset="-122"/>
                <a:cs typeface="Arial" pitchFamily="34" charset="-120"/>
              </a:rPr>
              <a:t>電池の健全度</a:t>
            </a:r>
            <a:endParaRPr lang="en-US" sz="1400" dirty="0"/>
          </a:p>
        </p:txBody>
      </p:sp>
      <p:sp>
        <p:nvSpPr>
          <p:cNvPr id="11" name="shape_303"/>
          <p:cNvSpPr/>
          <p:nvPr/>
        </p:nvSpPr>
        <p:spPr>
          <a:xfrm>
            <a:off x="6035040" y="1188720"/>
            <a:ext cx="4242816" cy="3657600"/>
          </a:xfrm>
          <a:prstGeom prst="roundRect">
            <a:avLst>
              <a:gd name="adj" fmla="val 2500"/>
            </a:avLst>
          </a:prstGeom>
          <a:solidFill>
            <a:srgbClr val="EEF3FB"/>
          </a:solidFill>
          <a:ln w="15875">
            <a:solidFill>
              <a:srgbClr val="4472C4"/>
            </a:solidFill>
            <a:prstDash val="solid"/>
          </a:ln>
        </p:spPr>
      </p:sp>
      <p:sp>
        <p:nvSpPr>
          <p:cNvPr id="12" name="tab_304"/>
          <p:cNvSpPr/>
          <p:nvPr/>
        </p:nvSpPr>
        <p:spPr>
          <a:xfrm>
            <a:off x="6144768" y="1280160"/>
            <a:ext cx="11633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タイの保証</a:t>
            </a:r>
            <a:endParaRPr lang="en-US" sz="1400" dirty="0"/>
          </a:p>
        </p:txBody>
      </p:sp>
      <p:sp>
        <p:nvSpPr>
          <p:cNvPr id="13" name="text_305"/>
          <p:cNvSpPr txBox="1"/>
          <p:nvPr/>
        </p:nvSpPr>
        <p:spPr>
          <a:xfrm>
            <a:off x="6263640" y="1828800"/>
            <a:ext cx="3785616" cy="444500"/>
          </a:xfrm>
          <a:prstGeom prst="rect">
            <a:avLst/>
          </a:prstGeom>
          <a:noFill/>
          <a:ln/>
        </p:spPr>
        <p:txBody>
          <a:bodyPr wrap="square" lIns="0" tIns="0" rIns="0" bIns="0" rtlCol="0" anchor="t"/>
          <a:lstStyle/>
          <a:p>
            <a:pPr algn="l" indent="0" marL="0">
              <a:buNone/>
            </a:pPr>
            <a:r>
              <a:rPr lang="en-US" sz="2800" b="1" dirty="0">
                <a:solidFill>
                  <a:srgbClr val="333333"/>
                </a:solidFill>
                <a:latin typeface="Arial" pitchFamily="34" charset="0"/>
                <a:ea typeface="Arial" pitchFamily="34" charset="-122"/>
                <a:cs typeface="Arial" pitchFamily="34" charset="-120"/>
              </a:rPr>
              <a:t>8年／16万km</a:t>
            </a:r>
            <a:endParaRPr lang="en-US" sz="2800" dirty="0"/>
          </a:p>
        </p:txBody>
      </p:sp>
      <p:sp>
        <p:nvSpPr>
          <p:cNvPr id="14" name="text_306"/>
          <p:cNvSpPr txBox="1"/>
          <p:nvPr/>
        </p:nvSpPr>
        <p:spPr>
          <a:xfrm>
            <a:off x="6263640" y="2291080"/>
            <a:ext cx="378561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BYDのタイでの電池保証</a:t>
            </a:r>
            <a:endParaRPr lang="en-US" sz="1400" dirty="0"/>
          </a:p>
        </p:txBody>
      </p:sp>
      <p:sp>
        <p:nvSpPr>
          <p:cNvPr id="15" name="text_307"/>
          <p:cNvSpPr txBox="1"/>
          <p:nvPr/>
        </p:nvSpPr>
        <p:spPr>
          <a:xfrm>
            <a:off x="6263640" y="3200400"/>
            <a:ext cx="3785616" cy="137160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劣化の不安は保証で一部が消える。中古の買い手には、保証の引き継ぎとSOHの表示が効く</a:t>
            </a:r>
            <a:endParaRPr lang="en-US" sz="1500" dirty="0"/>
          </a:p>
        </p:txBody>
      </p:sp>
      <p:sp>
        <p:nvSpPr>
          <p:cNvPr id="16" name="summary_308"/>
          <p:cNvSpPr/>
          <p:nvPr/>
        </p:nvSpPr>
        <p:spPr>
          <a:xfrm>
            <a:off x="960120" y="52578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長く乗るなら日系ICEが安心、という見方は一部正しい</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ただし電池劣化は年2〜3%で、中古価格の差の主因ではない</a:t>
            </a:r>
            <a:endParaRPr lang="en-US" sz="1800" dirty="0"/>
          </a:p>
        </p:txBody>
      </p:sp>
      <p:sp>
        <p:nvSpPr>
          <p:cNvPr id="17" name="text_30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出典：Geotab（2026年1月）、BYD、BYD Rêver。タイの個別車種の寿命予測ではない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付録8　中古価格の比較条件（2023年式）</a:t>
            </a:r>
            <a:endParaRPr lang="en-US" sz="2400" dirty="0"/>
          </a:p>
        </p:txBody>
      </p:sp>
      <p:graphicFrame>
        <p:nvGraphicFramePr>
          <p:cNvPr id="26" name="table_310"/>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2011680"/>
                <a:gridCol w="548640"/>
                <a:gridCol w="1417320"/>
                <a:gridCol w="1417320"/>
                <a:gridCol w="1280160"/>
                <a:gridCol w="1874520"/>
                <a:gridCol w="13167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車種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N</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中古の中央値</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発売時の価格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発売時比</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今の新車</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今の新車比</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400" dirty="0">
                          <a:solidFill>
                            <a:srgbClr val="333333"/>
                          </a:solidFill>
                          <a:latin typeface="Arial" pitchFamily="34" charset="0"/>
                          <a:ea typeface="Arial" pitchFamily="34" charset="-122"/>
                          <a:cs typeface="Arial" pitchFamily="34" charset="-120"/>
                        </a:rPr>
                        <a:t>Atto 3 Extended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46.7万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120.0万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38.9%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77.0万（特価）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60.7%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400" dirty="0">
                          <a:solidFill>
                            <a:srgbClr val="333333"/>
                          </a:solidFill>
                          <a:latin typeface="Arial" pitchFamily="34" charset="0"/>
                          <a:ea typeface="Arial" pitchFamily="34" charset="-122"/>
                          <a:cs typeface="Arial" pitchFamily="34" charset="-120"/>
                        </a:rPr>
                        <a:t>Corolla Cross 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75.9万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63.0%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63.0%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24.1pt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2.4pt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11"/>
          <p:cNvSpPr/>
          <p:nvPr/>
        </p:nvSpPr>
        <p:spPr>
          <a:xfrm>
            <a:off x="411480" y="1188720"/>
            <a:ext cx="9866376" cy="2240280"/>
          </a:xfrm>
          <a:prstGeom prst="rect">
            <a:avLst/>
          </a:prstGeom>
          <a:ln w="25400">
            <a:solidFill>
              <a:srgbClr val="4472C4"/>
            </a:solidFill>
            <a:prstDash val="solid"/>
          </a:ln>
        </p:spPr>
      </p:sp>
      <p:sp>
        <p:nvSpPr>
          <p:cNvPr id="5" name="text_312"/>
          <p:cNvSpPr txBox="1"/>
          <p:nvPr/>
        </p:nvSpPr>
        <p:spPr>
          <a:xfrm>
            <a:off x="411480" y="3520440"/>
            <a:ext cx="27432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価格はバーツ</a:t>
            </a:r>
            <a:endParaRPr lang="en-US" sz="1200" dirty="0"/>
          </a:p>
        </p:txBody>
      </p:sp>
      <p:sp>
        <p:nvSpPr>
          <p:cNvPr id="6" name="shape_313"/>
          <p:cNvSpPr/>
          <p:nvPr/>
        </p:nvSpPr>
        <p:spPr>
          <a:xfrm>
            <a:off x="411480" y="4206240"/>
            <a:ext cx="9866376" cy="2468880"/>
          </a:xfrm>
          <a:prstGeom prst="roundRect">
            <a:avLst>
              <a:gd name="adj" fmla="val 4444"/>
            </a:avLst>
          </a:prstGeom>
          <a:solidFill>
            <a:srgbClr val="FFFFFF"/>
          </a:solidFill>
          <a:ln w="22225">
            <a:solidFill>
              <a:srgbClr val="E8384F"/>
            </a:solidFill>
            <a:prstDash val="solid"/>
          </a:ln>
        </p:spPr>
      </p:sp>
      <p:sp>
        <p:nvSpPr>
          <p:cNvPr id="7" name="fslabel_314"/>
          <p:cNvSpPr/>
          <p:nvPr/>
        </p:nvSpPr>
        <p:spPr>
          <a:xfrm>
            <a:off x="4991608" y="405079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注意</a:t>
            </a:r>
            <a:endParaRPr lang="en-US" sz="1700" dirty="0"/>
          </a:p>
        </p:txBody>
      </p:sp>
      <p:sp>
        <p:nvSpPr>
          <p:cNvPr id="8" name="text_315"/>
          <p:cNvSpPr txBox="1"/>
          <p:nvPr/>
        </p:nvSpPr>
        <p:spPr>
          <a:xfrm>
            <a:off x="777240" y="4526280"/>
            <a:ext cx="9134856" cy="2011680"/>
          </a:xfrm>
          <a:prstGeom prst="rect">
            <a:avLst/>
          </a:prstGeom>
          <a:noFill/>
          <a:ln/>
        </p:spPr>
        <p:txBody>
          <a:bodyPr wrap="square" lIns="0" tIns="0" rIns="0" bIns="0" rtlCol="0" anchor="ctr"/>
          <a:lstStyle/>
          <a:p>
            <a:pPr indent="0" marL="0">
              <a:spcAft>
                <a:spcPts val="600"/>
              </a:spcAft>
              <a:buNone/>
            </a:pPr>
            <a:r>
              <a:rPr lang="en-US" sz="1600" dirty="0">
                <a:solidFill>
                  <a:srgbClr val="333333"/>
                </a:solidFill>
                <a:latin typeface="Arial" pitchFamily="34" charset="0"/>
                <a:ea typeface="Arial" pitchFamily="34" charset="-122"/>
                <a:cs typeface="Arial" pitchFamily="34" charset="-120"/>
              </a:rPr>
              <a:t>✓ 掲載価格であり、成約価格ではない</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SOH（電池の健全度）と保証の残りは未取得</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旧グレードと今の代替グレードは完全には一致しない</a:t>
            </a:r>
            <a:endParaRPr lang="en-US" sz="1600" dirty="0"/>
          </a:p>
          <a:p>
            <a:pPr indent="0" marL="0">
              <a:spcAft>
                <a:spcPts val="600"/>
              </a:spcAft>
              <a:buNone/>
            </a:pPr>
            <a:r>
              <a:rPr lang="en-US" sz="1600" dirty="0">
                <a:solidFill>
                  <a:srgbClr val="333333"/>
                </a:solidFill>
                <a:latin typeface="Arial" pitchFamily="34" charset="0"/>
                <a:ea typeface="Arial" pitchFamily="34" charset="-122"/>
                <a:cs typeface="Arial" pitchFamily="34" charset="-120"/>
              </a:rPr>
              <a:t>✓ 分母を変えた差であり、電池劣化の寄与を推定した結果ではない</a:t>
            </a:r>
            <a:endParaRPr lang="en-US" sz="1600" dirty="0"/>
          </a:p>
        </p:txBody>
      </p:sp>
      <p:sp>
        <p:nvSpPr>
          <p:cNvPr id="9" name="text_31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出典：One2car（2026年10月8日観測）、BYD Rêver、Toyota Thailand</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付録9　中古EVの平均価格は1年で2〜3割下がった</a:t>
            </a:r>
            <a:endParaRPr lang="en-US" sz="2400" dirty="0"/>
          </a:p>
        </p:txBody>
      </p:sp>
      <p:graphicFrame>
        <p:nvGraphicFramePr>
          <p:cNvPr id="3" name="chart_o2c" descr=""/>
          <p:cNvGraphicFramePr/>
          <p:nvPr/>
        </p:nvGraphicFramePr>
        <p:xfrm>
          <a:off x="411480" y="1097280"/>
          <a:ext cx="6035040" cy="5577840"/>
        </p:xfrm>
        <a:graphic xmlns:a="http://schemas.openxmlformats.org/drawingml/2006/main">
          <a:graphicData uri="http://schemas.openxmlformats.org/drawingml/2006/chart">
            <c:chart xmlns:c="http://schemas.openxmlformats.org/drawingml/2006/chart" r:id="rId1"/>
          </a:graphicData>
        </a:graphic>
      </p:graphicFrame>
      <p:sp>
        <p:nvSpPr>
          <p:cNvPr id="4" name="shape_317"/>
          <p:cNvSpPr/>
          <p:nvPr/>
        </p:nvSpPr>
        <p:spPr>
          <a:xfrm>
            <a:off x="6720840" y="1188720"/>
            <a:ext cx="3557016" cy="5486400"/>
          </a:xfrm>
          <a:prstGeom prst="roundRect">
            <a:avLst>
              <a:gd name="adj" fmla="val 2571"/>
            </a:avLst>
          </a:prstGeom>
          <a:solidFill>
            <a:srgbClr val="EEF3FB"/>
          </a:solidFill>
          <a:ln w="15875">
            <a:solidFill>
              <a:srgbClr val="4472C4"/>
            </a:solidFill>
            <a:prstDash val="solid"/>
          </a:ln>
        </p:spPr>
      </p:sp>
      <p:sp>
        <p:nvSpPr>
          <p:cNvPr id="5" name="tab_318"/>
          <p:cNvSpPr/>
          <p:nvPr/>
        </p:nvSpPr>
        <p:spPr>
          <a:xfrm>
            <a:off x="6830568" y="1280160"/>
            <a:ext cx="13411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同時期の動き</a:t>
            </a:r>
            <a:endParaRPr lang="en-US" sz="1400" dirty="0"/>
          </a:p>
        </p:txBody>
      </p:sp>
      <p:sp>
        <p:nvSpPr>
          <p:cNvPr id="6" name="text_319"/>
          <p:cNvSpPr txBox="1"/>
          <p:nvPr/>
        </p:nvSpPr>
        <p:spPr>
          <a:xfrm>
            <a:off x="6903720" y="1783080"/>
            <a:ext cx="3191256" cy="4663440"/>
          </a:xfrm>
          <a:prstGeom prst="rect">
            <a:avLst/>
          </a:prstGeom>
          <a:noFill/>
          <a:ln/>
        </p:spPr>
        <p:txBody>
          <a:bodyPr wrap="square" lIns="0" tIns="0" rIns="0" bIns="0" rtlCol="0" anchor="t"/>
          <a:lstStyle/>
          <a:p>
            <a:pPr indent="0" marL="0">
              <a:spcAft>
                <a:spcPts val="1400"/>
              </a:spcAft>
              <a:buNone/>
            </a:pPr>
            <a:r>
              <a:rPr lang="en-US" sz="1500" dirty="0">
                <a:solidFill>
                  <a:srgbClr val="333333"/>
                </a:solidFill>
                <a:latin typeface="Arial" pitchFamily="34" charset="0"/>
                <a:ea typeface="Arial" pitchFamily="34" charset="-122"/>
                <a:cs typeface="Arial" pitchFamily="34" charset="-120"/>
              </a:rPr>
              <a:t>✓ Atto 3の新車は2024年7月に大幅値下げ</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中古BEVの多くは元値の60〜80%で掲載（2024年）</a:t>
            </a:r>
            <a:endParaRPr lang="en-US" sz="1600" dirty="0"/>
          </a:p>
          <a:p>
            <a:pPr indent="0" marL="0">
              <a:spcAft>
                <a:spcPts val="1400"/>
              </a:spcAft>
              <a:buNone/>
            </a:pPr>
            <a:r>
              <a:rPr lang="en-US" sz="1500" dirty="0">
                <a:solidFill>
                  <a:srgbClr val="333333"/>
                </a:solidFill>
                <a:latin typeface="Arial" pitchFamily="34" charset="0"/>
                <a:ea typeface="Arial" pitchFamily="34" charset="-122"/>
                <a:cs typeface="Arial" pitchFamily="34" charset="-120"/>
              </a:rPr>
              <a:t>✓ 米国でも中古EVはテスラの新車値下げで−32%</a:t>
            </a:r>
            <a:endParaRPr lang="en-US" sz="1600" dirty="0"/>
          </a:p>
        </p:txBody>
      </p:sp>
      <p:sp>
        <p:nvSpPr>
          <p:cNvPr id="7" name="text_320"/>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出典：One2car（2026年2月）、Krungsri Research（2025年1月）、iSeeCars。車両構成は固定していない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付録10　中古価格が下がる3つの経路</a:t>
            </a:r>
            <a:endParaRPr lang="en-US" sz="2400" dirty="0"/>
          </a:p>
        </p:txBody>
      </p:sp>
      <p:sp>
        <p:nvSpPr>
          <p:cNvPr id="3" name="path_321"/>
          <p:cNvSpPr/>
          <p:nvPr/>
        </p:nvSpPr>
        <p:spPr>
          <a:xfrm>
            <a:off x="411480" y="1280160"/>
            <a:ext cx="3291840" cy="1188720"/>
          </a:xfrm>
          <a:prstGeom prst="roundRect">
            <a:avLst>
              <a:gd name="adj" fmla="val 7692"/>
            </a:avLst>
          </a:prstGeom>
          <a:solidFill>
            <a:srgbClr val="EEF3FB"/>
          </a:solidFill>
          <a:ln w="15875">
            <a:solidFill>
              <a:srgbClr val="4472C4"/>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電池の劣化</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SOHが下がる</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年2〜3%</a:t>
            </a:r>
            <a:endParaRPr lang="en-US" sz="1800" dirty="0"/>
          </a:p>
        </p:txBody>
      </p:sp>
      <p:sp>
        <p:nvSpPr>
          <p:cNvPr id="4" name="shape_322"/>
          <p:cNvSpPr/>
          <p:nvPr/>
        </p:nvSpPr>
        <p:spPr>
          <a:xfrm>
            <a:off x="3703320" y="1874520"/>
            <a:ext cx="1188720" cy="1188720"/>
          </a:xfrm>
          <a:prstGeom prst="line">
            <a:avLst/>
          </a:prstGeom>
          <a:noFill/>
          <a:ln w="19050">
            <a:solidFill>
              <a:srgbClr val="A6A6A6"/>
            </a:solidFill>
            <a:prstDash val="solid"/>
            <a:tailEnd type="triangle"/>
          </a:ln>
        </p:spPr>
      </p:sp>
      <p:sp>
        <p:nvSpPr>
          <p:cNvPr id="5" name="path_323"/>
          <p:cNvSpPr/>
          <p:nvPr/>
        </p:nvSpPr>
        <p:spPr>
          <a:xfrm>
            <a:off x="411480" y="2807208"/>
            <a:ext cx="3291840" cy="1188720"/>
          </a:xfrm>
          <a:prstGeom prst="roundRect">
            <a:avLst>
              <a:gd name="adj" fmla="val 7692"/>
            </a:avLst>
          </a:prstGeom>
          <a:solidFill>
            <a:srgbClr val="FDEDEE"/>
          </a:solidFill>
          <a:ln w="28575">
            <a:solidFill>
              <a:srgbClr val="E8384F"/>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新車の値下げ・陳腐化</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新車が安くなる</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新世代が出る</a:t>
            </a:r>
            <a:endParaRPr lang="en-US" sz="1800" dirty="0"/>
          </a:p>
        </p:txBody>
      </p:sp>
      <p:sp>
        <p:nvSpPr>
          <p:cNvPr id="6" name="shape_324"/>
          <p:cNvSpPr/>
          <p:nvPr/>
        </p:nvSpPr>
        <p:spPr>
          <a:xfrm>
            <a:off x="3703320" y="3401568"/>
            <a:ext cx="1188720" cy="-338328"/>
          </a:xfrm>
          <a:prstGeom prst="line">
            <a:avLst/>
          </a:prstGeom>
          <a:noFill/>
          <a:ln w="19050">
            <a:solidFill>
              <a:srgbClr val="A6A6A6"/>
            </a:solidFill>
            <a:prstDash val="solid"/>
            <a:tailEnd type="triangle"/>
          </a:ln>
        </p:spPr>
      </p:sp>
      <p:sp>
        <p:nvSpPr>
          <p:cNvPr id="7" name="path_325"/>
          <p:cNvSpPr/>
          <p:nvPr/>
        </p:nvSpPr>
        <p:spPr>
          <a:xfrm>
            <a:off x="411480" y="4334256"/>
            <a:ext cx="3291840" cy="1188720"/>
          </a:xfrm>
          <a:prstGeom prst="roundRect">
            <a:avLst>
              <a:gd name="adj" fmla="val 7692"/>
            </a:avLst>
          </a:prstGeom>
          <a:solidFill>
            <a:srgbClr val="EEF3FB"/>
          </a:solidFill>
          <a:ln w="15875">
            <a:solidFill>
              <a:srgbClr val="4472C4"/>
            </a:solidFill>
          </a:ln>
        </p:spPr>
        <p:txBody>
          <a:bodyPr wrap="square" lIns="50800" tIns="50800" rIns="50800" bIns="50800" rtlCol="0" anchor="ctr"/>
          <a:lstStyle/>
          <a:p>
            <a:pPr algn="ctr" indent="0" marL="0">
              <a:buNone/>
            </a:pPr>
            <a:r>
              <a:rPr lang="en-US" sz="1800" b="1" dirty="0">
                <a:solidFill>
                  <a:srgbClr val="333333"/>
                </a:solidFill>
                <a:latin typeface="Arial" pitchFamily="34" charset="0"/>
                <a:ea typeface="Arial" pitchFamily="34" charset="-122"/>
                <a:cs typeface="Arial" pitchFamily="34" charset="-120"/>
              </a:rPr>
              <a:t>不確実性</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劣化・保証・</a:t>
            </a:r>
            <a:endParaRPr lang="en-US" sz="1800" dirty="0"/>
          </a:p>
          <a:p>
            <a:pPr algn="ctr" indent="0" marL="0">
              <a:buNone/>
            </a:pPr>
            <a:r>
              <a:rPr lang="en-US" sz="1400" dirty="0">
                <a:solidFill>
                  <a:srgbClr val="6B6B6B"/>
                </a:solidFill>
                <a:latin typeface="Arial" pitchFamily="34" charset="0"/>
                <a:ea typeface="Arial" pitchFamily="34" charset="-122"/>
                <a:cs typeface="Arial" pitchFamily="34" charset="-120"/>
              </a:rPr>
              <a:t>修理費が読めない</a:t>
            </a:r>
            <a:endParaRPr lang="en-US" sz="1800" dirty="0"/>
          </a:p>
        </p:txBody>
      </p:sp>
      <p:sp>
        <p:nvSpPr>
          <p:cNvPr id="8" name="shape_326"/>
          <p:cNvSpPr/>
          <p:nvPr/>
        </p:nvSpPr>
        <p:spPr>
          <a:xfrm>
            <a:off x="3703320" y="4928616"/>
            <a:ext cx="1188720" cy="-1865376"/>
          </a:xfrm>
          <a:prstGeom prst="line">
            <a:avLst/>
          </a:prstGeom>
          <a:noFill/>
          <a:ln w="19050">
            <a:solidFill>
              <a:srgbClr val="A6A6A6"/>
            </a:solidFill>
            <a:prstDash val="solid"/>
            <a:tailEnd type="triangle"/>
          </a:ln>
        </p:spPr>
      </p:sp>
      <p:sp>
        <p:nvSpPr>
          <p:cNvPr id="9" name="res_327"/>
          <p:cNvSpPr/>
          <p:nvPr/>
        </p:nvSpPr>
        <p:spPr>
          <a:xfrm>
            <a:off x="4937760" y="1463040"/>
            <a:ext cx="2377440" cy="1828800"/>
          </a:xfrm>
          <a:prstGeom prst="roundRect">
            <a:avLst>
              <a:gd name="adj" fmla="val 5000"/>
            </a:avLst>
          </a:prstGeom>
          <a:solidFill>
            <a:srgbClr val="D3F0ED"/>
          </a:solidFill>
          <a:ln w="12700">
            <a:solidFill>
              <a:srgbClr val="404040"/>
            </a:solidFill>
          </a:ln>
        </p:spPr>
        <p:txBody>
          <a:bodyPr wrap="square" lIns="50800" tIns="50800" rIns="50800" bIns="50800" rtlCol="0" anchor="ctr"/>
          <a:lstStyle/>
          <a:p>
            <a:pPr algn="ctr" indent="0" marL="0">
              <a:buNone/>
            </a:pPr>
            <a:r>
              <a:rPr lang="en-US" sz="2000" b="1" dirty="0">
                <a:solidFill>
                  <a:srgbClr val="333333"/>
                </a:solidFill>
                <a:latin typeface="Arial" pitchFamily="34" charset="0"/>
                <a:ea typeface="Arial" pitchFamily="34" charset="-122"/>
                <a:cs typeface="Arial" pitchFamily="34" charset="-120"/>
              </a:rPr>
              <a:t>中古価格の差</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Atto 3 vs Corolla Cross</a:t>
            </a:r>
            <a:endParaRPr lang="en-US" sz="2000" dirty="0"/>
          </a:p>
          <a:p>
            <a:pPr algn="ctr" indent="0" marL="0">
              <a:buNone/>
            </a:pPr>
            <a:r>
              <a:rPr lang="en-US" sz="1500" dirty="0">
                <a:solidFill>
                  <a:srgbClr val="333333"/>
                </a:solidFill>
                <a:latin typeface="Arial" pitchFamily="34" charset="0"/>
                <a:ea typeface="Arial" pitchFamily="34" charset="-122"/>
                <a:cs typeface="Arial" pitchFamily="34" charset="-120"/>
              </a:rPr>
              <a:t>24pt</a:t>
            </a:r>
            <a:endParaRPr lang="en-US" sz="2000" dirty="0"/>
          </a:p>
        </p:txBody>
      </p:sp>
      <p:sp>
        <p:nvSpPr>
          <p:cNvPr id="10" name="shape_328"/>
          <p:cNvSpPr/>
          <p:nvPr/>
        </p:nvSpPr>
        <p:spPr>
          <a:xfrm>
            <a:off x="7680960" y="1188720"/>
            <a:ext cx="2596896" cy="3931920"/>
          </a:xfrm>
          <a:prstGeom prst="roundRect">
            <a:avLst>
              <a:gd name="adj" fmla="val 3521"/>
            </a:avLst>
          </a:prstGeom>
          <a:solidFill>
            <a:srgbClr val="EEF3FB"/>
          </a:solidFill>
          <a:ln w="15875">
            <a:solidFill>
              <a:srgbClr val="4472C4"/>
            </a:solidFill>
            <a:prstDash val="solid"/>
          </a:ln>
        </p:spPr>
      </p:sp>
      <p:sp>
        <p:nvSpPr>
          <p:cNvPr id="11" name="tab_329"/>
          <p:cNvSpPr/>
          <p:nvPr/>
        </p:nvSpPr>
        <p:spPr>
          <a:xfrm>
            <a:off x="7790688" y="1280160"/>
            <a:ext cx="1964944" cy="26416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300" b="1" dirty="0">
                <a:solidFill>
                  <a:srgbClr val="333333"/>
                </a:solidFill>
                <a:latin typeface="Arial" pitchFamily="34" charset="0"/>
                <a:ea typeface="Arial" pitchFamily="34" charset="-122"/>
                <a:cs typeface="Arial" pitchFamily="34" charset="-120"/>
              </a:rPr>
              <a:t>24ptの内訳（説明用）</a:t>
            </a:r>
            <a:endParaRPr lang="en-US" sz="1300" dirty="0"/>
          </a:p>
        </p:txBody>
      </p:sp>
      <p:sp>
        <p:nvSpPr>
          <p:cNvPr id="12" name="shape_330"/>
          <p:cNvSpPr/>
          <p:nvPr/>
        </p:nvSpPr>
        <p:spPr>
          <a:xfrm>
            <a:off x="8092440" y="2221078"/>
            <a:ext cx="868680" cy="2579522"/>
          </a:xfrm>
          <a:prstGeom prst="rect">
            <a:avLst/>
          </a:prstGeom>
          <a:solidFill>
            <a:srgbClr val="E8604C"/>
          </a:solidFill>
          <a:ln w="12700">
            <a:solidFill>
              <a:srgbClr val="E8604C"/>
            </a:solidFill>
            <a:prstDash val="solid"/>
          </a:ln>
        </p:spPr>
      </p:sp>
      <p:sp>
        <p:nvSpPr>
          <p:cNvPr id="13" name="text_331"/>
          <p:cNvSpPr txBox="1"/>
          <p:nvPr/>
        </p:nvSpPr>
        <p:spPr>
          <a:xfrm>
            <a:off x="7909560" y="1873606"/>
            <a:ext cx="1234440" cy="310896"/>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21.7pt</a:t>
            </a:r>
            <a:endParaRPr lang="en-US" sz="1500" dirty="0"/>
          </a:p>
        </p:txBody>
      </p:sp>
      <p:sp>
        <p:nvSpPr>
          <p:cNvPr id="14" name="text_332"/>
          <p:cNvSpPr txBox="1"/>
          <p:nvPr/>
        </p:nvSpPr>
        <p:spPr>
          <a:xfrm>
            <a:off x="7863840" y="4837176"/>
            <a:ext cx="132588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新車値下げ</a:t>
            </a:r>
            <a:endParaRPr lang="en-US" sz="1200" dirty="0"/>
          </a:p>
        </p:txBody>
      </p:sp>
      <p:sp>
        <p:nvSpPr>
          <p:cNvPr id="15" name="shape_333"/>
          <p:cNvSpPr/>
          <p:nvPr/>
        </p:nvSpPr>
        <p:spPr>
          <a:xfrm>
            <a:off x="9418320" y="4515307"/>
            <a:ext cx="868680" cy="285293"/>
          </a:xfrm>
          <a:prstGeom prst="rect">
            <a:avLst/>
          </a:prstGeom>
          <a:solidFill>
            <a:srgbClr val="BFBFBF"/>
          </a:solidFill>
          <a:ln w="12700">
            <a:solidFill>
              <a:srgbClr val="BFBFBF"/>
            </a:solidFill>
            <a:prstDash val="solid"/>
          </a:ln>
        </p:spPr>
      </p:sp>
      <p:sp>
        <p:nvSpPr>
          <p:cNvPr id="16" name="text_334"/>
          <p:cNvSpPr txBox="1"/>
          <p:nvPr/>
        </p:nvSpPr>
        <p:spPr>
          <a:xfrm>
            <a:off x="9235440" y="4167835"/>
            <a:ext cx="1234440" cy="310896"/>
          </a:xfrm>
          <a:prstGeom prst="rect">
            <a:avLst/>
          </a:prstGeom>
          <a:noFill/>
          <a:ln/>
        </p:spPr>
        <p:txBody>
          <a:bodyPr wrap="square" lIns="0" tIns="0" rIns="0" bIns="0" rtlCol="0" anchor="b"/>
          <a:lstStyle/>
          <a:p>
            <a:pPr algn="ctr" indent="0" marL="0">
              <a:buNone/>
            </a:pPr>
            <a:r>
              <a:rPr lang="en-US" sz="1500" b="1" dirty="0">
                <a:solidFill>
                  <a:srgbClr val="333333"/>
                </a:solidFill>
                <a:latin typeface="Arial" pitchFamily="34" charset="0"/>
                <a:ea typeface="Arial" pitchFamily="34" charset="-122"/>
                <a:cs typeface="Arial" pitchFamily="34" charset="-120"/>
              </a:rPr>
              <a:t>2.4pt</a:t>
            </a:r>
            <a:endParaRPr lang="en-US" sz="1500" dirty="0"/>
          </a:p>
        </p:txBody>
      </p:sp>
      <p:sp>
        <p:nvSpPr>
          <p:cNvPr id="17" name="text_335"/>
          <p:cNvSpPr txBox="1"/>
          <p:nvPr/>
        </p:nvSpPr>
        <p:spPr>
          <a:xfrm>
            <a:off x="9189720" y="4837176"/>
            <a:ext cx="132588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残り</a:t>
            </a:r>
            <a:endParaRPr lang="en-US" sz="1200" dirty="0"/>
          </a:p>
        </p:txBody>
      </p:sp>
      <p:sp>
        <p:nvSpPr>
          <p:cNvPr id="18" name="summary_336"/>
          <p:cNvSpPr/>
          <p:nvPr/>
        </p:nvSpPr>
        <p:spPr>
          <a:xfrm>
            <a:off x="960120" y="54864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残り約2ptに電池劣化・不確実性・グレード差が入る</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因果の推定には、SOHと成約価格のデータが要る</a:t>
            </a:r>
            <a:endParaRPr lang="en-US" sz="1700" dirty="0"/>
          </a:p>
        </p:txBody>
      </p:sp>
      <p:sp>
        <p:nvSpPr>
          <p:cNvPr id="19" name="text_33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出典：One2car（2026年10月）、BYD Rêver。分母を変えた差の説明用分解で、因果推定ではない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付録11　C-SUVの入口価格（通常価格と特価）</a:t>
            </a:r>
            <a:endParaRPr lang="en-US" sz="2400" dirty="0"/>
          </a:p>
        </p:txBody>
      </p:sp>
      <p:graphicFrame>
        <p:nvGraphicFramePr>
          <p:cNvPr id="29" name="table_338"/>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3657600"/>
                <a:gridCol w="1005840"/>
                <a:gridCol w="1600200"/>
                <a:gridCol w="1600200"/>
                <a:gridCol w="200253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車種・グレード</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動力</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通常価格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Cross Smart比（特価）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BYD Atto 3 Premium</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79.99万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66.99万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BYD Atto 3 Extended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89.99万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76.99万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E8604C"/>
                          </a:solidFill>
                          <a:latin typeface="Arial" pitchFamily="34" charset="0"/>
                          <a:ea typeface="Arial" pitchFamily="34" charset="-122"/>
                          <a:cs typeface="Arial" pitchFamily="34" charset="-120"/>
                        </a:rPr>
                        <a:t>Haval H6 HEV Pro</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96.9万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Toyota Corolla Cross HEV Smart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98.9万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基準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Toyota Corolla Cross HEV Premium Luxury</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120.4万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4472C4"/>
                          </a:solidFill>
                          <a:latin typeface="Arial" pitchFamily="34" charset="0"/>
                          <a:ea typeface="Arial" pitchFamily="34" charset="-122"/>
                          <a:cs typeface="Arial" pitchFamily="34" charset="-120"/>
                        </a:rPr>
                        <a:t>Mazda CX-30 Essential Prime</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ICE</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89.9万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39"/>
          <p:cNvSpPr/>
          <p:nvPr/>
        </p:nvSpPr>
        <p:spPr>
          <a:xfrm>
            <a:off x="411480" y="1188720"/>
            <a:ext cx="9866376" cy="3858768"/>
          </a:xfrm>
          <a:prstGeom prst="rect">
            <a:avLst/>
          </a:prstGeom>
          <a:ln w="25400">
            <a:solidFill>
              <a:srgbClr val="4472C4"/>
            </a:solidFill>
            <a:prstDash val="solid"/>
          </a:ln>
        </p:spPr>
      </p:sp>
      <p:sp>
        <p:nvSpPr>
          <p:cNvPr id="5" name="text_340"/>
          <p:cNvSpPr txBox="1"/>
          <p:nvPr/>
        </p:nvSpPr>
        <p:spPr>
          <a:xfrm>
            <a:off x="411480" y="5120640"/>
            <a:ext cx="9866376"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価格はバーツ。BYDの特価は2026年10月1〜31日</a:t>
            </a:r>
            <a:endParaRPr lang="en-US" sz="1200" dirty="0"/>
          </a:p>
        </p:txBody>
      </p:sp>
      <p:sp>
        <p:nvSpPr>
          <p:cNvPr id="6" name="summary_341"/>
          <p:cNvSpPr/>
          <p:nvPr/>
        </p:nvSpPr>
        <p:spPr>
          <a:xfrm>
            <a:off x="1325880" y="5669280"/>
            <a:ext cx="8037576" cy="1005840"/>
          </a:xfrm>
          <a:prstGeom prst="roundRect">
            <a:avLst>
              <a:gd name="adj" fmla="val 9091"/>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全長はAtto 3が4,455mm、Corolla Crossが4,460mmでほぼ同じ</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同じ大きさで2〜3割安い</a:t>
            </a:r>
            <a:endParaRPr lang="en-US" sz="1700" dirty="0"/>
          </a:p>
        </p:txBody>
      </p:sp>
      <p:sp>
        <p:nvSpPr>
          <p:cNvPr id="7" name="text_342"/>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出典：BYD Rêver（2026年10月）、Toyota Thailand、各社の価格表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付録12　5年の保有費の試算　残価しだいで逆転する</a:t>
            </a:r>
            <a:endParaRPr lang="en-US" sz="2400" dirty="0"/>
          </a:p>
        </p:txBody>
      </p:sp>
      <p:graphicFrame>
        <p:nvGraphicFramePr>
          <p:cNvPr id="30" name="table_343"/>
          <p:cNvGraphicFramePr>
            <a:graphicFrameLocks noGrp="1"/>
          </p:cNvGraphicFramePr>
          <p:nvPr>
            <p:extLst>
              <p:ext uri="{D42A27DB-BD31-4B8C-83A1-F6EECF244321}">
                <p14:modId xmlns:p14="http://schemas.microsoft.com/office/powerpoint/2010/main" val="1579011935"/>
              </p:ext>
            </p:extLst>
          </p:nvPr>
        </p:nvGraphicFramePr>
        <p:xfrm>
          <a:off x="411480" y="1188720"/>
          <a:ext cx="6400800" cy="914400"/>
        </p:xfrm>
        <a:graphic>
          <a:graphicData uri="http://schemas.openxmlformats.org/drawingml/2006/table">
            <a:tbl>
              <a:tblPr/>
              <a:tblGrid>
                <a:gridCol w="2560320"/>
                <a:gridCol w="1280160"/>
                <a:gridCol w="1280160"/>
                <a:gridCol w="1280160"/>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項目（万バーツ）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Atto 3 通常</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Atto 3 特価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Cross 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購入価格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67.0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98.9</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5年後の売却額（仮定）</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36.0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36.0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64.3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エネルギー費</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整備・保険・充電設備</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15.0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48640">
                <a:tc>
                  <a:txBody>
                    <a:bodyPr/>
                    <a:lstStyle/>
                    <a:p>
                      <a:pPr indent="0" marL="0">
                        <a:buNone/>
                      </a:pPr>
                      <a:r>
                        <a:rPr lang="en-US" sz="1400" b="1" dirty="0">
                          <a:solidFill>
                            <a:srgbClr val="333333"/>
                          </a:solidFill>
                          <a:latin typeface="Arial" pitchFamily="34" charset="0"/>
                          <a:ea typeface="Arial" pitchFamily="34" charset="-122"/>
                          <a:cs typeface="Arial" pitchFamily="34" charset="-120"/>
                        </a:rPr>
                        <a:t>保有費の合計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66.6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53.6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60.1</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r h="548640">
                <a:tc>
                  <a:txBody>
                    <a:bodyPr/>
                    <a:lstStyle/>
                    <a:p>
                      <a:pPr indent="0" marL="0">
                        <a:buNone/>
                      </a:pPr>
                      <a:r>
                        <a:rPr lang="en-US" sz="1400" dirty="0">
                          <a:solidFill>
                            <a:srgbClr val="333333"/>
                          </a:solidFill>
                          <a:latin typeface="Arial" pitchFamily="34" charset="0"/>
                          <a:ea typeface="Arial" pitchFamily="34" charset="-122"/>
                          <a:cs typeface="Arial" pitchFamily="34" charset="-120"/>
                        </a:rPr>
                        <a:t>同額になるHEVの残価率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44"/>
          <p:cNvSpPr/>
          <p:nvPr/>
        </p:nvSpPr>
        <p:spPr>
          <a:xfrm>
            <a:off x="411480" y="1188720"/>
            <a:ext cx="6400800" cy="3749040"/>
          </a:xfrm>
          <a:prstGeom prst="rect">
            <a:avLst/>
          </a:prstGeom>
          <a:ln w="25400">
            <a:solidFill>
              <a:srgbClr val="4472C4"/>
            </a:solidFill>
            <a:prstDash val="solid"/>
          </a:ln>
        </p:spPr>
      </p:sp>
      <p:sp>
        <p:nvSpPr>
          <p:cNvPr id="5" name="shape_345"/>
          <p:cNvSpPr/>
          <p:nvPr/>
        </p:nvSpPr>
        <p:spPr>
          <a:xfrm>
            <a:off x="7086600" y="1188720"/>
            <a:ext cx="3191256" cy="3749040"/>
          </a:xfrm>
          <a:prstGeom prst="roundRect">
            <a:avLst>
              <a:gd name="adj" fmla="val 2865"/>
            </a:avLst>
          </a:prstGeom>
          <a:solidFill>
            <a:srgbClr val="EEF3FB"/>
          </a:solidFill>
          <a:ln w="15875">
            <a:solidFill>
              <a:srgbClr val="4472C4"/>
            </a:solidFill>
            <a:prstDash val="solid"/>
          </a:ln>
        </p:spPr>
      </p:sp>
      <p:sp>
        <p:nvSpPr>
          <p:cNvPr id="6" name="tab_346"/>
          <p:cNvSpPr/>
          <p:nvPr/>
        </p:nvSpPr>
        <p:spPr>
          <a:xfrm>
            <a:off x="7196328" y="1280160"/>
            <a:ext cx="9855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主な仮定</a:t>
            </a:r>
            <a:endParaRPr lang="en-US" sz="1400" dirty="0"/>
          </a:p>
        </p:txBody>
      </p:sp>
      <p:sp>
        <p:nvSpPr>
          <p:cNvPr id="7" name="text_347"/>
          <p:cNvSpPr txBox="1"/>
          <p:nvPr/>
        </p:nvSpPr>
        <p:spPr>
          <a:xfrm>
            <a:off x="7269480" y="1783080"/>
            <a:ext cx="2825496" cy="3017520"/>
          </a:xfrm>
          <a:prstGeom prst="rect">
            <a:avLst/>
          </a:prstGeom>
          <a:noFill/>
          <a:ln/>
        </p:spPr>
        <p:txBody>
          <a:bodyPr wrap="square" lIns="0" tIns="0" rIns="0" bIns="0" rtlCol="0" anchor="t"/>
          <a:lstStyle/>
          <a:p>
            <a:pPr indent="0" marL="0">
              <a:spcAft>
                <a:spcPts val="400"/>
              </a:spcAft>
              <a:buNone/>
            </a:pPr>
            <a:r>
              <a:rPr lang="en-US" sz="1500" dirty="0">
                <a:solidFill>
                  <a:srgbClr val="333333"/>
                </a:solidFill>
                <a:latin typeface="Arial" pitchFamily="34" charset="0"/>
                <a:ea typeface="Arial" pitchFamily="34" charset="-122"/>
                <a:cs typeface="Arial" pitchFamily="34" charset="-120"/>
              </a:rPr>
              <a:t>年1.5万km・5年</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ガソリン35バーツ/L</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電気4.5〜7.5バーツ/kWh</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BEV 16kWh/100km</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HEV 25km/L</a:t>
            </a:r>
            <a:endParaRPr lang="en-US" sz="1500" dirty="0"/>
          </a:p>
          <a:p>
            <a:pPr indent="0" marL="0">
              <a:spcAft>
                <a:spcPts val="400"/>
              </a:spcAft>
              <a:buNone/>
            </a:pPr>
            <a:r>
              <a:rPr lang="en-US" sz="1500" dirty="0">
                <a:solidFill>
                  <a:srgbClr val="333333"/>
                </a:solidFill>
                <a:latin typeface="Arial" pitchFamily="34" charset="0"/>
                <a:ea typeface="Arial" pitchFamily="34" charset="-122"/>
                <a:cs typeface="Arial" pitchFamily="34" charset="-120"/>
              </a:rPr>
              <a:t>現金購入</a:t>
            </a:r>
            <a:endParaRPr lang="en-US" sz="1500" dirty="0"/>
          </a:p>
        </p:txBody>
      </p:sp>
      <p:sp>
        <p:nvSpPr>
          <p:cNvPr id="8" name="summary_348"/>
          <p:cNvSpPr/>
          <p:nvPr/>
        </p:nvSpPr>
        <p:spPr>
          <a:xfrm>
            <a:off x="960120" y="5486400"/>
            <a:ext cx="8769096" cy="1188720"/>
          </a:xfrm>
          <a:prstGeom prst="roundRect">
            <a:avLst>
              <a:gd name="adj" fmla="val 7692"/>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保有費は売却額の仮定で大きく変わる</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日系はHEVの高い残価を残クレに使えば、特価のEVとも戦える</a:t>
            </a:r>
            <a:endParaRPr lang="en-US" sz="1700" dirty="0"/>
          </a:p>
        </p:txBody>
      </p:sp>
      <p:sp>
        <p:nvSpPr>
          <p:cNvPr id="9" name="text_34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出典：各社の価格表（2026年10月）。売却額・料金・整備費・保険料は説明用の仮定</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付録13　残クレで見たCross HEVとAtto 3の月々の支払い</a:t>
            </a:r>
            <a:endParaRPr lang="en-US" sz="2400" dirty="0"/>
          </a:p>
        </p:txBody>
      </p:sp>
      <p:graphicFrame>
        <p:nvGraphicFramePr>
          <p:cNvPr id="3" name="chart_zancre" descr=""/>
          <p:cNvGraphicFramePr/>
          <p:nvPr/>
        </p:nvGraphicFramePr>
        <p:xfrm>
          <a:off x="411480" y="109728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4" name="shape_350"/>
          <p:cNvSpPr/>
          <p:nvPr/>
        </p:nvSpPr>
        <p:spPr>
          <a:xfrm>
            <a:off x="6720840" y="1188720"/>
            <a:ext cx="3557016" cy="4480560"/>
          </a:xfrm>
          <a:prstGeom prst="roundRect">
            <a:avLst>
              <a:gd name="adj" fmla="val 2571"/>
            </a:avLst>
          </a:prstGeom>
          <a:solidFill>
            <a:srgbClr val="EEF3FB"/>
          </a:solidFill>
          <a:ln w="15875">
            <a:solidFill>
              <a:srgbClr val="4472C4"/>
            </a:solidFill>
            <a:prstDash val="solid"/>
          </a:ln>
        </p:spPr>
      </p:sp>
      <p:sp>
        <p:nvSpPr>
          <p:cNvPr id="5" name="tab_351"/>
          <p:cNvSpPr/>
          <p:nvPr/>
        </p:nvSpPr>
        <p:spPr>
          <a:xfrm>
            <a:off x="6830568" y="1280160"/>
            <a:ext cx="2645156" cy="26416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300" b="1" dirty="0">
                <a:solidFill>
                  <a:srgbClr val="333333"/>
                </a:solidFill>
                <a:latin typeface="Arial" pitchFamily="34" charset="0"/>
                <a:ea typeface="Arial" pitchFamily="34" charset="-122"/>
                <a:cs typeface="Arial" pitchFamily="34" charset="-120"/>
              </a:rPr>
              <a:t>iPhoneの返却プログラムと同じ</a:t>
            </a:r>
            <a:endParaRPr lang="en-US" sz="1300" dirty="0"/>
          </a:p>
        </p:txBody>
      </p:sp>
      <p:sp>
        <p:nvSpPr>
          <p:cNvPr id="6" name="text_352"/>
          <p:cNvSpPr txBox="1"/>
          <p:nvPr/>
        </p:nvSpPr>
        <p:spPr>
          <a:xfrm>
            <a:off x="6903720" y="1783080"/>
            <a:ext cx="3191256" cy="3749040"/>
          </a:xfrm>
          <a:prstGeom prst="rect">
            <a:avLst/>
          </a:prstGeom>
          <a:noFill/>
          <a:ln/>
        </p:spPr>
        <p:txBody>
          <a:bodyPr wrap="square" lIns="0" tIns="0" rIns="0" bIns="0" rtlCol="0" anchor="t"/>
          <a:lstStyle/>
          <a:p>
            <a:pPr indent="0" marL="0">
              <a:spcAft>
                <a:spcPts val="600"/>
              </a:spcAft>
              <a:buNone/>
            </a:pPr>
            <a:r>
              <a:rPr lang="en-US" sz="1500" b="1" dirty="0">
                <a:solidFill>
                  <a:srgbClr val="333333"/>
                </a:solidFill>
                <a:latin typeface="Arial" pitchFamily="34" charset="0"/>
                <a:ea typeface="Arial" pitchFamily="34" charset="-122"/>
                <a:cs typeface="Arial" pitchFamily="34" charset="-120"/>
              </a:rPr>
              <a:t>払うのは「価格 − 将来の残価」だけ</a:t>
            </a:r>
            <a:endParaRPr lang="en-US" sz="1500" dirty="0"/>
          </a:p>
          <a:p>
            <a:pPr indent="0" marL="0">
              <a:spcAft>
                <a:spcPts val="600"/>
              </a:spcAft>
              <a:buNone/>
            </a:pPr>
            <a:r>
              <a:rPr lang="en-US" sz="1500" dirty="0">
                <a:solidFill>
                  <a:srgbClr val="333333"/>
                </a:solidFill>
                <a:latin typeface="Arial" pitchFamily="34" charset="0"/>
                <a:ea typeface="Arial" pitchFamily="34" charset="-122"/>
                <a:cs typeface="Arial" pitchFamily="34" charset="-120"/>
              </a:rPr>
              <a:t>残価が高い車ほど、月々が安くなる</a:t>
            </a:r>
            <a:endParaRPr lang="en-US" sz="1500" dirty="0"/>
          </a:p>
          <a:p>
            <a:pPr indent="0" marL="0">
              <a:spcAft>
                <a:spcPts val="600"/>
              </a:spcAft>
              <a:buNone/>
            </a:pPr>
            <a:r>
              <a:rPr lang="en-US" sz="800" dirty="0">
                <a:solidFill>
                  <a:srgbClr val="333333"/>
                </a:solidFill>
                <a:latin typeface="Arial" pitchFamily="34" charset="0"/>
                <a:ea typeface="Arial" pitchFamily="34" charset="-122"/>
                <a:cs typeface="Arial" pitchFamily="34" charset="-120"/>
              </a:rPr>
              <a:t> </a:t>
            </a:r>
            <a:endParaRPr lang="en-US" sz="1500" dirty="0"/>
          </a:p>
          <a:p>
            <a:pPr indent="0" marL="0">
              <a:spcAft>
                <a:spcPts val="600"/>
              </a:spcAft>
              <a:buNone/>
            </a:pPr>
            <a:r>
              <a:rPr lang="en-US" sz="1300" dirty="0">
                <a:solidFill>
                  <a:srgbClr val="6B6B6B"/>
                </a:solidFill>
                <a:latin typeface="Arial" pitchFamily="34" charset="0"/>
                <a:ea typeface="Arial" pitchFamily="34" charset="-122"/>
                <a:cs typeface="Arial" pitchFamily="34" charset="-120"/>
              </a:rPr>
              <a:t>5年後の残価（仮定）</a:t>
            </a:r>
            <a:endParaRPr lang="en-US" sz="1500" dirty="0"/>
          </a:p>
          <a:p>
            <a:pPr indent="0" marL="0">
              <a:spcAft>
                <a:spcPts val="600"/>
              </a:spcAft>
              <a:buNone/>
            </a:pPr>
            <a:r>
              <a:rPr lang="en-US" sz="1500" b="1" dirty="0">
                <a:solidFill>
                  <a:srgbClr val="4472C4"/>
                </a:solidFill>
                <a:latin typeface="Arial" pitchFamily="34" charset="0"/>
                <a:ea typeface="Arial" pitchFamily="34" charset="-122"/>
                <a:cs typeface="Arial" pitchFamily="34" charset="-120"/>
              </a:rPr>
              <a:t>Corolla Cross HEV 65%</a:t>
            </a:r>
            <a:endParaRPr lang="en-US" sz="1500" dirty="0"/>
          </a:p>
          <a:p>
            <a:pPr indent="0" marL="0">
              <a:spcAft>
                <a:spcPts val="600"/>
              </a:spcAft>
              <a:buNone/>
            </a:pPr>
            <a:r>
              <a:rPr lang="en-US" sz="1500" b="1" dirty="0">
                <a:solidFill>
                  <a:srgbClr val="E8604C"/>
                </a:solidFill>
                <a:latin typeface="Arial" pitchFamily="34" charset="0"/>
                <a:ea typeface="Arial" pitchFamily="34" charset="-122"/>
                <a:cs typeface="Arial" pitchFamily="34" charset="-120"/>
              </a:rPr>
              <a:t>Atto 3 45%（通常価格比）</a:t>
            </a:r>
            <a:endParaRPr lang="en-US" sz="1500" dirty="0"/>
          </a:p>
        </p:txBody>
      </p:sp>
      <p:sp>
        <p:nvSpPr>
          <p:cNvPr id="7" name="summary_353"/>
          <p:cNvSpPr/>
          <p:nvPr/>
        </p:nvSpPr>
        <p:spPr>
          <a:xfrm>
            <a:off x="960120" y="5897880"/>
            <a:ext cx="8769096" cy="914400"/>
          </a:xfrm>
          <a:prstGeom prst="roundRect">
            <a:avLst>
              <a:gd name="adj" fmla="val 10000"/>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高い残価が、そのまま月々の安さになる。ただし残価が外れたときの損は日系の金融会社が負う</a:t>
            </a:r>
            <a:endParaRPr lang="en-US" sz="1600" dirty="0"/>
          </a:p>
        </p:txBody>
      </p:sp>
      <p:sp>
        <p:nvSpPr>
          <p:cNvPr id="8" name="text_35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出典：各社の価格表（2026年10月）。残価は付録の保有費試算と同じ仮定。金利・手数料は含まない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付録14　2026年1〜6月のパワートレイン別登録と国籍</a:t>
            </a:r>
            <a:endParaRPr lang="en-US" sz="2400" dirty="0"/>
          </a:p>
        </p:txBody>
      </p:sp>
      <p:graphicFrame>
        <p:nvGraphicFramePr>
          <p:cNvPr id="32" name="table_355"/>
          <p:cNvGraphicFramePr>
            <a:graphicFrameLocks noGrp="1"/>
          </p:cNvGraphicFramePr>
          <p:nvPr>
            <p:extLst>
              <p:ext uri="{D42A27DB-BD31-4B8C-83A1-F6EECF244321}">
                <p14:modId xmlns:p14="http://schemas.microsoft.com/office/powerpoint/2010/main" val="1579011935"/>
              </p:ext>
            </p:extLst>
          </p:nvPr>
        </p:nvGraphicFramePr>
        <p:xfrm>
          <a:off x="411480" y="1188720"/>
          <a:ext cx="9866376" cy="914400"/>
        </p:xfrm>
        <a:graphic>
          <a:graphicData uri="http://schemas.openxmlformats.org/drawingml/2006/table">
            <a:tbl>
              <a:tblPr/>
              <a:tblGrid>
                <a:gridCol w="1188720"/>
                <a:gridCol w="1600200"/>
                <a:gridCol w="1600200"/>
                <a:gridCol w="1234440"/>
                <a:gridCol w="2148840"/>
                <a:gridCol w="2093976"/>
              </a:tblGrid>
              <a:tr h="457200">
                <a:tc>
                  <a:txBody>
                    <a:bodyPr/>
                    <a:lstStyle/>
                    <a:p>
                      <a:pPr indent="0" marL="0">
                        <a:buNone/>
                      </a:pPr>
                      <a:r>
                        <a:rPr lang="en-US" sz="1500" b="1" dirty="0">
                          <a:solidFill>
                            <a:srgbClr val="333333"/>
                          </a:solidFill>
                          <a:latin typeface="Arial" pitchFamily="34" charset="0"/>
                          <a:ea typeface="Arial" pitchFamily="34" charset="-122"/>
                          <a:cs typeface="Arial" pitchFamily="34" charset="-120"/>
                        </a:rPr>
                        <a:t>動力</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2025年1〜6月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2026年1〜6月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前年比</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中国系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日系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BEV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56,973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105,280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+84.8%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E8604C"/>
                          </a:solidFill>
                          <a:latin typeface="Arial" pitchFamily="34" charset="0"/>
                          <a:ea typeface="Arial" pitchFamily="34" charset="-122"/>
                          <a:cs typeface="Arial" pitchFamily="34" charset="-120"/>
                        </a:rPr>
                        <a:t>94,752（90.0%）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1,113（1.1%）</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HEV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71,613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89,878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+25.5%</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1,407（1.6%）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4472C4"/>
                          </a:solidFill>
                          <a:latin typeface="Arial" pitchFamily="34" charset="0"/>
                          <a:ea typeface="Arial" pitchFamily="34" charset="-122"/>
                          <a:cs typeface="Arial" pitchFamily="34" charset="-120"/>
                        </a:rPr>
                        <a:t>87,910（97.8%）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PHEV</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11,324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10,214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−9.8%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E8604C"/>
                          </a:solidFill>
                          <a:latin typeface="Arial" pitchFamily="34" charset="0"/>
                          <a:ea typeface="Arial" pitchFamily="34" charset="-122"/>
                          <a:cs typeface="Arial" pitchFamily="34" charset="-120"/>
                        </a:rPr>
                        <a:t>7,128（69.8%）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59（0.6%）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b="1" dirty="0">
                          <a:solidFill>
                            <a:srgbClr val="333333"/>
                          </a:solidFill>
                          <a:latin typeface="Arial" pitchFamily="34" charset="0"/>
                          <a:ea typeface="Arial" pitchFamily="34" charset="-122"/>
                          <a:cs typeface="Arial" pitchFamily="34" charset="-120"/>
                        </a:rPr>
                        <a:t>合計</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139,910</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205,372</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b="1" dirty="0">
                          <a:solidFill>
                            <a:srgbClr val="333333"/>
                          </a:solidFill>
                          <a:latin typeface="Arial" pitchFamily="34" charset="0"/>
                          <a:ea typeface="Arial" pitchFamily="34" charset="-122"/>
                          <a:cs typeface="Arial" pitchFamily="34" charset="-120"/>
                        </a:rPr>
                        <a:t>+46.8%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103,287</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r" indent="0" marL="0">
                        <a:buNone/>
                      </a:pPr>
                      <a:r>
                        <a:rPr lang="en-US" sz="1500" dirty="0">
                          <a:solidFill>
                            <a:srgbClr val="333333"/>
                          </a:solidFill>
                          <a:latin typeface="Arial" pitchFamily="34" charset="0"/>
                          <a:ea typeface="Arial" pitchFamily="34" charset="-122"/>
                          <a:cs typeface="Arial" pitchFamily="34" charset="-120"/>
                        </a:rPr>
                        <a:t>89,082</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356"/>
          <p:cNvSpPr/>
          <p:nvPr/>
        </p:nvSpPr>
        <p:spPr>
          <a:xfrm>
            <a:off x="411480" y="1188720"/>
            <a:ext cx="9866376" cy="2834640"/>
          </a:xfrm>
          <a:prstGeom prst="rect">
            <a:avLst/>
          </a:prstGeom>
          <a:ln w="25400">
            <a:solidFill>
              <a:srgbClr val="4472C4"/>
            </a:solidFill>
            <a:prstDash val="solid"/>
          </a:ln>
        </p:spPr>
      </p:sp>
      <p:sp>
        <p:nvSpPr>
          <p:cNvPr id="5" name="summary_357"/>
          <p:cNvSpPr/>
          <p:nvPr/>
        </p:nvSpPr>
        <p:spPr>
          <a:xfrm>
            <a:off x="960120" y="4572000"/>
            <a:ext cx="8769096"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dirty="0">
                <a:solidFill>
                  <a:srgbClr val="333333"/>
                </a:solidFill>
                <a:latin typeface="Arial" pitchFamily="34" charset="0"/>
                <a:ea typeface="Arial" pitchFamily="34" charset="-122"/>
                <a:cs typeface="Arial" pitchFamily="34" charset="-120"/>
              </a:rPr>
              <a:t>日系HEVの2026年上半期の台数は、</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前年のHEV市場全体を上回る（1.23倍）</a:t>
            </a:r>
            <a:endParaRPr lang="en-US" sz="1900" dirty="0"/>
          </a:p>
        </p:txBody>
      </p:sp>
      <p:sp>
        <p:nvSpPr>
          <p:cNvPr id="6" name="text_358"/>
          <p:cNvSpPr txBox="1"/>
          <p:nvPr/>
        </p:nvSpPr>
        <p:spPr>
          <a:xfrm>
            <a:off x="411480" y="6035040"/>
            <a:ext cx="9866376" cy="32004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BEVの日系はToyota・Hondaの明記分のみ。その他の国籍は未分解</a:t>
            </a:r>
            <a:endParaRPr lang="en-US" sz="1300" dirty="0"/>
          </a:p>
        </p:txBody>
      </p:sp>
      <p:sp>
        <p:nvSpPr>
          <p:cNvPr id="7" name="text_35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出典：JETRO（2026年7月24日）、EVAT・DLT</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付録15　中国系BEVのグループ別シェア　上位4社で72%</a:t>
            </a:r>
            <a:endParaRPr lang="en-US" sz="2400" dirty="0"/>
          </a:p>
        </p:txBody>
      </p:sp>
      <p:graphicFrame>
        <p:nvGraphicFramePr>
          <p:cNvPr id="3" name="chart_grp" descr=""/>
          <p:cNvGraphicFramePr/>
          <p:nvPr/>
        </p:nvGraphicFramePr>
        <p:xfrm>
          <a:off x="411480" y="1097280"/>
          <a:ext cx="6583680" cy="5669280"/>
        </p:xfrm>
        <a:graphic xmlns:a="http://schemas.openxmlformats.org/drawingml/2006/main">
          <a:graphicData uri="http://schemas.openxmlformats.org/drawingml/2006/chart">
            <c:chart xmlns:c="http://schemas.openxmlformats.org/drawingml/2006/chart" r:id="rId1"/>
          </a:graphicData>
        </a:graphic>
      </p:graphicFrame>
      <p:sp>
        <p:nvSpPr>
          <p:cNvPr id="4" name="shape_360"/>
          <p:cNvSpPr/>
          <p:nvPr/>
        </p:nvSpPr>
        <p:spPr>
          <a:xfrm>
            <a:off x="7269480" y="1188720"/>
            <a:ext cx="3008376" cy="5486400"/>
          </a:xfrm>
          <a:prstGeom prst="roundRect">
            <a:avLst>
              <a:gd name="adj" fmla="val 3040"/>
            </a:avLst>
          </a:prstGeom>
          <a:solidFill>
            <a:srgbClr val="EEF3FB"/>
          </a:solidFill>
          <a:ln w="15875">
            <a:solidFill>
              <a:srgbClr val="4472C4"/>
            </a:solidFill>
            <a:prstDash val="solid"/>
          </a:ln>
        </p:spPr>
      </p:sp>
      <p:sp>
        <p:nvSpPr>
          <p:cNvPr id="5" name="tab_361"/>
          <p:cNvSpPr/>
          <p:nvPr/>
        </p:nvSpPr>
        <p:spPr>
          <a:xfrm>
            <a:off x="7379208" y="1280160"/>
            <a:ext cx="16967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上位の入れ替わり</a:t>
            </a:r>
            <a:endParaRPr lang="en-US" sz="1400" dirty="0"/>
          </a:p>
        </p:txBody>
      </p:sp>
      <p:graphicFrame>
        <p:nvGraphicFramePr>
          <p:cNvPr id="33" name="table_362"/>
          <p:cNvGraphicFramePr>
            <a:graphicFrameLocks noGrp="1"/>
          </p:cNvGraphicFramePr>
          <p:nvPr>
            <p:extLst>
              <p:ext uri="{D42A27DB-BD31-4B8C-83A1-F6EECF244321}">
                <p14:modId xmlns:p14="http://schemas.microsoft.com/office/powerpoint/2010/main" val="1579011935"/>
              </p:ext>
            </p:extLst>
          </p:nvPr>
        </p:nvGraphicFramePr>
        <p:xfrm>
          <a:off x="7452360" y="1783080"/>
          <a:ext cx="2642616" cy="914400"/>
        </p:xfrm>
        <a:graphic>
          <a:graphicData uri="http://schemas.openxmlformats.org/drawingml/2006/table">
            <a:tbl>
              <a:tblPr/>
              <a:tblGrid>
                <a:gridCol w="1005840"/>
                <a:gridCol w="818388"/>
                <a:gridCol w="818388"/>
              </a:tblGrid>
              <a:tr h="411480">
                <a:tc>
                  <a:txBody>
                    <a:bodyPr/>
                    <a:lstStyle/>
                    <a:p>
                      <a:pPr indent="0" marL="0">
                        <a:buNone/>
                      </a:pP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2023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2025*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BYD</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40.2%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31.0%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Neta</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16.7%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3.4%</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02920">
                <a:tc>
                  <a:txBody>
                    <a:bodyPr/>
                    <a:lstStyle/>
                    <a:p>
                      <a:pPr indent="0" marL="0">
                        <a:buNone/>
                      </a:pPr>
                      <a:r>
                        <a:rPr lang="en-US" sz="1400" dirty="0">
                          <a:solidFill>
                            <a:srgbClr val="333333"/>
                          </a:solidFill>
                          <a:latin typeface="Arial" pitchFamily="34" charset="0"/>
                          <a:ea typeface="Arial" pitchFamily="34" charset="-122"/>
                          <a:cs typeface="Arial" pitchFamily="34" charset="-120"/>
                        </a:rPr>
                        <a:t>新規6社</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13.2%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7" name="text_363"/>
          <p:cNvSpPr txBox="1"/>
          <p:nvPr/>
        </p:nvSpPr>
        <p:spPr>
          <a:xfrm>
            <a:off x="7452360" y="3977640"/>
            <a:ext cx="2642616" cy="2560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*2025年1〜9月</a:t>
            </a:r>
            <a:endParaRPr lang="en-US" sz="1300" dirty="0"/>
          </a:p>
          <a:p>
            <a:pPr indent="0" marL="0">
              <a:buNone/>
            </a:pPr>
            <a:r>
              <a:rPr lang="en-US" sz="1300" dirty="0">
                <a:solidFill>
                  <a:srgbClr val="6B6B6B"/>
                </a:solidFill>
                <a:latin typeface="Arial" pitchFamily="34" charset="0"/>
                <a:ea typeface="Arial" pitchFamily="34" charset="-122"/>
                <a:cs typeface="Arial" pitchFamily="34" charset="-120"/>
              </a:rPr>
              <a:t>新規6社＝Denza・XPeng・Zeekr・Jaecoo・Omoda・Hyptec</a:t>
            </a:r>
            <a:endParaRPr lang="en-US" sz="1300" dirty="0"/>
          </a:p>
          <a:p>
            <a:pPr indent="0" marL="0">
              <a:buNone/>
            </a:pPr>
            <a:endParaRPr lang="en-US" sz="1300" dirty="0"/>
          </a:p>
          <a:p>
            <a:pPr indent="0" marL="0">
              <a:buNone/>
            </a:pPr>
            <a:r>
              <a:rPr lang="en-US" sz="1300" dirty="0">
                <a:solidFill>
                  <a:srgbClr val="6B6B6B"/>
                </a:solidFill>
                <a:latin typeface="Arial" pitchFamily="34" charset="0"/>
                <a:ea typeface="Arial" pitchFamily="34" charset="-122"/>
                <a:cs typeface="Arial" pitchFamily="34" charset="-120"/>
              </a:rPr>
              <a:t>中国系どうしで席を奪い合っている</a:t>
            </a:r>
            <a:endParaRPr lang="en-US" sz="1300" dirty="0"/>
          </a:p>
        </p:txBody>
      </p:sp>
      <p:sp>
        <p:nvSpPr>
          <p:cNvPr id="8" name="text_364"/>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出典：JETRO（2026年7月）、Autolife（2023〜2025年）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付録16　中国系の「速さ」の正体は、新しい車名の投入</a:t>
            </a:r>
            <a:endParaRPr lang="en-US" sz="2400" dirty="0"/>
          </a:p>
        </p:txBody>
      </p:sp>
      <p:graphicFrame>
        <p:nvGraphicFramePr>
          <p:cNvPr id="3" name="chart_launch" descr=""/>
          <p:cNvGraphicFramePr/>
          <p:nvPr/>
        </p:nvGraphicFramePr>
        <p:xfrm>
          <a:off x="411480" y="1097280"/>
          <a:ext cx="6400800" cy="5669280"/>
        </p:xfrm>
        <a:graphic xmlns:a="http://schemas.openxmlformats.org/drawingml/2006/main">
          <a:graphicData uri="http://schemas.openxmlformats.org/drawingml/2006/chart">
            <c:chart xmlns:c="http://schemas.openxmlformats.org/drawingml/2006/chart" r:id="rId1"/>
          </a:graphicData>
        </a:graphic>
      </p:graphicFrame>
      <p:sp>
        <p:nvSpPr>
          <p:cNvPr id="4" name="text_365"/>
          <p:cNvSpPr txBox="1"/>
          <p:nvPr/>
        </p:nvSpPr>
        <p:spPr>
          <a:xfrm>
            <a:off x="7086600" y="1280160"/>
            <a:ext cx="3191256" cy="603250"/>
          </a:xfrm>
          <a:prstGeom prst="rect">
            <a:avLst/>
          </a:prstGeom>
          <a:noFill/>
          <a:ln/>
        </p:spPr>
        <p:txBody>
          <a:bodyPr wrap="square" lIns="0" tIns="0" rIns="0" bIns="0" rtlCol="0" anchor="t"/>
          <a:lstStyle/>
          <a:p>
            <a:pPr algn="l" indent="0" marL="0">
              <a:buNone/>
            </a:pPr>
            <a:r>
              <a:rPr lang="en-US" sz="3800" b="1" dirty="0">
                <a:solidFill>
                  <a:srgbClr val="E8604C"/>
                </a:solidFill>
                <a:latin typeface="Arial" pitchFamily="34" charset="0"/>
                <a:ea typeface="Arial" pitchFamily="34" charset="-122"/>
                <a:cs typeface="Arial" pitchFamily="34" charset="-120"/>
              </a:rPr>
              <a:t>91%</a:t>
            </a:r>
            <a:endParaRPr lang="en-US" sz="3800" dirty="0"/>
          </a:p>
        </p:txBody>
      </p:sp>
      <p:sp>
        <p:nvSpPr>
          <p:cNvPr id="5" name="text_366"/>
          <p:cNvSpPr txBox="1"/>
          <p:nvPr/>
        </p:nvSpPr>
        <p:spPr>
          <a:xfrm>
            <a:off x="7086600" y="190754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中国系の新車種のうち、新しい車名</a:t>
            </a:r>
            <a:endParaRPr lang="en-US" sz="1400" dirty="0"/>
          </a:p>
        </p:txBody>
      </p:sp>
      <p:sp>
        <p:nvSpPr>
          <p:cNvPr id="6" name="text_367"/>
          <p:cNvSpPr txBox="1"/>
          <p:nvPr/>
        </p:nvSpPr>
        <p:spPr>
          <a:xfrm>
            <a:off x="7086600" y="2606040"/>
            <a:ext cx="3191256" cy="603250"/>
          </a:xfrm>
          <a:prstGeom prst="rect">
            <a:avLst/>
          </a:prstGeom>
          <a:noFill/>
          <a:ln/>
        </p:spPr>
        <p:txBody>
          <a:bodyPr wrap="square" lIns="0" tIns="0" rIns="0" bIns="0" rtlCol="0" anchor="t"/>
          <a:lstStyle/>
          <a:p>
            <a:pPr algn="l" indent="0" marL="0">
              <a:buNone/>
            </a:pPr>
            <a:r>
              <a:rPr lang="en-US" sz="3800" b="1" dirty="0">
                <a:solidFill>
                  <a:srgbClr val="E8604C"/>
                </a:solidFill>
                <a:latin typeface="Arial" pitchFamily="34" charset="0"/>
                <a:ea typeface="Arial" pitchFamily="34" charset="-122"/>
                <a:cs typeface="Arial" pitchFamily="34" charset="-120"/>
              </a:rPr>
              <a:t>80%</a:t>
            </a:r>
            <a:endParaRPr lang="en-US" sz="3800" dirty="0"/>
          </a:p>
        </p:txBody>
      </p:sp>
      <p:sp>
        <p:nvSpPr>
          <p:cNvPr id="7" name="text_368"/>
          <p:cNvSpPr txBox="1"/>
          <p:nvPr/>
        </p:nvSpPr>
        <p:spPr>
          <a:xfrm>
            <a:off x="7086600" y="323342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輸入で売り始めた割合</a:t>
            </a:r>
            <a:endParaRPr lang="en-US" sz="1400" dirty="0"/>
          </a:p>
        </p:txBody>
      </p:sp>
      <p:sp>
        <p:nvSpPr>
          <p:cNvPr id="8" name="text_369"/>
          <p:cNvSpPr txBox="1"/>
          <p:nvPr/>
        </p:nvSpPr>
        <p:spPr>
          <a:xfrm>
            <a:off x="7086600" y="3931920"/>
            <a:ext cx="3191256" cy="508000"/>
          </a:xfrm>
          <a:prstGeom prst="rect">
            <a:avLst/>
          </a:prstGeom>
          <a:noFill/>
          <a:ln/>
        </p:spPr>
        <p:txBody>
          <a:bodyPr wrap="square" lIns="0" tIns="0" rIns="0" bIns="0" rtlCol="0" anchor="t"/>
          <a:lstStyle/>
          <a:p>
            <a:pPr algn="l" indent="0" marL="0">
              <a:buNone/>
            </a:pPr>
            <a:r>
              <a:rPr lang="en-US" sz="3200" b="1" dirty="0">
                <a:solidFill>
                  <a:srgbClr val="333333"/>
                </a:solidFill>
                <a:latin typeface="Arial" pitchFamily="34" charset="0"/>
                <a:ea typeface="Arial" pitchFamily="34" charset="-122"/>
                <a:cs typeface="Arial" pitchFamily="34" charset="-120"/>
              </a:rPr>
              <a:t>1〜2車種</a:t>
            </a:r>
            <a:endParaRPr lang="en-US" sz="3200" dirty="0"/>
          </a:p>
        </p:txBody>
      </p:sp>
      <p:sp>
        <p:nvSpPr>
          <p:cNvPr id="9" name="text_370"/>
          <p:cNvSpPr txBox="1"/>
          <p:nvPr/>
        </p:nvSpPr>
        <p:spPr>
          <a:xfrm>
            <a:off x="7086600" y="4460240"/>
            <a:ext cx="319125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タイで世代交代まで進んだ中国車</a:t>
            </a:r>
            <a:endParaRPr lang="en-US" sz="1400" dirty="0"/>
          </a:p>
        </p:txBody>
      </p:sp>
      <p:sp>
        <p:nvSpPr>
          <p:cNvPr id="10" name="pc_371"/>
          <p:cNvSpPr/>
          <p:nvPr/>
        </p:nvSpPr>
        <p:spPr>
          <a:xfrm>
            <a:off x="7086600" y="5257800"/>
            <a:ext cx="3191256" cy="1463040"/>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400" b="1" dirty="0">
                <a:solidFill>
                  <a:srgbClr val="333333"/>
                </a:solidFill>
                <a:latin typeface="Arial" pitchFamily="34" charset="0"/>
                <a:ea typeface="Arial" pitchFamily="34" charset="-122"/>
                <a:cs typeface="Arial" pitchFamily="34" charset="-120"/>
              </a:rPr>
              <a:t>S&amp;Pの発売・改良時期で再集計</a:t>
            </a:r>
            <a:endParaRPr lang="en-US" sz="1000" dirty="0"/>
          </a:p>
        </p:txBody>
      </p:sp>
      <p:sp>
        <p:nvSpPr>
          <p:cNvPr id="11" name="text_372"/>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出典：発売時期一覧（2026年10月、2026年は1〜10月）、Autolife</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付録17　開発期間の差は、設計を決める前半で生まれる</a:t>
            </a:r>
            <a:endParaRPr lang="en-US" sz="2400" dirty="0"/>
          </a:p>
        </p:txBody>
      </p:sp>
      <p:graphicFrame>
        <p:nvGraphicFramePr>
          <p:cNvPr id="3" name="chart_phase" descr=""/>
          <p:cNvGraphicFramePr/>
          <p:nvPr/>
        </p:nvGraphicFramePr>
        <p:xfrm>
          <a:off x="411480" y="1097280"/>
          <a:ext cx="6766560" cy="5669280"/>
        </p:xfrm>
        <a:graphic xmlns:a="http://schemas.openxmlformats.org/drawingml/2006/main">
          <a:graphicData uri="http://schemas.openxmlformats.org/drawingml/2006/chart">
            <c:chart xmlns:c="http://schemas.openxmlformats.org/drawingml/2006/chart" r:id="rId1"/>
          </a:graphicData>
        </a:graphic>
      </p:graphicFrame>
      <p:sp>
        <p:nvSpPr>
          <p:cNvPr id="4" name="shape_373"/>
          <p:cNvSpPr/>
          <p:nvPr/>
        </p:nvSpPr>
        <p:spPr>
          <a:xfrm>
            <a:off x="7452360" y="1188720"/>
            <a:ext cx="2825496" cy="5486400"/>
          </a:xfrm>
          <a:prstGeom prst="roundRect">
            <a:avLst>
              <a:gd name="adj" fmla="val 3236"/>
            </a:avLst>
          </a:prstGeom>
          <a:solidFill>
            <a:srgbClr val="EEF3FB"/>
          </a:solidFill>
          <a:ln w="15875">
            <a:solidFill>
              <a:srgbClr val="4472C4"/>
            </a:solidFill>
            <a:prstDash val="solid"/>
          </a:ln>
        </p:spPr>
      </p:sp>
      <p:sp>
        <p:nvSpPr>
          <p:cNvPr id="5" name="tab_374"/>
          <p:cNvSpPr/>
          <p:nvPr/>
        </p:nvSpPr>
        <p:spPr>
          <a:xfrm>
            <a:off x="7562088" y="1280160"/>
            <a:ext cx="1163320" cy="28448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400" b="1" dirty="0">
                <a:solidFill>
                  <a:srgbClr val="333333"/>
                </a:solidFill>
                <a:latin typeface="Arial" pitchFamily="34" charset="0"/>
                <a:ea typeface="Arial" pitchFamily="34" charset="-122"/>
                <a:cs typeface="Arial" pitchFamily="34" charset="-120"/>
              </a:rPr>
              <a:t>縮める手段</a:t>
            </a:r>
            <a:endParaRPr lang="en-US" sz="1400" dirty="0"/>
          </a:p>
        </p:txBody>
      </p:sp>
      <p:sp>
        <p:nvSpPr>
          <p:cNvPr id="6" name="text_375"/>
          <p:cNvSpPr txBox="1"/>
          <p:nvPr/>
        </p:nvSpPr>
        <p:spPr>
          <a:xfrm>
            <a:off x="7635240" y="1783080"/>
            <a:ext cx="2459736" cy="2926080"/>
          </a:xfrm>
          <a:prstGeom prst="rect">
            <a:avLst/>
          </a:prstGeom>
          <a:noFill/>
          <a:ln/>
        </p:spPr>
        <p:txBody>
          <a:bodyPr wrap="square" lIns="0" tIns="0" rIns="0" bIns="0" rtlCol="0" anchor="t"/>
          <a:lstStyle/>
          <a:p>
            <a:pPr indent="0" marL="0">
              <a:spcAft>
                <a:spcPts val="1200"/>
              </a:spcAft>
              <a:buNone/>
            </a:pPr>
            <a:r>
              <a:rPr lang="en-US" sz="1500" dirty="0">
                <a:solidFill>
                  <a:srgbClr val="333333"/>
                </a:solidFill>
                <a:latin typeface="Arial" pitchFamily="34" charset="0"/>
                <a:ea typeface="Arial" pitchFamily="34" charset="-122"/>
                <a:cs typeface="Arial" pitchFamily="34" charset="-120"/>
              </a:rPr>
              <a:t>✓ 決める人数と回数を減らす</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仮想検証</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標準部品</a:t>
            </a:r>
            <a:endParaRPr lang="en-US" sz="16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 中国の開発体制を使う</a:t>
            </a:r>
            <a:endParaRPr lang="en-US" sz="1600" dirty="0"/>
          </a:p>
        </p:txBody>
      </p:sp>
      <p:sp>
        <p:nvSpPr>
          <p:cNvPr id="7" name="text_376"/>
          <p:cNvSpPr txBox="1"/>
          <p:nvPr/>
        </p:nvSpPr>
        <p:spPr>
          <a:xfrm>
            <a:off x="7635240" y="4846320"/>
            <a:ext cx="24597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18／21か月</a:t>
            </a:r>
            <a:endParaRPr lang="en-US" sz="2600" dirty="0"/>
          </a:p>
        </p:txBody>
      </p:sp>
      <p:sp>
        <p:nvSpPr>
          <p:cNvPr id="8" name="text_377"/>
          <p:cNvSpPr txBox="1"/>
          <p:nvPr/>
        </p:nvSpPr>
        <p:spPr>
          <a:xfrm>
            <a:off x="7635240" y="5275580"/>
            <a:ext cx="245973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量販との差のうち前半で生まれる分</a:t>
            </a:r>
            <a:endParaRPr lang="en-US" sz="1400" dirty="0"/>
          </a:p>
        </p:txBody>
      </p:sp>
      <p:sp>
        <p:nvSpPr>
          <p:cNvPr id="9" name="text_37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出典：McKinsey（2025年10月）、報道</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付録18　政策はBEVの普及と現地生産をセットにしてきた</a:t>
            </a:r>
            <a:endParaRPr lang="en-US" sz="2400" dirty="0"/>
          </a:p>
        </p:txBody>
      </p:sp>
      <p:sp>
        <p:nvSpPr>
          <p:cNvPr id="3" name="shape_379"/>
          <p:cNvSpPr/>
          <p:nvPr/>
        </p:nvSpPr>
        <p:spPr>
          <a:xfrm>
            <a:off x="411480" y="1417320"/>
            <a:ext cx="2148840" cy="3291840"/>
          </a:xfrm>
          <a:prstGeom prst="roundRect">
            <a:avLst>
              <a:gd name="adj" fmla="val 5106"/>
            </a:avLst>
          </a:prstGeom>
          <a:solidFill>
            <a:srgbClr val="FFFFFF"/>
          </a:solidFill>
          <a:ln w="22225">
            <a:solidFill>
              <a:srgbClr val="4472C4"/>
            </a:solidFill>
            <a:prstDash val="solid"/>
          </a:ln>
        </p:spPr>
      </p:sp>
      <p:sp>
        <p:nvSpPr>
          <p:cNvPr id="4" name="fslabel_380"/>
          <p:cNvSpPr/>
          <p:nvPr/>
        </p:nvSpPr>
        <p:spPr>
          <a:xfrm>
            <a:off x="1046480" y="1261872"/>
            <a:ext cx="87884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EV3.0</a:t>
            </a:r>
            <a:endParaRPr lang="en-US" sz="1700" dirty="0"/>
          </a:p>
        </p:txBody>
      </p:sp>
      <p:sp>
        <p:nvSpPr>
          <p:cNvPr id="5" name="text_381"/>
          <p:cNvSpPr txBox="1"/>
          <p:nvPr/>
        </p:nvSpPr>
        <p:spPr>
          <a:xfrm>
            <a:off x="548640"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2022〜25年</a:t>
            </a:r>
            <a:endParaRPr lang="en-US" sz="1400" dirty="0"/>
          </a:p>
        </p:txBody>
      </p:sp>
      <p:sp>
        <p:nvSpPr>
          <p:cNvPr id="6" name="text_382"/>
          <p:cNvSpPr txBox="1"/>
          <p:nvPr/>
        </p:nvSpPr>
        <p:spPr>
          <a:xfrm>
            <a:off x="548640"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補助 最大15万バーツ</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物品税8%→2%</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輸入1台に現地生産1〜1.5台</a:t>
            </a:r>
            <a:endParaRPr lang="en-US" sz="1500" dirty="0"/>
          </a:p>
        </p:txBody>
      </p:sp>
      <p:sp>
        <p:nvSpPr>
          <p:cNvPr id="7" name="shape_383"/>
          <p:cNvSpPr/>
          <p:nvPr/>
        </p:nvSpPr>
        <p:spPr>
          <a:xfrm>
            <a:off x="2634996" y="2880360"/>
            <a:ext cx="164592" cy="365760"/>
          </a:xfrm>
          <a:prstGeom prst="chevron">
            <a:avLst/>
          </a:prstGeom>
          <a:solidFill>
            <a:srgbClr val="3FB2AB"/>
          </a:solidFill>
          <a:ln w="12700">
            <a:solidFill>
              <a:srgbClr val="3FB2AB"/>
            </a:solidFill>
            <a:prstDash val="solid"/>
          </a:ln>
        </p:spPr>
      </p:sp>
      <p:sp>
        <p:nvSpPr>
          <p:cNvPr id="8" name="shape_384"/>
          <p:cNvSpPr/>
          <p:nvPr/>
        </p:nvSpPr>
        <p:spPr>
          <a:xfrm>
            <a:off x="2750210" y="2880360"/>
            <a:ext cx="164592" cy="365760"/>
          </a:xfrm>
          <a:prstGeom prst="chevron">
            <a:avLst/>
          </a:prstGeom>
          <a:solidFill>
            <a:srgbClr val="3FB2AB"/>
          </a:solidFill>
          <a:ln w="12700">
            <a:solidFill>
              <a:srgbClr val="3FB2AB"/>
            </a:solidFill>
            <a:prstDash val="solid"/>
          </a:ln>
        </p:spPr>
      </p:sp>
      <p:sp>
        <p:nvSpPr>
          <p:cNvPr id="9" name="shape_385"/>
          <p:cNvSpPr/>
          <p:nvPr/>
        </p:nvSpPr>
        <p:spPr>
          <a:xfrm>
            <a:off x="2983992" y="1417320"/>
            <a:ext cx="2148840" cy="3291840"/>
          </a:xfrm>
          <a:prstGeom prst="roundRect">
            <a:avLst>
              <a:gd name="adj" fmla="val 5106"/>
            </a:avLst>
          </a:prstGeom>
          <a:solidFill>
            <a:srgbClr val="FFFFFF"/>
          </a:solidFill>
          <a:ln w="22225">
            <a:solidFill>
              <a:srgbClr val="4472C4"/>
            </a:solidFill>
            <a:prstDash val="solid"/>
          </a:ln>
        </p:spPr>
      </p:sp>
      <p:sp>
        <p:nvSpPr>
          <p:cNvPr id="10" name="fslabel_386"/>
          <p:cNvSpPr/>
          <p:nvPr/>
        </p:nvSpPr>
        <p:spPr>
          <a:xfrm>
            <a:off x="3618992" y="1261872"/>
            <a:ext cx="87884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EV3.5</a:t>
            </a:r>
            <a:endParaRPr lang="en-US" sz="1700" dirty="0"/>
          </a:p>
        </p:txBody>
      </p:sp>
      <p:sp>
        <p:nvSpPr>
          <p:cNvPr id="11" name="text_387"/>
          <p:cNvSpPr txBox="1"/>
          <p:nvPr/>
        </p:nvSpPr>
        <p:spPr>
          <a:xfrm>
            <a:off x="3121152"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2024〜27年</a:t>
            </a:r>
            <a:endParaRPr lang="en-US" sz="1400" dirty="0"/>
          </a:p>
        </p:txBody>
      </p:sp>
      <p:sp>
        <p:nvSpPr>
          <p:cNvPr id="12" name="text_388"/>
          <p:cNvSpPr txBox="1"/>
          <p:nvPr/>
        </p:nvSpPr>
        <p:spPr>
          <a:xfrm>
            <a:off x="3121152"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補助は年々縮小</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現地生産 2026年1:2、2027年1:3</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輸出1台を1.5台に算入</a:t>
            </a:r>
            <a:endParaRPr lang="en-US" sz="1500" dirty="0"/>
          </a:p>
        </p:txBody>
      </p:sp>
      <p:sp>
        <p:nvSpPr>
          <p:cNvPr id="13" name="shape_389"/>
          <p:cNvSpPr/>
          <p:nvPr/>
        </p:nvSpPr>
        <p:spPr>
          <a:xfrm>
            <a:off x="5207508" y="2880360"/>
            <a:ext cx="164592" cy="365760"/>
          </a:xfrm>
          <a:prstGeom prst="chevron">
            <a:avLst/>
          </a:prstGeom>
          <a:solidFill>
            <a:srgbClr val="3FB2AB"/>
          </a:solidFill>
          <a:ln w="12700">
            <a:solidFill>
              <a:srgbClr val="3FB2AB"/>
            </a:solidFill>
            <a:prstDash val="solid"/>
          </a:ln>
        </p:spPr>
      </p:sp>
      <p:sp>
        <p:nvSpPr>
          <p:cNvPr id="14" name="shape_390"/>
          <p:cNvSpPr/>
          <p:nvPr/>
        </p:nvSpPr>
        <p:spPr>
          <a:xfrm>
            <a:off x="5322722" y="2880360"/>
            <a:ext cx="164592" cy="365760"/>
          </a:xfrm>
          <a:prstGeom prst="chevron">
            <a:avLst/>
          </a:prstGeom>
          <a:solidFill>
            <a:srgbClr val="3FB2AB"/>
          </a:solidFill>
          <a:ln w="12700">
            <a:solidFill>
              <a:srgbClr val="3FB2AB"/>
            </a:solidFill>
            <a:prstDash val="solid"/>
          </a:ln>
        </p:spPr>
      </p:sp>
      <p:sp>
        <p:nvSpPr>
          <p:cNvPr id="15" name="shape_391"/>
          <p:cNvSpPr/>
          <p:nvPr/>
        </p:nvSpPr>
        <p:spPr>
          <a:xfrm>
            <a:off x="5556504" y="1417320"/>
            <a:ext cx="2148840" cy="3291840"/>
          </a:xfrm>
          <a:prstGeom prst="roundRect">
            <a:avLst>
              <a:gd name="adj" fmla="val 5106"/>
            </a:avLst>
          </a:prstGeom>
          <a:solidFill>
            <a:srgbClr val="FFFFFF"/>
          </a:solidFill>
          <a:ln w="22225">
            <a:solidFill>
              <a:srgbClr val="E8384F"/>
            </a:solidFill>
            <a:prstDash val="solid"/>
          </a:ln>
        </p:spPr>
      </p:sp>
      <p:sp>
        <p:nvSpPr>
          <p:cNvPr id="16" name="fslabel_392"/>
          <p:cNvSpPr/>
          <p:nvPr/>
        </p:nvSpPr>
        <p:spPr>
          <a:xfrm>
            <a:off x="5738114" y="1261872"/>
            <a:ext cx="17856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物品税の見直し</a:t>
            </a:r>
            <a:endParaRPr lang="en-US" sz="1700" dirty="0"/>
          </a:p>
        </p:txBody>
      </p:sp>
      <p:sp>
        <p:nvSpPr>
          <p:cNvPr id="17" name="text_393"/>
          <p:cNvSpPr txBox="1"/>
          <p:nvPr/>
        </p:nvSpPr>
        <p:spPr>
          <a:xfrm>
            <a:off x="5693664"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2026年〜</a:t>
            </a:r>
            <a:endParaRPr lang="en-US" sz="1400" dirty="0"/>
          </a:p>
        </p:txBody>
      </p:sp>
      <p:sp>
        <p:nvSpPr>
          <p:cNvPr id="18" name="text_394"/>
          <p:cNvSpPr txBox="1"/>
          <p:nvPr/>
        </p:nvSpPr>
        <p:spPr>
          <a:xfrm>
            <a:off x="5693664"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輸入EV 10%、現地2%</a:t>
            </a:r>
            <a:endParaRPr lang="en-US" sz="1500" dirty="0"/>
          </a:p>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PHEV 5%</a:t>
            </a:r>
            <a:endParaRPr lang="en-US" sz="1500" dirty="0"/>
          </a:p>
        </p:txBody>
      </p:sp>
      <p:sp>
        <p:nvSpPr>
          <p:cNvPr id="19" name="shape_395"/>
          <p:cNvSpPr/>
          <p:nvPr/>
        </p:nvSpPr>
        <p:spPr>
          <a:xfrm>
            <a:off x="7780020" y="2880360"/>
            <a:ext cx="164592" cy="365760"/>
          </a:xfrm>
          <a:prstGeom prst="chevron">
            <a:avLst/>
          </a:prstGeom>
          <a:solidFill>
            <a:srgbClr val="3FB2AB"/>
          </a:solidFill>
          <a:ln w="12700">
            <a:solidFill>
              <a:srgbClr val="3FB2AB"/>
            </a:solidFill>
            <a:prstDash val="solid"/>
          </a:ln>
        </p:spPr>
      </p:sp>
      <p:sp>
        <p:nvSpPr>
          <p:cNvPr id="20" name="shape_396"/>
          <p:cNvSpPr/>
          <p:nvPr/>
        </p:nvSpPr>
        <p:spPr>
          <a:xfrm>
            <a:off x="7895234" y="2880360"/>
            <a:ext cx="164592" cy="365760"/>
          </a:xfrm>
          <a:prstGeom prst="chevron">
            <a:avLst/>
          </a:prstGeom>
          <a:solidFill>
            <a:srgbClr val="3FB2AB"/>
          </a:solidFill>
          <a:ln w="12700">
            <a:solidFill>
              <a:srgbClr val="3FB2AB"/>
            </a:solidFill>
            <a:prstDash val="solid"/>
          </a:ln>
        </p:spPr>
      </p:sp>
      <p:sp>
        <p:nvSpPr>
          <p:cNvPr id="21" name="shape_397"/>
          <p:cNvSpPr/>
          <p:nvPr/>
        </p:nvSpPr>
        <p:spPr>
          <a:xfrm>
            <a:off x="8129016" y="1417320"/>
            <a:ext cx="2148840" cy="3291840"/>
          </a:xfrm>
          <a:prstGeom prst="roundRect">
            <a:avLst>
              <a:gd name="adj" fmla="val 5106"/>
            </a:avLst>
          </a:prstGeom>
          <a:solidFill>
            <a:srgbClr val="FFFFFF"/>
          </a:solidFill>
          <a:ln w="22225">
            <a:solidFill>
              <a:srgbClr val="E8384F"/>
            </a:solidFill>
            <a:prstDash val="solid"/>
          </a:ln>
        </p:spPr>
      </p:sp>
      <p:sp>
        <p:nvSpPr>
          <p:cNvPr id="22" name="fslabel_398"/>
          <p:cNvSpPr/>
          <p:nvPr/>
        </p:nvSpPr>
        <p:spPr>
          <a:xfrm>
            <a:off x="8358124" y="1261872"/>
            <a:ext cx="1690624"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3段階の物品税</a:t>
            </a:r>
            <a:endParaRPr lang="en-US" sz="1700" dirty="0"/>
          </a:p>
        </p:txBody>
      </p:sp>
      <p:sp>
        <p:nvSpPr>
          <p:cNvPr id="23" name="text_399"/>
          <p:cNvSpPr txBox="1"/>
          <p:nvPr/>
        </p:nvSpPr>
        <p:spPr>
          <a:xfrm>
            <a:off x="8266176" y="1737360"/>
            <a:ext cx="1874520" cy="36576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2026年9月 合意</a:t>
            </a:r>
            <a:endParaRPr lang="en-US" sz="1400" dirty="0"/>
          </a:p>
        </p:txBody>
      </p:sp>
      <p:sp>
        <p:nvSpPr>
          <p:cNvPr id="24" name="text_400"/>
          <p:cNvSpPr txBox="1"/>
          <p:nvPr/>
        </p:nvSpPr>
        <p:spPr>
          <a:xfrm>
            <a:off x="8266176" y="2240280"/>
            <a:ext cx="1874520" cy="2286000"/>
          </a:xfrm>
          <a:prstGeom prst="rect">
            <a:avLst/>
          </a:prstGeom>
          <a:noFill/>
          <a:ln/>
        </p:spPr>
        <p:txBody>
          <a:bodyPr wrap="square" lIns="0" tIns="0" rIns="0" bIns="0" rtlCol="0" anchor="t"/>
          <a:lstStyle/>
          <a:p>
            <a:pPr algn="ctr" indent="0" marL="0">
              <a:spcAft>
                <a:spcPts val="800"/>
              </a:spcAft>
              <a:buNone/>
            </a:pPr>
            <a:r>
              <a:rPr lang="en-US" sz="1500" dirty="0">
                <a:solidFill>
                  <a:srgbClr val="333333"/>
                </a:solidFill>
                <a:latin typeface="Arial" pitchFamily="34" charset="0"/>
                <a:ea typeface="Arial" pitchFamily="34" charset="-122"/>
                <a:cs typeface="Arial" pitchFamily="34" charset="-120"/>
              </a:rPr>
              <a:t>投資の少ない、輸入だけの会社が最も高い</a:t>
            </a:r>
            <a:endParaRPr lang="en-US" sz="1500" dirty="0"/>
          </a:p>
        </p:txBody>
      </p:sp>
      <p:sp>
        <p:nvSpPr>
          <p:cNvPr id="25" name="summary_401"/>
          <p:cNvSpPr/>
          <p:nvPr/>
        </p:nvSpPr>
        <p:spPr>
          <a:xfrm>
            <a:off x="868680" y="5120640"/>
            <a:ext cx="8951976" cy="1463040"/>
          </a:xfrm>
          <a:prstGeom prst="roundRect">
            <a:avLst>
              <a:gd name="adj" fmla="val 6250"/>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900" b="1" dirty="0">
                <a:solidFill>
                  <a:srgbClr val="333333"/>
                </a:solidFill>
                <a:latin typeface="Arial" pitchFamily="34" charset="0"/>
                <a:ea typeface="Arial" pitchFamily="34" charset="-122"/>
                <a:cs typeface="Arial" pitchFamily="34" charset="-120"/>
              </a:rPr>
              <a:t>関税：中国製EV 0%、日本製 20%</a:t>
            </a:r>
            <a:endParaRPr lang="en-US" sz="1900" dirty="0"/>
          </a:p>
          <a:p>
            <a:pPr algn="ctr" indent="0" marL="0">
              <a:buNone/>
            </a:pPr>
            <a:r>
              <a:rPr lang="en-US" sz="1900" dirty="0">
                <a:solidFill>
                  <a:srgbClr val="E8384F"/>
                </a:solidFill>
                <a:latin typeface="Arial" pitchFamily="34" charset="0"/>
                <a:ea typeface="Arial" pitchFamily="34" charset="-122"/>
                <a:cs typeface="Arial" pitchFamily="34" charset="-120"/>
              </a:rPr>
              <a:t>中国系は輸入から始め、後から現地生産に移れた</a:t>
            </a:r>
            <a:endParaRPr lang="en-US" sz="1900" dirty="0"/>
          </a:p>
        </p:txBody>
      </p:sp>
      <p:sp>
        <p:nvSpPr>
          <p:cNvPr id="26" name="text_402"/>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出典：BOI（2023〜2025年）、物品税局、The Nation（2026年9月）、ASEAN Briefing</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付録19　ASEAN6か国の制度と、日系への示唆</a:t>
            </a:r>
            <a:endParaRPr lang="en-US" sz="2400" dirty="0"/>
          </a:p>
        </p:txBody>
      </p:sp>
      <p:graphicFrame>
        <p:nvGraphicFramePr>
          <p:cNvPr id="37" name="table_403"/>
          <p:cNvGraphicFramePr>
            <a:graphicFrameLocks noGrp="1"/>
          </p:cNvGraphicFramePr>
          <p:nvPr>
            <p:extLst>
              <p:ext uri="{D42A27DB-BD31-4B8C-83A1-F6EECF244321}">
                <p14:modId xmlns:p14="http://schemas.microsoft.com/office/powerpoint/2010/main" val="1579011935"/>
              </p:ext>
            </p:extLst>
          </p:nvPr>
        </p:nvGraphicFramePr>
        <p:xfrm>
          <a:off x="411480" y="1143000"/>
          <a:ext cx="9866376" cy="914400"/>
        </p:xfrm>
        <a:graphic>
          <a:graphicData uri="http://schemas.openxmlformats.org/drawingml/2006/table">
            <a:tbl>
              <a:tblPr/>
              <a:tblGrid>
                <a:gridCol w="1463040"/>
                <a:gridCol w="4480560"/>
                <a:gridCol w="392277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国</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制度・市場の条件</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日系への示唆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タイ</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 +85%、HEV +26%。EV3.5の相殺生産・輸出算入</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HEVの収益を守り、都市・法人向けにBEVを投入</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インドネシア</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EV販売比率 約15%（2025年）。輸入優遇の終了後は現地化</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MPV・SUVの用途と現地調達の採算を確認</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マレーシア</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2026年7月から新規CBUにCIF 20万リンギ以上・180kW以上</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輸入の継続条件とCKDの採算を分けて設計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ベトナム</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BEVの登録料0%を2030年末まで。地場VinFastが主力</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地場を含めて商品・販売網・充電を評価</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フィリピン</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BEV・HEV・PHEVの関税0%を2028年まで</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HEVも制度を使って価格を見直す</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804672">
                <a:tc>
                  <a:txBody>
                    <a:bodyPr/>
                    <a:lstStyle/>
                    <a:p>
                      <a:pPr indent="0" marL="0">
                        <a:buNone/>
                      </a:pPr>
                      <a:r>
                        <a:rPr lang="en-US" sz="1400" dirty="0">
                          <a:solidFill>
                            <a:srgbClr val="333333"/>
                          </a:solidFill>
                          <a:latin typeface="Arial" pitchFamily="34" charset="0"/>
                          <a:ea typeface="Arial" pitchFamily="34" charset="-122"/>
                          <a:cs typeface="Arial" pitchFamily="34" charset="-120"/>
                        </a:rPr>
                        <a:t>シンガポール</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2026年のVESはEVのみ優遇。EEAIは2027年に終了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COEを含む負担でBEVの仕様を決める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404"/>
          <p:cNvSpPr/>
          <p:nvPr/>
        </p:nvSpPr>
        <p:spPr>
          <a:xfrm>
            <a:off x="411480" y="1143000"/>
            <a:ext cx="9866376" cy="5285232"/>
          </a:xfrm>
          <a:prstGeom prst="rect">
            <a:avLst/>
          </a:prstGeom>
          <a:ln w="25400">
            <a:solidFill>
              <a:srgbClr val="4472C4"/>
            </a:solidFill>
            <a:prstDash val="solid"/>
          </a:ln>
        </p:spPr>
      </p:sp>
      <p:sp>
        <p:nvSpPr>
          <p:cNvPr id="5" name="text_405"/>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出典：JETRO、BOI、MITI、ベトナム政府（政令202/2026）、フィリピン税関（EO62）、LTA、IEA</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付録20　ピックアップの縮小は与信の引き締めによる</a:t>
            </a:r>
            <a:endParaRPr lang="en-US" sz="2400" dirty="0"/>
          </a:p>
        </p:txBody>
      </p:sp>
      <p:graphicFrame>
        <p:nvGraphicFramePr>
          <p:cNvPr id="3" name="chart_pickup" descr=""/>
          <p:cNvGraphicFramePr/>
          <p:nvPr/>
        </p:nvGraphicFramePr>
        <p:xfrm>
          <a:off x="411480" y="1097280"/>
          <a:ext cx="5303520" cy="5669280"/>
        </p:xfrm>
        <a:graphic xmlns:a="http://schemas.openxmlformats.org/drawingml/2006/main">
          <a:graphicData uri="http://schemas.openxmlformats.org/drawingml/2006/chart">
            <c:chart xmlns:c="http://schemas.openxmlformats.org/drawingml/2006/chart" r:id="rId1"/>
          </a:graphicData>
        </a:graphic>
      </p:graphicFrame>
      <p:sp>
        <p:nvSpPr>
          <p:cNvPr id="4" name="text_406"/>
          <p:cNvSpPr txBox="1"/>
          <p:nvPr/>
        </p:nvSpPr>
        <p:spPr>
          <a:xfrm>
            <a:off x="6126480" y="1280160"/>
            <a:ext cx="4151376" cy="603250"/>
          </a:xfrm>
          <a:prstGeom prst="rect">
            <a:avLst/>
          </a:prstGeom>
          <a:noFill/>
          <a:ln/>
        </p:spPr>
        <p:txBody>
          <a:bodyPr wrap="square" lIns="0" tIns="0" rIns="0" bIns="0" rtlCol="0" anchor="t"/>
          <a:lstStyle/>
          <a:p>
            <a:pPr algn="l" indent="0" marL="0">
              <a:buNone/>
            </a:pPr>
            <a:r>
              <a:rPr lang="en-US" sz="3800" b="1" dirty="0">
                <a:solidFill>
                  <a:srgbClr val="333333"/>
                </a:solidFill>
                <a:latin typeface="Arial" pitchFamily="34" charset="0"/>
                <a:ea typeface="Arial" pitchFamily="34" charset="-122"/>
                <a:cs typeface="Arial" pitchFamily="34" charset="-120"/>
              </a:rPr>
              <a:t>−63%</a:t>
            </a:r>
            <a:endParaRPr lang="en-US" sz="3800" dirty="0"/>
          </a:p>
        </p:txBody>
      </p:sp>
      <p:sp>
        <p:nvSpPr>
          <p:cNvPr id="5" name="text_407"/>
          <p:cNvSpPr txBox="1"/>
          <p:nvPr/>
        </p:nvSpPr>
        <p:spPr>
          <a:xfrm>
            <a:off x="6126480" y="19075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ピックアップの販売（2022→2025年）</a:t>
            </a:r>
            <a:endParaRPr lang="en-US" sz="1400" dirty="0"/>
          </a:p>
        </p:txBody>
      </p:sp>
      <p:sp>
        <p:nvSpPr>
          <p:cNvPr id="6" name="text_408"/>
          <p:cNvSpPr txBox="1"/>
          <p:nvPr/>
        </p:nvSpPr>
        <p:spPr>
          <a:xfrm>
            <a:off x="6126480" y="2651760"/>
            <a:ext cx="4151376" cy="603250"/>
          </a:xfrm>
          <a:prstGeom prst="rect">
            <a:avLst/>
          </a:prstGeom>
          <a:noFill/>
          <a:ln/>
        </p:spPr>
        <p:txBody>
          <a:bodyPr wrap="square" lIns="0" tIns="0" rIns="0" bIns="0" rtlCol="0" anchor="t"/>
          <a:lstStyle/>
          <a:p>
            <a:pPr algn="l" indent="0" marL="0">
              <a:buNone/>
            </a:pPr>
            <a:r>
              <a:rPr lang="en-US" sz="3800" b="1" dirty="0">
                <a:solidFill>
                  <a:srgbClr val="333333"/>
                </a:solidFill>
                <a:latin typeface="Arial" pitchFamily="34" charset="0"/>
                <a:ea typeface="Arial" pitchFamily="34" charset="-122"/>
                <a:cs typeface="Arial" pitchFamily="34" charset="-120"/>
              </a:rPr>
              <a:t>30〜40%</a:t>
            </a:r>
            <a:endParaRPr lang="en-US" sz="3800" dirty="0"/>
          </a:p>
        </p:txBody>
      </p:sp>
      <p:sp>
        <p:nvSpPr>
          <p:cNvPr id="7" name="text_409"/>
          <p:cNvSpPr txBox="1"/>
          <p:nvPr/>
        </p:nvSpPr>
        <p:spPr>
          <a:xfrm>
            <a:off x="6126480" y="32791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ローンの否決率（2024年）</a:t>
            </a:r>
            <a:endParaRPr lang="en-US" sz="1400" dirty="0"/>
          </a:p>
        </p:txBody>
      </p:sp>
      <p:sp>
        <p:nvSpPr>
          <p:cNvPr id="8" name="text_410"/>
          <p:cNvSpPr txBox="1"/>
          <p:nvPr/>
        </p:nvSpPr>
        <p:spPr>
          <a:xfrm>
            <a:off x="6126480" y="4023360"/>
            <a:ext cx="4151376" cy="603250"/>
          </a:xfrm>
          <a:prstGeom prst="rect">
            <a:avLst/>
          </a:prstGeom>
          <a:noFill/>
          <a:ln/>
        </p:spPr>
        <p:txBody>
          <a:bodyPr wrap="square" lIns="0" tIns="0" rIns="0" bIns="0" rtlCol="0" anchor="t"/>
          <a:lstStyle/>
          <a:p>
            <a:pPr algn="l" indent="0" marL="0">
              <a:buNone/>
            </a:pPr>
            <a:r>
              <a:rPr lang="en-US" sz="3800" b="1" dirty="0">
                <a:solidFill>
                  <a:srgbClr val="4472C4"/>
                </a:solidFill>
                <a:latin typeface="Arial" pitchFamily="34" charset="0"/>
                <a:ea typeface="Arial" pitchFamily="34" charset="-122"/>
                <a:cs typeface="Arial" pitchFamily="34" charset="-120"/>
              </a:rPr>
              <a:t>91%</a:t>
            </a:r>
            <a:endParaRPr lang="en-US" sz="3800" dirty="0"/>
          </a:p>
        </p:txBody>
      </p:sp>
      <p:sp>
        <p:nvSpPr>
          <p:cNvPr id="9" name="text_411"/>
          <p:cNvSpPr txBox="1"/>
          <p:nvPr/>
        </p:nvSpPr>
        <p:spPr>
          <a:xfrm>
            <a:off x="6126480" y="4650740"/>
            <a:ext cx="4151376" cy="45720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ピックアップのうち日系</a:t>
            </a:r>
            <a:endParaRPr lang="en-US" sz="1400" dirty="0"/>
          </a:p>
        </p:txBody>
      </p:sp>
      <p:sp>
        <p:nvSpPr>
          <p:cNvPr id="10" name="summary_412"/>
          <p:cNvSpPr/>
          <p:nvPr/>
        </p:nvSpPr>
        <p:spPr>
          <a:xfrm>
            <a:off x="6126480" y="5394960"/>
            <a:ext cx="4151376" cy="1280160"/>
          </a:xfrm>
          <a:prstGeom prst="roundRect">
            <a:avLst>
              <a:gd name="adj" fmla="val 714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中国系との競争とは別の要因</a:t>
            </a:r>
            <a:endParaRPr lang="en-US" sz="1700" dirty="0"/>
          </a:p>
          <a:p>
            <a:pPr algn="ctr" indent="0" marL="0">
              <a:buNone/>
            </a:pPr>
            <a:r>
              <a:rPr lang="en-US" sz="1700" dirty="0">
                <a:solidFill>
                  <a:srgbClr val="E8384F"/>
                </a:solidFill>
                <a:latin typeface="Arial" pitchFamily="34" charset="0"/>
                <a:ea typeface="Arial" pitchFamily="34" charset="-122"/>
                <a:cs typeface="Arial" pitchFamily="34" charset="-120"/>
              </a:rPr>
              <a:t>与信が戻れば日系の台数も戻る</a:t>
            </a:r>
            <a:endParaRPr lang="en-US" sz="1700" dirty="0"/>
          </a:p>
        </p:txBody>
      </p:sp>
      <p:sp>
        <p:nvSpPr>
          <p:cNvPr id="11" name="text_41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出典：TMT、Bangkok Post、FTI</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付録21　車種の数と依存度で見た各社の位置（概算）</a:t>
            </a:r>
            <a:endParaRPr lang="en-US" sz="2400" dirty="0"/>
          </a:p>
        </p:txBody>
      </p:sp>
      <p:sp>
        <p:nvSpPr>
          <p:cNvPr id="3" name="text_414"/>
          <p:cNvSpPr txBox="1"/>
          <p:nvPr/>
        </p:nvSpPr>
        <p:spPr>
          <a:xfrm>
            <a:off x="1417320" y="1188720"/>
            <a:ext cx="3291840" cy="32004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車種が少ない</a:t>
            </a:r>
            <a:endParaRPr lang="en-US" sz="1400" dirty="0"/>
          </a:p>
        </p:txBody>
      </p:sp>
      <p:sp>
        <p:nvSpPr>
          <p:cNvPr id="4" name="text_415"/>
          <p:cNvSpPr txBox="1"/>
          <p:nvPr/>
        </p:nvSpPr>
        <p:spPr>
          <a:xfrm>
            <a:off x="4818888" y="1188720"/>
            <a:ext cx="3291840" cy="320040"/>
          </a:xfrm>
          <a:prstGeom prst="rect">
            <a:avLst/>
          </a:prstGeom>
          <a:noFill/>
          <a:ln/>
        </p:spPr>
        <p:txBody>
          <a:bodyPr wrap="square" lIns="0" tIns="0" rIns="0" bIns="0" rtlCol="0" anchor="t"/>
          <a:lstStyle/>
          <a:p>
            <a:pPr algn="ctr" indent="0" marL="0">
              <a:buNone/>
            </a:pPr>
            <a:r>
              <a:rPr lang="en-US" sz="1400" dirty="0">
                <a:solidFill>
                  <a:srgbClr val="6B6B6B"/>
                </a:solidFill>
                <a:latin typeface="Arial" pitchFamily="34" charset="0"/>
                <a:ea typeface="Arial" pitchFamily="34" charset="-122"/>
                <a:cs typeface="Arial" pitchFamily="34" charset="-120"/>
              </a:rPr>
              <a:t>車種が多い</a:t>
            </a:r>
            <a:endParaRPr lang="en-US" sz="1400" dirty="0"/>
          </a:p>
        </p:txBody>
      </p:sp>
      <p:sp>
        <p:nvSpPr>
          <p:cNvPr id="5" name="text_416"/>
          <p:cNvSpPr txBox="1"/>
          <p:nvPr/>
        </p:nvSpPr>
        <p:spPr>
          <a:xfrm>
            <a:off x="411480" y="1600200"/>
            <a:ext cx="914400" cy="22860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1車種に</a:t>
            </a:r>
            <a:endParaRPr lang="en-US" sz="1400" dirty="0"/>
          </a:p>
          <a:p>
            <a:pPr indent="0" marL="0">
              <a:buNone/>
            </a:pPr>
            <a:r>
              <a:rPr lang="en-US" sz="1400" dirty="0">
                <a:solidFill>
                  <a:srgbClr val="6B6B6B"/>
                </a:solidFill>
                <a:latin typeface="Arial" pitchFamily="34" charset="0"/>
                <a:ea typeface="Arial" pitchFamily="34" charset="-122"/>
                <a:cs typeface="Arial" pitchFamily="34" charset="-120"/>
              </a:rPr>
              <a:t>頼る</a:t>
            </a:r>
            <a:endParaRPr lang="en-US" sz="1400" dirty="0"/>
          </a:p>
        </p:txBody>
      </p:sp>
      <p:sp>
        <p:nvSpPr>
          <p:cNvPr id="6" name="text_417"/>
          <p:cNvSpPr txBox="1"/>
          <p:nvPr/>
        </p:nvSpPr>
        <p:spPr>
          <a:xfrm>
            <a:off x="411480" y="3995928"/>
            <a:ext cx="914400" cy="228600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分散</a:t>
            </a:r>
            <a:endParaRPr lang="en-US" sz="1400" dirty="0"/>
          </a:p>
        </p:txBody>
      </p:sp>
      <p:sp>
        <p:nvSpPr>
          <p:cNvPr id="7" name="q_418"/>
          <p:cNvSpPr/>
          <p:nvPr/>
        </p:nvSpPr>
        <p:spPr>
          <a:xfrm>
            <a:off x="1417320" y="1600200"/>
            <a:ext cx="3291840" cy="2286000"/>
          </a:xfrm>
          <a:prstGeom prst="roundRect">
            <a:avLst>
              <a:gd name="adj" fmla="val 3200"/>
            </a:avLst>
          </a:prstGeom>
          <a:solidFill>
            <a:srgbClr val="FDEDEE"/>
          </a:solidFill>
          <a:ln w="15875">
            <a:solidFill>
              <a:srgbClr val="E8384F"/>
            </a:solidFill>
          </a:ln>
        </p:spPr>
        <p:txBody>
          <a:bodyPr wrap="square" lIns="127000" tIns="152400" rIns="152400" bIns="101600" rtlCol="0" anchor="t"/>
          <a:lstStyle/>
          <a:p>
            <a:pPr algn="l" indent="0" marL="0">
              <a:buNone/>
            </a:pPr>
            <a:r>
              <a:rPr lang="en-US" sz="1500" b="1" dirty="0">
                <a:solidFill>
                  <a:srgbClr val="E8604C"/>
                </a:solidFill>
                <a:latin typeface="Arial" pitchFamily="34" charset="0"/>
                <a:ea typeface="Arial" pitchFamily="34" charset="-122"/>
                <a:cs typeface="Arial" pitchFamily="34" charset="-120"/>
              </a:rPr>
              <a:t>中国系の多く</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Chery系（Jaecoo 5 EVが5割）</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GWM（Tank 300）</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Wuling（Darion EVが8割）</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Neta（Neta Vのみ）</a:t>
            </a:r>
            <a:endParaRPr lang="en-US" sz="1500" dirty="0"/>
          </a:p>
        </p:txBody>
      </p:sp>
      <p:sp>
        <p:nvSpPr>
          <p:cNvPr id="8" name="q_419"/>
          <p:cNvSpPr/>
          <p:nvPr/>
        </p:nvSpPr>
        <p:spPr>
          <a:xfrm>
            <a:off x="4818888" y="1600200"/>
            <a:ext cx="3291840" cy="2286000"/>
          </a:xfrm>
          <a:prstGeom prst="roundRect">
            <a:avLst>
              <a:gd name="adj" fmla="val 3200"/>
            </a:avLst>
          </a:prstGeom>
          <a:solidFill>
            <a:srgbClr val="FFFFFF"/>
          </a:solidFill>
          <a:ln w="15875">
            <a:solidFill>
              <a:srgbClr val="BFBFBF"/>
            </a:solidFill>
          </a:ln>
        </p:spPr>
        <p:txBody>
          <a:bodyPr wrap="square" lIns="127000" tIns="152400" rIns="152400" bIns="101600" rtlCol="0" anchor="t"/>
          <a:lstStyle/>
          <a:p>
            <a:pPr algn="l" indent="0" marL="0">
              <a:buNone/>
            </a:pPr>
            <a:r>
              <a:rPr lang="en-US" sz="1500" dirty="0">
                <a:solidFill>
                  <a:srgbClr val="6B6B6B"/>
                </a:solidFill>
                <a:latin typeface="Arial" pitchFamily="34" charset="0"/>
                <a:ea typeface="Arial" pitchFamily="34" charset="-122"/>
                <a:cs typeface="Arial" pitchFamily="34" charset="-120"/>
              </a:rPr>
              <a:t>該当なし</a:t>
            </a:r>
            <a:endParaRPr lang="en-US" sz="1500" dirty="0"/>
          </a:p>
        </p:txBody>
      </p:sp>
      <p:sp>
        <p:nvSpPr>
          <p:cNvPr id="9" name="q_420"/>
          <p:cNvSpPr/>
          <p:nvPr/>
        </p:nvSpPr>
        <p:spPr>
          <a:xfrm>
            <a:off x="1417320" y="3995928"/>
            <a:ext cx="3291840" cy="2286000"/>
          </a:xfrm>
          <a:prstGeom prst="roundRect">
            <a:avLst>
              <a:gd name="adj" fmla="val 3200"/>
            </a:avLst>
          </a:prstGeom>
          <a:solidFill>
            <a:srgbClr val="FFFFFF"/>
          </a:solidFill>
          <a:ln w="15875">
            <a:solidFill>
              <a:srgbClr val="BFBFBF"/>
            </a:solidFill>
          </a:ln>
        </p:spPr>
        <p:txBody>
          <a:bodyPr wrap="square" lIns="127000" tIns="152400" rIns="152400" bIns="101600" rtlCol="0" anchor="t"/>
          <a:lstStyle/>
          <a:p>
            <a:pPr algn="l" indent="0" marL="0">
              <a:buNone/>
            </a:pPr>
            <a:r>
              <a:rPr lang="en-US" sz="1500" dirty="0">
                <a:solidFill>
                  <a:srgbClr val="333333"/>
                </a:solidFill>
                <a:latin typeface="Arial" pitchFamily="34" charset="0"/>
                <a:ea typeface="Arial" pitchFamily="34" charset="-122"/>
                <a:cs typeface="Arial" pitchFamily="34" charset="-120"/>
              </a:rPr>
              <a:t>Geely系、三菱自、日産</a:t>
            </a:r>
            <a:endParaRPr lang="en-US" sz="1500" dirty="0"/>
          </a:p>
        </p:txBody>
      </p:sp>
      <p:sp>
        <p:nvSpPr>
          <p:cNvPr id="10" name="q_421"/>
          <p:cNvSpPr/>
          <p:nvPr/>
        </p:nvSpPr>
        <p:spPr>
          <a:xfrm>
            <a:off x="4818888" y="3995928"/>
            <a:ext cx="3291840" cy="2286000"/>
          </a:xfrm>
          <a:prstGeom prst="roundRect">
            <a:avLst>
              <a:gd name="adj" fmla="val 3200"/>
            </a:avLst>
          </a:prstGeom>
          <a:solidFill>
            <a:srgbClr val="EEF3FB"/>
          </a:solidFill>
          <a:ln w="15875">
            <a:solidFill>
              <a:srgbClr val="4472C4"/>
            </a:solidFill>
          </a:ln>
        </p:spPr>
        <p:txBody>
          <a:bodyPr wrap="square" lIns="127000" tIns="152400" rIns="152400" bIns="101600" rtlCol="0" anchor="t"/>
          <a:lstStyle/>
          <a:p>
            <a:pPr algn="l" indent="0" marL="0">
              <a:buNone/>
            </a:pPr>
            <a:r>
              <a:rPr lang="en-US" sz="1500" b="1" dirty="0">
                <a:solidFill>
                  <a:srgbClr val="4472C4"/>
                </a:solidFill>
                <a:latin typeface="Arial" pitchFamily="34" charset="0"/>
                <a:ea typeface="Arial" pitchFamily="34" charset="-122"/>
                <a:cs typeface="Arial" pitchFamily="34" charset="-120"/>
              </a:rPr>
              <a:t>生き残る型</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トヨタ（25車種）</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ホンダ</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BYD（13車種）</a:t>
            </a:r>
            <a:endParaRPr lang="en-US" sz="1500" dirty="0"/>
          </a:p>
          <a:p>
            <a:pPr algn="l" indent="0" marL="0">
              <a:buNone/>
            </a:pPr>
            <a:r>
              <a:rPr lang="en-US" sz="1500" dirty="0">
                <a:solidFill>
                  <a:srgbClr val="333333"/>
                </a:solidFill>
                <a:latin typeface="Arial" pitchFamily="34" charset="0"/>
                <a:ea typeface="Arial" pitchFamily="34" charset="-122"/>
                <a:cs typeface="Arial" pitchFamily="34" charset="-120"/>
              </a:rPr>
              <a:t>MG（15車種）</a:t>
            </a:r>
            <a:endParaRPr lang="en-US" sz="1500" dirty="0"/>
          </a:p>
        </p:txBody>
      </p:sp>
      <p:sp>
        <p:nvSpPr>
          <p:cNvPr id="11" name="pc_422"/>
          <p:cNvSpPr/>
          <p:nvPr/>
        </p:nvSpPr>
        <p:spPr>
          <a:xfrm>
            <a:off x="8321040" y="1600200"/>
            <a:ext cx="1956816" cy="4681728"/>
          </a:xfrm>
          <a:prstGeom prst="rect">
            <a:avLst/>
          </a:prstGeom>
          <a:solidFill>
            <a:srgbClr val="FAFAFA"/>
          </a:solidFill>
          <a:ln w="15875">
            <a:solidFill>
              <a:srgbClr val="8C8C8C"/>
            </a:solidFill>
            <a:prstDash val="dash"/>
          </a:ln>
        </p:spPr>
        <p:txBody>
          <a:bodyPr wrap="square" lIns="101600" tIns="152400" rIns="152400" bIns="101600" rtlCol="0" anchor="ctr"/>
          <a:lstStyle/>
          <a:p>
            <a:pPr algn="ctr" indent="0" marL="0">
              <a:spcAft>
                <a:spcPts val="500"/>
              </a:spcAft>
              <a:buNone/>
            </a:pPr>
            <a:r>
              <a:rPr lang="en-US" sz="1000" dirty="0">
                <a:solidFill>
                  <a:srgbClr val="6B6B6B"/>
                </a:solidFill>
                <a:latin typeface="Arial" pitchFamily="34" charset="0"/>
                <a:ea typeface="Arial" pitchFamily="34" charset="-122"/>
                <a:cs typeface="Arial" pitchFamily="34" charset="-120"/>
              </a:rPr>
              <a:t>社内PCで作成して差し込む</a:t>
            </a:r>
            <a:endParaRPr lang="en-US" sz="1000" dirty="0"/>
          </a:p>
          <a:p>
            <a:pPr algn="ctr" indent="0" marL="0">
              <a:spcAft>
                <a:spcPts val="500"/>
              </a:spcAft>
              <a:buNone/>
            </a:pPr>
            <a:r>
              <a:rPr lang="en-US" sz="1500" b="1" dirty="0">
                <a:solidFill>
                  <a:srgbClr val="333333"/>
                </a:solidFill>
                <a:latin typeface="Arial" pitchFamily="34" charset="0"/>
                <a:ea typeface="Arial" pitchFamily="34" charset="-122"/>
                <a:cs typeface="Arial" pitchFamily="34" charset="-120"/>
              </a:rPr>
              <a:t>MarkLinesで再計算</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上位1車種の比率</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売れる車種の数</a:t>
            </a:r>
            <a:endParaRPr lang="en-US" sz="1000" dirty="0"/>
          </a:p>
          <a:p>
            <a:pPr algn="ctr" indent="0" marL="0">
              <a:spcAft>
                <a:spcPts val="500"/>
              </a:spcAft>
              <a:buNone/>
            </a:pPr>
            <a:r>
              <a:rPr lang="en-US" sz="1300" dirty="0">
                <a:solidFill>
                  <a:srgbClr val="6B6B6B"/>
                </a:solidFill>
                <a:latin typeface="Arial" pitchFamily="34" charset="0"/>
                <a:ea typeface="Arial" pitchFamily="34" charset="-122"/>
                <a:cs typeface="Arial" pitchFamily="34" charset="-120"/>
              </a:rPr>
              <a:t>HHI</a:t>
            </a:r>
            <a:endParaRPr lang="en-US" sz="1000" dirty="0"/>
          </a:p>
        </p:txBody>
      </p:sp>
      <p:sp>
        <p:nvSpPr>
          <p:cNvPr id="12" name="text_423"/>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出典：発売時期一覧（販売規模の区分からの概算）。社内データで置き換える</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付録22　中国系の逆風　淘汰はすでに始まっている</a:t>
            </a:r>
            <a:endParaRPr lang="en-US" sz="2400" dirty="0"/>
          </a:p>
        </p:txBody>
      </p:sp>
      <p:sp>
        <p:nvSpPr>
          <p:cNvPr id="3" name="shape_424"/>
          <p:cNvSpPr/>
          <p:nvPr/>
        </p:nvSpPr>
        <p:spPr>
          <a:xfrm>
            <a:off x="411480" y="1417320"/>
            <a:ext cx="3108960" cy="3291840"/>
          </a:xfrm>
          <a:prstGeom prst="roundRect">
            <a:avLst>
              <a:gd name="adj" fmla="val 3529"/>
            </a:avLst>
          </a:prstGeom>
          <a:solidFill>
            <a:srgbClr val="FFFFFF"/>
          </a:solidFill>
          <a:ln w="22225">
            <a:solidFill>
              <a:srgbClr val="E8384F"/>
            </a:solidFill>
            <a:prstDash val="solid"/>
          </a:ln>
        </p:spPr>
      </p:sp>
      <p:sp>
        <p:nvSpPr>
          <p:cNvPr id="4" name="fslabel_425"/>
          <p:cNvSpPr/>
          <p:nvPr/>
        </p:nvSpPr>
        <p:spPr>
          <a:xfrm>
            <a:off x="1612900"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撤退</a:t>
            </a:r>
            <a:endParaRPr lang="en-US" sz="1700" dirty="0"/>
          </a:p>
        </p:txBody>
      </p:sp>
      <p:sp>
        <p:nvSpPr>
          <p:cNvPr id="5" name="text_426"/>
          <p:cNvSpPr txBox="1"/>
          <p:nvPr/>
        </p:nvSpPr>
        <p:spPr>
          <a:xfrm>
            <a:off x="594360"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60→20</a:t>
            </a:r>
            <a:endParaRPr lang="en-US" sz="4000" dirty="0"/>
          </a:p>
        </p:txBody>
      </p:sp>
      <p:sp>
        <p:nvSpPr>
          <p:cNvPr id="6" name="text_427"/>
          <p:cNvSpPr txBox="1"/>
          <p:nvPr/>
        </p:nvSpPr>
        <p:spPr>
          <a:xfrm>
            <a:off x="640080"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Netaの販売店。補助約20億バーツの返還を求められ撤退へ</a:t>
            </a:r>
            <a:endParaRPr lang="en-US" sz="1500" dirty="0"/>
          </a:p>
        </p:txBody>
      </p:sp>
      <p:sp>
        <p:nvSpPr>
          <p:cNvPr id="7" name="shape_428"/>
          <p:cNvSpPr/>
          <p:nvPr/>
        </p:nvSpPr>
        <p:spPr>
          <a:xfrm>
            <a:off x="3790188" y="1417320"/>
            <a:ext cx="3108960" cy="3291840"/>
          </a:xfrm>
          <a:prstGeom prst="roundRect">
            <a:avLst>
              <a:gd name="adj" fmla="val 3529"/>
            </a:avLst>
          </a:prstGeom>
          <a:solidFill>
            <a:srgbClr val="FFFFFF"/>
          </a:solidFill>
          <a:ln w="22225">
            <a:solidFill>
              <a:srgbClr val="E8384F"/>
            </a:solidFill>
            <a:prstDash val="solid"/>
          </a:ln>
        </p:spPr>
      </p:sp>
      <p:sp>
        <p:nvSpPr>
          <p:cNvPr id="8" name="fslabel_429"/>
          <p:cNvSpPr/>
          <p:nvPr/>
        </p:nvSpPr>
        <p:spPr>
          <a:xfrm>
            <a:off x="4991608"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制度</a:t>
            </a:r>
            <a:endParaRPr lang="en-US" sz="1700" dirty="0"/>
          </a:p>
        </p:txBody>
      </p:sp>
      <p:sp>
        <p:nvSpPr>
          <p:cNvPr id="9" name="text_430"/>
          <p:cNvSpPr txBox="1"/>
          <p:nvPr/>
        </p:nvSpPr>
        <p:spPr>
          <a:xfrm>
            <a:off x="3973068"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3段階</a:t>
            </a:r>
            <a:endParaRPr lang="en-US" sz="4000" dirty="0"/>
          </a:p>
        </p:txBody>
      </p:sp>
      <p:sp>
        <p:nvSpPr>
          <p:cNvPr id="10" name="text_431"/>
          <p:cNvSpPr txBox="1"/>
          <p:nvPr/>
        </p:nvSpPr>
        <p:spPr>
          <a:xfrm>
            <a:off x="4018788"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2026年から物品税を投資の度合いで3段階に。輸入だけの会社が最も高い</a:t>
            </a:r>
            <a:endParaRPr lang="en-US" sz="1500" dirty="0"/>
          </a:p>
        </p:txBody>
      </p:sp>
      <p:sp>
        <p:nvSpPr>
          <p:cNvPr id="11" name="shape_432"/>
          <p:cNvSpPr/>
          <p:nvPr/>
        </p:nvSpPr>
        <p:spPr>
          <a:xfrm>
            <a:off x="7168896" y="1417320"/>
            <a:ext cx="3108960" cy="3291840"/>
          </a:xfrm>
          <a:prstGeom prst="roundRect">
            <a:avLst>
              <a:gd name="adj" fmla="val 3529"/>
            </a:avLst>
          </a:prstGeom>
          <a:solidFill>
            <a:srgbClr val="FFFFFF"/>
          </a:solidFill>
          <a:ln w="22225">
            <a:solidFill>
              <a:srgbClr val="E8384F"/>
            </a:solidFill>
            <a:prstDash val="solid"/>
          </a:ln>
        </p:spPr>
      </p:sp>
      <p:sp>
        <p:nvSpPr>
          <p:cNvPr id="12" name="fslabel_433"/>
          <p:cNvSpPr/>
          <p:nvPr/>
        </p:nvSpPr>
        <p:spPr>
          <a:xfrm>
            <a:off x="8370316" y="1261872"/>
            <a:ext cx="7061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E8384F"/>
                </a:solidFill>
                <a:latin typeface="Arial" pitchFamily="34" charset="0"/>
                <a:ea typeface="Arial" pitchFamily="34" charset="-122"/>
                <a:cs typeface="Arial" pitchFamily="34" charset="-120"/>
              </a:rPr>
              <a:t>採算</a:t>
            </a:r>
            <a:endParaRPr lang="en-US" sz="1700" dirty="0"/>
          </a:p>
        </p:txBody>
      </p:sp>
      <p:sp>
        <p:nvSpPr>
          <p:cNvPr id="13" name="text_434"/>
          <p:cNvSpPr txBox="1"/>
          <p:nvPr/>
        </p:nvSpPr>
        <p:spPr>
          <a:xfrm>
            <a:off x="7351776" y="1828800"/>
            <a:ext cx="2743200" cy="822960"/>
          </a:xfrm>
          <a:prstGeom prst="rect">
            <a:avLst/>
          </a:prstGeom>
          <a:noFill/>
          <a:ln/>
        </p:spPr>
        <p:txBody>
          <a:bodyPr wrap="square" lIns="0" tIns="0" rIns="0" bIns="0" rtlCol="0" anchor="ctr"/>
          <a:lstStyle/>
          <a:p>
            <a:pPr algn="ctr" indent="0" marL="0">
              <a:buNone/>
            </a:pPr>
            <a:r>
              <a:rPr lang="en-US" sz="4000" b="1" dirty="0">
                <a:solidFill>
                  <a:srgbClr val="E8604C"/>
                </a:solidFill>
                <a:latin typeface="Arial" pitchFamily="34" charset="0"/>
                <a:ea typeface="Arial" pitchFamily="34" charset="-122"/>
                <a:cs typeface="Arial" pitchFamily="34" charset="-120"/>
              </a:rPr>
              <a:t>3.4%</a:t>
            </a:r>
            <a:endParaRPr lang="en-US" sz="4000" dirty="0"/>
          </a:p>
        </p:txBody>
      </p:sp>
      <p:sp>
        <p:nvSpPr>
          <p:cNvPr id="14" name="text_435"/>
          <p:cNvSpPr txBox="1"/>
          <p:nvPr/>
        </p:nvSpPr>
        <p:spPr>
          <a:xfrm>
            <a:off x="7397496" y="2788920"/>
            <a:ext cx="2651760" cy="1737360"/>
          </a:xfrm>
          <a:prstGeom prst="rect">
            <a:avLst/>
          </a:prstGeom>
          <a:noFill/>
          <a:ln/>
        </p:spPr>
        <p:txBody>
          <a:bodyPr wrap="square" lIns="0" tIns="0" rIns="0" bIns="0" rtlCol="0" anchor="t"/>
          <a:lstStyle/>
          <a:p>
            <a:pPr algn="ctr" indent="0" marL="0">
              <a:buNone/>
            </a:pPr>
            <a:r>
              <a:rPr lang="en-US" sz="1500" dirty="0">
                <a:solidFill>
                  <a:srgbClr val="333333"/>
                </a:solidFill>
                <a:latin typeface="Arial" pitchFamily="34" charset="0"/>
                <a:ea typeface="Arial" pitchFamily="34" charset="-122"/>
                <a:cs typeface="Arial" pitchFamily="34" charset="-120"/>
              </a:rPr>
              <a:t>中国の自動車産業の利益率（2026年1〜4月）。値下げの余力は細る</a:t>
            </a:r>
            <a:endParaRPr lang="en-US" sz="1500" dirty="0"/>
          </a:p>
        </p:txBody>
      </p:sp>
      <p:sp>
        <p:nvSpPr>
          <p:cNvPr id="15" name="summary_436"/>
          <p:cNvSpPr/>
          <p:nvPr/>
        </p:nvSpPr>
        <p:spPr>
          <a:xfrm>
            <a:off x="960120" y="5120640"/>
            <a:ext cx="8769096" cy="1371600"/>
          </a:xfrm>
          <a:prstGeom prst="roundRect">
            <a:avLst>
              <a:gd name="adj" fmla="val 6667"/>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800" dirty="0">
                <a:solidFill>
                  <a:srgbClr val="333333"/>
                </a:solidFill>
                <a:latin typeface="Arial" pitchFamily="34" charset="0"/>
                <a:ea typeface="Arial" pitchFamily="34" charset="-122"/>
                <a:cs typeface="Arial" pitchFamily="34" charset="-120"/>
              </a:rPr>
              <a:t>撤退ブランドの保有者は、整備と中古の受け皿を探す</a:t>
            </a:r>
            <a:endParaRPr lang="en-US" sz="1800" dirty="0"/>
          </a:p>
          <a:p>
            <a:pPr algn="ctr" indent="0" marL="0">
              <a:buNone/>
            </a:pPr>
            <a:r>
              <a:rPr lang="en-US" sz="1800" dirty="0">
                <a:solidFill>
                  <a:srgbClr val="E8384F"/>
                </a:solidFill>
                <a:latin typeface="Arial" pitchFamily="34" charset="0"/>
                <a:ea typeface="Arial" pitchFamily="34" charset="-122"/>
                <a:cs typeface="Arial" pitchFamily="34" charset="-120"/>
              </a:rPr>
              <a:t>日系にとっては「拾う」機会</a:t>
            </a:r>
            <a:endParaRPr lang="en-US" sz="1800" dirty="0"/>
          </a:p>
        </p:txBody>
      </p:sp>
      <p:sp>
        <p:nvSpPr>
          <p:cNvPr id="16" name="text_437"/>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出典：The Nation、CPCA、物品税局（2026年）</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付録23　「埋める」手段　中国の開発体制でつくる日系BEV</a:t>
            </a:r>
            <a:endParaRPr lang="en-US" sz="2400" dirty="0"/>
          </a:p>
        </p:txBody>
      </p:sp>
      <p:sp>
        <p:nvSpPr>
          <p:cNvPr id="3" name="shape_438"/>
          <p:cNvSpPr/>
          <p:nvPr/>
        </p:nvSpPr>
        <p:spPr>
          <a:xfrm>
            <a:off x="411480" y="1234440"/>
            <a:ext cx="3017520" cy="3200400"/>
          </a:xfrm>
          <a:prstGeom prst="rect">
            <a:avLst/>
          </a:prstGeom>
          <a:solidFill>
            <a:srgbClr val="F2F2F2"/>
          </a:solidFill>
          <a:ln w="12700">
            <a:solidFill>
              <a:srgbClr val="F2F2F2"/>
            </a:solidFill>
            <a:prstDash val="solid"/>
          </a:ln>
        </p:spPr>
      </p:sp>
      <p:sp>
        <p:nvSpPr>
          <p:cNvPr id="4" name="shape_439"/>
          <p:cNvSpPr/>
          <p:nvPr/>
        </p:nvSpPr>
        <p:spPr>
          <a:xfrm>
            <a:off x="411480" y="1344168"/>
            <a:ext cx="1325880" cy="347472"/>
          </a:xfrm>
          <a:prstGeom prst="homePlate">
            <a:avLst/>
          </a:prstGeom>
          <a:solidFill>
            <a:srgbClr val="1E9C96"/>
          </a:solidFill>
          <a:ln w="12700">
            <a:solidFill>
              <a:srgbClr val="1E9C96"/>
            </a:solidFill>
            <a:prstDash val="solid"/>
          </a:ln>
        </p:spPr>
      </p:sp>
      <p:sp>
        <p:nvSpPr>
          <p:cNvPr id="5" name="text_440"/>
          <p:cNvSpPr txBox="1"/>
          <p:nvPr/>
        </p:nvSpPr>
        <p:spPr>
          <a:xfrm>
            <a:off x="521208"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トヨタ</a:t>
            </a:r>
            <a:endParaRPr lang="en-US" sz="1300" dirty="0"/>
          </a:p>
        </p:txBody>
      </p:sp>
      <p:sp>
        <p:nvSpPr>
          <p:cNvPr id="6" name="text_441"/>
          <p:cNvSpPr txBox="1"/>
          <p:nvPr/>
        </p:nvSpPr>
        <p:spPr>
          <a:xfrm>
            <a:off x="594360"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bZ3・bZ3X</a:t>
            </a:r>
            <a:endParaRPr lang="en-US" sz="2200" dirty="0"/>
          </a:p>
        </p:txBody>
      </p:sp>
      <p:sp>
        <p:nvSpPr>
          <p:cNvPr id="7" name="text_442"/>
          <p:cNvSpPr txBox="1"/>
          <p:nvPr/>
        </p:nvSpPr>
        <p:spPr>
          <a:xfrm>
            <a:off x="594360"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BYD・GACとの合弁で共同開発</a:t>
            </a:r>
            <a:endParaRPr lang="en-US" sz="1500" dirty="0"/>
          </a:p>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BYDのLFP電池、制御はトヨタ</a:t>
            </a:r>
            <a:endParaRPr lang="en-US" sz="1500" dirty="0"/>
          </a:p>
        </p:txBody>
      </p:sp>
      <p:sp>
        <p:nvSpPr>
          <p:cNvPr id="8" name="shape_443"/>
          <p:cNvSpPr/>
          <p:nvPr/>
        </p:nvSpPr>
        <p:spPr>
          <a:xfrm>
            <a:off x="3835908" y="1234440"/>
            <a:ext cx="3017520" cy="3200400"/>
          </a:xfrm>
          <a:prstGeom prst="rect">
            <a:avLst/>
          </a:prstGeom>
          <a:solidFill>
            <a:srgbClr val="F2F2F2"/>
          </a:solidFill>
          <a:ln w="12700">
            <a:solidFill>
              <a:srgbClr val="F2F2F2"/>
            </a:solidFill>
            <a:prstDash val="solid"/>
          </a:ln>
        </p:spPr>
      </p:sp>
      <p:sp>
        <p:nvSpPr>
          <p:cNvPr id="9" name="shape_444"/>
          <p:cNvSpPr/>
          <p:nvPr/>
        </p:nvSpPr>
        <p:spPr>
          <a:xfrm>
            <a:off x="3835908" y="1344168"/>
            <a:ext cx="1325880" cy="347472"/>
          </a:xfrm>
          <a:prstGeom prst="homePlate">
            <a:avLst/>
          </a:prstGeom>
          <a:solidFill>
            <a:srgbClr val="1E9C96"/>
          </a:solidFill>
          <a:ln w="12700">
            <a:solidFill>
              <a:srgbClr val="1E9C96"/>
            </a:solidFill>
            <a:prstDash val="solid"/>
          </a:ln>
        </p:spPr>
      </p:sp>
      <p:sp>
        <p:nvSpPr>
          <p:cNvPr id="10" name="text_445"/>
          <p:cNvSpPr txBox="1"/>
          <p:nvPr/>
        </p:nvSpPr>
        <p:spPr>
          <a:xfrm>
            <a:off x="3945636"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ホンダ</a:t>
            </a:r>
            <a:endParaRPr lang="en-US" sz="1300" dirty="0"/>
          </a:p>
        </p:txBody>
      </p:sp>
      <p:sp>
        <p:nvSpPr>
          <p:cNvPr id="11" name="text_446"/>
          <p:cNvSpPr txBox="1"/>
          <p:nvPr/>
        </p:nvSpPr>
        <p:spPr>
          <a:xfrm>
            <a:off x="4018788"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e:N系</a:t>
            </a:r>
            <a:endParaRPr lang="en-US" sz="2200" dirty="0"/>
          </a:p>
        </p:txBody>
      </p:sp>
      <p:sp>
        <p:nvSpPr>
          <p:cNvPr id="12" name="text_447"/>
          <p:cNvSpPr txBox="1"/>
          <p:nvPr/>
        </p:nvSpPr>
        <p:spPr>
          <a:xfrm>
            <a:off x="4018788"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中国の合弁で開発・生産</a:t>
            </a:r>
            <a:endParaRPr lang="en-US" sz="1500" dirty="0"/>
          </a:p>
        </p:txBody>
      </p:sp>
      <p:sp>
        <p:nvSpPr>
          <p:cNvPr id="13" name="shape_448"/>
          <p:cNvSpPr/>
          <p:nvPr/>
        </p:nvSpPr>
        <p:spPr>
          <a:xfrm>
            <a:off x="7260336" y="1234440"/>
            <a:ext cx="3017520" cy="3200400"/>
          </a:xfrm>
          <a:prstGeom prst="rect">
            <a:avLst/>
          </a:prstGeom>
          <a:solidFill>
            <a:srgbClr val="F2F2F2"/>
          </a:solidFill>
          <a:ln w="12700">
            <a:solidFill>
              <a:srgbClr val="F2F2F2"/>
            </a:solidFill>
            <a:prstDash val="solid"/>
          </a:ln>
        </p:spPr>
      </p:sp>
      <p:sp>
        <p:nvSpPr>
          <p:cNvPr id="14" name="shape_449"/>
          <p:cNvSpPr/>
          <p:nvPr/>
        </p:nvSpPr>
        <p:spPr>
          <a:xfrm>
            <a:off x="7260336" y="1344168"/>
            <a:ext cx="1325880" cy="347472"/>
          </a:xfrm>
          <a:prstGeom prst="homePlate">
            <a:avLst/>
          </a:prstGeom>
          <a:solidFill>
            <a:srgbClr val="1E9C96"/>
          </a:solidFill>
          <a:ln w="12700">
            <a:solidFill>
              <a:srgbClr val="1E9C96"/>
            </a:solidFill>
            <a:prstDash val="solid"/>
          </a:ln>
        </p:spPr>
      </p:sp>
      <p:sp>
        <p:nvSpPr>
          <p:cNvPr id="15" name="text_450"/>
          <p:cNvSpPr txBox="1"/>
          <p:nvPr/>
        </p:nvSpPr>
        <p:spPr>
          <a:xfrm>
            <a:off x="7370064" y="1344168"/>
            <a:ext cx="1097280"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マツダ</a:t>
            </a:r>
            <a:endParaRPr lang="en-US" sz="1300" dirty="0"/>
          </a:p>
        </p:txBody>
      </p:sp>
      <p:sp>
        <p:nvSpPr>
          <p:cNvPr id="16" name="text_451"/>
          <p:cNvSpPr txBox="1"/>
          <p:nvPr/>
        </p:nvSpPr>
        <p:spPr>
          <a:xfrm>
            <a:off x="7443216" y="1828800"/>
            <a:ext cx="2651760" cy="457200"/>
          </a:xfrm>
          <a:prstGeom prst="rect">
            <a:avLst/>
          </a:prstGeom>
          <a:noFill/>
          <a:ln/>
        </p:spPr>
        <p:txBody>
          <a:bodyPr wrap="square" lIns="0" tIns="0" rIns="0" bIns="0" rtlCol="0" anchor="ctr"/>
          <a:lstStyle/>
          <a:p>
            <a:pPr algn="ctr" indent="0" marL="0">
              <a:buNone/>
            </a:pPr>
            <a:r>
              <a:rPr lang="en-US" sz="2200" b="1" dirty="0">
                <a:solidFill>
                  <a:srgbClr val="333333"/>
                </a:solidFill>
                <a:latin typeface="Arial" pitchFamily="34" charset="0"/>
                <a:ea typeface="Arial" pitchFamily="34" charset="-122"/>
                <a:cs typeface="Arial" pitchFamily="34" charset="-120"/>
              </a:rPr>
              <a:t>6e</a:t>
            </a:r>
            <a:endParaRPr lang="en-US" sz="2200" dirty="0"/>
          </a:p>
        </p:txBody>
      </p:sp>
      <p:sp>
        <p:nvSpPr>
          <p:cNvPr id="17" name="text_452"/>
          <p:cNvSpPr txBox="1"/>
          <p:nvPr/>
        </p:nvSpPr>
        <p:spPr>
          <a:xfrm>
            <a:off x="7443216" y="2377440"/>
            <a:ext cx="2651760" cy="1920240"/>
          </a:xfrm>
          <a:prstGeom prst="rect">
            <a:avLst/>
          </a:prstGeom>
          <a:noFill/>
          <a:ln/>
        </p:spPr>
        <p:txBody>
          <a:bodyPr wrap="square" lIns="0" tIns="0" rIns="0" bIns="0" rtlCol="0" anchor="t"/>
          <a:lstStyle/>
          <a:p>
            <a:pPr algn="ctr" indent="0" marL="0">
              <a:spcAft>
                <a:spcPts val="400"/>
              </a:spcAft>
              <a:buNone/>
            </a:pPr>
            <a:r>
              <a:rPr lang="en-US" sz="1500" dirty="0">
                <a:solidFill>
                  <a:srgbClr val="333333"/>
                </a:solidFill>
                <a:latin typeface="Arial" pitchFamily="34" charset="0"/>
                <a:ea typeface="Arial" pitchFamily="34" charset="-122"/>
                <a:cs typeface="Arial" pitchFamily="34" charset="-120"/>
              </a:rPr>
              <a:t>Changanとの合弁で開発</a:t>
            </a:r>
            <a:endParaRPr lang="en-US" sz="1500" dirty="0"/>
          </a:p>
        </p:txBody>
      </p:sp>
      <p:sp>
        <p:nvSpPr>
          <p:cNvPr id="18" name="shape_453"/>
          <p:cNvSpPr/>
          <p:nvPr/>
        </p:nvSpPr>
        <p:spPr>
          <a:xfrm>
            <a:off x="411480" y="4846320"/>
            <a:ext cx="9866376" cy="1874520"/>
          </a:xfrm>
          <a:prstGeom prst="roundRect">
            <a:avLst>
              <a:gd name="adj" fmla="val 5854"/>
            </a:avLst>
          </a:prstGeom>
          <a:solidFill>
            <a:srgbClr val="FFFFFF"/>
          </a:solidFill>
          <a:ln w="22225">
            <a:solidFill>
              <a:srgbClr val="4472C4"/>
            </a:solidFill>
            <a:prstDash val="solid"/>
          </a:ln>
        </p:spPr>
      </p:sp>
      <p:sp>
        <p:nvSpPr>
          <p:cNvPr id="19" name="fslabel_454"/>
          <p:cNvSpPr/>
          <p:nvPr/>
        </p:nvSpPr>
        <p:spPr>
          <a:xfrm>
            <a:off x="4667758" y="4690872"/>
            <a:ext cx="1353820" cy="310896"/>
          </a:xfrm>
          <a:prstGeom prst="rect">
            <a:avLst/>
          </a:prstGeom>
          <a:solidFill>
            <a:srgbClr val="FFFFFF"/>
          </a:solidFill>
          <a:ln/>
        </p:spPr>
        <p:txBody>
          <a:bodyPr wrap="square" lIns="0" tIns="0" rIns="0" bIns="0" rtlCol="0" anchor="ctr"/>
          <a:lstStyle/>
          <a:p>
            <a:pPr algn="ctr" indent="0" marL="0">
              <a:buNone/>
            </a:pPr>
            <a:r>
              <a:rPr lang="en-US" sz="1700" b="1" dirty="0">
                <a:solidFill>
                  <a:srgbClr val="4472C4"/>
                </a:solidFill>
                <a:latin typeface="Arial" pitchFamily="34" charset="0"/>
                <a:ea typeface="Arial" pitchFamily="34" charset="-122"/>
                <a:cs typeface="Arial" pitchFamily="34" charset="-120"/>
              </a:rPr>
              <a:t>採用の条件</a:t>
            </a:r>
            <a:endParaRPr lang="en-US" sz="1700" dirty="0"/>
          </a:p>
        </p:txBody>
      </p:sp>
      <p:sp>
        <p:nvSpPr>
          <p:cNvPr id="20" name="text_455"/>
          <p:cNvSpPr txBox="1"/>
          <p:nvPr/>
        </p:nvSpPr>
        <p:spPr>
          <a:xfrm>
            <a:off x="777240" y="5120640"/>
            <a:ext cx="9134856" cy="1463040"/>
          </a:xfrm>
          <a:prstGeom prst="rect">
            <a:avLst/>
          </a:prstGeom>
          <a:noFill/>
          <a:ln/>
        </p:spPr>
        <p:txBody>
          <a:bodyPr wrap="square" lIns="0" tIns="0" rIns="0" bIns="0" rtlCol="0" anchor="ctr"/>
          <a:lstStyle/>
          <a:p>
            <a:pPr indent="0" marL="0">
              <a:spcAft>
                <a:spcPts val="400"/>
              </a:spcAft>
              <a:buNone/>
            </a:pPr>
            <a:r>
              <a:rPr lang="en-US" sz="1600" dirty="0">
                <a:solidFill>
                  <a:srgbClr val="333333"/>
                </a:solidFill>
                <a:latin typeface="Arial" pitchFamily="34" charset="0"/>
                <a:ea typeface="Arial" pitchFamily="34" charset="-122"/>
                <a:cs typeface="Arial" pitchFamily="34" charset="-120"/>
              </a:rPr>
              <a:t>✓ 品質・保証・補修部品を日系が管理できる</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開発費と部品の共通化で採算が合う</a:t>
            </a:r>
            <a:endParaRPr lang="en-US" sz="1600" dirty="0"/>
          </a:p>
          <a:p>
            <a:pPr indent="0" marL="0">
              <a:spcAft>
                <a:spcPts val="400"/>
              </a:spcAft>
              <a:buNone/>
            </a:pPr>
            <a:r>
              <a:rPr lang="en-US" sz="1600" dirty="0">
                <a:solidFill>
                  <a:srgbClr val="333333"/>
                </a:solidFill>
                <a:latin typeface="Arial" pitchFamily="34" charset="0"/>
                <a:ea typeface="Arial" pitchFamily="34" charset="-122"/>
                <a:cs typeface="Arial" pitchFamily="34" charset="-120"/>
              </a:rPr>
              <a:t>✓ 充電できる都市・法人の顧客に絞る</a:t>
            </a:r>
            <a:endParaRPr lang="en-US" sz="1600" dirty="0"/>
          </a:p>
        </p:txBody>
      </p:sp>
      <p:sp>
        <p:nvSpPr>
          <p:cNvPr id="21" name="text_45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出典：Toyota（2022年10月）、各社発表</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付録24　2030年の日系シェアの試算　効くのはBEVの比率</a:t>
            </a:r>
            <a:endParaRPr lang="en-US" sz="2400" dirty="0"/>
          </a:p>
        </p:txBody>
      </p:sp>
      <p:graphicFrame>
        <p:nvGraphicFramePr>
          <p:cNvPr id="42" name="table_457"/>
          <p:cNvGraphicFramePr>
            <a:graphicFrameLocks noGrp="1"/>
          </p:cNvGraphicFramePr>
          <p:nvPr>
            <p:extLst>
              <p:ext uri="{D42A27DB-BD31-4B8C-83A1-F6EECF244321}">
                <p14:modId xmlns:p14="http://schemas.microsoft.com/office/powerpoint/2010/main" val="1579011935"/>
              </p:ext>
            </p:extLst>
          </p:nvPr>
        </p:nvGraphicFramePr>
        <p:xfrm>
          <a:off x="411480" y="1188720"/>
          <a:ext cx="6217920" cy="914400"/>
        </p:xfrm>
        <a:graphic>
          <a:graphicData uri="http://schemas.openxmlformats.org/drawingml/2006/table">
            <a:tbl>
              <a:tblPr/>
              <a:tblGrid>
                <a:gridCol w="2743200"/>
                <a:gridCol w="1152144"/>
                <a:gridCol w="1161288"/>
                <a:gridCol w="1161288"/>
              </a:tblGrid>
              <a:tr h="566928">
                <a:tc>
                  <a:txBody>
                    <a:bodyPr/>
                    <a:lstStyle/>
                    <a:p>
                      <a:pPr indent="0" marL="0">
                        <a:buNone/>
                      </a:pPr>
                      <a:r>
                        <a:rPr lang="en-US" sz="1400" b="1" dirty="0">
                          <a:solidFill>
                            <a:srgbClr val="333333"/>
                          </a:solidFill>
                          <a:latin typeface="Arial" pitchFamily="34" charset="0"/>
                          <a:ea typeface="Arial" pitchFamily="34" charset="-122"/>
                          <a:cs typeface="Arial" pitchFamily="34" charset="-120"/>
                        </a:rPr>
                        <a:t>前提（2030年）</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弱気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基本</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400" b="1" dirty="0">
                          <a:solidFill>
                            <a:srgbClr val="333333"/>
                          </a:solidFill>
                          <a:latin typeface="Arial" pitchFamily="34" charset="0"/>
                          <a:ea typeface="Arial" pitchFamily="34" charset="-122"/>
                          <a:cs typeface="Arial" pitchFamily="34" charset="-120"/>
                        </a:rPr>
                        <a:t>強気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市場（万台）</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74.5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77.0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乗用車のBEV比率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66%</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48%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乗用車のPHEV比率</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7%</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日系シェア：ピックアップ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88%</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日系シェア：BEV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20%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dirty="0">
                          <a:solidFill>
                            <a:srgbClr val="333333"/>
                          </a:solidFill>
                          <a:latin typeface="Arial" pitchFamily="34" charset="0"/>
                          <a:ea typeface="Arial" pitchFamily="34" charset="-122"/>
                          <a:cs typeface="Arial" pitchFamily="34" charset="-120"/>
                        </a:rPr>
                        <a:t>日系シェア：HEV</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90%</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400" dirty="0">
                          <a:solidFill>
                            <a:srgbClr val="333333"/>
                          </a:solidFill>
                          <a:latin typeface="Arial" pitchFamily="34" charset="0"/>
                          <a:ea typeface="Arial" pitchFamily="34" charset="-122"/>
                          <a:cs typeface="Arial" pitchFamily="34" charset="-120"/>
                        </a:rPr>
                        <a:t>95%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66928">
                <a:tc>
                  <a:txBody>
                    <a:bodyPr/>
                    <a:lstStyle/>
                    <a:p>
                      <a:pPr indent="0" marL="0">
                        <a:buNone/>
                      </a:pPr>
                      <a:r>
                        <a:rPr lang="en-US" sz="1400" b="1" dirty="0">
                          <a:solidFill>
                            <a:srgbClr val="333333"/>
                          </a:solidFill>
                          <a:latin typeface="Arial" pitchFamily="34" charset="0"/>
                          <a:ea typeface="Arial" pitchFamily="34" charset="-122"/>
                          <a:cs typeface="Arial" pitchFamily="34" charset="-120"/>
                        </a:rPr>
                        <a:t>日系シェア（結果）</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34.5%</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48.2%</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c>
                  <a:txBody>
                    <a:bodyPr/>
                    <a:lstStyle/>
                    <a:p>
                      <a:pPr algn="ctr" indent="0" marL="0">
                        <a:buNone/>
                      </a:pPr>
                      <a:r>
                        <a:rPr lang="en-US" sz="1400" b="1" dirty="0">
                          <a:solidFill>
                            <a:srgbClr val="E8384F"/>
                          </a:solidFill>
                          <a:latin typeface="Arial" pitchFamily="34" charset="0"/>
                          <a:ea typeface="Arial" pitchFamily="34" charset="-122"/>
                          <a:cs typeface="Arial" pitchFamily="34" charset="-120"/>
                        </a:rPr>
                        <a:t>63.3%</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FFF200"/>
                    </a:solidFill>
                  </a:tcPr>
                </a:tc>
              </a:tr>
            </a:tbl>
          </a:graphicData>
        </a:graphic>
      </p:graphicFrame>
      <p:sp>
        <p:nvSpPr>
          <p:cNvPr id="4" name="shape_458"/>
          <p:cNvSpPr/>
          <p:nvPr/>
        </p:nvSpPr>
        <p:spPr>
          <a:xfrm>
            <a:off x="411480" y="1188720"/>
            <a:ext cx="6217920" cy="4535424"/>
          </a:xfrm>
          <a:prstGeom prst="rect">
            <a:avLst/>
          </a:prstGeom>
          <a:ln w="25400">
            <a:solidFill>
              <a:srgbClr val="4472C4"/>
            </a:solidFill>
            <a:prstDash val="solid"/>
          </a:ln>
        </p:spPr>
      </p:sp>
      <p:sp>
        <p:nvSpPr>
          <p:cNvPr id="5" name="shape_459"/>
          <p:cNvSpPr/>
          <p:nvPr/>
        </p:nvSpPr>
        <p:spPr>
          <a:xfrm>
            <a:off x="6949440" y="1188720"/>
            <a:ext cx="3328416" cy="4535424"/>
          </a:xfrm>
          <a:prstGeom prst="roundRect">
            <a:avLst>
              <a:gd name="adj" fmla="val 2747"/>
            </a:avLst>
          </a:prstGeom>
          <a:solidFill>
            <a:srgbClr val="EEF3FB"/>
          </a:solidFill>
          <a:ln w="15875">
            <a:solidFill>
              <a:srgbClr val="4472C4"/>
            </a:solidFill>
            <a:prstDash val="solid"/>
          </a:ln>
        </p:spPr>
      </p:sp>
      <p:sp>
        <p:nvSpPr>
          <p:cNvPr id="6" name="tab_460"/>
          <p:cNvSpPr/>
          <p:nvPr/>
        </p:nvSpPr>
        <p:spPr>
          <a:xfrm>
            <a:off x="7059168" y="1280160"/>
            <a:ext cx="2440432" cy="264160"/>
          </a:xfrm>
          <a:prstGeom prst="rect">
            <a:avLst/>
          </a:prstGeom>
          <a:solidFill>
            <a:srgbClr val="FFFFFF"/>
          </a:solidFill>
          <a:ln w="12700">
            <a:solidFill>
              <a:srgbClr val="4472C4"/>
            </a:solidFill>
          </a:ln>
        </p:spPr>
        <p:txBody>
          <a:bodyPr wrap="square" lIns="0" tIns="0" rIns="0" bIns="0" rtlCol="0" anchor="ctr"/>
          <a:lstStyle/>
          <a:p>
            <a:pPr algn="ctr" indent="0" marL="0">
              <a:buNone/>
            </a:pPr>
            <a:r>
              <a:rPr lang="en-US" sz="1300" b="1" dirty="0">
                <a:solidFill>
                  <a:srgbClr val="333333"/>
                </a:solidFill>
                <a:latin typeface="Arial" pitchFamily="34" charset="0"/>
                <a:ea typeface="Arial" pitchFamily="34" charset="-122"/>
                <a:cs typeface="Arial" pitchFamily="34" charset="-120"/>
              </a:rPr>
              <a:t>基本ケースからの変化（pt）</a:t>
            </a:r>
            <a:endParaRPr lang="en-US" sz="1300" dirty="0"/>
          </a:p>
        </p:txBody>
      </p:sp>
      <p:sp>
        <p:nvSpPr>
          <p:cNvPr id="7" name="text_461"/>
          <p:cNvSpPr txBox="1"/>
          <p:nvPr/>
        </p:nvSpPr>
        <p:spPr>
          <a:xfrm>
            <a:off x="7178040" y="182880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±7.3</a:t>
            </a:r>
            <a:endParaRPr lang="en-US" sz="2600" dirty="0"/>
          </a:p>
        </p:txBody>
      </p:sp>
      <p:sp>
        <p:nvSpPr>
          <p:cNvPr id="8" name="text_462"/>
          <p:cNvSpPr txBox="1"/>
          <p:nvPr/>
        </p:nvSpPr>
        <p:spPr>
          <a:xfrm>
            <a:off x="7178040" y="225806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BEV・PHEVの比率</a:t>
            </a:r>
            <a:endParaRPr lang="en-US" sz="1400" dirty="0"/>
          </a:p>
        </p:txBody>
      </p:sp>
      <p:sp>
        <p:nvSpPr>
          <p:cNvPr id="9" name="text_463"/>
          <p:cNvSpPr txBox="1"/>
          <p:nvPr/>
        </p:nvSpPr>
        <p:spPr>
          <a:xfrm>
            <a:off x="7178040" y="306324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+4.2／−2.1</a:t>
            </a:r>
            <a:endParaRPr lang="en-US" sz="2600" dirty="0"/>
          </a:p>
        </p:txBody>
      </p:sp>
      <p:sp>
        <p:nvSpPr>
          <p:cNvPr id="10" name="text_464"/>
          <p:cNvSpPr txBox="1"/>
          <p:nvPr/>
        </p:nvSpPr>
        <p:spPr>
          <a:xfrm>
            <a:off x="7178040" y="349250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日系のBEVシェア</a:t>
            </a:r>
            <a:endParaRPr lang="en-US" sz="1400" dirty="0"/>
          </a:p>
        </p:txBody>
      </p:sp>
      <p:sp>
        <p:nvSpPr>
          <p:cNvPr id="11" name="text_465"/>
          <p:cNvSpPr txBox="1"/>
          <p:nvPr/>
        </p:nvSpPr>
        <p:spPr>
          <a:xfrm>
            <a:off x="7178040" y="4297680"/>
            <a:ext cx="2916936" cy="412750"/>
          </a:xfrm>
          <a:prstGeom prst="rect">
            <a:avLst/>
          </a:prstGeom>
          <a:noFill/>
          <a:ln/>
        </p:spPr>
        <p:txBody>
          <a:bodyPr wrap="square" lIns="0" tIns="0" rIns="0" bIns="0" rtlCol="0" anchor="t"/>
          <a:lstStyle/>
          <a:p>
            <a:pPr algn="l" indent="0" marL="0">
              <a:buNone/>
            </a:pPr>
            <a:r>
              <a:rPr lang="en-US" sz="2600" b="1" dirty="0">
                <a:solidFill>
                  <a:srgbClr val="333333"/>
                </a:solidFill>
                <a:latin typeface="Arial" pitchFamily="34" charset="0"/>
                <a:ea typeface="Arial" pitchFamily="34" charset="-122"/>
                <a:cs typeface="Arial" pitchFamily="34" charset="-120"/>
              </a:rPr>
              <a:t>+1.6／−1.2</a:t>
            </a:r>
            <a:endParaRPr lang="en-US" sz="2600" dirty="0"/>
          </a:p>
        </p:txBody>
      </p:sp>
      <p:sp>
        <p:nvSpPr>
          <p:cNvPr id="12" name="text_466"/>
          <p:cNvSpPr txBox="1"/>
          <p:nvPr/>
        </p:nvSpPr>
        <p:spPr>
          <a:xfrm>
            <a:off x="7178040" y="4726940"/>
            <a:ext cx="2916936" cy="32004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ピックアップの台数</a:t>
            </a:r>
            <a:endParaRPr lang="en-US" sz="1400" dirty="0"/>
          </a:p>
        </p:txBody>
      </p:sp>
      <p:sp>
        <p:nvSpPr>
          <p:cNvPr id="13" name="text_467"/>
          <p:cNvSpPr txBox="1"/>
          <p:nvPr/>
        </p:nvSpPr>
        <p:spPr>
          <a:xfrm>
            <a:off x="411480" y="5897880"/>
            <a:ext cx="9866376" cy="36576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日系の台数は約37万台。その8割はピックアップ・PPV・HEV</a:t>
            </a:r>
            <a:endParaRPr lang="en-US" sz="1500" dirty="0"/>
          </a:p>
        </p:txBody>
      </p:sp>
      <p:sp>
        <p:nvSpPr>
          <p:cNvPr id="14" name="text_468"/>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出典：前回のデータブックによる試算（2026年の再現値59.8%、実績61.8%）</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付録25　実行の順番</a:t>
            </a:r>
            <a:endParaRPr lang="en-US" sz="2400" dirty="0"/>
          </a:p>
        </p:txBody>
      </p:sp>
      <p:sp>
        <p:nvSpPr>
          <p:cNvPr id="3" name="shape_469"/>
          <p:cNvSpPr/>
          <p:nvPr/>
        </p:nvSpPr>
        <p:spPr>
          <a:xfrm>
            <a:off x="411480" y="1463040"/>
            <a:ext cx="3017520" cy="3657600"/>
          </a:xfrm>
          <a:prstGeom prst="roundRect">
            <a:avLst>
              <a:gd name="adj" fmla="val 3636"/>
            </a:avLst>
          </a:prstGeom>
          <a:solidFill>
            <a:srgbClr val="FFFFFF"/>
          </a:solidFill>
          <a:ln w="22225">
            <a:solidFill>
              <a:srgbClr val="4472C4"/>
            </a:solidFill>
            <a:prstDash val="solid"/>
          </a:ln>
        </p:spPr>
      </p:sp>
      <p:sp>
        <p:nvSpPr>
          <p:cNvPr id="4" name="fslabel_470"/>
          <p:cNvSpPr/>
          <p:nvPr/>
        </p:nvSpPr>
        <p:spPr>
          <a:xfrm>
            <a:off x="1312164" y="1298448"/>
            <a:ext cx="1216152"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0〜6か月</a:t>
            </a:r>
            <a:endParaRPr lang="en-US" sz="1800" dirty="0"/>
          </a:p>
        </p:txBody>
      </p:sp>
      <p:sp>
        <p:nvSpPr>
          <p:cNvPr id="5" name="text_471"/>
          <p:cNvSpPr txBox="1"/>
          <p:nvPr/>
        </p:nvSpPr>
        <p:spPr>
          <a:xfrm>
            <a:off x="640080"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同クラスの実見積、SOH・買取実績、失注理由をそろえる</a:t>
            </a:r>
            <a:endParaRPr lang="en-US" sz="1600" dirty="0"/>
          </a:p>
        </p:txBody>
      </p:sp>
      <p:sp>
        <p:nvSpPr>
          <p:cNvPr id="6" name="crit_472"/>
          <p:cNvSpPr/>
          <p:nvPr/>
        </p:nvSpPr>
        <p:spPr>
          <a:xfrm>
            <a:off x="640080"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残価で許せる価格差を把握</a:t>
            </a:r>
            <a:endParaRPr lang="en-US" sz="1200" dirty="0"/>
          </a:p>
        </p:txBody>
      </p:sp>
      <p:sp>
        <p:nvSpPr>
          <p:cNvPr id="7" name="shape_473"/>
          <p:cNvSpPr/>
          <p:nvPr/>
        </p:nvSpPr>
        <p:spPr>
          <a:xfrm>
            <a:off x="3495294" y="3108960"/>
            <a:ext cx="164592" cy="365760"/>
          </a:xfrm>
          <a:prstGeom prst="chevron">
            <a:avLst/>
          </a:prstGeom>
          <a:solidFill>
            <a:srgbClr val="3FB2AB"/>
          </a:solidFill>
          <a:ln w="12700">
            <a:solidFill>
              <a:srgbClr val="3FB2AB"/>
            </a:solidFill>
            <a:prstDash val="solid"/>
          </a:ln>
        </p:spPr>
      </p:sp>
      <p:sp>
        <p:nvSpPr>
          <p:cNvPr id="8" name="shape_474"/>
          <p:cNvSpPr/>
          <p:nvPr/>
        </p:nvSpPr>
        <p:spPr>
          <a:xfrm>
            <a:off x="3610508" y="3108960"/>
            <a:ext cx="164592" cy="365760"/>
          </a:xfrm>
          <a:prstGeom prst="chevron">
            <a:avLst/>
          </a:prstGeom>
          <a:solidFill>
            <a:srgbClr val="3FB2AB"/>
          </a:solidFill>
          <a:ln w="12700">
            <a:solidFill>
              <a:srgbClr val="3FB2AB"/>
            </a:solidFill>
            <a:prstDash val="solid"/>
          </a:ln>
        </p:spPr>
      </p:sp>
      <p:sp>
        <p:nvSpPr>
          <p:cNvPr id="9" name="shape_475"/>
          <p:cNvSpPr/>
          <p:nvPr/>
        </p:nvSpPr>
        <p:spPr>
          <a:xfrm>
            <a:off x="3835908" y="1463040"/>
            <a:ext cx="3017520" cy="3657600"/>
          </a:xfrm>
          <a:prstGeom prst="roundRect">
            <a:avLst>
              <a:gd name="adj" fmla="val 3636"/>
            </a:avLst>
          </a:prstGeom>
          <a:solidFill>
            <a:srgbClr val="FFFFFF"/>
          </a:solidFill>
          <a:ln w="22225">
            <a:solidFill>
              <a:srgbClr val="4472C4"/>
            </a:solidFill>
            <a:prstDash val="solid"/>
          </a:ln>
        </p:spPr>
      </p:sp>
      <p:sp>
        <p:nvSpPr>
          <p:cNvPr id="10" name="fslabel_476"/>
          <p:cNvSpPr/>
          <p:nvPr/>
        </p:nvSpPr>
        <p:spPr>
          <a:xfrm>
            <a:off x="4672584" y="1298448"/>
            <a:ext cx="1344168"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6〜18か月</a:t>
            </a:r>
            <a:endParaRPr lang="en-US" sz="1800" dirty="0"/>
          </a:p>
        </p:txBody>
      </p:sp>
      <p:sp>
        <p:nvSpPr>
          <p:cNvPr id="11" name="text_477"/>
          <p:cNvSpPr txBox="1"/>
          <p:nvPr/>
        </p:nvSpPr>
        <p:spPr>
          <a:xfrm>
            <a:off x="4064508"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主力HEVに残クレを設計。中国開発BEVの案件を進める</a:t>
            </a:r>
            <a:endParaRPr lang="en-US" sz="1600" dirty="0"/>
          </a:p>
        </p:txBody>
      </p:sp>
      <p:sp>
        <p:nvSpPr>
          <p:cNvPr id="12" name="crit_478"/>
          <p:cNvSpPr/>
          <p:nvPr/>
        </p:nvSpPr>
        <p:spPr>
          <a:xfrm>
            <a:off x="4064508"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用途・充電条件と車種ごとの採算</a:t>
            </a:r>
            <a:endParaRPr lang="en-US" sz="1200" dirty="0"/>
          </a:p>
        </p:txBody>
      </p:sp>
      <p:sp>
        <p:nvSpPr>
          <p:cNvPr id="13" name="shape_479"/>
          <p:cNvSpPr/>
          <p:nvPr/>
        </p:nvSpPr>
        <p:spPr>
          <a:xfrm>
            <a:off x="6919722" y="3108960"/>
            <a:ext cx="164592" cy="365760"/>
          </a:xfrm>
          <a:prstGeom prst="chevron">
            <a:avLst/>
          </a:prstGeom>
          <a:solidFill>
            <a:srgbClr val="3FB2AB"/>
          </a:solidFill>
          <a:ln w="12700">
            <a:solidFill>
              <a:srgbClr val="3FB2AB"/>
            </a:solidFill>
            <a:prstDash val="solid"/>
          </a:ln>
        </p:spPr>
      </p:sp>
      <p:sp>
        <p:nvSpPr>
          <p:cNvPr id="14" name="shape_480"/>
          <p:cNvSpPr/>
          <p:nvPr/>
        </p:nvSpPr>
        <p:spPr>
          <a:xfrm>
            <a:off x="7034936" y="3108960"/>
            <a:ext cx="164592" cy="365760"/>
          </a:xfrm>
          <a:prstGeom prst="chevron">
            <a:avLst/>
          </a:prstGeom>
          <a:solidFill>
            <a:srgbClr val="3FB2AB"/>
          </a:solidFill>
          <a:ln w="12700">
            <a:solidFill>
              <a:srgbClr val="3FB2AB"/>
            </a:solidFill>
            <a:prstDash val="solid"/>
          </a:ln>
        </p:spPr>
      </p:sp>
      <p:sp>
        <p:nvSpPr>
          <p:cNvPr id="15" name="shape_481"/>
          <p:cNvSpPr/>
          <p:nvPr/>
        </p:nvSpPr>
        <p:spPr>
          <a:xfrm>
            <a:off x="7260336" y="1463040"/>
            <a:ext cx="3017520" cy="3657600"/>
          </a:xfrm>
          <a:prstGeom prst="roundRect">
            <a:avLst>
              <a:gd name="adj" fmla="val 3636"/>
            </a:avLst>
          </a:prstGeom>
          <a:solidFill>
            <a:srgbClr val="FFFFFF"/>
          </a:solidFill>
          <a:ln w="22225">
            <a:solidFill>
              <a:srgbClr val="4472C4"/>
            </a:solidFill>
            <a:prstDash val="solid"/>
          </a:ln>
        </p:spPr>
      </p:sp>
      <p:sp>
        <p:nvSpPr>
          <p:cNvPr id="16" name="fslabel_482"/>
          <p:cNvSpPr/>
          <p:nvPr/>
        </p:nvSpPr>
        <p:spPr>
          <a:xfrm>
            <a:off x="8033004" y="1298448"/>
            <a:ext cx="1472184" cy="329184"/>
          </a:xfrm>
          <a:prstGeom prst="rect">
            <a:avLst/>
          </a:prstGeom>
          <a:solidFill>
            <a:srgbClr val="FFFFFF"/>
          </a:solidFill>
          <a:ln/>
        </p:spPr>
        <p:txBody>
          <a:bodyPr wrap="square" lIns="0" tIns="0" rIns="0" bIns="0" rtlCol="0" anchor="ctr"/>
          <a:lstStyle/>
          <a:p>
            <a:pPr algn="ctr" indent="0" marL="0">
              <a:buNone/>
            </a:pPr>
            <a:r>
              <a:rPr lang="en-US" sz="1800" b="1" dirty="0">
                <a:solidFill>
                  <a:srgbClr val="4472C4"/>
                </a:solidFill>
                <a:latin typeface="Arial" pitchFamily="34" charset="0"/>
                <a:ea typeface="Arial" pitchFamily="34" charset="-122"/>
                <a:cs typeface="Arial" pitchFamily="34" charset="-120"/>
              </a:rPr>
              <a:t>18〜36か月</a:t>
            </a:r>
            <a:endParaRPr lang="en-US" sz="1800" dirty="0"/>
          </a:p>
        </p:txBody>
      </p:sp>
      <p:sp>
        <p:nvSpPr>
          <p:cNvPr id="17" name="text_483"/>
          <p:cNvSpPr txBox="1"/>
          <p:nvPr/>
        </p:nvSpPr>
        <p:spPr>
          <a:xfrm>
            <a:off x="7488936" y="1874520"/>
            <a:ext cx="2560320" cy="1828800"/>
          </a:xfrm>
          <a:prstGeom prst="rect">
            <a:avLst/>
          </a:prstGeom>
          <a:noFill/>
          <a:ln/>
        </p:spPr>
        <p:txBody>
          <a:bodyPr wrap="square" lIns="0" tIns="0" rIns="0" bIns="0" rtlCol="0" anchor="ctr"/>
          <a:lstStyle/>
          <a:p>
            <a:pPr algn="ctr" indent="0" marL="0">
              <a:buNone/>
            </a:pPr>
            <a:r>
              <a:rPr lang="en-US" sz="1600" dirty="0">
                <a:solidFill>
                  <a:srgbClr val="333333"/>
                </a:solidFill>
                <a:latin typeface="Arial" pitchFamily="34" charset="0"/>
                <a:ea typeface="Arial" pitchFamily="34" charset="-122"/>
                <a:cs typeface="Arial" pitchFamily="34" charset="-120"/>
              </a:rPr>
              <a:t>現地化・ライン増強を受注と輸出に合わせる</a:t>
            </a:r>
            <a:endParaRPr lang="en-US" sz="1600" dirty="0"/>
          </a:p>
        </p:txBody>
      </p:sp>
      <p:sp>
        <p:nvSpPr>
          <p:cNvPr id="18" name="crit_484"/>
          <p:cNvSpPr/>
          <p:nvPr/>
        </p:nvSpPr>
        <p:spPr>
          <a:xfrm>
            <a:off x="7488936" y="3840480"/>
            <a:ext cx="2560320" cy="1051560"/>
          </a:xfrm>
          <a:prstGeom prst="rect">
            <a:avLst/>
          </a:prstGeom>
          <a:solidFill>
            <a:srgbClr val="F2F2F2"/>
          </a:solidFill>
          <a:ln>
            <a:solidFill>
              <a:srgbClr val="F2F2F2"/>
            </a:solidFill>
          </a:ln>
        </p:spPr>
        <p:txBody>
          <a:bodyPr wrap="square" lIns="50800" tIns="50800" rIns="50800" bIns="50800" rtlCol="0" anchor="ctr"/>
          <a:lstStyle/>
          <a:p>
            <a:pPr algn="ctr" indent="0" marL="0">
              <a:buNone/>
            </a:pPr>
            <a:r>
              <a:rPr lang="en-US" sz="1200" dirty="0">
                <a:solidFill>
                  <a:srgbClr val="6B6B6B"/>
                </a:solidFill>
                <a:latin typeface="Arial" pitchFamily="34" charset="0"/>
                <a:ea typeface="Arial" pitchFamily="34" charset="-122"/>
                <a:cs typeface="Arial" pitchFamily="34" charset="-120"/>
              </a:rPr>
              <a:t>判断の基準</a:t>
            </a:r>
            <a:endParaRPr lang="en-US" sz="1200" dirty="0"/>
          </a:p>
          <a:p>
            <a:pPr algn="ctr" indent="0" marL="0">
              <a:buNone/>
            </a:pPr>
            <a:r>
              <a:rPr lang="en-US" sz="1400" b="1" dirty="0">
                <a:solidFill>
                  <a:srgbClr val="333333"/>
                </a:solidFill>
                <a:latin typeface="Arial" pitchFamily="34" charset="0"/>
                <a:ea typeface="Arial" pitchFamily="34" charset="-122"/>
                <a:cs typeface="Arial" pitchFamily="34" charset="-120"/>
              </a:rPr>
              <a:t>国内需要＋輸出が損益分岐を超えるか</a:t>
            </a:r>
            <a:endParaRPr lang="en-US" sz="1200" dirty="0"/>
          </a:p>
        </p:txBody>
      </p:sp>
      <p:sp>
        <p:nvSpPr>
          <p:cNvPr id="19" name="summary_485"/>
          <p:cNvSpPr/>
          <p:nvPr/>
        </p:nvSpPr>
        <p:spPr>
          <a:xfrm>
            <a:off x="1143000" y="5532120"/>
            <a:ext cx="8403336" cy="1097280"/>
          </a:xfrm>
          <a:prstGeom prst="roundRect">
            <a:avLst>
              <a:gd name="adj" fmla="val 8333"/>
            </a:avLst>
          </a:prstGeom>
          <a:solidFill>
            <a:srgbClr val="D3F0ED"/>
          </a:solidFill>
          <a:ln w="12700">
            <a:solidFill>
              <a:srgbClr val="404040"/>
            </a:solidFill>
          </a:ln>
        </p:spPr>
        <p:txBody>
          <a:bodyPr wrap="square" lIns="76200" tIns="177800" rIns="177800" bIns="76200" rtlCol="0" anchor="ctr"/>
          <a:lstStyle/>
          <a:p>
            <a:pPr algn="ctr" indent="0" marL="0">
              <a:buNone/>
            </a:pPr>
            <a:r>
              <a:rPr lang="en-US" sz="1700" dirty="0">
                <a:solidFill>
                  <a:srgbClr val="333333"/>
                </a:solidFill>
                <a:latin typeface="Arial" pitchFamily="34" charset="0"/>
                <a:ea typeface="Arial" pitchFamily="34" charset="-122"/>
                <a:cs typeface="Arial" pitchFamily="34" charset="-120"/>
              </a:rPr>
              <a:t>利益＝車種ごとの台数×限界利益 − 共通基盤・改良・残価リスクの費用</a:t>
            </a:r>
            <a:endParaRPr lang="en-US" sz="1700" dirty="0"/>
          </a:p>
        </p:txBody>
      </p:sp>
      <p:sp>
        <p:nvSpPr>
          <p:cNvPr id="20" name="text_486"/>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出典：本資料の検証にもとづく提案。個社の計画ではない</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付録26　追加の検証設計（社内データで行うもの）</a:t>
            </a:r>
            <a:endParaRPr lang="en-US" sz="2400" dirty="0"/>
          </a:p>
        </p:txBody>
      </p:sp>
      <p:graphicFrame>
        <p:nvGraphicFramePr>
          <p:cNvPr id="44" name="table_487"/>
          <p:cNvGraphicFramePr>
            <a:graphicFrameLocks noGrp="1"/>
          </p:cNvGraphicFramePr>
          <p:nvPr>
            <p:extLst>
              <p:ext uri="{D42A27DB-BD31-4B8C-83A1-F6EECF244321}">
                <p14:modId xmlns:p14="http://schemas.microsoft.com/office/powerpoint/2010/main" val="1579011935"/>
              </p:ext>
            </p:extLst>
          </p:nvPr>
        </p:nvGraphicFramePr>
        <p:xfrm>
          <a:off x="411480" y="1143000"/>
          <a:ext cx="9866376" cy="914400"/>
        </p:xfrm>
        <a:graphic>
          <a:graphicData uri="http://schemas.openxmlformats.org/drawingml/2006/table">
            <a:tbl>
              <a:tblPr/>
              <a:tblGrid>
                <a:gridCol w="2926080"/>
                <a:gridCol w="3657600"/>
                <a:gridCol w="3282696"/>
              </a:tblGrid>
              <a:tr h="457200">
                <a:tc>
                  <a:txBody>
                    <a:bodyPr/>
                    <a:lstStyle/>
                    <a:p>
                      <a:pPr indent="0" marL="0">
                        <a:buNone/>
                      </a:pPr>
                      <a:r>
                        <a:rPr lang="en-US" sz="1400" b="1" dirty="0">
                          <a:solidFill>
                            <a:srgbClr val="333333"/>
                          </a:solidFill>
                          <a:latin typeface="Arial" pitchFamily="34" charset="0"/>
                          <a:ea typeface="Arial" pitchFamily="34" charset="-122"/>
                          <a:cs typeface="Arial" pitchFamily="34" charset="-120"/>
                        </a:rPr>
                        <a:t>問い</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比べ方</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indent="0" marL="0">
                        <a:buNone/>
                      </a:pPr>
                      <a:r>
                        <a:rPr lang="en-US" sz="1400" b="1" dirty="0">
                          <a:solidFill>
                            <a:srgbClr val="333333"/>
                          </a:solidFill>
                          <a:latin typeface="Arial" pitchFamily="34" charset="0"/>
                          <a:ea typeface="Arial" pitchFamily="34" charset="-122"/>
                          <a:cs typeface="Arial" pitchFamily="34" charset="-120"/>
                        </a:rPr>
                        <a:t>必要なデータ</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改良が競争力を高めるか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同じ車格・動力・価格帯で、改良の前後を比較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MarkLines月次、S&amp;P改良時期、実売価格</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中国系は売れ行きの落ち方が速いか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同じ動力・セグメント・発売年で販売カーブを比較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MarkLines月次、発売月</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新車値下げが中古価格を下げるか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値下げした車と、しない近い車の差の差</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同型・同年式の成約価格の時系列</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電池劣化の価格への寄与</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同型・同年式・同距離でSOHの違いを比較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実測SOH、成約価格、保証・充電履歴</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売れる車種の数が企業を支えるか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販売構成と採算の変化を企業・車種で追う</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モデル別台数、価格、粗利</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777240">
                <a:tc>
                  <a:txBody>
                    <a:bodyPr/>
                    <a:lstStyle/>
                    <a:p>
                      <a:pPr indent="0" marL="0">
                        <a:buNone/>
                      </a:pPr>
                      <a:r>
                        <a:rPr lang="en-US" sz="1400" dirty="0">
                          <a:solidFill>
                            <a:srgbClr val="333333"/>
                          </a:solidFill>
                          <a:latin typeface="Arial" pitchFamily="34" charset="0"/>
                          <a:ea typeface="Arial" pitchFamily="34" charset="-122"/>
                          <a:cs typeface="Arial" pitchFamily="34" charset="-120"/>
                        </a:rPr>
                        <a:t>現地化が競争力を変えるか</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同じ仕様のCBU→CKDを比較</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生産国、現地調達、稼働率、在庫</a:t>
                      </a:r>
                      <a:endParaRPr lang="en-US" sz="14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488"/>
          <p:cNvSpPr/>
          <p:nvPr/>
        </p:nvSpPr>
        <p:spPr>
          <a:xfrm>
            <a:off x="411480" y="1143000"/>
            <a:ext cx="9866376" cy="5120640"/>
          </a:xfrm>
          <a:prstGeom prst="rect">
            <a:avLst/>
          </a:prstGeom>
          <a:ln w="25400">
            <a:solidFill>
              <a:srgbClr val="4472C4"/>
            </a:solidFill>
            <a:prstDash val="solid"/>
          </a:ln>
        </p:spPr>
      </p:sp>
      <p:sp>
        <p:nvSpPr>
          <p:cNvPr id="5" name="text_489"/>
          <p:cNvSpPr txBox="1"/>
          <p:nvPr/>
        </p:nvSpPr>
        <p:spPr>
          <a:xfrm>
            <a:off x="411480" y="7178040"/>
            <a:ext cx="9866376" cy="274320"/>
          </a:xfrm>
          <a:prstGeom prst="rect">
            <a:avLst/>
          </a:prstGeom>
          <a:noFill/>
          <a:ln/>
        </p:spPr>
        <p:txBody>
          <a:bodyPr wrap="square" lIns="0" tIns="0" rIns="0" bIns="0" rtlCol="0" anchor="ctr"/>
          <a:lstStyle/>
          <a:p>
            <a:pPr indent="0" marL="0">
              <a:buNone/>
            </a:pPr>
            <a:r>
              <a:rPr lang="en-US" sz="1000" dirty="0">
                <a:solidFill>
                  <a:srgbClr val="6B6B6B"/>
                </a:solidFill>
                <a:latin typeface="Arial" pitchFamily="34" charset="0"/>
                <a:ea typeface="Arial" pitchFamily="34" charset="-122"/>
                <a:cs typeface="Arial" pitchFamily="34" charset="-120"/>
              </a:rPr>
              <a:t>出典：本資料の検証設計</a:t>
            </a:r>
            <a:endParaRPr lang="en-US" sz="10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付録27　社内PCで作る図と、差し込む場所</a:t>
            </a:r>
            <a:endParaRPr lang="en-US" sz="2400" dirty="0"/>
          </a:p>
        </p:txBody>
      </p:sp>
      <p:graphicFrame>
        <p:nvGraphicFramePr>
          <p:cNvPr id="45" name="table_490"/>
          <p:cNvGraphicFramePr>
            <a:graphicFrameLocks noGrp="1"/>
          </p:cNvGraphicFramePr>
          <p:nvPr>
            <p:extLst>
              <p:ext uri="{D42A27DB-BD31-4B8C-83A1-F6EECF244321}">
                <p14:modId xmlns:p14="http://schemas.microsoft.com/office/powerpoint/2010/main" val="1579011935"/>
              </p:ext>
            </p:extLst>
          </p:nvPr>
        </p:nvGraphicFramePr>
        <p:xfrm>
          <a:off x="1143000" y="1143000"/>
          <a:ext cx="8403336" cy="914400"/>
        </p:xfrm>
        <a:graphic>
          <a:graphicData uri="http://schemas.openxmlformats.org/drawingml/2006/table">
            <a:tbl>
              <a:tblPr/>
              <a:tblGrid>
                <a:gridCol w="6391656"/>
                <a:gridCol w="2011680"/>
              </a:tblGrid>
              <a:tr h="457200">
                <a:tc>
                  <a:txBody>
                    <a:bodyPr/>
                    <a:lstStyle/>
                    <a:p>
                      <a:pPr indent="0" marL="0">
                        <a:buNone/>
                      </a:pPr>
                      <a:r>
                        <a:rPr lang="en-US" sz="1500" b="1" dirty="0">
                          <a:solidFill>
                            <a:srgbClr val="333333"/>
                          </a:solidFill>
                          <a:latin typeface="Arial" pitchFamily="34" charset="0"/>
                          <a:ea typeface="Arial" pitchFamily="34" charset="-122"/>
                          <a:cs typeface="Arial" pitchFamily="34" charset="-120"/>
                        </a:rPr>
                        <a:t>作る図（MarkLines・S&amp;P）</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c>
                  <a:txBody>
                    <a:bodyPr/>
                    <a:lstStyle/>
                    <a:p>
                      <a:pPr algn="ctr" indent="0" marL="0">
                        <a:buNone/>
                      </a:pPr>
                      <a:r>
                        <a:rPr lang="en-US" sz="1500" b="1" dirty="0">
                          <a:solidFill>
                            <a:srgbClr val="333333"/>
                          </a:solidFill>
                          <a:latin typeface="Arial" pitchFamily="34" charset="0"/>
                          <a:ea typeface="Arial" pitchFamily="34" charset="-122"/>
                          <a:cs typeface="Arial" pitchFamily="34" charset="-120"/>
                        </a:rPr>
                        <a:t>差し込む場所</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solidFill>
                      <a:srgbClr val="E9EEF7"/>
                    </a:solidFill>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ASEAN各国の中国系・日系シェアの推移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パワートレイン別の販売とシェアの推移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スライド4</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セグメント別の販売とシェアの推移</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スライド5</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上位4社（中国系・日系）の車種別販売</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スライド6</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マトリクス各セルの台数・シェア</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スライド8</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S&amp;Pの改良時期 × 改良前後の月次販売</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スライド9</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企業別の車種構成と販売の安定性</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スライド13</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r h="594360">
                <a:tc>
                  <a:txBody>
                    <a:bodyPr/>
                    <a:lstStyle/>
                    <a:p>
                      <a:pPr indent="0" marL="0">
                        <a:buNone/>
                      </a:pPr>
                      <a:r>
                        <a:rPr lang="en-US" sz="1500" dirty="0">
                          <a:solidFill>
                            <a:srgbClr val="333333"/>
                          </a:solidFill>
                          <a:latin typeface="Arial" pitchFamily="34" charset="0"/>
                          <a:ea typeface="Arial" pitchFamily="34" charset="-122"/>
                          <a:cs typeface="Arial" pitchFamily="34" charset="-120"/>
                        </a:rPr>
                        <a:t>車種の数と依存度（再計算）</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c>
                  <a:txBody>
                    <a:bodyPr/>
                    <a:lstStyle/>
                    <a:p>
                      <a:pPr algn="ctr" indent="0" marL="0">
                        <a:buNone/>
                      </a:pPr>
                      <a:r>
                        <a:rPr lang="en-US" sz="1500" dirty="0">
                          <a:solidFill>
                            <a:srgbClr val="333333"/>
                          </a:solidFill>
                          <a:latin typeface="Arial" pitchFamily="34" charset="0"/>
                          <a:ea typeface="Arial" pitchFamily="34" charset="-122"/>
                          <a:cs typeface="Arial" pitchFamily="34" charset="-120"/>
                        </a:rPr>
                        <a:t>付録21</a:t>
                      </a:r>
                      <a:endParaRPr lang="en-US" sz="1500" dirty="0">
                        <a:latin typeface="Arial" charset="0"/>
                        <a:ea typeface="Arial" charset="0"/>
                        <a:cs typeface="Arial" charset="0"/>
                      </a:endParaRPr>
                    </a:p>
                  </a:txBody>
                  <a:tcPr marL="76200" marR="76200" marT="38100" marB="38100" anchor="ctr">
                    <a:lnL w="9525" cap="flat" cmpd="sng" algn="ctr">
                      <a:solidFill>
                        <a:srgbClr val="BFC9DA"/>
                      </a:solidFill>
                      <a:prstDash val="solid"/>
                      <a:round/>
                      <a:headEnd type="none" w="med" len="med"/>
                      <a:tailEnd type="none" w="med" len="med"/>
                    </a:lnL>
                    <a:lnR w="9525" cap="flat" cmpd="sng" algn="ctr">
                      <a:solidFill>
                        <a:srgbClr val="BFC9DA"/>
                      </a:solidFill>
                      <a:prstDash val="solid"/>
                      <a:round/>
                      <a:headEnd type="none" w="med" len="med"/>
                      <a:tailEnd type="none" w="med" len="med"/>
                    </a:lnR>
                    <a:lnT w="9525" cap="flat" cmpd="sng" algn="ctr">
                      <a:solidFill>
                        <a:srgbClr val="BFC9DA"/>
                      </a:solidFill>
                      <a:prstDash val="solid"/>
                      <a:round/>
                      <a:headEnd type="none" w="med" len="med"/>
                      <a:tailEnd type="none" w="med" len="med"/>
                    </a:lnT>
                    <a:lnB w="9525" cap="flat" cmpd="sng" algn="ctr">
                      <a:solidFill>
                        <a:srgbClr val="BFC9DA"/>
                      </a:solidFill>
                      <a:prstDash val="solid"/>
                      <a:round/>
                      <a:headEnd type="none" w="med" len="med"/>
                      <a:tailEnd type="none" w="med" len="med"/>
                    </a:lnB>
                  </a:tcPr>
                </a:tc>
              </a:tr>
            </a:tbl>
          </a:graphicData>
        </a:graphic>
      </p:graphicFrame>
      <p:sp>
        <p:nvSpPr>
          <p:cNvPr id="4" name="shape_491"/>
          <p:cNvSpPr/>
          <p:nvPr/>
        </p:nvSpPr>
        <p:spPr>
          <a:xfrm>
            <a:off x="1143000" y="1143000"/>
            <a:ext cx="8403336" cy="5212080"/>
          </a:xfrm>
          <a:prstGeom prst="rect">
            <a:avLst/>
          </a:prstGeom>
          <a:ln w="25400">
            <a:solidFill>
              <a:srgbClr val="4472C4"/>
            </a:solidFill>
            <a:prstDash val="solid"/>
          </a:ln>
        </p:spPr>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付録28　想定される質問①（分析の方法）</a:t>
            </a:r>
            <a:endParaRPr lang="en-US" sz="2400" dirty="0"/>
          </a:p>
        </p:txBody>
      </p:sp>
      <p:sp>
        <p:nvSpPr>
          <p:cNvPr id="3" name="shape_492"/>
          <p:cNvSpPr/>
          <p:nvPr/>
        </p:nvSpPr>
        <p:spPr>
          <a:xfrm>
            <a:off x="411480" y="1143000"/>
            <a:ext cx="9866376" cy="1371600"/>
          </a:xfrm>
          <a:prstGeom prst="roundRect">
            <a:avLst>
              <a:gd name="adj" fmla="val 5333"/>
            </a:avLst>
          </a:prstGeom>
          <a:solidFill>
            <a:srgbClr val="EEF3FB"/>
          </a:solidFill>
          <a:ln w="12700">
            <a:solidFill>
              <a:srgbClr val="C9D7F0"/>
            </a:solidFill>
            <a:prstDash val="solid"/>
          </a:ln>
        </p:spPr>
      </p:sp>
      <p:sp>
        <p:nvSpPr>
          <p:cNvPr id="4" name="text_493"/>
          <p:cNvSpPr txBox="1"/>
          <p:nvPr/>
        </p:nvSpPr>
        <p:spPr>
          <a:xfrm>
            <a:off x="548640" y="1234440"/>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5" name="text_494"/>
          <p:cNvSpPr txBox="1"/>
          <p:nvPr/>
        </p:nvSpPr>
        <p:spPr>
          <a:xfrm>
            <a:off x="960120" y="1234440"/>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日系の失点の分解は、因果ではないのでは？</a:t>
            </a:r>
            <a:endParaRPr lang="en-US" sz="1600" dirty="0"/>
          </a:p>
        </p:txBody>
      </p:sp>
      <p:sp>
        <p:nvSpPr>
          <p:cNvPr id="6" name="text_495"/>
          <p:cNvSpPr txBox="1"/>
          <p:nvPr/>
        </p:nvSpPr>
        <p:spPr>
          <a:xfrm>
            <a:off x="548640" y="1709928"/>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7" name="text_496"/>
          <p:cNvSpPr txBox="1"/>
          <p:nvPr/>
        </p:nvSpPr>
        <p:spPr>
          <a:xfrm>
            <a:off x="960120" y="1709928"/>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はい、会計上の分解です。BEVの買い手が日系を選んだかは分かりません。ピックアップ縮小で分母が減った分も含むため、セグメント×動力で分解し直します。</a:t>
            </a:r>
            <a:endParaRPr lang="en-US" sz="1500" dirty="0"/>
          </a:p>
        </p:txBody>
      </p:sp>
      <p:sp>
        <p:nvSpPr>
          <p:cNvPr id="8" name="shape_497"/>
          <p:cNvSpPr/>
          <p:nvPr/>
        </p:nvSpPr>
        <p:spPr>
          <a:xfrm>
            <a:off x="411480" y="2670048"/>
            <a:ext cx="9866376" cy="1371600"/>
          </a:xfrm>
          <a:prstGeom prst="roundRect">
            <a:avLst>
              <a:gd name="adj" fmla="val 5333"/>
            </a:avLst>
          </a:prstGeom>
          <a:solidFill>
            <a:srgbClr val="FFFFFF"/>
          </a:solidFill>
          <a:ln w="12700">
            <a:solidFill>
              <a:srgbClr val="C9D7F0"/>
            </a:solidFill>
            <a:prstDash val="solid"/>
          </a:ln>
        </p:spPr>
      </p:sp>
      <p:sp>
        <p:nvSpPr>
          <p:cNvPr id="9" name="text_498"/>
          <p:cNvSpPr txBox="1"/>
          <p:nvPr/>
        </p:nvSpPr>
        <p:spPr>
          <a:xfrm>
            <a:off x="548640" y="2761488"/>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10" name="text_499"/>
          <p:cNvSpPr txBox="1"/>
          <p:nvPr/>
        </p:nvSpPr>
        <p:spPr>
          <a:xfrm>
            <a:off x="960120" y="2761488"/>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中国系の改良間隔が短いのは、観測期間が短いからでは？</a:t>
            </a:r>
            <a:endParaRPr lang="en-US" sz="1600" dirty="0"/>
          </a:p>
        </p:txBody>
      </p:sp>
      <p:sp>
        <p:nvSpPr>
          <p:cNvPr id="11" name="text_500"/>
          <p:cNvSpPr txBox="1"/>
          <p:nvPr/>
        </p:nvSpPr>
        <p:spPr>
          <a:xfrm>
            <a:off x="548640" y="3236976"/>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12" name="text_501"/>
          <p:cNvSpPr txBox="1"/>
          <p:nvPr/>
        </p:nvSpPr>
        <p:spPr>
          <a:xfrm>
            <a:off x="960120" y="3236976"/>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その可能性があります。2022年以降の参入で、長い周期の車はまだ観測されていません。同じ発売年どうしで比べ直します。</a:t>
            </a:r>
            <a:endParaRPr lang="en-US" sz="1500" dirty="0"/>
          </a:p>
        </p:txBody>
      </p:sp>
      <p:sp>
        <p:nvSpPr>
          <p:cNvPr id="13" name="shape_502"/>
          <p:cNvSpPr/>
          <p:nvPr/>
        </p:nvSpPr>
        <p:spPr>
          <a:xfrm>
            <a:off x="411480" y="4197096"/>
            <a:ext cx="9866376" cy="1371600"/>
          </a:xfrm>
          <a:prstGeom prst="roundRect">
            <a:avLst>
              <a:gd name="adj" fmla="val 5333"/>
            </a:avLst>
          </a:prstGeom>
          <a:solidFill>
            <a:srgbClr val="EEF3FB"/>
          </a:solidFill>
          <a:ln w="12700">
            <a:solidFill>
              <a:srgbClr val="C9D7F0"/>
            </a:solidFill>
            <a:prstDash val="solid"/>
          </a:ln>
        </p:spPr>
      </p:sp>
      <p:sp>
        <p:nvSpPr>
          <p:cNvPr id="14" name="text_503"/>
          <p:cNvSpPr txBox="1"/>
          <p:nvPr/>
        </p:nvSpPr>
        <p:spPr>
          <a:xfrm>
            <a:off x="548640" y="4288536"/>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15" name="text_504"/>
          <p:cNvSpPr txBox="1"/>
          <p:nvPr/>
        </p:nvSpPr>
        <p:spPr>
          <a:xfrm>
            <a:off x="960120" y="4288536"/>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「速さは中国系どうしの生き残り条件」の根拠は？</a:t>
            </a:r>
            <a:endParaRPr lang="en-US" sz="1600" dirty="0"/>
          </a:p>
        </p:txBody>
      </p:sp>
      <p:sp>
        <p:nvSpPr>
          <p:cNvPr id="16" name="text_505"/>
          <p:cNvSpPr txBox="1"/>
          <p:nvPr/>
        </p:nvSpPr>
        <p:spPr>
          <a:xfrm>
            <a:off x="548640" y="4764024"/>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17" name="text_506"/>
          <p:cNvSpPr txBox="1"/>
          <p:nvPr/>
        </p:nvSpPr>
        <p:spPr>
          <a:xfrm>
            <a:off x="960120" y="4764024"/>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今は状況証拠です（BYD 40%→31%、Neta 17%→3%）。S&amp;Pの改良時期とMarkLinesの月次で、改良前後の販売を確かめます。</a:t>
            </a:r>
            <a:endParaRPr lang="en-US" sz="1500" dirty="0"/>
          </a:p>
        </p:txBody>
      </p:sp>
      <p:sp>
        <p:nvSpPr>
          <p:cNvPr id="18" name="shape_507"/>
          <p:cNvSpPr/>
          <p:nvPr/>
        </p:nvSpPr>
        <p:spPr>
          <a:xfrm>
            <a:off x="411480" y="5724144"/>
            <a:ext cx="9866376" cy="1371600"/>
          </a:xfrm>
          <a:prstGeom prst="roundRect">
            <a:avLst>
              <a:gd name="adj" fmla="val 5333"/>
            </a:avLst>
          </a:prstGeom>
          <a:solidFill>
            <a:srgbClr val="FFFFFF"/>
          </a:solidFill>
          <a:ln w="12700">
            <a:solidFill>
              <a:srgbClr val="C9D7F0"/>
            </a:solidFill>
            <a:prstDash val="solid"/>
          </a:ln>
        </p:spPr>
      </p:sp>
      <p:sp>
        <p:nvSpPr>
          <p:cNvPr id="19" name="text_508"/>
          <p:cNvSpPr txBox="1"/>
          <p:nvPr/>
        </p:nvSpPr>
        <p:spPr>
          <a:xfrm>
            <a:off x="548640" y="5815584"/>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20" name="text_509"/>
          <p:cNvSpPr txBox="1"/>
          <p:nvPr/>
        </p:nvSpPr>
        <p:spPr>
          <a:xfrm>
            <a:off x="960120" y="5815584"/>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中古価格の比較はN=7と5で、少ないのでは？</a:t>
            </a:r>
            <a:endParaRPr lang="en-US" sz="1600" dirty="0"/>
          </a:p>
        </p:txBody>
      </p:sp>
      <p:sp>
        <p:nvSpPr>
          <p:cNvPr id="21" name="text_510"/>
          <p:cNvSpPr txBox="1"/>
          <p:nvPr/>
        </p:nvSpPr>
        <p:spPr>
          <a:xfrm>
            <a:off x="548640" y="6291072"/>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22" name="text_511"/>
          <p:cNvSpPr txBox="1"/>
          <p:nvPr/>
        </p:nvSpPr>
        <p:spPr>
          <a:xfrm>
            <a:off x="960120" y="6291072"/>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はい、掲載価格で件数も少なく、示唆にとどまります。One2carの時系列（1年で2〜3割下落）と方向は一致しています。</a:t>
            </a:r>
            <a:endParaRPr lang="en-US" sz="15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付録29　想定される質問②（戦略）</a:t>
            </a:r>
            <a:endParaRPr lang="en-US" sz="2400" dirty="0"/>
          </a:p>
        </p:txBody>
      </p:sp>
      <p:sp>
        <p:nvSpPr>
          <p:cNvPr id="3" name="shape_512"/>
          <p:cNvSpPr/>
          <p:nvPr/>
        </p:nvSpPr>
        <p:spPr>
          <a:xfrm>
            <a:off x="411480" y="1143000"/>
            <a:ext cx="9866376" cy="1371600"/>
          </a:xfrm>
          <a:prstGeom prst="roundRect">
            <a:avLst>
              <a:gd name="adj" fmla="val 5333"/>
            </a:avLst>
          </a:prstGeom>
          <a:solidFill>
            <a:srgbClr val="EEF3FB"/>
          </a:solidFill>
          <a:ln w="12700">
            <a:solidFill>
              <a:srgbClr val="C9D7F0"/>
            </a:solidFill>
            <a:prstDash val="solid"/>
          </a:ln>
        </p:spPr>
      </p:sp>
      <p:sp>
        <p:nvSpPr>
          <p:cNvPr id="4" name="text_513"/>
          <p:cNvSpPr txBox="1"/>
          <p:nvPr/>
        </p:nvSpPr>
        <p:spPr>
          <a:xfrm>
            <a:off x="548640" y="1234440"/>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5" name="text_514"/>
          <p:cNvSpPr txBox="1"/>
          <p:nvPr/>
        </p:nvSpPr>
        <p:spPr>
          <a:xfrm>
            <a:off x="960120" y="1234440"/>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日系がBEVに入れば、日系も速さの勝負に巻き込まれるのでは？</a:t>
            </a:r>
            <a:endParaRPr lang="en-US" sz="1600" dirty="0"/>
          </a:p>
        </p:txBody>
      </p:sp>
      <p:sp>
        <p:nvSpPr>
          <p:cNvPr id="6" name="text_515"/>
          <p:cNvSpPr txBox="1"/>
          <p:nvPr/>
        </p:nvSpPr>
        <p:spPr>
          <a:xfrm>
            <a:off x="548640" y="1709928"/>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7" name="text_516"/>
          <p:cNvSpPr txBox="1"/>
          <p:nvPr/>
        </p:nvSpPr>
        <p:spPr>
          <a:xfrm>
            <a:off x="960120" y="1709928"/>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そうなります。そのため自社開発ではなく中国の開発体制を使い、車種を絞って都市・法人向けに投入します。</a:t>
            </a:r>
            <a:endParaRPr lang="en-US" sz="1500" dirty="0"/>
          </a:p>
        </p:txBody>
      </p:sp>
      <p:sp>
        <p:nvSpPr>
          <p:cNvPr id="8" name="shape_517"/>
          <p:cNvSpPr/>
          <p:nvPr/>
        </p:nvSpPr>
        <p:spPr>
          <a:xfrm>
            <a:off x="411480" y="2670048"/>
            <a:ext cx="9866376" cy="1371600"/>
          </a:xfrm>
          <a:prstGeom prst="roundRect">
            <a:avLst>
              <a:gd name="adj" fmla="val 5333"/>
            </a:avLst>
          </a:prstGeom>
          <a:solidFill>
            <a:srgbClr val="FFFFFF"/>
          </a:solidFill>
          <a:ln w="12700">
            <a:solidFill>
              <a:srgbClr val="C9D7F0"/>
            </a:solidFill>
            <a:prstDash val="solid"/>
          </a:ln>
        </p:spPr>
      </p:sp>
      <p:sp>
        <p:nvSpPr>
          <p:cNvPr id="9" name="text_518"/>
          <p:cNvSpPr txBox="1"/>
          <p:nvPr/>
        </p:nvSpPr>
        <p:spPr>
          <a:xfrm>
            <a:off x="548640" y="2761488"/>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10" name="text_519"/>
          <p:cNvSpPr txBox="1"/>
          <p:nvPr/>
        </p:nvSpPr>
        <p:spPr>
          <a:xfrm>
            <a:off x="960120" y="2761488"/>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PHEVは7割が中国系。HEVも安泰ではないのでは？</a:t>
            </a:r>
            <a:endParaRPr lang="en-US" sz="1600" dirty="0"/>
          </a:p>
        </p:txBody>
      </p:sp>
      <p:sp>
        <p:nvSpPr>
          <p:cNvPr id="11" name="text_520"/>
          <p:cNvSpPr txBox="1"/>
          <p:nvPr/>
        </p:nvSpPr>
        <p:spPr>
          <a:xfrm>
            <a:off x="548640" y="3236976"/>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12" name="text_521"/>
          <p:cNvSpPr txBox="1"/>
          <p:nvPr/>
        </p:nvSpPr>
        <p:spPr>
          <a:xfrm>
            <a:off x="960120" y="3236976"/>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はい。HEV内の中国系シェア（今は1.6%）とC-SUVのPHEVを毎月見ます。10%を超えたら打ち手を前倒しします。</a:t>
            </a:r>
            <a:endParaRPr lang="en-US" sz="1500" dirty="0"/>
          </a:p>
        </p:txBody>
      </p:sp>
      <p:sp>
        <p:nvSpPr>
          <p:cNvPr id="13" name="shape_522"/>
          <p:cNvSpPr/>
          <p:nvPr/>
        </p:nvSpPr>
        <p:spPr>
          <a:xfrm>
            <a:off x="411480" y="4197096"/>
            <a:ext cx="9866376" cy="1371600"/>
          </a:xfrm>
          <a:prstGeom prst="roundRect">
            <a:avLst>
              <a:gd name="adj" fmla="val 5333"/>
            </a:avLst>
          </a:prstGeom>
          <a:solidFill>
            <a:srgbClr val="EEF3FB"/>
          </a:solidFill>
          <a:ln w="12700">
            <a:solidFill>
              <a:srgbClr val="C9D7F0"/>
            </a:solidFill>
            <a:prstDash val="solid"/>
          </a:ln>
        </p:spPr>
      </p:sp>
      <p:sp>
        <p:nvSpPr>
          <p:cNvPr id="14" name="text_523"/>
          <p:cNvSpPr txBox="1"/>
          <p:nvPr/>
        </p:nvSpPr>
        <p:spPr>
          <a:xfrm>
            <a:off x="548640" y="4288536"/>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15" name="text_524"/>
          <p:cNvSpPr txBox="1"/>
          <p:nvPr/>
        </p:nvSpPr>
        <p:spPr>
          <a:xfrm>
            <a:off x="960120" y="4288536"/>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残クレは、残価が崩れたら日系が損をするのでは？</a:t>
            </a:r>
            <a:endParaRPr lang="en-US" sz="1600" dirty="0"/>
          </a:p>
        </p:txBody>
      </p:sp>
      <p:sp>
        <p:nvSpPr>
          <p:cNvPr id="16" name="text_525"/>
          <p:cNvSpPr txBox="1"/>
          <p:nvPr/>
        </p:nvSpPr>
        <p:spPr>
          <a:xfrm>
            <a:off x="548640" y="4764024"/>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17" name="text_526"/>
          <p:cNvSpPr txBox="1"/>
          <p:nvPr/>
        </p:nvSpPr>
        <p:spPr>
          <a:xfrm>
            <a:off x="960120" y="4764024"/>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はい、残価のリスクは金融会社が負います。中国系の値下げがHEVの中古相場に波及しないかを見ながら、残価率を保守的に置きます。</a:t>
            </a:r>
            <a:endParaRPr lang="en-US" sz="1500" dirty="0"/>
          </a:p>
        </p:txBody>
      </p:sp>
      <p:sp>
        <p:nvSpPr>
          <p:cNvPr id="18" name="shape_527"/>
          <p:cNvSpPr/>
          <p:nvPr/>
        </p:nvSpPr>
        <p:spPr>
          <a:xfrm>
            <a:off x="411480" y="5724144"/>
            <a:ext cx="9866376" cy="1371600"/>
          </a:xfrm>
          <a:prstGeom prst="roundRect">
            <a:avLst>
              <a:gd name="adj" fmla="val 5333"/>
            </a:avLst>
          </a:prstGeom>
          <a:solidFill>
            <a:srgbClr val="FFFFFF"/>
          </a:solidFill>
          <a:ln w="12700">
            <a:solidFill>
              <a:srgbClr val="C9D7F0"/>
            </a:solidFill>
            <a:prstDash val="solid"/>
          </a:ln>
        </p:spPr>
      </p:sp>
      <p:sp>
        <p:nvSpPr>
          <p:cNvPr id="19" name="text_528"/>
          <p:cNvSpPr txBox="1"/>
          <p:nvPr/>
        </p:nvSpPr>
        <p:spPr>
          <a:xfrm>
            <a:off x="548640" y="5815584"/>
            <a:ext cx="365760" cy="411480"/>
          </a:xfrm>
          <a:prstGeom prst="rect">
            <a:avLst/>
          </a:prstGeom>
          <a:noFill/>
          <a:ln/>
        </p:spPr>
        <p:txBody>
          <a:bodyPr wrap="square" lIns="0" tIns="0" rIns="0" bIns="0" rtlCol="0" anchor="t"/>
          <a:lstStyle/>
          <a:p>
            <a:pPr indent="0" marL="0">
              <a:buNone/>
            </a:pPr>
            <a:r>
              <a:rPr lang="en-US" sz="2000" b="1" dirty="0">
                <a:solidFill>
                  <a:srgbClr val="E8384F"/>
                </a:solidFill>
                <a:latin typeface="Arial" pitchFamily="34" charset="0"/>
                <a:ea typeface="Arial" pitchFamily="34" charset="-122"/>
                <a:cs typeface="Arial" pitchFamily="34" charset="-120"/>
              </a:rPr>
              <a:t>Q</a:t>
            </a:r>
            <a:endParaRPr lang="en-US" sz="2000" dirty="0"/>
          </a:p>
        </p:txBody>
      </p:sp>
      <p:sp>
        <p:nvSpPr>
          <p:cNvPr id="20" name="text_529"/>
          <p:cNvSpPr txBox="1"/>
          <p:nvPr/>
        </p:nvSpPr>
        <p:spPr>
          <a:xfrm>
            <a:off x="960120" y="5815584"/>
            <a:ext cx="9134856" cy="411480"/>
          </a:xfrm>
          <a:prstGeom prst="rect">
            <a:avLst/>
          </a:prstGeom>
          <a:noFill/>
          <a:ln/>
        </p:spPr>
        <p:txBody>
          <a:bodyPr wrap="square" lIns="0" tIns="0" rIns="0" bIns="0" rtlCol="0" anchor="ctr"/>
          <a:lstStyle/>
          <a:p>
            <a:pPr indent="0" marL="0">
              <a:buNone/>
            </a:pPr>
            <a:r>
              <a:rPr lang="en-US" sz="1600" b="1" dirty="0">
                <a:solidFill>
                  <a:srgbClr val="333333"/>
                </a:solidFill>
                <a:latin typeface="Arial" pitchFamily="34" charset="0"/>
                <a:ea typeface="Arial" pitchFamily="34" charset="-122"/>
                <a:cs typeface="Arial" pitchFamily="34" charset="-120"/>
              </a:rPr>
              <a:t>電池劣化のデータは北米中心で、タイの暑さに合わないのでは？</a:t>
            </a:r>
            <a:endParaRPr lang="en-US" sz="1600" dirty="0"/>
          </a:p>
        </p:txBody>
      </p:sp>
      <p:sp>
        <p:nvSpPr>
          <p:cNvPr id="21" name="text_530"/>
          <p:cNvSpPr txBox="1"/>
          <p:nvPr/>
        </p:nvSpPr>
        <p:spPr>
          <a:xfrm>
            <a:off x="548640" y="6291072"/>
            <a:ext cx="365760" cy="411480"/>
          </a:xfrm>
          <a:prstGeom prst="rect">
            <a:avLst/>
          </a:prstGeom>
          <a:noFill/>
          <a:ln/>
        </p:spPr>
        <p:txBody>
          <a:bodyPr wrap="square" lIns="0" tIns="0" rIns="0" bIns="0" rtlCol="0" anchor="t"/>
          <a:lstStyle/>
          <a:p>
            <a:pPr indent="0" marL="0">
              <a:buNone/>
            </a:pPr>
            <a:r>
              <a:rPr lang="en-US" sz="2000" b="1" dirty="0">
                <a:solidFill>
                  <a:srgbClr val="1E9C96"/>
                </a:solidFill>
                <a:latin typeface="Arial" pitchFamily="34" charset="0"/>
                <a:ea typeface="Arial" pitchFamily="34" charset="-122"/>
                <a:cs typeface="Arial" pitchFamily="34" charset="-120"/>
              </a:rPr>
              <a:t>A</a:t>
            </a:r>
            <a:endParaRPr lang="en-US" sz="2000" dirty="0"/>
          </a:p>
        </p:txBody>
      </p:sp>
      <p:sp>
        <p:nvSpPr>
          <p:cNvPr id="22" name="text_531"/>
          <p:cNvSpPr txBox="1"/>
          <p:nvPr/>
        </p:nvSpPr>
        <p:spPr>
          <a:xfrm>
            <a:off x="960120" y="6291072"/>
            <a:ext cx="9134856" cy="731520"/>
          </a:xfrm>
          <a:prstGeom prst="rect">
            <a:avLst/>
          </a:prstGeom>
          <a:noFill/>
          <a:ln/>
        </p:spPr>
        <p:txBody>
          <a:bodyPr wrap="square" lIns="0" tIns="0" rIns="0" bIns="0" rtlCol="0" anchor="t"/>
          <a:lstStyle/>
          <a:p>
            <a:pPr indent="0" marL="0">
              <a:buNone/>
            </a:pPr>
            <a:r>
              <a:rPr lang="en-US" sz="1500" dirty="0">
                <a:solidFill>
                  <a:srgbClr val="333333"/>
                </a:solidFill>
                <a:latin typeface="Arial" pitchFamily="34" charset="0"/>
                <a:ea typeface="Arial" pitchFamily="34" charset="-122"/>
                <a:cs typeface="Arial" pitchFamily="34" charset="-120"/>
              </a:rPr>
              <a:t>はい。暑い地域ほど劣化が速いという結果はありますが、タイのLFP車の実測はありません。SOH付きの中古データで確かめます。</a:t>
            </a:r>
            <a:endParaRPr lang="en-US" sz="15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11480" y="182880"/>
            <a:ext cx="9134856" cy="731520"/>
          </a:xfrm>
          <a:prstGeom prst="rect">
            <a:avLst/>
          </a:prstGeom>
          <a:noFill/>
          <a:ln/>
        </p:spPr>
        <p:txBody>
          <a:bodyPr wrap="square" lIns="0" tIns="0" rIns="0" bIns="0" rtlCol="0" anchor="ctr"/>
          <a:lstStyle/>
          <a:p>
            <a:pPr algn="l" indent="0" marL="0">
              <a:buNone/>
            </a:pPr>
            <a:r>
              <a:rPr lang="en-US" sz="2400" b="1" dirty="0">
                <a:solidFill>
                  <a:srgbClr val="3F3F3F"/>
                </a:solidFill>
                <a:latin typeface="Arial" pitchFamily="34" charset="0"/>
                <a:ea typeface="Arial" pitchFamily="34" charset="-122"/>
                <a:cs typeface="Arial" pitchFamily="34" charset="-120"/>
              </a:rPr>
              <a:t>付録30　出典</a:t>
            </a:r>
            <a:endParaRPr lang="en-US" sz="2400" dirty="0"/>
          </a:p>
        </p:txBody>
      </p:sp>
      <p:sp>
        <p:nvSpPr>
          <p:cNvPr id="3" name="text_532"/>
          <p:cNvSpPr txBox="1"/>
          <p:nvPr/>
        </p:nvSpPr>
        <p:spPr>
          <a:xfrm>
            <a:off x="411480" y="1188720"/>
            <a:ext cx="9866376" cy="5669280"/>
          </a:xfrm>
          <a:prstGeom prst="rect">
            <a:avLst/>
          </a:prstGeom>
          <a:noFill/>
          <a:ln/>
        </p:spPr>
        <p:txBody>
          <a:bodyPr wrap="square" lIns="0" tIns="0" rIns="0" bIns="0" rtlCol="0" anchor="t"/>
          <a:lstStyle/>
          <a:p>
            <a:pPr indent="0" marL="0">
              <a:spcAft>
                <a:spcPts val="1200"/>
              </a:spcAft>
              <a:buNone/>
            </a:pPr>
            <a:r>
              <a:rPr lang="en-US" sz="1500" dirty="0">
                <a:solidFill>
                  <a:srgbClr val="333333"/>
                </a:solidFill>
                <a:latin typeface="Arial" pitchFamily="34" charset="0"/>
                <a:ea typeface="Arial" pitchFamily="34" charset="-122"/>
                <a:cs typeface="Arial" pitchFamily="34" charset="-120"/>
              </a:rPr>
              <a:t>市場：JETRO「タイ乗用車登録 2026年上半期」（2026/7/24）、EVAT・DLT、TMT、Thansettakij、Autolife</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政策：BOI（EV3.5、2023/11；輸出算入1.5倍、2025/7/30；見直し、2025/11/25）、物品税局、The Nation</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ASEAN：MITI（マレーシア）、ベトナム政令202/2026、フィリピンEO62/2024、LTA（シンガポール）、IEA Global EV Outlook 2026</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改良：BYD Rêver、BYD販売店、MG Thailand、GWM、Changan、GAC、Neta、XPeng、Zeekr、Omoda、Toyota、Honda、Nissan</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中古：One2car（2026/2/6、2026/10/8観測）、Krungsri Research（2025/1/27）、iSeeCars</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電池：Geotab（2026/1/13）、BloombergNEF（2024/12/10）、BYD</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価格：BYD Rêver（2026年10月キャンペーン）、Toyota Thailand、各社の価格表</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その他：McKinsey（2025年10月）、CPCA、Toyota（bZ3、2022/10/24）、Bangkok Post、FTI</a:t>
            </a:r>
            <a:endParaRPr lang="en-US" sz="1500" dirty="0"/>
          </a:p>
          <a:p>
            <a:pPr indent="0" marL="0">
              <a:spcAft>
                <a:spcPts val="1200"/>
              </a:spcAft>
              <a:buNone/>
            </a:pPr>
            <a:r>
              <a:rPr lang="en-US" sz="1500" dirty="0">
                <a:solidFill>
                  <a:srgbClr val="333333"/>
                </a:solidFill>
                <a:latin typeface="Arial" pitchFamily="34" charset="0"/>
                <a:ea typeface="Arial" pitchFamily="34" charset="-122"/>
                <a:cs typeface="Arial" pitchFamily="34" charset="-120"/>
              </a:rPr>
              <a:t>社内：MarkLines（ASEAN車種別月次販売）、S&amp;P（車種別の発売・改良時期）</a:t>
            </a:r>
            <a:endParaRPr lang="en-US" sz="1500" dirty="0"/>
          </a:p>
        </p:txBody>
      </p:sp>
      <p:sp>
        <p:nvSpPr>
          <p:cNvPr id="25" name="Slide Number Placeholder 0"/>
          <p:cNvSpPr>
            <a:spLocks noGrp="1"/>
          </p:cNvSpPr>
          <p:nvPr>
            <p:ph type="sldNum" sz="quarter" idx="4294967295"/>
          </p:nvPr>
        </p:nvSpPr>
        <p:spPr>
          <a:xfrm>
            <a:off x="9729216" y="228600"/>
            <a:ext cx="640080" cy="548640"/>
          </a:xfrm>
          <a:prstGeom prst="rect">
            <a:avLst/>
          </a:prstGeom>
          <a:extLst>
            <a:ext uri="{C572A759-6A51-4108-AA02-DFA0A04FC94B}">
              <ma14:wrappingTextBoxFlag xmlns:ma14="http://schemas.microsoft.com/office/mac/drawingml/2011/main" val="0"/>
            </a:ext>
          </a:extLst>
        </p:spPr>
        <p:txBody>
          <a:bodyPr/>
          <a:lstStyle>
            <a:lvl1pPr>
              <a:defRPr sz="2600">
                <a:solidFill>
                  <a:srgbClr val="3FB2AB"/>
                </a:solidFill>
                <a:latin typeface="Arial"/>
                <a:ea typeface="Arial"/>
                <a:cs typeface="Arial"/>
              </a:defRPr>
            </a:lvl1pPr>
          </a:lstStyle>
          <a:p>
            <a:pPr algn="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Thai OEM Research">
  <a:themeElements>
    <a:clrScheme name="Thai OEM Research">
      <a:dk1>
        <a:srgbClr val="333333"/>
      </a:dk1>
      <a:lt1>
        <a:srgbClr val="FFFFFF"/>
      </a:lt1>
      <a:dk2>
        <a:srgbClr val="3F3F3F"/>
      </a:dk2>
      <a:lt2>
        <a:srgbClr val="F2F2F2"/>
      </a:lt2>
      <a:accent1>
        <a:srgbClr val="4472C4"/>
      </a:accent1>
      <a:accent2>
        <a:srgbClr val="E8604C"/>
      </a:accent2>
      <a:accent3>
        <a:srgbClr val="3FB2AB"/>
      </a:accent3>
      <a:accent4>
        <a:srgbClr val="7F7F7F"/>
      </a:accent4>
      <a:accent5>
        <a:srgbClr val="EEF3FB"/>
      </a:accent5>
      <a:accent6>
        <a:srgbClr val="D3F0ED"/>
      </a:accent6>
      <a:hlink>
        <a:srgbClr val="2F5597"/>
      </a:hlink>
      <a:folHlink>
        <a:srgbClr val="7F7F7F"/>
      </a:folHlink>
    </a:clrScheme>
    <a:fontScheme name="Thai OEM Re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タイ市場における中国系OEMの台頭と日系の戦略</dc:title>
  <dc:subject>PptxGenJS Presentation</dc:subject>
  <dc:creator>[発表者名]</dc:creator>
  <cp:lastModifiedBy>[発表者名]</cp:lastModifiedBy>
  <cp:revision>1</cp:revision>
  <dcterms:created xsi:type="dcterms:W3CDTF">2026-10-14T22:56:44Z</dcterms:created>
  <dcterms:modified xsi:type="dcterms:W3CDTF">2026-10-14T22:56:44Z</dcterms:modified>
</cp:coreProperties>
</file>