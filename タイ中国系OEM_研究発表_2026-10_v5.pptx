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6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7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8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9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10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1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12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c67e6eb1-625e-c985-a24d-0e793300809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Appendix" id="{d169d02f-691c-20da-7ac7-fea9e25e6ba7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2026年1〜6月の乗用車登録（万台）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9.48</c:v>
                </c:pt>
                <c:pt idx="1">
                  <c:v>0.14</c:v>
                </c:pt>
                <c:pt idx="2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0.11</c:v>
                </c:pt>
                <c:pt idx="1">
                  <c:v>8.79</c:v>
                </c:pt>
                <c:pt idx="2">
                  <c:v>0.01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0.89</c:v>
                </c:pt>
                <c:pt idx="1">
                  <c:v>0.06</c:v>
                </c:pt>
                <c:pt idx="2">
                  <c:v>0.3</c:v>
                </c:pt>
              </c:numCache>
            </c:numRef>
          </c:val>
        </c:ser>
        <c:dLbls>
          <c:numFmt formatCode="[&lt;0.5]&quot;&quot;;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新車価格（万バーツ）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Atto 1（BEV）</c:v>
                  </c:pt>
                  <c:pt idx="1">
                    <c:v>Yaris Ativ（ICE）</c:v>
                  </c:pt>
                  <c:pt idx="2">
                    <c:v>Atto 3 特価（BEV）</c:v>
                  </c:pt>
                  <c:pt idx="3">
                    <c:v>Atto 3（BEV）</c:v>
                  </c:pt>
                  <c:pt idx="4">
                    <c:v>Corolla Cross HEV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0</c:v>
                </c:pt>
                <c:pt idx="2">
                  <c:v>67</c:v>
                </c:pt>
                <c:pt idx="3">
                  <c:v>80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Atto 1（BEV）</c:v>
                  </c:pt>
                  <c:pt idx="1">
                    <c:v>Yaris Ativ（ICE）</c:v>
                  </c:pt>
                  <c:pt idx="2">
                    <c:v>Atto 3 特価（BEV）</c:v>
                  </c:pt>
                  <c:pt idx="3">
                    <c:v>Atto 3（BEV）</c:v>
                  </c:pt>
                  <c:pt idx="4">
                    <c:v>Corolla Cross HEV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56.9</c:v>
                </c:pt>
                <c:pt idx="2">
                  <c:v>0</c:v>
                </c:pt>
                <c:pt idx="3">
                  <c:v>0</c:v>
                </c:pt>
                <c:pt idx="4">
                  <c:v>98.9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5年の保有費（万バーツ）Atto 3 vs Cross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BEV（通常価格）</c:v>
                  </c:pt>
                  <c:pt idx="1">
                    <c:v>BEV（特価）</c:v>
                  </c:pt>
                  <c:pt idx="2">
                    <c:v>HEV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66.6</c:v>
                </c:pt>
                <c:pt idx="1">
                  <c:v>53.6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BEV（通常価格）</c:v>
                  </c:pt>
                  <c:pt idx="1">
                    <c:v>BEV（特価）</c:v>
                  </c:pt>
                  <c:pt idx="2">
                    <c:v>HEV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60.1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中古の掲載価格（走行2万〜10万km）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発売時の新車価格に対する比率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Atto 3（2023年式）</c:v>
                  </c:pt>
                  <c:pt idx="1">
                    <c:v>Corolla Cross HEV（2023年式）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38.9</c:v>
                </c:pt>
                <c:pt idx="1">
                  <c:v>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今の新車価格に対する比率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Atto 3（2023年式）</c:v>
                  </c:pt>
                  <c:pt idx="1">
                    <c:v>Corolla Cross HEV（2023年式）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60.7</c:v>
                </c:pt>
                <c:pt idx="1">
                  <c:v>63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改良前後の電池容量の変化（タイ仕様）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増加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+0.0&quot;%&quot;;−0.0&quot;%&quot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Dolphin</c:v>
                  </c:pt>
                  <c:pt idx="1">
                    <c:v>Atto 3</c:v>
                  </c:pt>
                  <c:pt idx="2">
                    <c:v>MG4（標準）</c:v>
                  </c:pt>
                  <c:pt idx="3">
                    <c:v>MG4（長距離）</c:v>
                  </c:pt>
                  <c:pt idx="4">
                    <c:v>Omoda C5 EV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11.9</c:v>
                </c:pt>
                <c:pt idx="1">
                  <c:v>0.7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減少</c:v>
                </c:pt>
              </c:strCache>
            </c:strRef>
          </c:tx>
          <c:spPr>
            <a:solidFill>
              <a:srgbClr val="F4B3A6"/>
            </a:solidFill>
            <a:effectLst/>
          </c:spPr>
          <c:invertIfNegative val="0"/>
          <c:dLbls>
            <c:numFmt formatCode="+0.0&quot;%&quot;;−0.0&quot;%&quot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Dolphin</c:v>
                  </c:pt>
                  <c:pt idx="1">
                    <c:v>Atto 3</c:v>
                  </c:pt>
                  <c:pt idx="2">
                    <c:v>MG4（標準）</c:v>
                  </c:pt>
                  <c:pt idx="3">
                    <c:v>MG4（長距離）</c:v>
                  </c:pt>
                  <c:pt idx="4">
                    <c:v>Omoda C5 EV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-3.9</c:v>
                </c:pt>
                <c:pt idx="3">
                  <c:v>-2.8</c:v>
                </c:pt>
                <c:pt idx="4">
                  <c:v>-17</c:v>
                </c:pt>
              </c:numCache>
            </c:numRef>
          </c:val>
        </c:ser>
        <c:dLbls>
          <c:numFmt formatCode="+0.0&quot;%&quot;;−0.0&quot;%&quot;;;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25"/>
        </c:scaling>
        <c:delete val="0"/>
        <c:axPos val="b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中国系（13件）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電池・航続</c:v>
                  </c:pt>
                  <c:pt idx="1">
                    <c:v>価格</c:v>
                  </c:pt>
                  <c:pt idx="2">
                    <c:v>外装・内装</c:v>
                  </c:pt>
                  <c:pt idx="3">
                    <c:v>画面・装備</c:v>
                  </c:pt>
                  <c:pt idx="4">
                    <c:v>運転支援</c:v>
                  </c:pt>
                  <c:pt idx="5">
                    <c:v>現地生産化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</c:v>
                </c:pt>
                <c:pt idx="1">
                  <c:v>54</c:v>
                </c:pt>
                <c:pt idx="2">
                  <c:v>54</c:v>
                </c:pt>
                <c:pt idx="3">
                  <c:v>62</c:v>
                </c:pt>
                <c:pt idx="4">
                  <c:v>23</c:v>
                </c:pt>
                <c:pt idx="5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日系（8件）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電池・航続</c:v>
                  </c:pt>
                  <c:pt idx="1">
                    <c:v>価格</c:v>
                  </c:pt>
                  <c:pt idx="2">
                    <c:v>外装・内装</c:v>
                  </c:pt>
                  <c:pt idx="3">
                    <c:v>画面・装備</c:v>
                  </c:pt>
                  <c:pt idx="4">
                    <c:v>運転支援</c:v>
                  </c:pt>
                  <c:pt idx="5">
                    <c:v>現地生産化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38</c:v>
                </c:pt>
                <c:pt idx="2">
                  <c:v>100</c:v>
                </c:pt>
                <c:pt idx="3">
                  <c:v>88</c:v>
                </c:pt>
                <c:pt idx="4">
                  <c:v>75</c:v>
                </c:pt>
                <c:pt idx="5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中古の平均掲載価格（2024年=100）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2024年1〜10月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Atto 3</c:v>
                  </c:pt>
                  <c:pt idx="1">
                    <c:v>Dolphin</c:v>
                  </c:pt>
                  <c:pt idx="2">
                    <c:v>Seal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2025年1〜10月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Atto 3</c:v>
                  </c:pt>
                  <c:pt idx="1">
                    <c:v>Dolphin</c:v>
                  </c:pt>
                  <c:pt idx="2">
                    <c:v>Seal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78</c:v>
                </c:pt>
                <c:pt idx="2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月々の元本の支払い（バーツ、金利・頭金を除く）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通常の5年ローン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Atto 3（通常価格）</c:v>
                  </c:pt>
                  <c:pt idx="1">
                    <c:v>Atto 3（特価）</c:v>
                  </c:pt>
                  <c:pt idx="2">
                    <c:v>Corolla Cross HEV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13332</c:v>
                </c:pt>
                <c:pt idx="1">
                  <c:v>11165</c:v>
                </c:pt>
                <c:pt idx="2">
                  <c:v>16483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残クレ（5年後の残価を差し引く）</c:v>
                </c:pt>
              </c:strCache>
            </c:strRef>
          </c:tx>
          <c:spPr>
            <a:solidFill>
              <a:srgbClr val="1E9C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Atto 3（通常価格）</c:v>
                  </c:pt>
                  <c:pt idx="1">
                    <c:v>Atto 3（特価）</c:v>
                  </c:pt>
                  <c:pt idx="2">
                    <c:v>Corolla Cross HEV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7332</c:v>
                </c:pt>
                <c:pt idx="1">
                  <c:v>5165</c:v>
                </c:pt>
                <c:pt idx="2">
                  <c:v>5769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2026年1〜6月のBEV登録に占める割合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BEV登録に占める割合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BYD・Denza</c:v>
                  </c:pt>
                  <c:pt idx="1">
                    <c:v>Chery</c:v>
                  </c:pt>
                  <c:pt idx="2">
                    <c:v>MG</c:v>
                  </c:pt>
                  <c:pt idx="3">
                    <c:v>GAC Aion</c:v>
                  </c:pt>
                  <c:pt idx="4">
                    <c:v>Geely・Zeekr</c:v>
                  </c:pt>
                  <c:pt idx="5">
                    <c:v>Changan</c:v>
                  </c:pt>
                  <c:pt idx="6">
                    <c:v>XPeng</c:v>
                  </c:pt>
                  <c:pt idx="7">
                    <c:v>GWM</c:v>
                  </c:pt>
                  <c:pt idx="8">
                    <c:v>Neta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</c:v>
                </c:pt>
                <c:pt idx="1">
                  <c:v>18.5</c:v>
                </c:pt>
                <c:pt idx="2">
                  <c:v>14.3</c:v>
                </c:pt>
                <c:pt idx="3">
                  <c:v>11.2</c:v>
                </c:pt>
                <c:pt idx="4">
                  <c:v>9.8</c:v>
                </c:pt>
                <c:pt idx="5">
                  <c:v>9.1</c:v>
                </c:pt>
                <c:pt idx="6">
                  <c:v>3</c:v>
                </c:pt>
                <c:pt idx="7">
                  <c:v>1.9</c:v>
                </c:pt>
                <c:pt idx="8">
                  <c:v>0.3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タイでの新車種の発売数（年）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4</c:v>
                </c:pt>
                <c:pt idx="4">
                  <c:v>4</c:v>
                </c:pt>
                <c:pt idx="5">
                  <c:v>10</c:v>
                </c:pt>
                <c:pt idx="6">
                  <c:v>19</c:v>
                </c:pt>
                <c:pt idx="7">
                  <c:v>19</c:v>
                </c:pt>
                <c:pt idx="8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</c:v>
                </c:pt>
                <c:pt idx="1">
                  <c:v>10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11</c:v>
                </c:pt>
                <c:pt idx="6">
                  <c:v>3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開発期間（か月）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デザイン・設計の検証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中国の新興EV</c:v>
                  </c:pt>
                  <c:pt idx="1">
                    <c:v>量販メーカー</c:v>
                  </c:pt>
                  <c:pt idx="2">
                    <c:v>スポーツカー</c:v>
                  </c:pt>
                  <c:pt idx="3">
                    <c:v>高級車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28</c:v>
                </c:pt>
                <c:pt idx="2">
                  <c:v>25</c:v>
                </c:pt>
                <c:pt idx="3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設計・金型・試験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中国の新興EV</c:v>
                  </c:pt>
                  <c:pt idx="1">
                    <c:v>量販メーカー</c:v>
                  </c:pt>
                  <c:pt idx="2">
                    <c:v>スポーツカー</c:v>
                  </c:pt>
                  <c:pt idx="3">
                    <c:v>高級車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12</c:v>
                </c:pt>
                <c:pt idx="3">
                  <c:v>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量産準備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中国の新興EV</c:v>
                  </c:pt>
                  <c:pt idx="1">
                    <c:v>量販メーカー</c:v>
                  </c:pt>
                  <c:pt idx="2">
                    <c:v>スポーツカー</c:v>
                  </c:pt>
                  <c:pt idx="3">
                    <c:v>高級車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新車販売（万台）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ピックアップ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0.0&quot;万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2022年</c:v>
                  </c:pt>
                  <c:pt idx="1">
                    <c:v>2025年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38.8</c:v>
                </c:pt>
                <c:pt idx="1">
                  <c:v>14.4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それ以外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&quot;万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2022年</c:v>
                  </c:pt>
                  <c:pt idx="1">
                    <c:v>2025年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46.1</c:v>
                </c:pt>
                <c:pt idx="1">
                  <c:v>47.7</c:v>
                </c:pt>
              </c:numCache>
            </c:numRef>
          </c:val>
        </c:ser>
        <c:dLbls>
          <c:numFmt formatCode="0.0&quot;万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自動車市場で中国系が伸びている。その要因としてよく挙げられるモデルチェンジの速さが、本当にシェア拡大の要因なのかを検証し、日系が取るべき戦略を示す。発表は10分で、詳しいデータは付録にまとめ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に要旨を述べる。課題は、中国車のモデルチェンジの速さが、タイでのシェア拡大の要因かどうかである。仮説は、電池の進化が速いからモデルチェンジが速く、それが中国系のシェア拡大を生んだというものだった。答えは、速さは主因ではない。日系と中国系のシェアの差は、政策と供給と価格で急拡大したBEV市場に、日系の商品がないことでほぼ説明できる。日系は改良しても販売があまり変わらず、数年目のモデルでも売れ続けている。速さが効いているのは中国系どうしの競争で、次の売れる車種を出し続ける力が生き残りを決めている。日系は、BEVの商品を持ち、HEVは長く売り、残クレで月々の支払いを下げるべき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まずASEAN全体を見る。中国系はタイとインドネシアで伸びている。ベトナムだけは地場のVinFastが強い。中国系の伸びが最も大きく、データもそろうタイに絞って分析する。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タイをパワートレイン別に見る。2026年上半期の登録で、BEVは前年比85%増、HEVは26%増と、どちらも伸びている。BEVの9割は中国系、HEVの98%は日系で、パワートレインごとにすみ分けがはっきりしている。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系シェアは2022年の85%から2026年の62%へ、23ポイント下がった。これを分解すると、BEV市場が広がった効果が25ポイントで、ほぼすべてを説明する。BEV以外の市場の中では、日系のシェアはむしろ86%から88%に上がっている。セグメント別の推移は社内データで差し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国籍の上位4社について、車種別の販売推移を見る。BYDは複数の車種で台数を積み上げているが、他の中国系の多くは主力1車種に頼っている。日系はトヨタを筆頭に、複数の車種で売っている。図は社内データで差し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ワートレインとセグメントで、中国系と日系の代表車種を並べた。セグメントは、乗用車とSUVに分け、それぞれBクラス、Cクラス、Dクラスに分けた。BEVの行は中国系だけで、日系はほぼ商品がない。HEVとICEの行は日系が大半を占める。正面からぶつかっているのは、SUVのCクラスで、PHEVやHEVのSealion 6やHaval H6とCorolla Crossが競う。モデルチェンジの速さが効くのは主にBEVの行である。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政府政策を簡単に説明する。道具は3つある。1つ目は買う人への補助で、EV3.0では最大15万バーツ、2024年からのEV3.5では最大10万バーツに縮小した。2つ目は税で、BEVの物品税は8%から2%に下がり、中国製EVはFTAで関税が0%である。3つ目は現地生産の義務で、補助を受けて輸入した台数に応じて、現地で生産しなければならない。2026年は輸入1台につき2台、2027年は3台である。補助と関税0%で中国系は輸入から先に市場に入り、その後の生産義務が、現地での値下げと販売攻勢を生んで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政策と販売台数の関係を見る。上には社内データの月次販売を入れ、下の年表と横軸をそろえる。2022年にEV3.0の補助が始まり、2023年のBEVは7.6万台まで急増した。2024年は補助が10万バーツに縮小し、Atto 3の大幅値下げで値下げ待ちが起き、与信の引き締めも重なって7.0万台に減った。2026年は輸入1台に2台の現地生産が求められ、各社が生産した車を売るために販売攻勢をかけ、上半期だけで10.5万台、前年比85%増になった。時期は一致しているが、因果は社内データで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政策では中国製EVの関税が0%で、補助金も最大15万バーツ出た。供給では承認されたBEVの生産能力が年38.6万台あり、輸入1台につき現地で2台から3台の生産が求められる。価格ではAtto 3が25%から36%値下げされ、中国の自動車産業の利益率は3.4%まで下がっている。この3つでBEV市場が急拡大した。ただし日系はBEVの商品がなく、日本との勝負になる前に、日系不在の市場で中国系が伸びた。BEV以外では日系のシェアは上が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買う時点では、BEVが日系より安くなっている。最安のAtto 1は43万バーツで、トヨタの量販セダンYaris Ativの57万より安い。C-SUVでも、Atto 3はCorolla Cross HEVより2割から3割安い。IEAも、タイでは2024年にBEVとICEの購入価格が並んだとしている。ただし5年の保有費で見ると、BEVは値引きがなければHEVより高く、値引きがあれば安い。日系は入口価格では勝てないが、残価と保有費で戦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2023年式のAtto 3は、発売時の価格に対して39%まで下がり、同じ年式のCorolla Cross HEVの63%より大きく下がっている。中古EVのほうが下がるという現象は確認できた。ただしAtto 3の新車は、発売時の120万バーツから、通常価格で90万、10月の特価で77万まで下がった。今の新車価格で比べると、差は特価基準で2ポイント、通常価格基準で11ポイントまで縮む。24ポイントの差のうち13から22ポイントは新車値下げで説明でき、電池劣化の寄与は残りの最大11ポイントの中にある。電池劣化は平均で年2.3%で、暑さや急速充電で進む。寄与を確かめるには、SOHと成約価格のデータが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改良の中身を、実際のタイの販売カタログで比べる。左がトヨタのCorolla Cross HEVで、2024年の改良ではグリルや灯火、画面や電動パーキングが変わったが、1.8リッターのハイブリッドはそのままで、最上級の価格も変わっていない。右がBYDのAtto 3で、2024年モデルでは画面が12.8型から15.6型になり、電池はわずかに増えたが、航続距離は同じである。大きく変わったのは価格で、長距離型は120万バーツから90万バーツまで下がった。どちらも駆動系はほぼ同じで、日系は外内装、中国系は画面と価格を変え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次に中国系どうしで比べる。左のBYD Dolphinは、2024年にタイ生産に切り替えた際、電池を44.9から50.25キロワット時に増やし、航続も410から435キロに伸ばしたうえで、価格を70万から57万バーツに下げた。右のOmoda C5 EVは、2026年の改良で電池を61から50.6キロワット時に減らし、航続も505から422キロに縮めて、低い価格帯に移した。同じ中国系でも電池の方向は逆だが、共通しているのはタイで生産して値段を下げること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ここから中国系どうしの競争を見る。中国系の部分改良の間隔は約2年で、日系の3.3年より速い。ただし中身を見ると、電池容量はDolphinのように増えた車もあれば、Omoda C5 EVのように17%減った車もある。航続距離の中央値は変わらず、価格は中央値で19%下がった。改良の中身は、電池を小さくして安くする、充電を速くする、装備を増やすの3方向である。改良が販売を伸ばしたかは、社内データで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日系のモデルチェンジ前後の販売を、社内データで調べた。Corolla CrossやHR-V、Camryなどを見ると、改良の前後で販売はあまり変わらず、発売から数年たったモデルでも売れ続けている。日系の販売を動かしているのは、改良よりも車種の評判、残価、販売網である。つまりモデルチェンジの速さは、日系と中国系の勝敗を分けていない。日系にとっては、頻繁に改良するより長く売るほうが合理的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車種の多い企業が強く、1車種に頼る企業は弱いと見られがちだが、データは一致しない。車種の多いBYDは首位だが、BEV内のシェアは約40%から21%へ半分になった。一方、Jaecoo 5 EVが販売の約5割を占めるChery系は、2024年以降にOmodaとJaecooの新車名を次々に出し、2位まで伸びた。1車種に頼ったNetaは、次の車種を出せずに撤退へ向かった。つまり効くのは車種の数より、次の売れる車種を出し続ける力である。これは中国系どうしの競争で、速さが生き残りの条件になっていることとも合う。社内データで、新車種の投入前後のシェアを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析の結果をロジックツリーにまとめる。中国系のシェア拡大の要因は3つの層に分かれる。日系と中国系の間では、政策でBEV市場が急拡大し、日系にBEVの商品がなかったことが失点の大半を説明する。EVは入口価格が安く、中古EVが安いのは主に新車値下げのためである。モデルチェンジについては、中国系の改良は速いが中身は値下げと充電と装備で、日系は改良しても販売が変わらず数年目のモデルでも売れる。中国系どうしでは、次の売れる車種を出す力が生き残りを決めている。モデルチェンジの速さは主因ではなく、主因はBEV市場に日系の商品がないこと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系の打ち手は4つである。ピックアップとHEVセダンは守る。ここではモデルを長く売り、残価を守る。毎年刷新すると旧型の残価が下がり、日系の強みを自ら崩すためである。C-SUVのHEVとPHEVでは中国系を迎え撃ち、高い残価を残価設定ローンで月々の支払いの安さに変える。BEVは中国の開発体制を使って短い周期の商品を持ち、空白を埋める。撤退する中国ブランドの顧客は、認定中古や整備で拾う。中国企業とは、BYDやMGのような強い相手とは競い、電池やソフトでは協業し、撤退するブランドの受け皿になる、という3つの関係を使い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を述べる。日系と中国系のシェアの差は、政策と供給と価格でできたBEV市場に、日系の商品がなかったことによる。中古EVが安いのは主に新車値下げのためで、日系は残価と保有費で戦える。モデルチェンジの速さが効くのは中国系どうしの競争で、次の売れる車種を出し続ける力が生き残りを決める。日系はBEVの商品を持ち、HEVは長く売って残価を守り、残クレで月々の支払いを下げるべきである。以上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0689336" cy="292608"/>
          </a:xfrm>
          <a:prstGeom prst="rect">
            <a:avLst/>
          </a:prstGeom>
          <a:solidFill>
            <a:srgbClr val="C4E6E4"/>
          </a:solidFill>
          <a:ln w="12700">
            <a:solidFill>
              <a:srgbClr val="C4E6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09928"/>
            <a:ext cx="10689336" cy="3657600"/>
          </a:xfrm>
          <a:prstGeom prst="rect">
            <a:avLst/>
          </a:prstGeom>
          <a:solidFill>
            <a:srgbClr val="62C1BC"/>
          </a:solidFill>
          <a:ln w="12700">
            <a:solidFill>
              <a:srgbClr val="62C1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67528"/>
            <a:ext cx="10689336" cy="292608"/>
          </a:xfrm>
          <a:prstGeom prst="rect">
            <a:avLst/>
          </a:prstGeom>
          <a:solidFill>
            <a:srgbClr val="C4E6E4"/>
          </a:solidFill>
          <a:ln w="12700">
            <a:solidFill>
              <a:srgbClr val="C4E6E4"/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タイ市場における中国系OEMの台頭と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日系OEMが取るべき戦略</a:t>
            </a:r>
            <a:endParaRPr lang="en-US" sz="3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モデルチェンジの速さは、本当にシェア拡大の要因か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2026年10月　[発表者名]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要旨　課題・仮説・答え</a:t>
            </a:r>
            <a:endParaRPr lang="en-US" sz="2400" dirty="0"/>
          </a:p>
        </p:txBody>
      </p:sp>
      <p:sp>
        <p:nvSpPr>
          <p:cNvPr id="3" name="shape_1"/>
          <p:cNvSpPr/>
          <p:nvPr/>
        </p:nvSpPr>
        <p:spPr>
          <a:xfrm>
            <a:off x="411480" y="1234440"/>
            <a:ext cx="2743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2"/>
          <p:cNvSpPr/>
          <p:nvPr/>
        </p:nvSpPr>
        <p:spPr>
          <a:xfrm>
            <a:off x="1417320" y="106984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</a:t>
            </a:r>
            <a:endParaRPr lang="en-US" sz="1800" dirty="0"/>
          </a:p>
        </p:txBody>
      </p:sp>
      <p:sp>
        <p:nvSpPr>
          <p:cNvPr id="5" name="text_3"/>
          <p:cNvSpPr txBox="1"/>
          <p:nvPr/>
        </p:nvSpPr>
        <p:spPr>
          <a:xfrm>
            <a:off x="594360" y="150876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中国車はモデルチェンジが速い。それが、タイでのシェア拡大の要因か</a:t>
            </a:r>
            <a:endParaRPr lang="en-US" sz="1800" dirty="0"/>
          </a:p>
        </p:txBody>
      </p:sp>
      <p:sp>
        <p:nvSpPr>
          <p:cNvPr id="6" name="shape_4"/>
          <p:cNvSpPr/>
          <p:nvPr/>
        </p:nvSpPr>
        <p:spPr>
          <a:xfrm>
            <a:off x="3209544" y="220827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7" name="shape_5"/>
          <p:cNvSpPr/>
          <p:nvPr/>
        </p:nvSpPr>
        <p:spPr>
          <a:xfrm>
            <a:off x="3340120" y="220827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6"/>
          <p:cNvSpPr/>
          <p:nvPr/>
        </p:nvSpPr>
        <p:spPr>
          <a:xfrm>
            <a:off x="3566160" y="1234440"/>
            <a:ext cx="29718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9" name="fslabel_7"/>
          <p:cNvSpPr/>
          <p:nvPr/>
        </p:nvSpPr>
        <p:spPr>
          <a:xfrm>
            <a:off x="4686300" y="106984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仮説</a:t>
            </a:r>
            <a:endParaRPr lang="en-US" sz="1800" dirty="0"/>
          </a:p>
        </p:txBody>
      </p:sp>
      <p:sp>
        <p:nvSpPr>
          <p:cNvPr id="10" name="text_8"/>
          <p:cNvSpPr txBox="1"/>
          <p:nvPr/>
        </p:nvSpPr>
        <p:spPr>
          <a:xfrm>
            <a:off x="3749040" y="1508760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電池の進化が速い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FB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モデルチェンジが速い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FB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中国系のシェアが拡大</a:t>
            </a:r>
            <a:endParaRPr lang="en-US" sz="1600" dirty="0"/>
          </a:p>
        </p:txBody>
      </p:sp>
      <p:sp>
        <p:nvSpPr>
          <p:cNvPr id="11" name="shape_9"/>
          <p:cNvSpPr/>
          <p:nvPr/>
        </p:nvSpPr>
        <p:spPr>
          <a:xfrm>
            <a:off x="6592824" y="220827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shape_10"/>
          <p:cNvSpPr/>
          <p:nvPr/>
        </p:nvSpPr>
        <p:spPr>
          <a:xfrm>
            <a:off x="6723400" y="220827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3" name="shape_11"/>
          <p:cNvSpPr/>
          <p:nvPr/>
        </p:nvSpPr>
        <p:spPr>
          <a:xfrm>
            <a:off x="6949440" y="1234440"/>
            <a:ext cx="332841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4" name="fslabel_12"/>
          <p:cNvSpPr/>
          <p:nvPr/>
        </p:nvSpPr>
        <p:spPr>
          <a:xfrm>
            <a:off x="8247888" y="106984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答え</a:t>
            </a:r>
            <a:endParaRPr lang="en-US" sz="1800" dirty="0"/>
          </a:p>
        </p:txBody>
      </p:sp>
      <p:sp>
        <p:nvSpPr>
          <p:cNvPr id="15" name="text_13"/>
          <p:cNvSpPr txBox="1"/>
          <p:nvPr/>
        </p:nvSpPr>
        <p:spPr>
          <a:xfrm>
            <a:off x="7132320" y="1508760"/>
            <a:ext cx="2962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速さは主因ではない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主因は、急拡大したBEV市場に日系の商品がないこと</a:t>
            </a:r>
            <a:endParaRPr lang="en-US" sz="1600" dirty="0"/>
          </a:p>
        </p:txBody>
      </p:sp>
      <p:sp>
        <p:nvSpPr>
          <p:cNvPr id="16" name="lab_14"/>
          <p:cNvSpPr/>
          <p:nvPr/>
        </p:nvSpPr>
        <p:spPr>
          <a:xfrm>
            <a:off x="411480" y="3840480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600" dirty="0"/>
          </a:p>
        </p:txBody>
      </p:sp>
      <p:sp>
        <p:nvSpPr>
          <p:cNvPr id="17" name="text_15"/>
          <p:cNvSpPr txBox="1"/>
          <p:nvPr/>
        </p:nvSpPr>
        <p:spPr>
          <a:xfrm>
            <a:off x="2468880" y="3840480"/>
            <a:ext cx="7763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政策×供給×価格でBEV市場が急拡大。日系はBEVに商品がなく、失点の大半はこれで説明できる</a:t>
            </a:r>
            <a:endParaRPr lang="en-US" sz="1600" dirty="0"/>
          </a:p>
        </p:txBody>
      </p:sp>
      <p:sp>
        <p:nvSpPr>
          <p:cNvPr id="18" name="lab_16"/>
          <p:cNvSpPr/>
          <p:nvPr/>
        </p:nvSpPr>
        <p:spPr>
          <a:xfrm>
            <a:off x="411480" y="4553712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</a:t>
            </a:r>
            <a:endParaRPr lang="en-US" sz="1600" dirty="0"/>
          </a:p>
        </p:txBody>
      </p:sp>
      <p:sp>
        <p:nvSpPr>
          <p:cNvPr id="19" name="text_17"/>
          <p:cNvSpPr txBox="1"/>
          <p:nvPr/>
        </p:nvSpPr>
        <p:spPr>
          <a:xfrm>
            <a:off x="2468880" y="4553712"/>
            <a:ext cx="7763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日系は改良しても販売があまり変わらず、数年目のモデルでも売れ続ける</a:t>
            </a:r>
            <a:endParaRPr lang="en-US" sz="1600" dirty="0"/>
          </a:p>
        </p:txBody>
      </p:sp>
      <p:sp>
        <p:nvSpPr>
          <p:cNvPr id="20" name="lab_18"/>
          <p:cNvSpPr/>
          <p:nvPr/>
        </p:nvSpPr>
        <p:spPr>
          <a:xfrm>
            <a:off x="411480" y="5266944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600" dirty="0"/>
          </a:p>
        </p:txBody>
      </p:sp>
      <p:sp>
        <p:nvSpPr>
          <p:cNvPr id="21" name="text_19"/>
          <p:cNvSpPr txBox="1"/>
          <p:nvPr/>
        </p:nvSpPr>
        <p:spPr>
          <a:xfrm>
            <a:off x="2468880" y="5266944"/>
            <a:ext cx="7763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次の売れる車種を出し続ける力が、生き残りを決める</a:t>
            </a:r>
            <a:endParaRPr lang="en-US" sz="1600" dirty="0"/>
          </a:p>
        </p:txBody>
      </p:sp>
      <p:sp>
        <p:nvSpPr>
          <p:cNvPr id="22" name="summary_20"/>
          <p:cNvSpPr/>
          <p:nvPr/>
        </p:nvSpPr>
        <p:spPr>
          <a:xfrm>
            <a:off x="777240" y="6126480"/>
            <a:ext cx="9134856" cy="822960"/>
          </a:xfrm>
          <a:prstGeom prst="roundRect">
            <a:avLst>
              <a:gd name="adj" fmla="val 11111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日系の打ち手：</a:t>
            </a:r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BEVの商品を持つ／HEVは長く売る／残クレで月々を下げる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市場分析①　ASEANで中国系が伸び、ベトナムは地場が強い</a:t>
            </a:r>
            <a:endParaRPr lang="en-US" sz="2400" dirty="0"/>
          </a:p>
        </p:txBody>
      </p:sp>
      <p:sp>
        <p:nvSpPr>
          <p:cNvPr id="3" name="pc_21"/>
          <p:cNvSpPr/>
          <p:nvPr/>
        </p:nvSpPr>
        <p:spPr>
          <a:xfrm>
            <a:off x="411480" y="1097280"/>
            <a:ext cx="6400800" cy="580644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ASEAN各国の中国系・日系シェアの推移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MarkLines：ASEAN各国の車種別月次販売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国ごとの小さな折れ線（日系・中国系・地場・その他）</a:t>
            </a:r>
            <a:endParaRPr lang="en-US" sz="1200" dirty="0"/>
          </a:p>
        </p:txBody>
      </p:sp>
      <p:sp>
        <p:nvSpPr>
          <p:cNvPr id="4" name="shape_22"/>
          <p:cNvSpPr/>
          <p:nvPr/>
        </p:nvSpPr>
        <p:spPr>
          <a:xfrm>
            <a:off x="7086600" y="1097280"/>
            <a:ext cx="3191256" cy="3566160"/>
          </a:xfrm>
          <a:prstGeom prst="roundRect">
            <a:avLst>
              <a:gd name="adj" fmla="val 2865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23"/>
          <p:cNvSpPr/>
          <p:nvPr/>
        </p:nvSpPr>
        <p:spPr>
          <a:xfrm>
            <a:off x="7196328" y="1188720"/>
            <a:ext cx="14173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見るポイント</a:t>
            </a:r>
            <a:endParaRPr lang="en-US" sz="1500" dirty="0"/>
          </a:p>
        </p:txBody>
      </p:sp>
      <p:sp>
        <p:nvSpPr>
          <p:cNvPr id="6" name="text_24"/>
          <p:cNvSpPr txBox="1"/>
          <p:nvPr/>
        </p:nvSpPr>
        <p:spPr>
          <a:xfrm>
            <a:off x="7269480" y="1691640"/>
            <a:ext cx="28254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タイ・インドネシアで中国系が伸びる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ベトナムは地場（VinFast）が強い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日系はどの国でも最大勢力</a:t>
            </a:r>
            <a:endParaRPr lang="en-US" sz="1600" dirty="0"/>
          </a:p>
        </p:txBody>
      </p:sp>
      <p:sp>
        <p:nvSpPr>
          <p:cNvPr id="7" name="shape_25"/>
          <p:cNvSpPr/>
          <p:nvPr/>
        </p:nvSpPr>
        <p:spPr>
          <a:xfrm>
            <a:off x="8407908" y="4800600"/>
            <a:ext cx="548640" cy="411480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8" name="summary_26"/>
          <p:cNvSpPr/>
          <p:nvPr/>
        </p:nvSpPr>
        <p:spPr>
          <a:xfrm>
            <a:off x="7086600" y="5349240"/>
            <a:ext cx="3191256" cy="1554480"/>
          </a:xfrm>
          <a:prstGeom prst="roundRect">
            <a:avLst>
              <a:gd name="adj" fmla="val 588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以降はタイに絞る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中国系の伸びが最も大きく、データもそろう</a:t>
            </a:r>
            <a:endParaRPr lang="en-US" sz="2000" dirty="0"/>
          </a:p>
        </p:txBody>
      </p:sp>
      <p:sp>
        <p:nvSpPr>
          <p:cNvPr id="9" name="text_2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出典：MarkLines（社内）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市場分析②　BEVの9割が中国系、HEVの98%が日系</a:t>
            </a:r>
            <a:endParaRPr lang="en-US" sz="2400" dirty="0"/>
          </a:p>
        </p:txBody>
      </p:sp>
      <p:sp>
        <p:nvSpPr>
          <p:cNvPr id="3" name="pc_28"/>
          <p:cNvSpPr/>
          <p:nvPr/>
        </p:nvSpPr>
        <p:spPr>
          <a:xfrm>
            <a:off x="411480" y="1097280"/>
            <a:ext cx="4572000" cy="580644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パワートレイン別の販売とシェアの推移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BEV・HEV・ICEの月次台数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各パワートレイン内の国籍別シェア</a:t>
            </a:r>
            <a:endParaRPr lang="en-US" sz="1200" dirty="0"/>
          </a:p>
        </p:txBody>
      </p:sp>
      <p:graphicFrame>
        <p:nvGraphicFramePr>
          <p:cNvPr id="4" name="chart_pt" descr=""/>
          <p:cNvGraphicFramePr/>
          <p:nvPr/>
        </p:nvGraphicFramePr>
        <p:xfrm>
          <a:off x="5166360" y="1097280"/>
          <a:ext cx="5111496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_29"/>
          <p:cNvSpPr txBox="1"/>
          <p:nvPr/>
        </p:nvSpPr>
        <p:spPr>
          <a:xfrm>
            <a:off x="5257800" y="4389120"/>
            <a:ext cx="2377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000" dirty="0"/>
          </a:p>
        </p:txBody>
      </p:sp>
      <p:sp>
        <p:nvSpPr>
          <p:cNvPr id="6" name="text_30"/>
          <p:cNvSpPr txBox="1"/>
          <p:nvPr/>
        </p:nvSpPr>
        <p:spPr>
          <a:xfrm>
            <a:off x="5257800" y="5049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BEVのうち中国系</a:t>
            </a:r>
            <a:endParaRPr lang="en-US" sz="1400" dirty="0"/>
          </a:p>
        </p:txBody>
      </p:sp>
      <p:sp>
        <p:nvSpPr>
          <p:cNvPr id="7" name="text_31"/>
          <p:cNvSpPr txBox="1"/>
          <p:nvPr/>
        </p:nvSpPr>
        <p:spPr>
          <a:xfrm>
            <a:off x="7818120" y="4389120"/>
            <a:ext cx="2377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4000" dirty="0"/>
          </a:p>
        </p:txBody>
      </p:sp>
      <p:sp>
        <p:nvSpPr>
          <p:cNvPr id="8" name="text_32"/>
          <p:cNvSpPr txBox="1"/>
          <p:nvPr/>
        </p:nvSpPr>
        <p:spPr>
          <a:xfrm>
            <a:off x="7818120" y="5049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HEVのうち日系</a:t>
            </a:r>
            <a:endParaRPr lang="en-US" sz="1400" dirty="0"/>
          </a:p>
        </p:txBody>
      </p:sp>
      <p:sp>
        <p:nvSpPr>
          <p:cNvPr id="9" name="shape_33"/>
          <p:cNvSpPr/>
          <p:nvPr/>
        </p:nvSpPr>
        <p:spPr>
          <a:xfrm>
            <a:off x="5166360" y="5852160"/>
            <a:ext cx="5111496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0" name="fslabel_34"/>
          <p:cNvSpPr/>
          <p:nvPr/>
        </p:nvSpPr>
        <p:spPr>
          <a:xfrm>
            <a:off x="5440680" y="5724144"/>
            <a:ext cx="80772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前年比</a:t>
            </a:r>
            <a:endParaRPr lang="en-US" sz="1400" dirty="0"/>
          </a:p>
        </p:txBody>
      </p:sp>
      <p:sp>
        <p:nvSpPr>
          <p:cNvPr id="11" name="text_35"/>
          <p:cNvSpPr txBox="1"/>
          <p:nvPr/>
        </p:nvSpPr>
        <p:spPr>
          <a:xfrm>
            <a:off x="5303520" y="6053328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 </a:t>
            </a:r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+85%</a:t>
            </a:r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HEV </a:t>
            </a:r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</a:t>
            </a:r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PHEV </a:t>
            </a:r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−10%</a:t>
            </a:r>
            <a:endParaRPr lang="en-US" sz="1800" dirty="0"/>
          </a:p>
        </p:txBody>
      </p:sp>
      <p:sp>
        <p:nvSpPr>
          <p:cNvPr id="12" name="text_3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出典：JETRO（2026年7月）、MarkLines（社内）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市場分析③　日系の失点は、ほぼBEV比率の上昇による</a:t>
            </a:r>
            <a:endParaRPr lang="en-US" sz="2400" dirty="0"/>
          </a:p>
        </p:txBody>
      </p:sp>
      <p:sp>
        <p:nvSpPr>
          <p:cNvPr id="3" name="pc_37"/>
          <p:cNvSpPr/>
          <p:nvPr/>
        </p:nvSpPr>
        <p:spPr>
          <a:xfrm>
            <a:off x="411480" y="1097280"/>
            <a:ext cx="4572000" cy="580644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セグメント別の販売とシェアの推移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A/B・C・D・SUV・MPV（ピックアップは別掲）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セグメント×パワートレインで同じ分解</a:t>
            </a:r>
            <a:endParaRPr lang="en-US" sz="1200" dirty="0"/>
          </a:p>
        </p:txBody>
      </p:sp>
      <p:sp>
        <p:nvSpPr>
          <p:cNvPr id="4" name="text_38"/>
          <p:cNvSpPr txBox="1"/>
          <p:nvPr/>
        </p:nvSpPr>
        <p:spPr>
          <a:xfrm>
            <a:off x="5257800" y="1143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日系シェアの変化の分解（pt）</a:t>
            </a:r>
            <a:endParaRPr lang="en-US" sz="1400" dirty="0"/>
          </a:p>
        </p:txBody>
      </p:sp>
      <p:sp>
        <p:nvSpPr>
          <p:cNvPr id="5" name="shape_39"/>
          <p:cNvSpPr/>
          <p:nvPr/>
        </p:nvSpPr>
        <p:spPr>
          <a:xfrm>
            <a:off x="5257800" y="1709562"/>
            <a:ext cx="777240" cy="405115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_40"/>
          <p:cNvSpPr txBox="1"/>
          <p:nvPr/>
        </p:nvSpPr>
        <p:spPr>
          <a:xfrm>
            <a:off x="5074920" y="134380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85.2%</a:t>
            </a:r>
            <a:endParaRPr lang="en-US" sz="1500" dirty="0"/>
          </a:p>
        </p:txBody>
      </p:sp>
      <p:sp>
        <p:nvSpPr>
          <p:cNvPr id="7" name="text_41"/>
          <p:cNvSpPr txBox="1"/>
          <p:nvPr/>
        </p:nvSpPr>
        <p:spPr>
          <a:xfrm>
            <a:off x="5074920" y="5824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</a:t>
            </a:r>
            <a:endParaRPr lang="en-US" sz="1200" dirty="0"/>
          </a:p>
        </p:txBody>
      </p:sp>
      <p:sp>
        <p:nvSpPr>
          <p:cNvPr id="8" name="shape_42"/>
          <p:cNvSpPr/>
          <p:nvPr/>
        </p:nvSpPr>
        <p:spPr>
          <a:xfrm>
            <a:off x="6236208" y="1709562"/>
            <a:ext cx="777240" cy="120774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text_43"/>
          <p:cNvSpPr txBox="1"/>
          <p:nvPr/>
        </p:nvSpPr>
        <p:spPr>
          <a:xfrm>
            <a:off x="6053328" y="134380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−25.4</a:t>
            </a:r>
            <a:endParaRPr lang="en-US" sz="1500" dirty="0"/>
          </a:p>
        </p:txBody>
      </p:sp>
      <p:sp>
        <p:nvSpPr>
          <p:cNvPr id="10" name="text_44"/>
          <p:cNvSpPr txBox="1"/>
          <p:nvPr/>
        </p:nvSpPr>
        <p:spPr>
          <a:xfrm>
            <a:off x="6053328" y="5824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BEV比率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の上昇</a:t>
            </a:r>
            <a:endParaRPr lang="en-US" sz="1200" dirty="0"/>
          </a:p>
        </p:txBody>
      </p:sp>
      <p:sp>
        <p:nvSpPr>
          <p:cNvPr id="11" name="shape_45"/>
          <p:cNvSpPr/>
          <p:nvPr/>
        </p:nvSpPr>
        <p:spPr>
          <a:xfrm>
            <a:off x="7214616" y="2871582"/>
            <a:ext cx="777240" cy="45720"/>
          </a:xfrm>
          <a:prstGeom prst="rect">
            <a:avLst/>
          </a:prstGeom>
          <a:solidFill>
            <a:srgbClr val="A9C0E8"/>
          </a:solidFill>
          <a:ln w="12700">
            <a:solidFill>
              <a:srgbClr val="A9C0E8"/>
            </a:solidFill>
            <a:prstDash val="solid"/>
          </a:ln>
        </p:spPr>
      </p:sp>
      <p:sp>
        <p:nvSpPr>
          <p:cNvPr id="12" name="text_46"/>
          <p:cNvSpPr txBox="1"/>
          <p:nvPr/>
        </p:nvSpPr>
        <p:spPr>
          <a:xfrm>
            <a:off x="7031736" y="250582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</a:t>
            </a:r>
            <a:endParaRPr lang="en-US" sz="1500" dirty="0"/>
          </a:p>
        </p:txBody>
      </p:sp>
      <p:sp>
        <p:nvSpPr>
          <p:cNvPr id="13" name="text_47"/>
          <p:cNvSpPr txBox="1"/>
          <p:nvPr/>
        </p:nvSpPr>
        <p:spPr>
          <a:xfrm>
            <a:off x="7031736" y="5824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BEV内の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200" dirty="0"/>
          </a:p>
        </p:txBody>
      </p:sp>
      <p:sp>
        <p:nvSpPr>
          <p:cNvPr id="14" name="shape_48"/>
          <p:cNvSpPr/>
          <p:nvPr/>
        </p:nvSpPr>
        <p:spPr>
          <a:xfrm>
            <a:off x="8193024" y="2822204"/>
            <a:ext cx="777240" cy="66568"/>
          </a:xfrm>
          <a:prstGeom prst="rect">
            <a:avLst/>
          </a:prstGeom>
          <a:solidFill>
            <a:srgbClr val="A9C0E8"/>
          </a:solidFill>
          <a:ln w="12700">
            <a:solidFill>
              <a:srgbClr val="A9C0E8"/>
            </a:solidFill>
            <a:prstDash val="solid"/>
          </a:ln>
        </p:spPr>
      </p:sp>
      <p:sp>
        <p:nvSpPr>
          <p:cNvPr id="15" name="text_49"/>
          <p:cNvSpPr txBox="1"/>
          <p:nvPr/>
        </p:nvSpPr>
        <p:spPr>
          <a:xfrm>
            <a:off x="8010144" y="24564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+1.4</a:t>
            </a:r>
            <a:endParaRPr lang="en-US" sz="1500" dirty="0"/>
          </a:p>
        </p:txBody>
      </p:sp>
      <p:sp>
        <p:nvSpPr>
          <p:cNvPr id="16" name="text_50"/>
          <p:cNvSpPr txBox="1"/>
          <p:nvPr/>
        </p:nvSpPr>
        <p:spPr>
          <a:xfrm>
            <a:off x="8010144" y="5824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BEV以外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の日系</a:t>
            </a:r>
            <a:endParaRPr lang="en-US" sz="1200" dirty="0"/>
          </a:p>
        </p:txBody>
      </p:sp>
      <p:sp>
        <p:nvSpPr>
          <p:cNvPr id="17" name="shape_51"/>
          <p:cNvSpPr/>
          <p:nvPr/>
        </p:nvSpPr>
        <p:spPr>
          <a:xfrm>
            <a:off x="9171432" y="2822204"/>
            <a:ext cx="777240" cy="2938516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_52"/>
          <p:cNvSpPr txBox="1"/>
          <p:nvPr/>
        </p:nvSpPr>
        <p:spPr>
          <a:xfrm>
            <a:off x="8988552" y="24564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61.8%</a:t>
            </a:r>
            <a:endParaRPr lang="en-US" sz="1500" dirty="0"/>
          </a:p>
        </p:txBody>
      </p:sp>
      <p:sp>
        <p:nvSpPr>
          <p:cNvPr id="19" name="text_53"/>
          <p:cNvSpPr txBox="1"/>
          <p:nvPr/>
        </p:nvSpPr>
        <p:spPr>
          <a:xfrm>
            <a:off x="8988552" y="58247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1〜7月</a:t>
            </a:r>
            <a:endParaRPr lang="en-US" sz="1200" dirty="0"/>
          </a:p>
        </p:txBody>
      </p:sp>
      <p:sp>
        <p:nvSpPr>
          <p:cNvPr id="20" name="shape_54"/>
          <p:cNvSpPr/>
          <p:nvPr/>
        </p:nvSpPr>
        <p:spPr>
          <a:xfrm>
            <a:off x="5212080" y="5760720"/>
            <a:ext cx="4892040" cy="0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</a:ln>
        </p:spPr>
      </p:sp>
      <p:sp>
        <p:nvSpPr>
          <p:cNvPr id="21" name="summary_55"/>
          <p:cNvSpPr/>
          <p:nvPr/>
        </p:nvSpPr>
        <p:spPr>
          <a:xfrm>
            <a:off x="8275320" y="1600200"/>
            <a:ext cx="2002536" cy="1417320"/>
          </a:xfrm>
          <a:prstGeom prst="roundRect">
            <a:avLst>
              <a:gd name="adj" fmla="val 645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BEV以外の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日系シェア</a:t>
            </a:r>
            <a:endParaRPr lang="en-US" sz="16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86%→88%</a:t>
            </a:r>
            <a:endParaRPr lang="en-US" sz="1600" dirty="0"/>
          </a:p>
        </p:txBody>
      </p:sp>
      <p:sp>
        <p:nvSpPr>
          <p:cNvPr id="22" name="text_5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出典：TMT、Thansettakijから試算（BEV内の日系は1%→3%と仮定）。BEV比率の上昇にはピックアップ縮小による分母の減少も含む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市場分析④　中国系は1車種依存、日系は複数車種で売る</a:t>
            </a:r>
            <a:endParaRPr lang="en-US" sz="2400" dirty="0"/>
          </a:p>
        </p:txBody>
      </p:sp>
      <p:sp>
        <p:nvSpPr>
          <p:cNvPr id="3" name="rowlab_57"/>
          <p:cNvSpPr/>
          <p:nvPr/>
        </p:nvSpPr>
        <p:spPr>
          <a:xfrm>
            <a:off x="411480" y="1097280"/>
            <a:ext cx="438912" cy="2240280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 vert="eaVer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600" dirty="0"/>
          </a:p>
        </p:txBody>
      </p:sp>
      <p:sp>
        <p:nvSpPr>
          <p:cNvPr id="4" name="pc_58"/>
          <p:cNvSpPr/>
          <p:nvPr/>
        </p:nvSpPr>
        <p:spPr>
          <a:xfrm>
            <a:off x="978408" y="109728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1位　BYD（候補）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5" name="pc_59"/>
          <p:cNvSpPr/>
          <p:nvPr/>
        </p:nvSpPr>
        <p:spPr>
          <a:xfrm>
            <a:off x="3337560" y="109728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2位　Chery系（候補）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6" name="pc_60"/>
          <p:cNvSpPr/>
          <p:nvPr/>
        </p:nvSpPr>
        <p:spPr>
          <a:xfrm>
            <a:off x="5696712" y="109728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3位　MG（候補）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7" name="pc_61"/>
          <p:cNvSpPr/>
          <p:nvPr/>
        </p:nvSpPr>
        <p:spPr>
          <a:xfrm>
            <a:off x="8055864" y="109728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4位　GAC Aion（候補）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8" name="rowlab_62"/>
          <p:cNvSpPr/>
          <p:nvPr/>
        </p:nvSpPr>
        <p:spPr>
          <a:xfrm>
            <a:off x="411480" y="3474720"/>
            <a:ext cx="438912" cy="22402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 vert="eaVer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600" dirty="0"/>
          </a:p>
        </p:txBody>
      </p:sp>
      <p:sp>
        <p:nvSpPr>
          <p:cNvPr id="9" name="pc_63"/>
          <p:cNvSpPr/>
          <p:nvPr/>
        </p:nvSpPr>
        <p:spPr>
          <a:xfrm>
            <a:off x="978408" y="347472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1位　Toyota（候補）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10" name="pc_64"/>
          <p:cNvSpPr/>
          <p:nvPr/>
        </p:nvSpPr>
        <p:spPr>
          <a:xfrm>
            <a:off x="3337560" y="347472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2位　Honda（候補）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11" name="pc_65"/>
          <p:cNvSpPr/>
          <p:nvPr/>
        </p:nvSpPr>
        <p:spPr>
          <a:xfrm>
            <a:off x="5696712" y="347472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3位　Isuzu（候補）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12" name="pc_66"/>
          <p:cNvSpPr/>
          <p:nvPr/>
        </p:nvSpPr>
        <p:spPr>
          <a:xfrm>
            <a:off x="8055864" y="3474720"/>
            <a:ext cx="2221992" cy="22402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4位　Mitsubishi（候補）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車種別の月次販売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（積み上げ面）</a:t>
            </a:r>
            <a:endParaRPr lang="en-US" sz="1000" dirty="0"/>
          </a:p>
        </p:txBody>
      </p:sp>
      <p:sp>
        <p:nvSpPr>
          <p:cNvPr id="13" name="summary_67"/>
          <p:cNvSpPr/>
          <p:nvPr/>
        </p:nvSpPr>
        <p:spPr>
          <a:xfrm>
            <a:off x="411480" y="5897880"/>
            <a:ext cx="9866376" cy="1005840"/>
          </a:xfrm>
          <a:prstGeom prst="roundRect">
            <a:avLst>
              <a:gd name="adj" fmla="val 9091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BYDは複数車種で売るが、多くの中国系は主力1車種に頼る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日系はトヨタを筆頭に複数車種で売る</a:t>
            </a:r>
            <a:endParaRPr lang="en-US" sz="1900" dirty="0"/>
          </a:p>
        </p:txBody>
      </p:sp>
      <p:sp>
        <p:nvSpPr>
          <p:cNvPr id="14" name="text_68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出典：MarkLines（社内）。企業名は2026年上半期のBEV・全体登録の上位からの候補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パワートレイン×セグメント　正面からぶつかる場所は少ない</a:t>
            </a:r>
            <a:endParaRPr lang="en-US" sz="2400" dirty="0"/>
          </a:p>
        </p:txBody>
      </p:sp>
      <p:graphicFrame>
        <p:nvGraphicFramePr>
          <p:cNvPr id="8" name="table_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9866376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499616"/>
                <a:gridCol w="1499616"/>
                <a:gridCol w="1499616"/>
                <a:gridCol w="1499616"/>
                <a:gridCol w="1499616"/>
                <a:gridCol w="1499616"/>
              </a:tblGrid>
              <a:tr h="38404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動力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乗用車（セダン・ハッチバック）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Dolphin、Atto 1、Good Cat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Jaecoo 5 EV、MG ZS 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 3、Deepal S07、Omoda C5 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bZ4X（少量）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7、XPeng G6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6、H6 PHEV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Outlander PHEV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MG3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 HEV、City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Altis HEV、Civic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Camry、Accord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Jolion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Cross、HR-V、Kicks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Haval H6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Cross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Ativ、City、Almera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Altis、Civic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 ZS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CX-3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CX-5、CX-30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Fortuner、Pajero Sport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70"/>
          <p:cNvSpPr/>
          <p:nvPr/>
        </p:nvSpPr>
        <p:spPr>
          <a:xfrm>
            <a:off x="411480" y="1097280"/>
            <a:ext cx="9866376" cy="4270248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hape_71"/>
          <p:cNvSpPr/>
          <p:nvPr/>
        </p:nvSpPr>
        <p:spPr>
          <a:xfrm>
            <a:off x="411480" y="5541264"/>
            <a:ext cx="18288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6" name="text_72"/>
          <p:cNvSpPr txBox="1"/>
          <p:nvPr/>
        </p:nvSpPr>
        <p:spPr>
          <a:xfrm>
            <a:off x="658368" y="5468112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300" dirty="0"/>
          </a:p>
        </p:txBody>
      </p:sp>
      <p:sp>
        <p:nvSpPr>
          <p:cNvPr id="7" name="shape_73"/>
          <p:cNvSpPr/>
          <p:nvPr/>
        </p:nvSpPr>
        <p:spPr>
          <a:xfrm>
            <a:off x="1473708" y="5541264"/>
            <a:ext cx="18288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_74"/>
          <p:cNvSpPr txBox="1"/>
          <p:nvPr/>
        </p:nvSpPr>
        <p:spPr>
          <a:xfrm>
            <a:off x="1720596" y="5468112"/>
            <a:ext cx="42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300" dirty="0"/>
          </a:p>
        </p:txBody>
      </p:sp>
      <p:sp>
        <p:nvSpPr>
          <p:cNvPr id="9" name="text_75"/>
          <p:cNvSpPr txBox="1"/>
          <p:nvPr/>
        </p:nvSpPr>
        <p:spPr>
          <a:xfrm>
            <a:off x="3017520" y="5468112"/>
            <a:ext cx="7260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代表車種（目安）。ピックアップは対象外（日系91%）</a:t>
            </a:r>
            <a:endParaRPr lang="en-US" sz="1300" dirty="0"/>
          </a:p>
        </p:txBody>
      </p:sp>
      <p:sp>
        <p:nvSpPr>
          <p:cNvPr id="10" name="shape_76"/>
          <p:cNvSpPr/>
          <p:nvPr/>
        </p:nvSpPr>
        <p:spPr>
          <a:xfrm>
            <a:off x="411480" y="5989320"/>
            <a:ext cx="479602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11" name="fslabel_77"/>
          <p:cNvSpPr/>
          <p:nvPr/>
        </p:nvSpPr>
        <p:spPr>
          <a:xfrm>
            <a:off x="2321814" y="5852160"/>
            <a:ext cx="975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BEVの行</a:t>
            </a:r>
            <a:endParaRPr lang="en-US" sz="1500" dirty="0"/>
          </a:p>
        </p:txBody>
      </p:sp>
      <p:sp>
        <p:nvSpPr>
          <p:cNvPr id="12" name="text_78"/>
          <p:cNvSpPr txBox="1"/>
          <p:nvPr/>
        </p:nvSpPr>
        <p:spPr>
          <a:xfrm>
            <a:off x="640080" y="6144768"/>
            <a:ext cx="4338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中国系だけが競う。速さが効くのはここ</a:t>
            </a:r>
            <a:endParaRPr lang="en-US" sz="1600" dirty="0"/>
          </a:p>
        </p:txBody>
      </p:sp>
      <p:sp>
        <p:nvSpPr>
          <p:cNvPr id="13" name="shape_79"/>
          <p:cNvSpPr/>
          <p:nvPr/>
        </p:nvSpPr>
        <p:spPr>
          <a:xfrm>
            <a:off x="5481828" y="5989320"/>
            <a:ext cx="479602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4" name="fslabel_80"/>
          <p:cNvSpPr/>
          <p:nvPr/>
        </p:nvSpPr>
        <p:spPr>
          <a:xfrm>
            <a:off x="7136892" y="5852160"/>
            <a:ext cx="14859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HEV・ICEの行</a:t>
            </a:r>
            <a:endParaRPr lang="en-US" sz="1500" dirty="0"/>
          </a:p>
        </p:txBody>
      </p:sp>
      <p:sp>
        <p:nvSpPr>
          <p:cNvPr id="15" name="text_81"/>
          <p:cNvSpPr txBox="1"/>
          <p:nvPr/>
        </p:nvSpPr>
        <p:spPr>
          <a:xfrm>
            <a:off x="5710428" y="6144768"/>
            <a:ext cx="4338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日系が大半。接点はSUV Cクラス</a:t>
            </a:r>
            <a:endParaRPr lang="en-US" sz="1600" dirty="0"/>
          </a:p>
        </p:txBody>
      </p:sp>
      <p:sp>
        <p:nvSpPr>
          <p:cNvPr id="16" name="text_82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出典：各社のタイ公式サイト（2026年10月）。各セルの台数・シェアは社内PC（MarkLines）で追記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タイのEV政策　輸入で市場をつくり、あとで現地生産を求める</a:t>
            </a:r>
            <a:endParaRPr lang="en-US" sz="2400" dirty="0"/>
          </a:p>
        </p:txBody>
      </p:sp>
      <p:sp>
        <p:nvSpPr>
          <p:cNvPr id="3" name="shape_83"/>
          <p:cNvSpPr/>
          <p:nvPr/>
        </p:nvSpPr>
        <p:spPr>
          <a:xfrm>
            <a:off x="411480" y="1188720"/>
            <a:ext cx="3017520" cy="3520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_84"/>
          <p:cNvSpPr/>
          <p:nvPr/>
        </p:nvSpPr>
        <p:spPr>
          <a:xfrm>
            <a:off x="411480" y="129844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5" name="text_85"/>
          <p:cNvSpPr txBox="1"/>
          <p:nvPr/>
        </p:nvSpPr>
        <p:spPr>
          <a:xfrm>
            <a:off x="521208" y="1298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01</a:t>
            </a:r>
            <a:endParaRPr lang="en-US" sz="1300" dirty="0"/>
          </a:p>
        </p:txBody>
      </p:sp>
      <p:sp>
        <p:nvSpPr>
          <p:cNvPr id="6" name="text_86"/>
          <p:cNvSpPr txBox="1"/>
          <p:nvPr/>
        </p:nvSpPr>
        <p:spPr>
          <a:xfrm>
            <a:off x="59436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買う人への補助</a:t>
            </a:r>
            <a:endParaRPr lang="en-US" sz="2000" dirty="0"/>
          </a:p>
        </p:txBody>
      </p:sp>
      <p:sp>
        <p:nvSpPr>
          <p:cNvPr id="7" name="text_87"/>
          <p:cNvSpPr txBox="1"/>
          <p:nvPr/>
        </p:nvSpPr>
        <p:spPr>
          <a:xfrm>
            <a:off x="594360" y="2331720"/>
            <a:ext cx="2651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EV3.0（2022〜23年）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最大15万バーツ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EV3.5（2024〜27年）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最大10万バーツ、年々縮小</a:t>
            </a:r>
            <a:endParaRPr lang="en-US" sz="1500" dirty="0"/>
          </a:p>
        </p:txBody>
      </p:sp>
      <p:sp>
        <p:nvSpPr>
          <p:cNvPr id="8" name="shape_88"/>
          <p:cNvSpPr/>
          <p:nvPr/>
        </p:nvSpPr>
        <p:spPr>
          <a:xfrm>
            <a:off x="3495294" y="27660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shape_89"/>
          <p:cNvSpPr/>
          <p:nvPr/>
        </p:nvSpPr>
        <p:spPr>
          <a:xfrm>
            <a:off x="3610508" y="27660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0" name="shape_90"/>
          <p:cNvSpPr/>
          <p:nvPr/>
        </p:nvSpPr>
        <p:spPr>
          <a:xfrm>
            <a:off x="3835908" y="1188720"/>
            <a:ext cx="3017520" cy="3520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shape_91"/>
          <p:cNvSpPr/>
          <p:nvPr/>
        </p:nvSpPr>
        <p:spPr>
          <a:xfrm>
            <a:off x="3835908" y="129844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2" name="text_92"/>
          <p:cNvSpPr txBox="1"/>
          <p:nvPr/>
        </p:nvSpPr>
        <p:spPr>
          <a:xfrm>
            <a:off x="3945636" y="1298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02</a:t>
            </a:r>
            <a:endParaRPr lang="en-US" sz="1300" dirty="0"/>
          </a:p>
        </p:txBody>
      </p:sp>
      <p:sp>
        <p:nvSpPr>
          <p:cNvPr id="13" name="text_93"/>
          <p:cNvSpPr txBox="1"/>
          <p:nvPr/>
        </p:nvSpPr>
        <p:spPr>
          <a:xfrm>
            <a:off x="4018788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税の優遇</a:t>
            </a:r>
            <a:endParaRPr lang="en-US" sz="2000" dirty="0"/>
          </a:p>
        </p:txBody>
      </p:sp>
      <p:sp>
        <p:nvSpPr>
          <p:cNvPr id="14" name="text_94"/>
          <p:cNvSpPr txBox="1"/>
          <p:nvPr/>
        </p:nvSpPr>
        <p:spPr>
          <a:xfrm>
            <a:off x="4018788" y="2331720"/>
            <a:ext cx="2651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BEVの物品税 8%→2%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中国製EVの関税 0%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（日本製は20%）</a:t>
            </a:r>
            <a:endParaRPr lang="en-US" sz="1500" dirty="0"/>
          </a:p>
        </p:txBody>
      </p:sp>
      <p:sp>
        <p:nvSpPr>
          <p:cNvPr id="15" name="shape_95"/>
          <p:cNvSpPr/>
          <p:nvPr/>
        </p:nvSpPr>
        <p:spPr>
          <a:xfrm>
            <a:off x="6919722" y="27660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6" name="shape_96"/>
          <p:cNvSpPr/>
          <p:nvPr/>
        </p:nvSpPr>
        <p:spPr>
          <a:xfrm>
            <a:off x="7034936" y="27660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7" name="shape_97"/>
          <p:cNvSpPr/>
          <p:nvPr/>
        </p:nvSpPr>
        <p:spPr>
          <a:xfrm>
            <a:off x="7260336" y="1188720"/>
            <a:ext cx="3017520" cy="3520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_98"/>
          <p:cNvSpPr/>
          <p:nvPr/>
        </p:nvSpPr>
        <p:spPr>
          <a:xfrm>
            <a:off x="7260336" y="129844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9" name="text_99"/>
          <p:cNvSpPr txBox="1"/>
          <p:nvPr/>
        </p:nvSpPr>
        <p:spPr>
          <a:xfrm>
            <a:off x="7370064" y="1298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03</a:t>
            </a:r>
            <a:endParaRPr lang="en-US" sz="1300" dirty="0"/>
          </a:p>
        </p:txBody>
      </p:sp>
      <p:sp>
        <p:nvSpPr>
          <p:cNvPr id="20" name="text_100"/>
          <p:cNvSpPr txBox="1"/>
          <p:nvPr/>
        </p:nvSpPr>
        <p:spPr>
          <a:xfrm>
            <a:off x="7443216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現地生産の義務</a:t>
            </a:r>
            <a:endParaRPr lang="en-US" sz="2000" dirty="0"/>
          </a:p>
        </p:txBody>
      </p:sp>
      <p:sp>
        <p:nvSpPr>
          <p:cNvPr id="21" name="text_101"/>
          <p:cNvSpPr txBox="1"/>
          <p:nvPr/>
        </p:nvSpPr>
        <p:spPr>
          <a:xfrm>
            <a:off x="7443216" y="2331720"/>
            <a:ext cx="2651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補助を受けた輸入1台に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 1〜1.5台（EV3.0）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 2台、2027年 3台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（EV3.5、輸出は1.5台分）</a:t>
            </a:r>
            <a:endParaRPr lang="en-US" sz="1500" dirty="0"/>
          </a:p>
        </p:txBody>
      </p:sp>
      <p:sp>
        <p:nvSpPr>
          <p:cNvPr id="22" name="shape_102"/>
          <p:cNvSpPr/>
          <p:nvPr/>
        </p:nvSpPr>
        <p:spPr>
          <a:xfrm>
            <a:off x="5024628" y="4846320"/>
            <a:ext cx="640080" cy="411480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23" name="summary_103"/>
          <p:cNvSpPr/>
          <p:nvPr/>
        </p:nvSpPr>
        <p:spPr>
          <a:xfrm>
            <a:off x="777240" y="5394960"/>
            <a:ext cx="9134856" cy="1325880"/>
          </a:xfrm>
          <a:prstGeom prst="roundRect">
            <a:avLst>
              <a:gd name="adj" fmla="val 689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補助と関税0%で、中国系は輸入から先に市場に入れた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その後の生産義務が、現地での値下げと販売攻勢を生んでいる</a:t>
            </a:r>
            <a:endParaRPr lang="en-US" sz="1800" dirty="0"/>
          </a:p>
        </p:txBody>
      </p:sp>
      <p:sp>
        <p:nvSpPr>
          <p:cNvPr id="24" name="text_10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出典：BOI（2023〜2025年）、物品税局、The Nation（2026年9月）。2026年からは物品税を投資の度合いで3段階に（9月合意）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政策と販売台数　補助・値下げ・生産義務の時期に販売が動く</a:t>
            </a:r>
            <a:endParaRPr lang="en-US" sz="2400" dirty="0"/>
          </a:p>
        </p:txBody>
      </p:sp>
      <p:sp>
        <p:nvSpPr>
          <p:cNvPr id="3" name="pc_105"/>
          <p:cNvSpPr/>
          <p:nvPr/>
        </p:nvSpPr>
        <p:spPr>
          <a:xfrm>
            <a:off x="411480" y="1097280"/>
            <a:ext cx="9866376" cy="233172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BEV・HEVの月次販売台数（2022年1月〜最新）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MarkLines：タイ。横軸を下の年表にそろえ、政策の時期に縦の点線を入れる</a:t>
            </a:r>
            <a:endParaRPr lang="en-US" sz="1200" dirty="0"/>
          </a:p>
        </p:txBody>
      </p:sp>
      <p:sp>
        <p:nvSpPr>
          <p:cNvPr id="4" name="shape_106"/>
          <p:cNvSpPr/>
          <p:nvPr/>
        </p:nvSpPr>
        <p:spPr>
          <a:xfrm>
            <a:off x="640080" y="4343400"/>
            <a:ext cx="9409176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5" name="shape_107"/>
          <p:cNvSpPr/>
          <p:nvPr/>
        </p:nvSpPr>
        <p:spPr>
          <a:xfrm>
            <a:off x="640080" y="4270248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" name="text_108"/>
          <p:cNvSpPr txBox="1"/>
          <p:nvPr/>
        </p:nvSpPr>
        <p:spPr>
          <a:xfrm>
            <a:off x="594360" y="4416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200" dirty="0"/>
          </a:p>
        </p:txBody>
      </p:sp>
      <p:sp>
        <p:nvSpPr>
          <p:cNvPr id="7" name="shape_109"/>
          <p:cNvSpPr/>
          <p:nvPr/>
        </p:nvSpPr>
        <p:spPr>
          <a:xfrm>
            <a:off x="2208276" y="4270248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text_110"/>
          <p:cNvSpPr txBox="1"/>
          <p:nvPr/>
        </p:nvSpPr>
        <p:spPr>
          <a:xfrm>
            <a:off x="2162556" y="4416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200" dirty="0"/>
          </a:p>
        </p:txBody>
      </p:sp>
      <p:sp>
        <p:nvSpPr>
          <p:cNvPr id="9" name="shape_111"/>
          <p:cNvSpPr/>
          <p:nvPr/>
        </p:nvSpPr>
        <p:spPr>
          <a:xfrm>
            <a:off x="3776472" y="4270248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0" name="text_112"/>
          <p:cNvSpPr txBox="1"/>
          <p:nvPr/>
        </p:nvSpPr>
        <p:spPr>
          <a:xfrm>
            <a:off x="3730752" y="4416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200" dirty="0"/>
          </a:p>
        </p:txBody>
      </p:sp>
      <p:sp>
        <p:nvSpPr>
          <p:cNvPr id="11" name="shape_113"/>
          <p:cNvSpPr/>
          <p:nvPr/>
        </p:nvSpPr>
        <p:spPr>
          <a:xfrm>
            <a:off x="5344668" y="4270248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2" name="text_114"/>
          <p:cNvSpPr txBox="1"/>
          <p:nvPr/>
        </p:nvSpPr>
        <p:spPr>
          <a:xfrm>
            <a:off x="5298948" y="4416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13" name="shape_115"/>
          <p:cNvSpPr/>
          <p:nvPr/>
        </p:nvSpPr>
        <p:spPr>
          <a:xfrm>
            <a:off x="6912864" y="4270248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4" name="text_116"/>
          <p:cNvSpPr txBox="1"/>
          <p:nvPr/>
        </p:nvSpPr>
        <p:spPr>
          <a:xfrm>
            <a:off x="6867144" y="4416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15" name="shape_117"/>
          <p:cNvSpPr/>
          <p:nvPr/>
        </p:nvSpPr>
        <p:spPr>
          <a:xfrm>
            <a:off x="8481060" y="4270248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6" name="text_118"/>
          <p:cNvSpPr txBox="1"/>
          <p:nvPr/>
        </p:nvSpPr>
        <p:spPr>
          <a:xfrm>
            <a:off x="8435340" y="4416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17" name="ev_119"/>
          <p:cNvSpPr/>
          <p:nvPr/>
        </p:nvSpPr>
        <p:spPr>
          <a:xfrm>
            <a:off x="697611" y="4270248"/>
            <a:ext cx="146304" cy="14630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_120"/>
          <p:cNvSpPr txBox="1"/>
          <p:nvPr/>
        </p:nvSpPr>
        <p:spPr>
          <a:xfrm>
            <a:off x="320040" y="35935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EV3.0開始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補助15万</a:t>
            </a:r>
            <a:endParaRPr lang="en-US" sz="1200" dirty="0"/>
          </a:p>
        </p:txBody>
      </p:sp>
      <p:sp>
        <p:nvSpPr>
          <p:cNvPr id="19" name="ev_121"/>
          <p:cNvSpPr/>
          <p:nvPr/>
        </p:nvSpPr>
        <p:spPr>
          <a:xfrm>
            <a:off x="3703320" y="4270248"/>
            <a:ext cx="146304" cy="14630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_122"/>
          <p:cNvSpPr txBox="1"/>
          <p:nvPr/>
        </p:nvSpPr>
        <p:spPr>
          <a:xfrm>
            <a:off x="3090672" y="35935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EV3.5開始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補助10万に縮小</a:t>
            </a:r>
            <a:endParaRPr lang="en-US" sz="1200" dirty="0"/>
          </a:p>
        </p:txBody>
      </p:sp>
      <p:sp>
        <p:nvSpPr>
          <p:cNvPr id="21" name="ev_123"/>
          <p:cNvSpPr/>
          <p:nvPr/>
        </p:nvSpPr>
        <p:spPr>
          <a:xfrm>
            <a:off x="4487418" y="4270248"/>
            <a:ext cx="146304" cy="146304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2" name="text_124"/>
          <p:cNvSpPr txBox="1"/>
          <p:nvPr/>
        </p:nvSpPr>
        <p:spPr>
          <a:xfrm>
            <a:off x="3874770" y="46908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大幅値下げ</a:t>
            </a:r>
            <a:endParaRPr lang="en-US" sz="1200" dirty="0"/>
          </a:p>
        </p:txBody>
      </p:sp>
      <p:sp>
        <p:nvSpPr>
          <p:cNvPr id="23" name="ev_125"/>
          <p:cNvSpPr/>
          <p:nvPr/>
        </p:nvSpPr>
        <p:spPr>
          <a:xfrm>
            <a:off x="6839712" y="4270248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4" name="text_126"/>
          <p:cNvSpPr txBox="1"/>
          <p:nvPr/>
        </p:nvSpPr>
        <p:spPr>
          <a:xfrm>
            <a:off x="6227064" y="35935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輸入1:2</a:t>
            </a:r>
            <a:endParaRPr lang="en-US" sz="1200" dirty="0"/>
          </a:p>
        </p:txBody>
      </p:sp>
      <p:sp>
        <p:nvSpPr>
          <p:cNvPr id="25" name="ev_127"/>
          <p:cNvSpPr/>
          <p:nvPr/>
        </p:nvSpPr>
        <p:spPr>
          <a:xfrm>
            <a:off x="7885176" y="4270248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6" name="text_128"/>
          <p:cNvSpPr txBox="1"/>
          <p:nvPr/>
        </p:nvSpPr>
        <p:spPr>
          <a:xfrm>
            <a:off x="7272528" y="46908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物品税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3段階に合意</a:t>
            </a:r>
            <a:endParaRPr lang="en-US" sz="1200" dirty="0"/>
          </a:p>
        </p:txBody>
      </p:sp>
      <p:sp>
        <p:nvSpPr>
          <p:cNvPr id="27" name="ev_129"/>
          <p:cNvSpPr/>
          <p:nvPr/>
        </p:nvSpPr>
        <p:spPr>
          <a:xfrm>
            <a:off x="8407908" y="4270248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8" name="text_130"/>
          <p:cNvSpPr txBox="1"/>
          <p:nvPr/>
        </p:nvSpPr>
        <p:spPr>
          <a:xfrm>
            <a:off x="7795260" y="35935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輸入1:3</a:t>
            </a:r>
            <a:endParaRPr lang="en-US" sz="1200" dirty="0"/>
          </a:p>
        </p:txBody>
      </p:sp>
      <p:sp>
        <p:nvSpPr>
          <p:cNvPr id="29" name="shape_131"/>
          <p:cNvSpPr/>
          <p:nvPr/>
        </p:nvSpPr>
        <p:spPr>
          <a:xfrm>
            <a:off x="411480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0" name="text_132"/>
          <p:cNvSpPr txBox="1"/>
          <p:nvPr/>
        </p:nvSpPr>
        <p:spPr>
          <a:xfrm>
            <a:off x="548640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2023年のBEV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補助で急増</a:t>
            </a:r>
            <a:endParaRPr lang="en-US" sz="1600" dirty="0"/>
          </a:p>
        </p:txBody>
      </p:sp>
      <p:sp>
        <p:nvSpPr>
          <p:cNvPr id="31" name="shape_133"/>
          <p:cNvSpPr/>
          <p:nvPr/>
        </p:nvSpPr>
        <p:spPr>
          <a:xfrm>
            <a:off x="3761232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2" name="text_134"/>
          <p:cNvSpPr txBox="1"/>
          <p:nvPr/>
        </p:nvSpPr>
        <p:spPr>
          <a:xfrm>
            <a:off x="3898392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2024年のBEV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補助縮小・値下げ待ち・与信の引き締め</a:t>
            </a:r>
            <a:endParaRPr lang="en-US" sz="1600" dirty="0"/>
          </a:p>
        </p:txBody>
      </p:sp>
      <p:sp>
        <p:nvSpPr>
          <p:cNvPr id="33" name="shape_135"/>
          <p:cNvSpPr/>
          <p:nvPr/>
        </p:nvSpPr>
        <p:spPr>
          <a:xfrm>
            <a:off x="7110984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4" name="text_136"/>
          <p:cNvSpPr txBox="1"/>
          <p:nvPr/>
        </p:nvSpPr>
        <p:spPr>
          <a:xfrm>
            <a:off x="7248144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2026年1〜6月のBEV（+85%）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生産義務の消化で販売攻勢</a:t>
            </a:r>
            <a:endParaRPr lang="en-US" sz="1600" dirty="0"/>
          </a:p>
        </p:txBody>
      </p:sp>
      <p:sp>
        <p:nvSpPr>
          <p:cNvPr id="35" name="text_13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出典：Autolife（2023〜24年）、JETRO（2026年7月）、BOI。下段の要因は時期の一致からの読み取り（因果は未検証）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分析①　政策×供給力×価格でBEV市場ができ、日系は不在</a:t>
            </a:r>
            <a:endParaRPr lang="en-US" sz="2400" dirty="0"/>
          </a:p>
        </p:txBody>
      </p:sp>
      <p:sp>
        <p:nvSpPr>
          <p:cNvPr id="3" name="grp_138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200" dirty="0"/>
          </a:p>
        </p:txBody>
      </p:sp>
      <p:sp>
        <p:nvSpPr>
          <p:cNvPr id="4" name="text_139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中国系はなぜ日系からシェアを取れたのか</a:t>
            </a:r>
            <a:endParaRPr lang="en-US" sz="1600" dirty="0"/>
          </a:p>
        </p:txBody>
      </p:sp>
      <p:sp>
        <p:nvSpPr>
          <p:cNvPr id="5" name="shape_140"/>
          <p:cNvSpPr/>
          <p:nvPr/>
        </p:nvSpPr>
        <p:spPr>
          <a:xfrm>
            <a:off x="411480" y="1645920"/>
            <a:ext cx="278892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_141"/>
          <p:cNvSpPr/>
          <p:nvPr/>
        </p:nvSpPr>
        <p:spPr>
          <a:xfrm>
            <a:off x="411480" y="175564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7" name="text_142"/>
          <p:cNvSpPr txBox="1"/>
          <p:nvPr/>
        </p:nvSpPr>
        <p:spPr>
          <a:xfrm>
            <a:off x="521208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01</a:t>
            </a:r>
            <a:endParaRPr lang="en-US" sz="1300" dirty="0"/>
          </a:p>
        </p:txBody>
      </p:sp>
      <p:sp>
        <p:nvSpPr>
          <p:cNvPr id="8" name="text_143"/>
          <p:cNvSpPr txBox="1"/>
          <p:nvPr/>
        </p:nvSpPr>
        <p:spPr>
          <a:xfrm>
            <a:off x="594360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政策支援</a:t>
            </a:r>
            <a:endParaRPr lang="en-US" sz="2100" dirty="0"/>
          </a:p>
        </p:txBody>
      </p:sp>
      <p:sp>
        <p:nvSpPr>
          <p:cNvPr id="9" name="text_144"/>
          <p:cNvSpPr txBox="1"/>
          <p:nvPr/>
        </p:nvSpPr>
        <p:spPr>
          <a:xfrm>
            <a:off x="594360" y="27889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中国製EVの関税 0%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（日本製は20%）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 最大15万バーツ</a:t>
            </a:r>
            <a:endParaRPr lang="en-US" sz="1500" dirty="0"/>
          </a:p>
        </p:txBody>
      </p:sp>
      <p:sp>
        <p:nvSpPr>
          <p:cNvPr id="10" name="shape_145"/>
          <p:cNvSpPr/>
          <p:nvPr/>
        </p:nvSpPr>
        <p:spPr>
          <a:xfrm>
            <a:off x="3328416" y="2656332"/>
            <a:ext cx="493776" cy="493776"/>
          </a:xfrm>
          <a:prstGeom prst="mathMultiply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1" name="shape_146"/>
          <p:cNvSpPr/>
          <p:nvPr/>
        </p:nvSpPr>
        <p:spPr>
          <a:xfrm>
            <a:off x="3950208" y="1645920"/>
            <a:ext cx="278892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_147"/>
          <p:cNvSpPr/>
          <p:nvPr/>
        </p:nvSpPr>
        <p:spPr>
          <a:xfrm>
            <a:off x="3950208" y="175564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3" name="text_148"/>
          <p:cNvSpPr txBox="1"/>
          <p:nvPr/>
        </p:nvSpPr>
        <p:spPr>
          <a:xfrm>
            <a:off x="4059936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02</a:t>
            </a:r>
            <a:endParaRPr lang="en-US" sz="1300" dirty="0"/>
          </a:p>
        </p:txBody>
      </p:sp>
      <p:sp>
        <p:nvSpPr>
          <p:cNvPr id="14" name="text_149"/>
          <p:cNvSpPr txBox="1"/>
          <p:nvPr/>
        </p:nvSpPr>
        <p:spPr>
          <a:xfrm>
            <a:off x="4133088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供給力</a:t>
            </a:r>
            <a:endParaRPr lang="en-US" sz="2100" dirty="0"/>
          </a:p>
        </p:txBody>
      </p:sp>
      <p:sp>
        <p:nvSpPr>
          <p:cNvPr id="15" name="text_150"/>
          <p:cNvSpPr txBox="1"/>
          <p:nvPr/>
        </p:nvSpPr>
        <p:spPr>
          <a:xfrm>
            <a:off x="4133088" y="27889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承認BEV能力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38.6万台／年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輸入1台に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現地生産2〜3台</a:t>
            </a:r>
            <a:endParaRPr lang="en-US" sz="1500" dirty="0"/>
          </a:p>
        </p:txBody>
      </p:sp>
      <p:sp>
        <p:nvSpPr>
          <p:cNvPr id="16" name="shape_151"/>
          <p:cNvSpPr/>
          <p:nvPr/>
        </p:nvSpPr>
        <p:spPr>
          <a:xfrm>
            <a:off x="6867144" y="2656332"/>
            <a:ext cx="493776" cy="493776"/>
          </a:xfrm>
          <a:prstGeom prst="mathMultiply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7" name="shape_152"/>
          <p:cNvSpPr/>
          <p:nvPr/>
        </p:nvSpPr>
        <p:spPr>
          <a:xfrm>
            <a:off x="7488936" y="1645920"/>
            <a:ext cx="278892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_153"/>
          <p:cNvSpPr/>
          <p:nvPr/>
        </p:nvSpPr>
        <p:spPr>
          <a:xfrm>
            <a:off x="7488936" y="175564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9" name="text_154"/>
          <p:cNvSpPr txBox="1"/>
          <p:nvPr/>
        </p:nvSpPr>
        <p:spPr>
          <a:xfrm>
            <a:off x="7598664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03</a:t>
            </a:r>
            <a:endParaRPr lang="en-US" sz="1300" dirty="0"/>
          </a:p>
        </p:txBody>
      </p:sp>
      <p:sp>
        <p:nvSpPr>
          <p:cNvPr id="20" name="text_155"/>
          <p:cNvSpPr txBox="1"/>
          <p:nvPr/>
        </p:nvSpPr>
        <p:spPr>
          <a:xfrm>
            <a:off x="7671816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価格競争</a:t>
            </a:r>
            <a:endParaRPr lang="en-US" sz="2100" dirty="0"/>
          </a:p>
        </p:txBody>
      </p:sp>
      <p:sp>
        <p:nvSpPr>
          <p:cNvPr id="21" name="text_156"/>
          <p:cNvSpPr txBox="1"/>
          <p:nvPr/>
        </p:nvSpPr>
        <p:spPr>
          <a:xfrm>
            <a:off x="7671816" y="27889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3 −25〜36%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中国の自動車産業の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利益率 3.4%</a:t>
            </a:r>
            <a:endParaRPr lang="en-US" sz="1500" dirty="0"/>
          </a:p>
        </p:txBody>
      </p:sp>
      <p:sp>
        <p:nvSpPr>
          <p:cNvPr id="22" name="shape_157"/>
          <p:cNvSpPr/>
          <p:nvPr/>
        </p:nvSpPr>
        <p:spPr>
          <a:xfrm>
            <a:off x="5024628" y="4297680"/>
            <a:ext cx="640080" cy="457200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23" name="summary_158"/>
          <p:cNvSpPr/>
          <p:nvPr/>
        </p:nvSpPr>
        <p:spPr>
          <a:xfrm>
            <a:off x="1143000" y="4846320"/>
            <a:ext cx="8403336" cy="777240"/>
          </a:xfrm>
          <a:prstGeom prst="roundRect">
            <a:avLst>
              <a:gd name="adj" fmla="val 11765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BEV市場が前年比 +85%。日系はBEVの商品がなく、ほぼ不戦敗</a:t>
            </a:r>
            <a:endParaRPr lang="en-US" sz="1800" dirty="0"/>
          </a:p>
        </p:txBody>
      </p:sp>
      <p:sp>
        <p:nvSpPr>
          <p:cNvPr id="24" name="shape_159"/>
          <p:cNvSpPr/>
          <p:nvPr/>
        </p:nvSpPr>
        <p:spPr>
          <a:xfrm>
            <a:off x="411480" y="5943600"/>
            <a:ext cx="479602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25" name="fslabel_160"/>
          <p:cNvSpPr/>
          <p:nvPr/>
        </p:nvSpPr>
        <p:spPr>
          <a:xfrm>
            <a:off x="2100834" y="580644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26" name="text_161"/>
          <p:cNvSpPr txBox="1"/>
          <p:nvPr/>
        </p:nvSpPr>
        <p:spPr>
          <a:xfrm>
            <a:off x="640080" y="6126480"/>
            <a:ext cx="4338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正面の価格勝負より、日系不在の市場で伸びた</a:t>
            </a:r>
            <a:endParaRPr lang="en-US" sz="1600" dirty="0"/>
          </a:p>
        </p:txBody>
      </p:sp>
      <p:sp>
        <p:nvSpPr>
          <p:cNvPr id="27" name="shape_162"/>
          <p:cNvSpPr/>
          <p:nvPr/>
        </p:nvSpPr>
        <p:spPr>
          <a:xfrm>
            <a:off x="5481828" y="5943600"/>
            <a:ext cx="479602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28" name="fslabel_163"/>
          <p:cNvSpPr/>
          <p:nvPr/>
        </p:nvSpPr>
        <p:spPr>
          <a:xfrm>
            <a:off x="7361682" y="5806440"/>
            <a:ext cx="1036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あわせて</a:t>
            </a:r>
            <a:endParaRPr lang="en-US" sz="1500" dirty="0"/>
          </a:p>
        </p:txBody>
      </p:sp>
      <p:sp>
        <p:nvSpPr>
          <p:cNvPr id="29" name="text_164"/>
          <p:cNvSpPr txBox="1"/>
          <p:nvPr/>
        </p:nvSpPr>
        <p:spPr>
          <a:xfrm>
            <a:off x="5710428" y="6126480"/>
            <a:ext cx="4338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BEV以外では日系シェア </a:t>
            </a:r>
            <a:pPr algn="ctr" indent="0" marL="0">
              <a:buNone/>
            </a:pPr>
            <a:r>
              <a:rPr lang="en-US" sz="16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86%→88%</a:t>
            </a:r>
            <a:endParaRPr lang="en-US" sz="1600" dirty="0"/>
          </a:p>
        </p:txBody>
      </p:sp>
      <p:sp>
        <p:nvSpPr>
          <p:cNvPr id="30" name="text_165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出典：BOI（2023〜2025年）、物品税局、CPCA、JETRO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分析②　買う時はEVが安い。保有費は値引きと残価しだい</a:t>
            </a:r>
            <a:endParaRPr lang="en-US" sz="2400" dirty="0"/>
          </a:p>
        </p:txBody>
      </p:sp>
      <p:sp>
        <p:nvSpPr>
          <p:cNvPr id="3" name="grp_166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200" dirty="0"/>
          </a:p>
        </p:txBody>
      </p:sp>
      <p:sp>
        <p:nvSpPr>
          <p:cNvPr id="4" name="text_167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EVは日系車より安く、燃費（電費）が良いのか</a:t>
            </a:r>
            <a:endParaRPr lang="en-US" sz="1600" dirty="0"/>
          </a:p>
        </p:txBody>
      </p:sp>
      <p:graphicFrame>
        <p:nvGraphicFramePr>
          <p:cNvPr id="5" name="chart_price" descr=""/>
          <p:cNvGraphicFramePr/>
          <p:nvPr/>
        </p:nvGraphicFramePr>
        <p:xfrm>
          <a:off x="411480" y="160020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_tco" descr=""/>
          <p:cNvGraphicFramePr/>
          <p:nvPr/>
        </p:nvGraphicFramePr>
        <p:xfrm>
          <a:off x="5760720" y="1600200"/>
          <a:ext cx="4517136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_168"/>
          <p:cNvSpPr/>
          <p:nvPr/>
        </p:nvSpPr>
        <p:spPr>
          <a:xfrm>
            <a:off x="411480" y="5212080"/>
            <a:ext cx="18288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8" name="text_169"/>
          <p:cNvSpPr txBox="1"/>
          <p:nvPr/>
        </p:nvSpPr>
        <p:spPr>
          <a:xfrm>
            <a:off x="658368" y="5138928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300" dirty="0"/>
          </a:p>
        </p:txBody>
      </p:sp>
      <p:sp>
        <p:nvSpPr>
          <p:cNvPr id="9" name="shape_170"/>
          <p:cNvSpPr/>
          <p:nvPr/>
        </p:nvSpPr>
        <p:spPr>
          <a:xfrm>
            <a:off x="1473708" y="5212080"/>
            <a:ext cx="18288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_171"/>
          <p:cNvSpPr txBox="1"/>
          <p:nvPr/>
        </p:nvSpPr>
        <p:spPr>
          <a:xfrm>
            <a:off x="1720596" y="5138928"/>
            <a:ext cx="42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300" dirty="0"/>
          </a:p>
        </p:txBody>
      </p:sp>
      <p:sp>
        <p:nvSpPr>
          <p:cNvPr id="11" name="shape_172"/>
          <p:cNvSpPr/>
          <p:nvPr/>
        </p:nvSpPr>
        <p:spPr>
          <a:xfrm>
            <a:off x="411480" y="5577840"/>
            <a:ext cx="47960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2" name="fslabel_173"/>
          <p:cNvSpPr/>
          <p:nvPr/>
        </p:nvSpPr>
        <p:spPr>
          <a:xfrm>
            <a:off x="2100834" y="54406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3" name="text_174"/>
          <p:cNvSpPr txBox="1"/>
          <p:nvPr/>
        </p:nvSpPr>
        <p:spPr>
          <a:xfrm>
            <a:off x="640080" y="5779008"/>
            <a:ext cx="43388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保有費では、値引きがないとEVが高い</a:t>
            </a:r>
            <a:endParaRPr lang="en-US" sz="1600" dirty="0"/>
          </a:p>
        </p:txBody>
      </p:sp>
      <p:sp>
        <p:nvSpPr>
          <p:cNvPr id="14" name="summary_175"/>
          <p:cNvSpPr/>
          <p:nvPr/>
        </p:nvSpPr>
        <p:spPr>
          <a:xfrm>
            <a:off x="5481828" y="5440680"/>
            <a:ext cx="4796028" cy="1188720"/>
          </a:xfrm>
          <a:prstGeom prst="roundRect">
            <a:avLst>
              <a:gd name="adj" fmla="val 769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</a:t>
            </a:r>
            <a:pPr algn="ctr" indent="0" marL="0">
              <a:buNone/>
            </a:pPr>
            <a:r>
              <a:rPr lang="en-US" sz="18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残価と保有費</a:t>
            </a:r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で戦える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入口価格の差は埋まらない</a:t>
            </a:r>
            <a:endParaRPr lang="en-US" sz="1800" dirty="0"/>
          </a:p>
        </p:txBody>
      </p:sp>
      <p:sp>
        <p:nvSpPr>
          <p:cNvPr id="15" name="text_17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出典：各社の価格表（2026年10月）、IEA（2026年）。保有費は年1.5万km・残価等を仮定した試算（付録）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分析③　中古EVが安いのは、電池劣化より新車値下げのため</a:t>
            </a:r>
            <a:endParaRPr lang="en-US" sz="2400" dirty="0"/>
          </a:p>
        </p:txBody>
      </p:sp>
      <p:sp>
        <p:nvSpPr>
          <p:cNvPr id="3" name="grp_177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200" dirty="0"/>
          </a:p>
        </p:txBody>
      </p:sp>
      <p:sp>
        <p:nvSpPr>
          <p:cNvPr id="4" name="text_178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中古EVはなぜ安いのか。電池劣化のためか</a:t>
            </a:r>
            <a:endParaRPr lang="en-US" sz="1600" dirty="0"/>
          </a:p>
        </p:txBody>
      </p:sp>
      <p:graphicFrame>
        <p:nvGraphicFramePr>
          <p:cNvPr id="5" name="chart_used" descr=""/>
          <p:cNvGraphicFramePr/>
          <p:nvPr/>
        </p:nvGraphicFramePr>
        <p:xfrm>
          <a:off x="411480" y="1600200"/>
          <a:ext cx="5577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_179"/>
          <p:cNvSpPr/>
          <p:nvPr/>
        </p:nvSpPr>
        <p:spPr>
          <a:xfrm>
            <a:off x="6263640" y="1600200"/>
            <a:ext cx="4014216" cy="3429000"/>
          </a:xfrm>
          <a:prstGeom prst="roundRect">
            <a:avLst>
              <a:gd name="adj" fmla="val 266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7" name="tab_180"/>
          <p:cNvSpPr/>
          <p:nvPr/>
        </p:nvSpPr>
        <p:spPr>
          <a:xfrm>
            <a:off x="6373368" y="1691640"/>
            <a:ext cx="1974088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値下がりの2つの要因</a:t>
            </a:r>
            <a:endParaRPr lang="en-US" sz="1400" dirty="0"/>
          </a:p>
        </p:txBody>
      </p:sp>
      <p:sp>
        <p:nvSpPr>
          <p:cNvPr id="8" name="text_181"/>
          <p:cNvSpPr txBox="1"/>
          <p:nvPr/>
        </p:nvSpPr>
        <p:spPr>
          <a:xfrm>
            <a:off x="6492240" y="2148840"/>
            <a:ext cx="355701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2.3%／年</a:t>
            </a:r>
            <a:endParaRPr lang="en-US" sz="2800" dirty="0"/>
          </a:p>
        </p:txBody>
      </p:sp>
      <p:sp>
        <p:nvSpPr>
          <p:cNvPr id="9" name="text_182"/>
          <p:cNvSpPr txBox="1"/>
          <p:nvPr/>
        </p:nvSpPr>
        <p:spPr>
          <a:xfrm>
            <a:off x="6492240" y="261112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電池容量の平均劣化（実車2.3万台）</a:t>
            </a:r>
            <a:endParaRPr lang="en-US" sz="1400" dirty="0"/>
          </a:p>
        </p:txBody>
      </p:sp>
      <p:sp>
        <p:nvSpPr>
          <p:cNvPr id="10" name="text_183"/>
          <p:cNvSpPr txBox="1"/>
          <p:nvPr/>
        </p:nvSpPr>
        <p:spPr>
          <a:xfrm>
            <a:off x="6492240" y="3246120"/>
            <a:ext cx="355701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−25〜36%</a:t>
            </a:r>
            <a:endParaRPr lang="en-US" sz="2800" dirty="0"/>
          </a:p>
        </p:txBody>
      </p:sp>
      <p:sp>
        <p:nvSpPr>
          <p:cNvPr id="11" name="text_184"/>
          <p:cNvSpPr txBox="1"/>
          <p:nvPr/>
        </p:nvSpPr>
        <p:spPr>
          <a:xfrm>
            <a:off x="6492240" y="370840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3の新車価格（120万→通常90万・特価77万）</a:t>
            </a:r>
            <a:endParaRPr lang="en-US" sz="1400" dirty="0"/>
          </a:p>
        </p:txBody>
      </p:sp>
      <p:sp>
        <p:nvSpPr>
          <p:cNvPr id="12" name="shape_185"/>
          <p:cNvSpPr/>
          <p:nvPr/>
        </p:nvSpPr>
        <p:spPr>
          <a:xfrm>
            <a:off x="411480" y="5349240"/>
            <a:ext cx="479602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3" name="fslabel_186"/>
          <p:cNvSpPr/>
          <p:nvPr/>
        </p:nvSpPr>
        <p:spPr>
          <a:xfrm>
            <a:off x="2100834" y="52120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4" name="text_187"/>
          <p:cNvSpPr txBox="1"/>
          <p:nvPr/>
        </p:nvSpPr>
        <p:spPr>
          <a:xfrm>
            <a:off x="640080" y="5559552"/>
            <a:ext cx="4338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24ptの差のうち、新車値下げで説明できるのは13〜22pt（通常価格〜特価）</a:t>
            </a:r>
            <a:endParaRPr lang="en-US" sz="1600" dirty="0"/>
          </a:p>
        </p:txBody>
      </p:sp>
      <p:sp>
        <p:nvSpPr>
          <p:cNvPr id="15" name="summary_188"/>
          <p:cNvSpPr/>
          <p:nvPr/>
        </p:nvSpPr>
        <p:spPr>
          <a:xfrm>
            <a:off x="5481828" y="5212080"/>
            <a:ext cx="4796028" cy="1371600"/>
          </a:xfrm>
          <a:prstGeom prst="roundRect">
            <a:avLst>
              <a:gd name="adj" fmla="val 666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中古を下げる最大の要因は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新車値下げと世代の陳腐化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電池劣化の寄与は、残りの最大11ptの中</a:t>
            </a:r>
            <a:endParaRPr lang="en-US" sz="1700" dirty="0"/>
          </a:p>
        </p:txBody>
      </p:sp>
      <p:sp>
        <p:nvSpPr>
          <p:cNvPr id="16" name="text_18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出典：One2car（2026年10月、N=7・5）、Geotab（2026年1月）、BYD Rêver。SOH・成約価格は未取得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改良の中身　日系 vs 中国系（タイの販売カタログ）</a:t>
            </a:r>
            <a:endParaRPr lang="en-US" sz="2400" dirty="0"/>
          </a:p>
        </p:txBody>
      </p:sp>
      <p:sp>
        <p:nvSpPr>
          <p:cNvPr id="3" name="shape_190"/>
          <p:cNvSpPr/>
          <p:nvPr/>
        </p:nvSpPr>
        <p:spPr>
          <a:xfrm>
            <a:off x="411480" y="1097280"/>
            <a:ext cx="479602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ch_191"/>
          <p:cNvSpPr/>
          <p:nvPr/>
        </p:nvSpPr>
        <p:spPr>
          <a:xfrm>
            <a:off x="429768" y="1115568"/>
            <a:ext cx="4759452" cy="43891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 Corolla Cross HEV</a:t>
            </a:r>
            <a:endParaRPr lang="en-US" sz="1700" dirty="0"/>
          </a:p>
        </p:txBody>
      </p:sp>
      <p:sp>
        <p:nvSpPr>
          <p:cNvPr id="5" name="pc_192"/>
          <p:cNvSpPr/>
          <p:nvPr/>
        </p:nvSpPr>
        <p:spPr>
          <a:xfrm>
            <a:off x="594360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6" name="pc_193"/>
          <p:cNvSpPr/>
          <p:nvPr/>
        </p:nvSpPr>
        <p:spPr>
          <a:xfrm>
            <a:off x="2900934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7" name="shape_194"/>
          <p:cNvSpPr/>
          <p:nvPr/>
        </p:nvSpPr>
        <p:spPr>
          <a:xfrm>
            <a:off x="2699766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195"/>
          <p:cNvSpPr/>
          <p:nvPr/>
        </p:nvSpPr>
        <p:spPr>
          <a:xfrm>
            <a:off x="2791938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14" name="table_1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52928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グリル・灯火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画面・装備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画面・電動パーキング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駆動系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1.8L HEV 122PS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燃費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 4.3L/100km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同じ駆動系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価格（最上級）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_197"/>
          <p:cNvSpPr/>
          <p:nvPr/>
        </p:nvSpPr>
        <p:spPr>
          <a:xfrm>
            <a:off x="5481828" y="1097280"/>
            <a:ext cx="479602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11" name="ch_198"/>
          <p:cNvSpPr/>
          <p:nvPr/>
        </p:nvSpPr>
        <p:spPr>
          <a:xfrm>
            <a:off x="5500116" y="1115568"/>
            <a:ext cx="4759452" cy="438912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Atto 3</a:t>
            </a:r>
            <a:endParaRPr lang="en-US" sz="1700" dirty="0"/>
          </a:p>
        </p:txBody>
      </p:sp>
      <p:sp>
        <p:nvSpPr>
          <p:cNvPr id="12" name="pc_199"/>
          <p:cNvSpPr/>
          <p:nvPr/>
        </p:nvSpPr>
        <p:spPr>
          <a:xfrm>
            <a:off x="5664708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MY2023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3" name="pc_200"/>
          <p:cNvSpPr/>
          <p:nvPr/>
        </p:nvSpPr>
        <p:spPr>
          <a:xfrm>
            <a:off x="7971282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MY2024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4" name="shape_201"/>
          <p:cNvSpPr/>
          <p:nvPr/>
        </p:nvSpPr>
        <p:spPr>
          <a:xfrm>
            <a:off x="7770114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shape_202"/>
          <p:cNvSpPr/>
          <p:nvPr/>
        </p:nvSpPr>
        <p:spPr>
          <a:xfrm>
            <a:off x="7862286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27" name="table_2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18988" y="2852928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MY2023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MY2024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ピラー色・ロゴ・タイヤ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画面・装備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電池（標準）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49.92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50.25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航続（NEDC）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410／480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価格（長距離）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119.99万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89.99万（特価77万）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</a:tbl>
          </a:graphicData>
        </a:graphic>
      </p:graphicFrame>
      <p:sp>
        <p:nvSpPr>
          <p:cNvPr id="17" name="shape_204"/>
          <p:cNvSpPr/>
          <p:nvPr/>
        </p:nvSpPr>
        <p:spPr>
          <a:xfrm>
            <a:off x="411480" y="5971032"/>
            <a:ext cx="182880" cy="182880"/>
          </a:xfrm>
          <a:prstGeom prst="rect">
            <a:avLst/>
          </a:prstGeom>
          <a:solidFill>
            <a:srgbClr val="FFF200"/>
          </a:solidFill>
          <a:ln w="12700">
            <a:solidFill>
              <a:srgbClr val="FFF200"/>
            </a:solidFill>
            <a:prstDash val="solid"/>
          </a:ln>
        </p:spPr>
      </p:sp>
      <p:sp>
        <p:nvSpPr>
          <p:cNvPr id="18" name="text_205"/>
          <p:cNvSpPr txBox="1"/>
          <p:nvPr/>
        </p:nvSpPr>
        <p:spPr>
          <a:xfrm>
            <a:off x="658368" y="5897880"/>
            <a:ext cx="108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変わった項目</a:t>
            </a:r>
            <a:endParaRPr lang="en-US" sz="1300" dirty="0"/>
          </a:p>
        </p:txBody>
      </p:sp>
      <p:sp>
        <p:nvSpPr>
          <p:cNvPr id="19" name="summary_206"/>
          <p:cNvSpPr/>
          <p:nvPr/>
        </p:nvSpPr>
        <p:spPr>
          <a:xfrm>
            <a:off x="2788920" y="5897880"/>
            <a:ext cx="7488936" cy="960120"/>
          </a:xfrm>
          <a:prstGeom prst="roundRect">
            <a:avLst>
              <a:gd name="adj" fmla="val 9524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どちらも駆動系はほぼ同じ。違いは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日系は外内装、中国系は画面と価格を変える</a:t>
            </a:r>
            <a:endParaRPr lang="en-US" sz="1700" dirty="0"/>
          </a:p>
        </p:txBody>
      </p:sp>
      <p:sp>
        <p:nvSpPr>
          <p:cNvPr id="20" name="text_20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出典：Toyota（2020年7月、2024年2月）、BYD Rêver、BYD販売店（2024年4月）。価格はバーツ、Atto 3の値下げは2024年7月以降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改良の中身　中国系どうし（タイの販売カタログ）</a:t>
            </a:r>
            <a:endParaRPr lang="en-US" sz="2400" dirty="0"/>
          </a:p>
        </p:txBody>
      </p:sp>
      <p:sp>
        <p:nvSpPr>
          <p:cNvPr id="3" name="shape_208"/>
          <p:cNvSpPr/>
          <p:nvPr/>
        </p:nvSpPr>
        <p:spPr>
          <a:xfrm>
            <a:off x="411480" y="1097280"/>
            <a:ext cx="479602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4" name="ch_209"/>
          <p:cNvSpPr/>
          <p:nvPr/>
        </p:nvSpPr>
        <p:spPr>
          <a:xfrm>
            <a:off x="429768" y="1115568"/>
            <a:ext cx="4759452" cy="438912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Dolphin（標準）</a:t>
            </a:r>
            <a:endParaRPr lang="en-US" sz="1700" dirty="0"/>
          </a:p>
        </p:txBody>
      </p:sp>
      <p:sp>
        <p:nvSpPr>
          <p:cNvPr id="5" name="pc_210"/>
          <p:cNvSpPr/>
          <p:nvPr/>
        </p:nvSpPr>
        <p:spPr>
          <a:xfrm>
            <a:off x="594360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2023年7月 輸入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6" name="pc_211"/>
          <p:cNvSpPr/>
          <p:nvPr/>
        </p:nvSpPr>
        <p:spPr>
          <a:xfrm>
            <a:off x="2900934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 タイ生産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7" name="shape_212"/>
          <p:cNvSpPr/>
          <p:nvPr/>
        </p:nvSpPr>
        <p:spPr>
          <a:xfrm>
            <a:off x="2699766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213"/>
          <p:cNvSpPr/>
          <p:nvPr/>
        </p:nvSpPr>
        <p:spPr>
          <a:xfrm>
            <a:off x="2791938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15" name="table_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52928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2023年7月 輸入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2024年 タイ生産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ツートン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単色・新色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44.9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50.25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航続（NEDC）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中国から輸入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タイで生産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70.0万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56.99万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</a:tbl>
          </a:graphicData>
        </a:graphic>
      </p:graphicFrame>
      <p:sp>
        <p:nvSpPr>
          <p:cNvPr id="10" name="shape_215"/>
          <p:cNvSpPr/>
          <p:nvPr/>
        </p:nvSpPr>
        <p:spPr>
          <a:xfrm>
            <a:off x="5481828" y="1097280"/>
            <a:ext cx="479602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11" name="ch_216"/>
          <p:cNvSpPr/>
          <p:nvPr/>
        </p:nvSpPr>
        <p:spPr>
          <a:xfrm>
            <a:off x="5500116" y="1115568"/>
            <a:ext cx="4759452" cy="438912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Omoda C5 EV</a:t>
            </a:r>
            <a:endParaRPr lang="en-US" sz="1700" dirty="0"/>
          </a:p>
        </p:txBody>
      </p:sp>
      <p:sp>
        <p:nvSpPr>
          <p:cNvPr id="12" name="pc_217"/>
          <p:cNvSpPr/>
          <p:nvPr/>
        </p:nvSpPr>
        <p:spPr>
          <a:xfrm>
            <a:off x="5664708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3" name="pc_218"/>
          <p:cNvSpPr/>
          <p:nvPr/>
        </p:nvSpPr>
        <p:spPr>
          <a:xfrm>
            <a:off x="7971282" y="1664208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2026年9月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4" name="shape_219"/>
          <p:cNvSpPr/>
          <p:nvPr/>
        </p:nvSpPr>
        <p:spPr>
          <a:xfrm>
            <a:off x="7770114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shape_220"/>
          <p:cNvSpPr/>
          <p:nvPr/>
        </p:nvSpPr>
        <p:spPr>
          <a:xfrm>
            <a:off x="7862286" y="2011680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29" name="table_2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18988" y="2852928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前面・全長を変更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50.6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航続（NEDC）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89.9万〜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70.9万（限定64.9万）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</a:tbl>
          </a:graphicData>
        </a:graphic>
      </p:graphicFrame>
      <p:sp>
        <p:nvSpPr>
          <p:cNvPr id="17" name="shape_222"/>
          <p:cNvSpPr/>
          <p:nvPr/>
        </p:nvSpPr>
        <p:spPr>
          <a:xfrm>
            <a:off x="411480" y="5971032"/>
            <a:ext cx="182880" cy="182880"/>
          </a:xfrm>
          <a:prstGeom prst="rect">
            <a:avLst/>
          </a:prstGeom>
          <a:solidFill>
            <a:srgbClr val="FFF200"/>
          </a:solidFill>
          <a:ln w="12700">
            <a:solidFill>
              <a:srgbClr val="FFF200"/>
            </a:solidFill>
            <a:prstDash val="solid"/>
          </a:ln>
        </p:spPr>
      </p:sp>
      <p:sp>
        <p:nvSpPr>
          <p:cNvPr id="18" name="text_223"/>
          <p:cNvSpPr txBox="1"/>
          <p:nvPr/>
        </p:nvSpPr>
        <p:spPr>
          <a:xfrm>
            <a:off x="658368" y="5897880"/>
            <a:ext cx="108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変わった項目</a:t>
            </a:r>
            <a:endParaRPr lang="en-US" sz="1300" dirty="0"/>
          </a:p>
        </p:txBody>
      </p:sp>
      <p:sp>
        <p:nvSpPr>
          <p:cNvPr id="19" name="summary_224"/>
          <p:cNvSpPr/>
          <p:nvPr/>
        </p:nvSpPr>
        <p:spPr>
          <a:xfrm>
            <a:off x="2788920" y="5897880"/>
            <a:ext cx="7488936" cy="960120"/>
          </a:xfrm>
          <a:prstGeom prst="roundRect">
            <a:avLst>
              <a:gd name="adj" fmla="val 9524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同じ中国系でも方向は逆。Dolphinは電池を増やし、Omodaは減らした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共通するのは「タイ生産にして値段を下げる」こと</a:t>
            </a:r>
            <a:endParaRPr lang="en-US" sz="1700" dirty="0"/>
          </a:p>
        </p:txBody>
      </p:sp>
      <p:sp>
        <p:nvSpPr>
          <p:cNvPr id="20" name="text_225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出典：BYD販売店・BYD Rêver（2024年）、The Standard（2023年）、Chobrod（2024年8月）、Omoda &amp; Jaecoo（2026年9月）。価格はバーツ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分析④　改良は速いが、航続は伸びず電池は安く小さく</a:t>
            </a:r>
            <a:endParaRPr lang="en-US" sz="2400" dirty="0"/>
          </a:p>
        </p:txBody>
      </p:sp>
      <p:sp>
        <p:nvSpPr>
          <p:cNvPr id="3" name="grp_226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</a:t>
            </a:r>
            <a:endParaRPr lang="en-US" sz="1200" dirty="0"/>
          </a:p>
        </p:txBody>
      </p:sp>
      <p:sp>
        <p:nvSpPr>
          <p:cNvPr id="4" name="text_227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中国系のモデルチェンジは速いか。何が変わっているか</a:t>
            </a:r>
            <a:endParaRPr lang="en-US" sz="1600" dirty="0"/>
          </a:p>
        </p:txBody>
      </p:sp>
      <p:graphicFrame>
        <p:nvGraphicFramePr>
          <p:cNvPr id="5" name="chart_batt" descr=""/>
          <p:cNvGraphicFramePr/>
          <p:nvPr/>
        </p:nvGraphicFramePr>
        <p:xfrm>
          <a:off x="411480" y="1600200"/>
          <a:ext cx="5577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_228"/>
          <p:cNvSpPr/>
          <p:nvPr/>
        </p:nvSpPr>
        <p:spPr>
          <a:xfrm>
            <a:off x="6263640" y="1600200"/>
            <a:ext cx="4014216" cy="3429000"/>
          </a:xfrm>
          <a:prstGeom prst="roundRect">
            <a:avLst>
              <a:gd name="adj" fmla="val 266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7" name="tab_229"/>
          <p:cNvSpPr/>
          <p:nvPr/>
        </p:nvSpPr>
        <p:spPr>
          <a:xfrm>
            <a:off x="6373368" y="1691640"/>
            <a:ext cx="1561592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 vs 日系</a:t>
            </a:r>
            <a:endParaRPr lang="en-US" sz="1400" dirty="0"/>
          </a:p>
        </p:txBody>
      </p:sp>
      <p:sp>
        <p:nvSpPr>
          <p:cNvPr id="8" name="text_230"/>
          <p:cNvSpPr txBox="1"/>
          <p:nvPr/>
        </p:nvSpPr>
        <p:spPr>
          <a:xfrm>
            <a:off x="6492240" y="2148840"/>
            <a:ext cx="35570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2.0年 vs 3.3年</a:t>
            </a:r>
            <a:endParaRPr lang="en-US" sz="2600" dirty="0"/>
          </a:p>
        </p:txBody>
      </p:sp>
      <p:sp>
        <p:nvSpPr>
          <p:cNvPr id="9" name="text_231"/>
          <p:cNvSpPr txBox="1"/>
          <p:nvPr/>
        </p:nvSpPr>
        <p:spPr>
          <a:xfrm>
            <a:off x="6492240" y="257810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部分改良の間隔（価格だけの変更は除く）</a:t>
            </a:r>
            <a:endParaRPr lang="en-US" sz="1400" dirty="0"/>
          </a:p>
        </p:txBody>
      </p:sp>
      <p:sp>
        <p:nvSpPr>
          <p:cNvPr id="10" name="text_232"/>
          <p:cNvSpPr txBox="1"/>
          <p:nvPr/>
        </p:nvSpPr>
        <p:spPr>
          <a:xfrm>
            <a:off x="6492240" y="3108960"/>
            <a:ext cx="17373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000" dirty="0"/>
          </a:p>
        </p:txBody>
      </p:sp>
      <p:sp>
        <p:nvSpPr>
          <p:cNvPr id="11" name="text_233"/>
          <p:cNvSpPr txBox="1"/>
          <p:nvPr/>
        </p:nvSpPr>
        <p:spPr>
          <a:xfrm>
            <a:off x="6492240" y="36042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航続の変化（中央値）</a:t>
            </a:r>
            <a:endParaRPr lang="en-US" sz="1400" dirty="0"/>
          </a:p>
        </p:txBody>
      </p:sp>
      <p:sp>
        <p:nvSpPr>
          <p:cNvPr id="12" name="text_234"/>
          <p:cNvSpPr txBox="1"/>
          <p:nvPr/>
        </p:nvSpPr>
        <p:spPr>
          <a:xfrm>
            <a:off x="8229600" y="3108960"/>
            <a:ext cx="17373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−19%</a:t>
            </a:r>
            <a:endParaRPr lang="en-US" sz="3000" dirty="0"/>
          </a:p>
        </p:txBody>
      </p:sp>
      <p:sp>
        <p:nvSpPr>
          <p:cNvPr id="13" name="text_235"/>
          <p:cNvSpPr txBox="1"/>
          <p:nvPr/>
        </p:nvSpPr>
        <p:spPr>
          <a:xfrm>
            <a:off x="8229600" y="36042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価格の変化（中央値）</a:t>
            </a:r>
            <a:endParaRPr lang="en-US" sz="1400" dirty="0"/>
          </a:p>
        </p:txBody>
      </p:sp>
      <p:sp>
        <p:nvSpPr>
          <p:cNvPr id="14" name="text_236"/>
          <p:cNvSpPr txBox="1"/>
          <p:nvPr/>
        </p:nvSpPr>
        <p:spPr>
          <a:xfrm>
            <a:off x="6492240" y="4526280"/>
            <a:ext cx="3557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中国系13件・日系8件の改良を集計</a:t>
            </a:r>
            <a:endParaRPr lang="en-US" sz="1200" dirty="0"/>
          </a:p>
        </p:txBody>
      </p:sp>
      <p:sp>
        <p:nvSpPr>
          <p:cNvPr id="15" name="shape_237"/>
          <p:cNvSpPr/>
          <p:nvPr/>
        </p:nvSpPr>
        <p:spPr>
          <a:xfrm>
            <a:off x="411480" y="5349240"/>
            <a:ext cx="479602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6" name="fslabel_238"/>
          <p:cNvSpPr/>
          <p:nvPr/>
        </p:nvSpPr>
        <p:spPr>
          <a:xfrm>
            <a:off x="2100834" y="52120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7" name="text_239"/>
          <p:cNvSpPr txBox="1"/>
          <p:nvPr/>
        </p:nvSpPr>
        <p:spPr>
          <a:xfrm>
            <a:off x="640080" y="5559552"/>
            <a:ext cx="4338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航続は据え置き。電池は小型化して値下げに使われた</a:t>
            </a:r>
            <a:endParaRPr lang="en-US" sz="1600" dirty="0"/>
          </a:p>
        </p:txBody>
      </p:sp>
      <p:sp>
        <p:nvSpPr>
          <p:cNvPr id="18" name="summary_240"/>
          <p:cNvSpPr/>
          <p:nvPr/>
        </p:nvSpPr>
        <p:spPr>
          <a:xfrm>
            <a:off x="5481828" y="5212080"/>
            <a:ext cx="4796028" cy="1280160"/>
          </a:xfrm>
          <a:prstGeom prst="roundRect">
            <a:avLst>
              <a:gd name="adj" fmla="val 714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改良の中身は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「安く・速く充電・装備を増やす」</a:t>
            </a:r>
            <a:endParaRPr lang="en-US" sz="1700" dirty="0"/>
          </a:p>
        </p:txBody>
      </p:sp>
      <p:sp>
        <p:nvSpPr>
          <p:cNvPr id="19" name="pc_241"/>
          <p:cNvSpPr/>
          <p:nvPr/>
        </p:nvSpPr>
        <p:spPr>
          <a:xfrm>
            <a:off x="411480" y="6601968"/>
            <a:ext cx="9866376" cy="45720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S&amp;Pの改良時期 × 改良前後の月次販売（改良で販売が伸びたか）</a:t>
            </a:r>
            <a:endParaRPr lang="en-US" sz="1000" dirty="0"/>
          </a:p>
        </p:txBody>
      </p:sp>
      <p:sp>
        <p:nvSpPr>
          <p:cNvPr id="20" name="text_242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出典：各社のタイ公式資料・販売店資料。件数・中央値は価格だけの変更を含む。中国系は観測期間が短く、間隔は短めに出うる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分析⑤　日系は改良しても販売があまり変わらない</a:t>
            </a:r>
            <a:endParaRPr lang="en-US" sz="2400" dirty="0"/>
          </a:p>
        </p:txBody>
      </p:sp>
      <p:sp>
        <p:nvSpPr>
          <p:cNvPr id="3" name="grp_243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</a:t>
            </a:r>
            <a:endParaRPr lang="en-US" sz="1200" dirty="0"/>
          </a:p>
        </p:txBody>
      </p:sp>
      <p:sp>
        <p:nvSpPr>
          <p:cNvPr id="4" name="text_244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日系はモデルチェンジで販売が伸びるのか</a:t>
            </a:r>
            <a:endParaRPr lang="en-US" sz="1600" dirty="0"/>
          </a:p>
        </p:txBody>
      </p:sp>
      <p:sp>
        <p:nvSpPr>
          <p:cNvPr id="5" name="pc_245"/>
          <p:cNvSpPr/>
          <p:nvPr/>
        </p:nvSpPr>
        <p:spPr>
          <a:xfrm>
            <a:off x="411480" y="1600200"/>
            <a:ext cx="6035040" cy="365760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日系の主力車種：モデルチェンジ前後の月次販売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Cross（2024/2）、HR-V（2024/11）、Camry（2024/10）、Yaris Ativ（2025/8 HEV追加）など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変更月を0、前6か月の平均を100とした指数</a:t>
            </a:r>
            <a:endParaRPr lang="en-US" sz="1200" dirty="0"/>
          </a:p>
        </p:txBody>
      </p:sp>
      <p:sp>
        <p:nvSpPr>
          <p:cNvPr id="6" name="shape_246"/>
          <p:cNvSpPr/>
          <p:nvPr/>
        </p:nvSpPr>
        <p:spPr>
          <a:xfrm>
            <a:off x="6675120" y="1600200"/>
            <a:ext cx="3602736" cy="3657600"/>
          </a:xfrm>
          <a:prstGeom prst="roundRect">
            <a:avLst>
              <a:gd name="adj" fmla="val 2538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7" name="tab_247"/>
          <p:cNvSpPr/>
          <p:nvPr/>
        </p:nvSpPr>
        <p:spPr>
          <a:xfrm>
            <a:off x="6784848" y="1691640"/>
            <a:ext cx="2420620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わかったこと（社内データ）</a:t>
            </a:r>
            <a:endParaRPr lang="en-US" sz="1300" dirty="0"/>
          </a:p>
        </p:txBody>
      </p:sp>
      <p:sp>
        <p:nvSpPr>
          <p:cNvPr id="8" name="text_248"/>
          <p:cNvSpPr txBox="1"/>
          <p:nvPr/>
        </p:nvSpPr>
        <p:spPr>
          <a:xfrm>
            <a:off x="6858000" y="2194560"/>
            <a:ext cx="32369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改良の前後で販売はあまり変わらない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発売から数年たったモデルでも売れ続ける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全面刷新でも大きくは伸びない</a:t>
            </a:r>
            <a:endParaRPr lang="en-US" sz="1600" dirty="0"/>
          </a:p>
        </p:txBody>
      </p:sp>
      <p:sp>
        <p:nvSpPr>
          <p:cNvPr id="9" name="shape_249"/>
          <p:cNvSpPr/>
          <p:nvPr/>
        </p:nvSpPr>
        <p:spPr>
          <a:xfrm>
            <a:off x="411480" y="557784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0" name="fslabel_250"/>
          <p:cNvSpPr/>
          <p:nvPr/>
        </p:nvSpPr>
        <p:spPr>
          <a:xfrm>
            <a:off x="2100834" y="54406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1" name="text_251"/>
          <p:cNvSpPr txBox="1"/>
          <p:nvPr/>
        </p:nvSpPr>
        <p:spPr>
          <a:xfrm>
            <a:off x="640080" y="5788152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日系の販売を動かすのは、改良より車種の評判・残価・販売網</a:t>
            </a:r>
            <a:endParaRPr lang="en-US" sz="1600" dirty="0"/>
          </a:p>
        </p:txBody>
      </p:sp>
      <p:sp>
        <p:nvSpPr>
          <p:cNvPr id="12" name="summary_252"/>
          <p:cNvSpPr/>
          <p:nvPr/>
        </p:nvSpPr>
        <p:spPr>
          <a:xfrm>
            <a:off x="5481828" y="5486400"/>
            <a:ext cx="4796028" cy="1280160"/>
          </a:xfrm>
          <a:prstGeom prst="roundRect">
            <a:avLst>
              <a:gd name="adj" fmla="val 714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モデルチェンジの速さは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日系と中国系の勝敗を分けていない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日系は「長く売る」ほうが合理的</a:t>
            </a:r>
            <a:endParaRPr lang="en-US" sz="1700" dirty="0"/>
          </a:p>
        </p:txBody>
      </p:sp>
      <p:sp>
        <p:nvSpPr>
          <p:cNvPr id="13" name="text_253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出典：MarkLines、S&amp;P（社内）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分析⑥　1車種依存でも伸びる。効くのは次の車種を出す力</a:t>
            </a:r>
            <a:endParaRPr lang="en-US" sz="2400" dirty="0"/>
          </a:p>
        </p:txBody>
      </p:sp>
      <p:sp>
        <p:nvSpPr>
          <p:cNvPr id="3" name="grp_254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200" dirty="0"/>
          </a:p>
        </p:txBody>
      </p:sp>
      <p:sp>
        <p:nvSpPr>
          <p:cNvPr id="4" name="text_255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中国系どうしでは、どの企業が伸びているのか</a:t>
            </a:r>
            <a:endParaRPr lang="en-US" sz="1600" dirty="0"/>
          </a:p>
        </p:txBody>
      </p:sp>
      <p:sp>
        <p:nvSpPr>
          <p:cNvPr id="5" name="pc_256"/>
          <p:cNvSpPr/>
          <p:nvPr/>
        </p:nvSpPr>
        <p:spPr>
          <a:xfrm>
            <a:off x="411480" y="1600200"/>
            <a:ext cx="4160520" cy="35661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企業別の車種構成と販売の推移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車種構成の横棒 ＋ シェア変化 ＋ 主力の交代回数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（付録21の形）</a:t>
            </a:r>
            <a:endParaRPr lang="en-US" sz="1200" dirty="0"/>
          </a:p>
        </p:txBody>
      </p:sp>
      <p:graphicFrame>
        <p:nvGraphicFramePr>
          <p:cNvPr id="18" name="table_2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600200"/>
          <a:ext cx="5477256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475232"/>
                <a:gridCol w="1475232"/>
                <a:gridCol w="1475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Chery系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Dolphin・Atto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ほか複数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Jaecoo 5 EVが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約5割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Neta Vのみ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シェア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約40%→21.0%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—→18.5%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16.7%→0.3%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首位だが半減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新車名の連投で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2位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撤退へ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_258"/>
          <p:cNvSpPr/>
          <p:nvPr/>
        </p:nvSpPr>
        <p:spPr>
          <a:xfrm>
            <a:off x="4800600" y="1600200"/>
            <a:ext cx="5477256" cy="297180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8" name="text_259"/>
          <p:cNvSpPr txBox="1"/>
          <p:nvPr/>
        </p:nvSpPr>
        <p:spPr>
          <a:xfrm>
            <a:off x="4800600" y="4645152"/>
            <a:ext cx="5477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BEV登録に占める割合（2023年→2026年1〜6月）</a:t>
            </a:r>
            <a:endParaRPr lang="en-US" sz="1200" dirty="0"/>
          </a:p>
        </p:txBody>
      </p:sp>
      <p:sp>
        <p:nvSpPr>
          <p:cNvPr id="9" name="shape_260"/>
          <p:cNvSpPr/>
          <p:nvPr/>
        </p:nvSpPr>
        <p:spPr>
          <a:xfrm>
            <a:off x="411480" y="5440680"/>
            <a:ext cx="479602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0" name="fslabel_261"/>
          <p:cNvSpPr/>
          <p:nvPr/>
        </p:nvSpPr>
        <p:spPr>
          <a:xfrm>
            <a:off x="2100834" y="530352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1" name="text_262"/>
          <p:cNvSpPr txBox="1"/>
          <p:nvPr/>
        </p:nvSpPr>
        <p:spPr>
          <a:xfrm>
            <a:off x="640080" y="5650992"/>
            <a:ext cx="4338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1車種に頼るCheryが2位。多車種のBYDはシェアが半分に</a:t>
            </a:r>
            <a:endParaRPr lang="en-US" sz="1600" dirty="0"/>
          </a:p>
        </p:txBody>
      </p:sp>
      <p:sp>
        <p:nvSpPr>
          <p:cNvPr id="12" name="summary_263"/>
          <p:cNvSpPr/>
          <p:nvPr/>
        </p:nvSpPr>
        <p:spPr>
          <a:xfrm>
            <a:off x="5481828" y="5303520"/>
            <a:ext cx="4796028" cy="1371600"/>
          </a:xfrm>
          <a:prstGeom prst="roundRect">
            <a:avLst>
              <a:gd name="adj" fmla="val 666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強さは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次の売れる車種を出し続ける力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止まった1車種依存はNetaのように崩れる</a:t>
            </a:r>
            <a:endParaRPr lang="en-US" sz="1700" dirty="0"/>
          </a:p>
        </p:txBody>
      </p:sp>
      <p:sp>
        <p:nvSpPr>
          <p:cNvPr id="13" name="text_26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出典：Autolife（2023年）、JETRO（2026年7月）、The Nation（2026年）、MarkLines（社内）。年により出典が異なる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分析結果のロジックツリー</a:t>
            </a:r>
            <a:endParaRPr lang="en-US" sz="2400" dirty="0"/>
          </a:p>
        </p:txBody>
      </p:sp>
      <p:sp>
        <p:nvSpPr>
          <p:cNvPr id="3" name="shape_265"/>
          <p:cNvSpPr/>
          <p:nvPr/>
        </p:nvSpPr>
        <p:spPr>
          <a:xfrm>
            <a:off x="4754880" y="1143000"/>
            <a:ext cx="5522976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4" name="text_266"/>
          <p:cNvSpPr txBox="1"/>
          <p:nvPr/>
        </p:nvSpPr>
        <p:spPr>
          <a:xfrm>
            <a:off x="4937760" y="1143000"/>
            <a:ext cx="5248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政策（補助・関税0%・生産義務）でBEV市場が急拡大</a:t>
            </a:r>
            <a:endParaRPr lang="en-US" sz="1500" dirty="0"/>
          </a:p>
        </p:txBody>
      </p:sp>
      <p:sp>
        <p:nvSpPr>
          <p:cNvPr id="5" name="shape_267"/>
          <p:cNvSpPr/>
          <p:nvPr/>
        </p:nvSpPr>
        <p:spPr>
          <a:xfrm>
            <a:off x="4754880" y="1892808"/>
            <a:ext cx="5522976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6" name="text_268"/>
          <p:cNvSpPr txBox="1"/>
          <p:nvPr/>
        </p:nvSpPr>
        <p:spPr>
          <a:xfrm>
            <a:off x="4937760" y="1892808"/>
            <a:ext cx="5248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日系はBEVに商品がない → 日系の失点の大半</a:t>
            </a:r>
            <a:endParaRPr lang="en-US" sz="1500" dirty="0"/>
          </a:p>
        </p:txBody>
      </p:sp>
      <p:sp>
        <p:nvSpPr>
          <p:cNvPr id="7" name="shape_269"/>
          <p:cNvSpPr/>
          <p:nvPr/>
        </p:nvSpPr>
        <p:spPr>
          <a:xfrm>
            <a:off x="4754880" y="2642616"/>
            <a:ext cx="5522976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8" name="text_270"/>
          <p:cNvSpPr txBox="1"/>
          <p:nvPr/>
        </p:nvSpPr>
        <p:spPr>
          <a:xfrm>
            <a:off x="4937760" y="2642616"/>
            <a:ext cx="5248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EVは入口価格が安い。中古EVが安いのは主に新車値下げ</a:t>
            </a:r>
            <a:endParaRPr lang="en-US" sz="1500" dirty="0"/>
          </a:p>
        </p:txBody>
      </p:sp>
      <p:sp>
        <p:nvSpPr>
          <p:cNvPr id="9" name="node_271"/>
          <p:cNvSpPr/>
          <p:nvPr/>
        </p:nvSpPr>
        <p:spPr>
          <a:xfrm>
            <a:off x="2377440" y="1188720"/>
            <a:ext cx="1965960" cy="2048256"/>
          </a:xfrm>
          <a:prstGeom prst="roundRect">
            <a:avLst>
              <a:gd name="adj" fmla="val 4651"/>
            </a:avLst>
          </a:prstGeom>
          <a:solidFill>
            <a:srgbClr val="EEF3FB"/>
          </a:solidFill>
          <a:ln w="19050">
            <a:solidFill>
              <a:srgbClr val="4472C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600" dirty="0"/>
          </a:p>
        </p:txBody>
      </p:sp>
      <p:sp>
        <p:nvSpPr>
          <p:cNvPr id="10" name="shape_272"/>
          <p:cNvSpPr/>
          <p:nvPr/>
        </p:nvSpPr>
        <p:spPr>
          <a:xfrm>
            <a:off x="4343400" y="2212848"/>
            <a:ext cx="411480" cy="-749808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11" name="shape_273"/>
          <p:cNvSpPr/>
          <p:nvPr/>
        </p:nvSpPr>
        <p:spPr>
          <a:xfrm>
            <a:off x="4343400" y="2212848"/>
            <a:ext cx="41148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12" name="shape_274"/>
          <p:cNvSpPr/>
          <p:nvPr/>
        </p:nvSpPr>
        <p:spPr>
          <a:xfrm>
            <a:off x="4343400" y="2212848"/>
            <a:ext cx="411480" cy="749808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13" name="shape_275"/>
          <p:cNvSpPr/>
          <p:nvPr/>
        </p:nvSpPr>
        <p:spPr>
          <a:xfrm>
            <a:off x="4754880" y="3593592"/>
            <a:ext cx="5522976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1E9C96"/>
            </a:solidFill>
            <a:prstDash val="solid"/>
          </a:ln>
        </p:spPr>
      </p:sp>
      <p:sp>
        <p:nvSpPr>
          <p:cNvPr id="14" name="text_276"/>
          <p:cNvSpPr txBox="1"/>
          <p:nvPr/>
        </p:nvSpPr>
        <p:spPr>
          <a:xfrm>
            <a:off x="4937760" y="3593592"/>
            <a:ext cx="5248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中国系の改良は速いが、中身は値下げ・充電・装備</a:t>
            </a:r>
            <a:endParaRPr lang="en-US" sz="1500" dirty="0"/>
          </a:p>
        </p:txBody>
      </p:sp>
      <p:sp>
        <p:nvSpPr>
          <p:cNvPr id="15" name="shape_277"/>
          <p:cNvSpPr/>
          <p:nvPr/>
        </p:nvSpPr>
        <p:spPr>
          <a:xfrm>
            <a:off x="4754880" y="4343400"/>
            <a:ext cx="5522976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1E9C96"/>
            </a:solidFill>
            <a:prstDash val="solid"/>
          </a:ln>
        </p:spPr>
      </p:sp>
      <p:sp>
        <p:nvSpPr>
          <p:cNvPr id="16" name="text_278"/>
          <p:cNvSpPr txBox="1"/>
          <p:nvPr/>
        </p:nvSpPr>
        <p:spPr>
          <a:xfrm>
            <a:off x="4937760" y="4343400"/>
            <a:ext cx="5248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日系は改良しても販売が変わらず、数年目でも売れる</a:t>
            </a:r>
            <a:endParaRPr lang="en-US" sz="1500" dirty="0"/>
          </a:p>
        </p:txBody>
      </p:sp>
      <p:sp>
        <p:nvSpPr>
          <p:cNvPr id="17" name="node_279"/>
          <p:cNvSpPr/>
          <p:nvPr/>
        </p:nvSpPr>
        <p:spPr>
          <a:xfrm>
            <a:off x="2377440" y="3639312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D3F0ED"/>
          </a:solidFill>
          <a:ln w="19050">
            <a:solidFill>
              <a:srgbClr val="1E9C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</a:t>
            </a:r>
            <a:endParaRPr lang="en-US" sz="1600" dirty="0"/>
          </a:p>
        </p:txBody>
      </p:sp>
      <p:sp>
        <p:nvSpPr>
          <p:cNvPr id="18" name="shape_280"/>
          <p:cNvSpPr/>
          <p:nvPr/>
        </p:nvSpPr>
        <p:spPr>
          <a:xfrm>
            <a:off x="4343400" y="4288536"/>
            <a:ext cx="411480" cy="-374904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19" name="shape_281"/>
          <p:cNvSpPr/>
          <p:nvPr/>
        </p:nvSpPr>
        <p:spPr>
          <a:xfrm>
            <a:off x="4343400" y="4288536"/>
            <a:ext cx="411480" cy="374904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20" name="shape_282"/>
          <p:cNvSpPr/>
          <p:nvPr/>
        </p:nvSpPr>
        <p:spPr>
          <a:xfrm>
            <a:off x="4754880" y="5294376"/>
            <a:ext cx="5522976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E8604C"/>
            </a:solidFill>
            <a:prstDash val="solid"/>
          </a:ln>
        </p:spPr>
      </p:sp>
      <p:sp>
        <p:nvSpPr>
          <p:cNvPr id="21" name="text_283"/>
          <p:cNvSpPr txBox="1"/>
          <p:nvPr/>
        </p:nvSpPr>
        <p:spPr>
          <a:xfrm>
            <a:off x="4937760" y="5294376"/>
            <a:ext cx="5248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次の売れる車種を出す力が生き残りを決める（Chery↑・Neta撤退）</a:t>
            </a:r>
            <a:endParaRPr lang="en-US" sz="1500" dirty="0"/>
          </a:p>
        </p:txBody>
      </p:sp>
      <p:sp>
        <p:nvSpPr>
          <p:cNvPr id="22" name="node_284"/>
          <p:cNvSpPr/>
          <p:nvPr/>
        </p:nvSpPr>
        <p:spPr>
          <a:xfrm>
            <a:off x="2377440" y="5271516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DEDEE"/>
          </a:solidFill>
          <a:ln w="19050">
            <a:solidFill>
              <a:srgbClr val="E8604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600" dirty="0"/>
          </a:p>
        </p:txBody>
      </p:sp>
      <p:sp>
        <p:nvSpPr>
          <p:cNvPr id="23" name="shape_285"/>
          <p:cNvSpPr/>
          <p:nvPr/>
        </p:nvSpPr>
        <p:spPr>
          <a:xfrm>
            <a:off x="4343400" y="5614416"/>
            <a:ext cx="41148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24" name="node_286"/>
          <p:cNvSpPr/>
          <p:nvPr/>
        </p:nvSpPr>
        <p:spPr>
          <a:xfrm>
            <a:off x="411480" y="3090672"/>
            <a:ext cx="1600200" cy="1645920"/>
          </a:xfrm>
          <a:prstGeom prst="roundRect">
            <a:avLst>
              <a:gd name="adj" fmla="val 5714"/>
            </a:avLst>
          </a:prstGeom>
          <a:solidFill>
            <a:srgbClr val="D3F0ED"/>
          </a:solidFill>
          <a:ln w="19050">
            <a:solidFill>
              <a:srgbClr val="40404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シェア拡大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の要因</a:t>
            </a:r>
            <a:endParaRPr lang="en-US" sz="1700" dirty="0"/>
          </a:p>
        </p:txBody>
      </p:sp>
      <p:sp>
        <p:nvSpPr>
          <p:cNvPr id="25" name="shape_287"/>
          <p:cNvSpPr/>
          <p:nvPr/>
        </p:nvSpPr>
        <p:spPr>
          <a:xfrm>
            <a:off x="2011680" y="3913632"/>
            <a:ext cx="365760" cy="-1700784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26" name="shape_288"/>
          <p:cNvSpPr/>
          <p:nvPr/>
        </p:nvSpPr>
        <p:spPr>
          <a:xfrm>
            <a:off x="2011680" y="3913632"/>
            <a:ext cx="365760" cy="374904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27" name="shape_289"/>
          <p:cNvSpPr/>
          <p:nvPr/>
        </p:nvSpPr>
        <p:spPr>
          <a:xfrm>
            <a:off x="2011680" y="3913632"/>
            <a:ext cx="365760" cy="1700784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28" name="summary_290"/>
          <p:cNvSpPr/>
          <p:nvPr/>
        </p:nvSpPr>
        <p:spPr>
          <a:xfrm>
            <a:off x="685800" y="6172200"/>
            <a:ext cx="9317736" cy="731520"/>
          </a:xfrm>
          <a:prstGeom prst="roundRect">
            <a:avLst>
              <a:gd name="adj" fmla="val 125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モデルチェンジの速さは主因ではない。主因は「BEV市場に日系の商品がない」こと</a:t>
            </a:r>
            <a:endParaRPr lang="en-US" sz="1700" dirty="0"/>
          </a:p>
        </p:txBody>
      </p:sp>
      <p:sp>
        <p:nvSpPr>
          <p:cNvPr id="29" name="text_29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出典：本資料の分析①〜⑥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日系の戦略　4つの打ち手と、中国企業との向き合い方</a:t>
            </a:r>
            <a:endParaRPr lang="en-US" sz="2400" dirty="0"/>
          </a:p>
        </p:txBody>
      </p:sp>
      <p:sp>
        <p:nvSpPr>
          <p:cNvPr id="3" name="shape_292"/>
          <p:cNvSpPr/>
          <p:nvPr/>
        </p:nvSpPr>
        <p:spPr>
          <a:xfrm>
            <a:off x="411480" y="11887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293"/>
          <p:cNvSpPr/>
          <p:nvPr/>
        </p:nvSpPr>
        <p:spPr>
          <a:xfrm>
            <a:off x="1633220" y="1014984"/>
            <a:ext cx="756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守る</a:t>
            </a:r>
            <a:endParaRPr lang="en-US" sz="1900" dirty="0"/>
          </a:p>
        </p:txBody>
      </p:sp>
      <p:sp>
        <p:nvSpPr>
          <p:cNvPr id="5" name="text_294"/>
          <p:cNvSpPr txBox="1"/>
          <p:nvPr/>
        </p:nvSpPr>
        <p:spPr>
          <a:xfrm>
            <a:off x="594360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ピックアップ・HEVセダン</a:t>
            </a:r>
            <a:endParaRPr lang="en-US" sz="1600" dirty="0"/>
          </a:p>
        </p:txBody>
      </p:sp>
      <p:sp>
        <p:nvSpPr>
          <p:cNvPr id="6" name="text_295"/>
          <p:cNvSpPr txBox="1"/>
          <p:nvPr/>
        </p:nvSpPr>
        <p:spPr>
          <a:xfrm>
            <a:off x="594360" y="22402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モデルを長く売り、残価を守る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（毎年の刷新はしない）</a:t>
            </a:r>
            <a:endParaRPr lang="en-US" sz="1600" dirty="0"/>
          </a:p>
        </p:txBody>
      </p:sp>
      <p:sp>
        <p:nvSpPr>
          <p:cNvPr id="7" name="shape_296"/>
          <p:cNvSpPr/>
          <p:nvPr/>
        </p:nvSpPr>
        <p:spPr>
          <a:xfrm>
            <a:off x="3776472" y="11887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8" name="fslabel_297"/>
          <p:cNvSpPr/>
          <p:nvPr/>
        </p:nvSpPr>
        <p:spPr>
          <a:xfrm>
            <a:off x="4756912" y="1014984"/>
            <a:ext cx="1239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迎え撃つ</a:t>
            </a:r>
            <a:endParaRPr lang="en-US" sz="1900" dirty="0"/>
          </a:p>
        </p:txBody>
      </p:sp>
      <p:sp>
        <p:nvSpPr>
          <p:cNvPr id="9" name="text_298"/>
          <p:cNvSpPr txBox="1"/>
          <p:nvPr/>
        </p:nvSpPr>
        <p:spPr>
          <a:xfrm>
            <a:off x="3959352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C-SUVのHEV／PHEV</a:t>
            </a:r>
            <a:endParaRPr lang="en-US" sz="1600" dirty="0"/>
          </a:p>
        </p:txBody>
      </p:sp>
      <p:sp>
        <p:nvSpPr>
          <p:cNvPr id="10" name="text_299"/>
          <p:cNvSpPr txBox="1"/>
          <p:nvPr/>
        </p:nvSpPr>
        <p:spPr>
          <a:xfrm>
            <a:off x="3959352" y="22402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残クレで高い残価を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月々の支払いの安さに変える</a:t>
            </a:r>
            <a:endParaRPr lang="en-US" sz="1600" dirty="0"/>
          </a:p>
        </p:txBody>
      </p:sp>
      <p:sp>
        <p:nvSpPr>
          <p:cNvPr id="11" name="shape_300"/>
          <p:cNvSpPr/>
          <p:nvPr/>
        </p:nvSpPr>
        <p:spPr>
          <a:xfrm>
            <a:off x="411480" y="4142232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2" name="fslabel_301"/>
          <p:cNvSpPr/>
          <p:nvPr/>
        </p:nvSpPr>
        <p:spPr>
          <a:xfrm>
            <a:off x="1512570" y="3968496"/>
            <a:ext cx="9982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埋める</a:t>
            </a:r>
            <a:endParaRPr lang="en-US" sz="1900" dirty="0"/>
          </a:p>
        </p:txBody>
      </p:sp>
      <p:sp>
        <p:nvSpPr>
          <p:cNvPr id="13" name="text_302"/>
          <p:cNvSpPr txBox="1"/>
          <p:nvPr/>
        </p:nvSpPr>
        <p:spPr>
          <a:xfrm>
            <a:off x="594360" y="44622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</a:t>
            </a:r>
            <a:endParaRPr lang="en-US" sz="1600" dirty="0"/>
          </a:p>
        </p:txBody>
      </p:sp>
      <p:sp>
        <p:nvSpPr>
          <p:cNvPr id="14" name="text_303"/>
          <p:cNvSpPr txBox="1"/>
          <p:nvPr/>
        </p:nvSpPr>
        <p:spPr>
          <a:xfrm>
            <a:off x="594360" y="5193792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中国の開発体制で短い周期のBEVを持つ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（bZ3X、e:N2、6e）</a:t>
            </a:r>
            <a:endParaRPr lang="en-US" sz="1600" dirty="0"/>
          </a:p>
        </p:txBody>
      </p:sp>
      <p:sp>
        <p:nvSpPr>
          <p:cNvPr id="15" name="shape_304"/>
          <p:cNvSpPr/>
          <p:nvPr/>
        </p:nvSpPr>
        <p:spPr>
          <a:xfrm>
            <a:off x="3776472" y="4142232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6" name="fslabel_305"/>
          <p:cNvSpPr/>
          <p:nvPr/>
        </p:nvSpPr>
        <p:spPr>
          <a:xfrm>
            <a:off x="4998212" y="3968496"/>
            <a:ext cx="756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拾う</a:t>
            </a:r>
            <a:endParaRPr lang="en-US" sz="1900" dirty="0"/>
          </a:p>
        </p:txBody>
      </p:sp>
      <p:sp>
        <p:nvSpPr>
          <p:cNvPr id="17" name="text_306"/>
          <p:cNvSpPr txBox="1"/>
          <p:nvPr/>
        </p:nvSpPr>
        <p:spPr>
          <a:xfrm>
            <a:off x="3959352" y="44622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撤退する中国ブランドの顧客</a:t>
            </a:r>
            <a:endParaRPr lang="en-US" sz="1600" dirty="0"/>
          </a:p>
        </p:txBody>
      </p:sp>
      <p:sp>
        <p:nvSpPr>
          <p:cNvPr id="18" name="text_307"/>
          <p:cNvSpPr txBox="1"/>
          <p:nvPr/>
        </p:nvSpPr>
        <p:spPr>
          <a:xfrm>
            <a:off x="3959352" y="5193792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認定中古・整備で受け止める</a:t>
            </a:r>
            <a:endParaRPr lang="en-US" sz="1600" dirty="0"/>
          </a:p>
        </p:txBody>
      </p:sp>
      <p:sp>
        <p:nvSpPr>
          <p:cNvPr id="19" name="shape_308"/>
          <p:cNvSpPr/>
          <p:nvPr/>
        </p:nvSpPr>
        <p:spPr>
          <a:xfrm>
            <a:off x="7296912" y="1188720"/>
            <a:ext cx="2980944" cy="5577840"/>
          </a:xfrm>
          <a:prstGeom prst="roundRect">
            <a:avLst>
              <a:gd name="adj" fmla="val 306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20" name="tab_309"/>
          <p:cNvSpPr/>
          <p:nvPr/>
        </p:nvSpPr>
        <p:spPr>
          <a:xfrm>
            <a:off x="7406640" y="1280160"/>
            <a:ext cx="22301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中国企業との向き合い方</a:t>
            </a:r>
            <a:endParaRPr lang="en-US" sz="1400" dirty="0"/>
          </a:p>
        </p:txBody>
      </p:sp>
      <p:sp>
        <p:nvSpPr>
          <p:cNvPr id="21" name="role_310"/>
          <p:cNvSpPr/>
          <p:nvPr/>
        </p:nvSpPr>
        <p:spPr>
          <a:xfrm>
            <a:off x="7479792" y="18288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</a:t>
            </a:r>
            <a:endParaRPr lang="en-US" sz="1700" dirty="0"/>
          </a:p>
        </p:txBody>
      </p:sp>
      <p:sp>
        <p:nvSpPr>
          <p:cNvPr id="22" name="text_311"/>
          <p:cNvSpPr txBox="1"/>
          <p:nvPr/>
        </p:nvSpPr>
        <p:spPr>
          <a:xfrm>
            <a:off x="8577072" y="18288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BYD・MG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売れる車種の多い相手と正面から</a:t>
            </a:r>
            <a:endParaRPr lang="en-US" sz="1600" dirty="0"/>
          </a:p>
        </p:txBody>
      </p:sp>
      <p:sp>
        <p:nvSpPr>
          <p:cNvPr id="23" name="role_312"/>
          <p:cNvSpPr/>
          <p:nvPr/>
        </p:nvSpPr>
        <p:spPr>
          <a:xfrm>
            <a:off x="7479792" y="34290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協業</a:t>
            </a:r>
            <a:endParaRPr lang="en-US" sz="1700" dirty="0"/>
          </a:p>
        </p:txBody>
      </p:sp>
      <p:sp>
        <p:nvSpPr>
          <p:cNvPr id="24" name="text_313"/>
          <p:cNvSpPr txBox="1"/>
          <p:nvPr/>
        </p:nvSpPr>
        <p:spPr>
          <a:xfrm>
            <a:off x="8577072" y="34290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電池・ソフト・開発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BYD・GAC・Changanの開発体制を使う</a:t>
            </a:r>
            <a:endParaRPr lang="en-US" sz="1600" dirty="0"/>
          </a:p>
        </p:txBody>
      </p:sp>
      <p:sp>
        <p:nvSpPr>
          <p:cNvPr id="25" name="role_314"/>
          <p:cNvSpPr/>
          <p:nvPr/>
        </p:nvSpPr>
        <p:spPr>
          <a:xfrm>
            <a:off x="7479792" y="50292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受け皿</a:t>
            </a:r>
            <a:endParaRPr lang="en-US" sz="1700" dirty="0"/>
          </a:p>
        </p:txBody>
      </p:sp>
      <p:sp>
        <p:nvSpPr>
          <p:cNvPr id="26" name="text_315"/>
          <p:cNvSpPr txBox="1"/>
          <p:nvPr/>
        </p:nvSpPr>
        <p:spPr>
          <a:xfrm>
            <a:off x="8577072" y="50292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撤退ブランド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顧客・販売店を引き取る</a:t>
            </a:r>
            <a:endParaRPr lang="en-US" sz="1600" dirty="0"/>
          </a:p>
        </p:txBody>
      </p:sp>
      <p:sp>
        <p:nvSpPr>
          <p:cNvPr id="27" name="text_31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出典：本資料の検証、Toyota（bZ3の共同開発）、各社発表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2400" dirty="0"/>
          </a:p>
        </p:txBody>
      </p:sp>
      <p:sp>
        <p:nvSpPr>
          <p:cNvPr id="3" name="num_317"/>
          <p:cNvSpPr/>
          <p:nvPr/>
        </p:nvSpPr>
        <p:spPr>
          <a:xfrm>
            <a:off x="502920" y="134416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_318"/>
          <p:cNvSpPr txBox="1"/>
          <p:nvPr/>
        </p:nvSpPr>
        <p:spPr>
          <a:xfrm>
            <a:off x="1463040" y="123444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中国系：政策×供給×価格でできたBEV市場に、日系の商品がなかった</a:t>
            </a:r>
            <a:endParaRPr lang="en-US" sz="2000" dirty="0"/>
          </a:p>
        </p:txBody>
      </p:sp>
      <p:sp>
        <p:nvSpPr>
          <p:cNvPr id="5" name="num_319"/>
          <p:cNvSpPr/>
          <p:nvPr/>
        </p:nvSpPr>
        <p:spPr>
          <a:xfrm>
            <a:off x="502920" y="267004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_320"/>
          <p:cNvSpPr txBox="1"/>
          <p:nvPr/>
        </p:nvSpPr>
        <p:spPr>
          <a:xfrm>
            <a:off x="1463040" y="256032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モデルチェンジ：日系は改良しても販売が変わらない。速さは勝敗を分けていない</a:t>
            </a:r>
            <a:endParaRPr lang="en-US" sz="2000" dirty="0"/>
          </a:p>
        </p:txBody>
      </p:sp>
      <p:sp>
        <p:nvSpPr>
          <p:cNvPr id="7" name="num_321"/>
          <p:cNvSpPr/>
          <p:nvPr/>
        </p:nvSpPr>
        <p:spPr>
          <a:xfrm>
            <a:off x="502920" y="399592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_322"/>
          <p:cNvSpPr txBox="1"/>
          <p:nvPr/>
        </p:nvSpPr>
        <p:spPr>
          <a:xfrm>
            <a:off x="1463040" y="388620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中国系どうし：次の売れる車種を出し続ける力が、生き残りを決める</a:t>
            </a:r>
            <a:endParaRPr lang="en-US" sz="2000" dirty="0"/>
          </a:p>
        </p:txBody>
      </p:sp>
      <p:sp>
        <p:nvSpPr>
          <p:cNvPr id="9" name="summary_323"/>
          <p:cNvSpPr/>
          <p:nvPr/>
        </p:nvSpPr>
        <p:spPr>
          <a:xfrm>
            <a:off x="777240" y="5349240"/>
            <a:ext cx="9134856" cy="1463040"/>
          </a:xfrm>
          <a:prstGeom prst="roundRect">
            <a:avLst>
              <a:gd name="adj" fmla="val 625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日系がタイで取るべきこと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BEVの商品を持ち、HEVは長く売って残価を守り、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残クレで月々の支払いを下げる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3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モデルチェンジの中身／電池と中古価格／価格と保有費／市場と政策／中国系の淘汰／日系の打ち手／検証設計／出典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　モデルチェンジの数え方</a:t>
            </a:r>
            <a:endParaRPr lang="en-US" sz="2400" dirty="0"/>
          </a:p>
        </p:txBody>
      </p:sp>
      <p:sp>
        <p:nvSpPr>
          <p:cNvPr id="3" name="shape_324"/>
          <p:cNvSpPr/>
          <p:nvPr/>
        </p:nvSpPr>
        <p:spPr>
          <a:xfrm>
            <a:off x="411480" y="1234440"/>
            <a:ext cx="228600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_325"/>
          <p:cNvSpPr/>
          <p:nvPr/>
        </p:nvSpPr>
        <p:spPr>
          <a:xfrm>
            <a:off x="411480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5" name="text_326"/>
          <p:cNvSpPr txBox="1"/>
          <p:nvPr/>
        </p:nvSpPr>
        <p:spPr>
          <a:xfrm>
            <a:off x="521208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_327"/>
          <p:cNvSpPr txBox="1"/>
          <p:nvPr/>
        </p:nvSpPr>
        <p:spPr>
          <a:xfrm>
            <a:off x="59436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全面刷新</a:t>
            </a:r>
            <a:endParaRPr lang="en-US" sz="2000" dirty="0"/>
          </a:p>
        </p:txBody>
      </p:sp>
      <p:sp>
        <p:nvSpPr>
          <p:cNvPr id="7" name="text_328"/>
          <p:cNvSpPr txBox="1"/>
          <p:nvPr/>
        </p:nvSpPr>
        <p:spPr>
          <a:xfrm>
            <a:off x="594360" y="237744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車体・内装・駆動系を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まとめて刷新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MG3（2024年）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Camry（2024年）</a:t>
            </a:r>
            <a:endParaRPr lang="en-US" sz="1400" dirty="0"/>
          </a:p>
        </p:txBody>
      </p:sp>
      <p:sp>
        <p:nvSpPr>
          <p:cNvPr id="8" name="shape_329"/>
          <p:cNvSpPr/>
          <p:nvPr/>
        </p:nvSpPr>
        <p:spPr>
          <a:xfrm>
            <a:off x="2938272" y="1234440"/>
            <a:ext cx="228600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_330"/>
          <p:cNvSpPr/>
          <p:nvPr/>
        </p:nvSpPr>
        <p:spPr>
          <a:xfrm>
            <a:off x="2938272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0" name="text_331"/>
          <p:cNvSpPr txBox="1"/>
          <p:nvPr/>
        </p:nvSpPr>
        <p:spPr>
          <a:xfrm>
            <a:off x="3048000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_332"/>
          <p:cNvSpPr txBox="1"/>
          <p:nvPr/>
        </p:nvSpPr>
        <p:spPr>
          <a:xfrm>
            <a:off x="3121152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部分改良</a:t>
            </a:r>
            <a:endParaRPr lang="en-US" sz="2000" dirty="0"/>
          </a:p>
        </p:txBody>
      </p:sp>
      <p:sp>
        <p:nvSpPr>
          <p:cNvPr id="12" name="text_333"/>
          <p:cNvSpPr txBox="1"/>
          <p:nvPr/>
        </p:nvSpPr>
        <p:spPr>
          <a:xfrm>
            <a:off x="3121152" y="237744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外内装・装備・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電池の一部を変更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MG4 MY2026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 2024</a:t>
            </a:r>
            <a:endParaRPr lang="en-US" sz="1400" dirty="0"/>
          </a:p>
        </p:txBody>
      </p:sp>
      <p:sp>
        <p:nvSpPr>
          <p:cNvPr id="13" name="shape_334"/>
          <p:cNvSpPr/>
          <p:nvPr/>
        </p:nvSpPr>
        <p:spPr>
          <a:xfrm>
            <a:off x="5465064" y="1234440"/>
            <a:ext cx="228600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_335"/>
          <p:cNvSpPr/>
          <p:nvPr/>
        </p:nvSpPr>
        <p:spPr>
          <a:xfrm>
            <a:off x="5465064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5" name="text_336"/>
          <p:cNvSpPr txBox="1"/>
          <p:nvPr/>
        </p:nvSpPr>
        <p:spPr>
          <a:xfrm>
            <a:off x="5574792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_337"/>
          <p:cNvSpPr txBox="1"/>
          <p:nvPr/>
        </p:nvSpPr>
        <p:spPr>
          <a:xfrm>
            <a:off x="5647944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年次改良</a:t>
            </a:r>
            <a:endParaRPr lang="en-US" sz="2000" dirty="0"/>
          </a:p>
        </p:txBody>
      </p:sp>
      <p:sp>
        <p:nvSpPr>
          <p:cNvPr id="17" name="text_338"/>
          <p:cNvSpPr txBox="1"/>
          <p:nvPr/>
        </p:nvSpPr>
        <p:spPr>
          <a:xfrm>
            <a:off x="5647944" y="237744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容量・装備・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グレードの更新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 MY2024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Dolphin 2024</a:t>
            </a:r>
            <a:endParaRPr lang="en-US" sz="1400" dirty="0"/>
          </a:p>
        </p:txBody>
      </p:sp>
      <p:sp>
        <p:nvSpPr>
          <p:cNvPr id="18" name="shape_339"/>
          <p:cNvSpPr/>
          <p:nvPr/>
        </p:nvSpPr>
        <p:spPr>
          <a:xfrm>
            <a:off x="7991856" y="1234440"/>
            <a:ext cx="228600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_340"/>
          <p:cNvSpPr/>
          <p:nvPr/>
        </p:nvSpPr>
        <p:spPr>
          <a:xfrm>
            <a:off x="7991856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20" name="text_341"/>
          <p:cNvSpPr txBox="1"/>
          <p:nvPr/>
        </p:nvSpPr>
        <p:spPr>
          <a:xfrm>
            <a:off x="8101584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_342"/>
          <p:cNvSpPr txBox="1"/>
          <p:nvPr/>
        </p:nvSpPr>
        <p:spPr>
          <a:xfrm>
            <a:off x="8174736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価格施策</a:t>
            </a:r>
            <a:endParaRPr lang="en-US" sz="2000" dirty="0"/>
          </a:p>
        </p:txBody>
      </p:sp>
      <p:sp>
        <p:nvSpPr>
          <p:cNvPr id="22" name="text_343"/>
          <p:cNvSpPr txBox="1"/>
          <p:nvPr/>
        </p:nvSpPr>
        <p:spPr>
          <a:xfrm>
            <a:off x="8174736" y="237744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価格だけを変更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Y Plus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（2024年11月）</a:t>
            </a:r>
            <a:endParaRPr lang="en-US" sz="1400" dirty="0"/>
          </a:p>
        </p:txBody>
      </p:sp>
      <p:sp>
        <p:nvSpPr>
          <p:cNvPr id="23" name="shape_344"/>
          <p:cNvSpPr/>
          <p:nvPr/>
        </p:nvSpPr>
        <p:spPr>
          <a:xfrm>
            <a:off x="7871460" y="1234440"/>
            <a:ext cx="0" cy="3291840"/>
          </a:xfrm>
          <a:prstGeom prst="line">
            <a:avLst/>
          </a:prstGeom>
          <a:noFill/>
          <a:ln w="19050">
            <a:solidFill>
              <a:srgbClr val="E8384F"/>
            </a:solidFill>
            <a:prstDash val="dash"/>
          </a:ln>
        </p:spPr>
      </p:sp>
      <p:sp>
        <p:nvSpPr>
          <p:cNvPr id="24" name="shape_345"/>
          <p:cNvSpPr/>
          <p:nvPr/>
        </p:nvSpPr>
        <p:spPr>
          <a:xfrm>
            <a:off x="411480" y="4983480"/>
            <a:ext cx="9866376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25" name="fslabel_346"/>
          <p:cNvSpPr/>
          <p:nvPr/>
        </p:nvSpPr>
        <p:spPr>
          <a:xfrm>
            <a:off x="4451858" y="4828032"/>
            <a:ext cx="17856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本資料のルール</a:t>
            </a:r>
            <a:endParaRPr lang="en-US" sz="1700" dirty="0"/>
          </a:p>
        </p:txBody>
      </p:sp>
      <p:sp>
        <p:nvSpPr>
          <p:cNvPr id="26" name="text_347"/>
          <p:cNvSpPr txBox="1"/>
          <p:nvPr/>
        </p:nvSpPr>
        <p:spPr>
          <a:xfrm>
            <a:off x="777240" y="5257800"/>
            <a:ext cx="9134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価格だけの変更はモデルチェンジに数えない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グレード追加・別名の後継車は、元の車種の世代交代に数えない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中国で発表された新型と、タイで売られる仕様を分ける</a:t>
            </a:r>
            <a:endParaRPr lang="en-US" sz="1600" dirty="0"/>
          </a:p>
        </p:txBody>
      </p:sp>
      <p:sp>
        <p:nvSpPr>
          <p:cNvPr id="27" name="text_348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出典：各社のタイ公式資料。数え直し後の部分改良の間隔：中国系2.0年、日系3.3年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　中国系の改良の中身①（BYD・SAIC MG・GWM）</a:t>
            </a:r>
            <a:endParaRPr lang="en-US" sz="2400" dirty="0"/>
          </a:p>
        </p:txBody>
      </p:sp>
      <p:graphicFrame>
        <p:nvGraphicFramePr>
          <p:cNvPr id="24" name="table_3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9866376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1737360"/>
                <a:gridCol w="2743200"/>
                <a:gridCol w="282549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電池・航続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価格・その他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Atto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49.92→50.25 kWh、航続は据え置き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15.6型画面。7月に同じMY23を大幅値下げ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Dolphin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2024/7〜9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年次改良・現地生産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44.9→50.25 kWh、410→435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56.99万バーツ。容量+12%で航続+6%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Seal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世代交代は未確認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タイの旧新比較なし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値下げは改良に数えない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年次改良・現地生産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51→49 kWh、425→423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価格・グレードを再編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MG4 長距離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MY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64→62.2 kWh、540 kmを維持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新しい内装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全面刷新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ICE→1.5L HEV（1.83 kWh）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車体・内装・安全装備を刷新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 Good Cat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年次改良・現地生産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NMC→LFP 57.7 kWh、500→480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充電DC60→70 kW。電池をSVOLTへ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後継（別名）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58.3 kWh、520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ハッチバック→SUV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350"/>
          <p:cNvSpPr/>
          <p:nvPr/>
        </p:nvSpPr>
        <p:spPr>
          <a:xfrm>
            <a:off x="411480" y="1097280"/>
            <a:ext cx="9866376" cy="5385816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35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出典：BYD Rêver、BYD販売店、MG Thailand、GWM（2022〜2026年）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付録3　中国系の改良の中身②（Changan・GAC・Neta 他）</a:t>
            </a:r>
            <a:endParaRPr lang="en-US" sz="2400" dirty="0"/>
          </a:p>
        </p:txBody>
      </p:sp>
      <p:graphicFrame>
        <p:nvGraphicFramePr>
          <p:cNvPr id="25" name="table_3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9866376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1737360"/>
                <a:gridCol w="2743200"/>
                <a:gridCol w="282549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電池・航続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価格・その他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Deepal S07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2025/10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技術改良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66.8→68.8 kWh LFP、30〜80% 15分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早期特価 109.9万バーツ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Aion Y Plus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価格施策（数えない）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変更なし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99.59万→82.99万バーツ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Neta V-II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部分改良・現地生産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外装・14.6型画面・ADAS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XPeng G6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2025/8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87.5 NMC→80.8 kWh LFP、10〜80% 12分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航続570→525 km（WLTP）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Zeekr 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 kWh、470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内装・快適装備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Omoda C5 EV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2026/9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外内装・電池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61→50.6 kWh、505→422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70.9万（9月限定64.9万）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Haval H6 PHEV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 kWh NMC→27.4 kWh LFP、EV航続201→150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電池を安価なLFPへ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6 DM-i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年次改良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18.3→26.6 kWh、EV航続95→150 km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急速充電18→55 kW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353"/>
          <p:cNvSpPr/>
          <p:nvPr/>
        </p:nvSpPr>
        <p:spPr>
          <a:xfrm>
            <a:off x="411480" y="1097280"/>
            <a:ext cx="9866376" cy="5385816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35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出典：Changan、GAC、Neta、XPeng、Zeekr、Omoda、GWM、BYDのタイ公式資料（2024〜2026年）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付録4　日系の改良の中身　HEVでも駆動系の更新はある</a:t>
            </a:r>
            <a:endParaRPr lang="en-US" sz="2400" dirty="0"/>
          </a:p>
        </p:txBody>
      </p:sp>
      <p:graphicFrame>
        <p:nvGraphicFramePr>
          <p:cNvPr id="26" name="table_3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9866376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1737360"/>
                <a:gridCol w="2743200"/>
                <a:gridCol w="282549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電池・航続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価格・その他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Cross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1.8L HEV 122 PSを継続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グリル・灯火・画面・電動パーキング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HR-V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1.5L e:HEV、25.6 km/L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グリル・ランプ・8型画面・安全装備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2022/7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駆動系の改良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第2世代e-POWER、136 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内装・安全装備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2024/10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全面刷新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新ハイブリッド、227 PS、25 km/L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外内装・車体・安全装備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全面刷新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1.2L 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車体・内装・安全装備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2025/8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駆動系の追加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1.5L HEV、29.4 km/L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 Sportを追加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Almera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2023/5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1.0Lターボを継続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外観・コネクト・安全装備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356"/>
          <p:cNvSpPr/>
          <p:nvPr/>
        </p:nvSpPr>
        <p:spPr>
          <a:xfrm>
            <a:off x="411480" y="1097280"/>
            <a:ext cx="9866376" cy="489204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ummary_357"/>
          <p:cNvSpPr/>
          <p:nvPr/>
        </p:nvSpPr>
        <p:spPr>
          <a:xfrm>
            <a:off x="1783080" y="6035040"/>
            <a:ext cx="7123176" cy="777240"/>
          </a:xfrm>
          <a:prstGeom prst="roundRect">
            <a:avLst>
              <a:gd name="adj" fmla="val 11765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日系の部分改良は外内装・装備が中心。全面刷新で駆動系も変える</a:t>
            </a:r>
            <a:endParaRPr lang="en-US" sz="1600" dirty="0"/>
          </a:p>
        </p:txBody>
      </p:sp>
      <p:sp>
        <p:nvSpPr>
          <p:cNvPr id="6" name="text_358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出典：Toyota、Honda、Nissanのタイ公式資料（2020〜2025年）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付録5　改良で変わった項目の割合（中国系 vs 日系）</a:t>
            </a:r>
            <a:endParaRPr lang="en-US" sz="2400" dirty="0"/>
          </a:p>
        </p:txBody>
      </p:sp>
      <p:graphicFrame>
        <p:nvGraphicFramePr>
          <p:cNvPr id="3" name="chart_agg" descr=""/>
          <p:cNvGraphicFramePr/>
          <p:nvPr/>
        </p:nvGraphicFramePr>
        <p:xfrm>
          <a:off x="411480" y="1097280"/>
          <a:ext cx="6675120" cy="5669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_359"/>
          <p:cNvSpPr/>
          <p:nvPr/>
        </p:nvSpPr>
        <p:spPr>
          <a:xfrm>
            <a:off x="7360920" y="1188720"/>
            <a:ext cx="2916936" cy="5577840"/>
          </a:xfrm>
          <a:prstGeom prst="roundRect">
            <a:avLst>
              <a:gd name="adj" fmla="val 3135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360"/>
          <p:cNvSpPr/>
          <p:nvPr/>
        </p:nvSpPr>
        <p:spPr>
          <a:xfrm>
            <a:off x="7470648" y="1280160"/>
            <a:ext cx="9855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読み取り</a:t>
            </a:r>
            <a:endParaRPr lang="en-US" sz="1400" dirty="0"/>
          </a:p>
        </p:txBody>
      </p:sp>
      <p:sp>
        <p:nvSpPr>
          <p:cNvPr id="6" name="text_361"/>
          <p:cNvSpPr txBox="1"/>
          <p:nvPr/>
        </p:nvSpPr>
        <p:spPr>
          <a:xfrm>
            <a:off x="7543800" y="1783080"/>
            <a:ext cx="2551176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中国系の電池変更は、増加5件・減少2件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航続の中央値は0%、価格の中央値は−19%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日系は運転支援・装備の更新が多い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日系は元から現地生産</a:t>
            </a:r>
            <a:endParaRPr lang="en-US" sz="1600" dirty="0"/>
          </a:p>
        </p:txBody>
      </p:sp>
      <p:sp>
        <p:nvSpPr>
          <p:cNvPr id="7" name="text_362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出典：各社のタイ公式資料から集計（価格だけの変更を除く前の件数）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付録6　「電池の持ち」の3つの意味　進んだのは充電とコスト</a:t>
            </a:r>
            <a:endParaRPr lang="en-US" sz="2400" dirty="0"/>
          </a:p>
        </p:txBody>
      </p:sp>
      <p:sp>
        <p:nvSpPr>
          <p:cNvPr id="3" name="shape_363"/>
          <p:cNvSpPr/>
          <p:nvPr/>
        </p:nvSpPr>
        <p:spPr>
          <a:xfrm>
            <a:off x="411480" y="1234440"/>
            <a:ext cx="301752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_364"/>
          <p:cNvSpPr/>
          <p:nvPr/>
        </p:nvSpPr>
        <p:spPr>
          <a:xfrm>
            <a:off x="411480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5" name="text_365"/>
          <p:cNvSpPr txBox="1"/>
          <p:nvPr/>
        </p:nvSpPr>
        <p:spPr>
          <a:xfrm>
            <a:off x="521208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01</a:t>
            </a:r>
            <a:endParaRPr lang="en-US" sz="1300" dirty="0"/>
          </a:p>
        </p:txBody>
      </p:sp>
      <p:sp>
        <p:nvSpPr>
          <p:cNvPr id="6" name="text_366"/>
          <p:cNvSpPr txBox="1"/>
          <p:nvPr/>
        </p:nvSpPr>
        <p:spPr>
          <a:xfrm>
            <a:off x="5943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航続</a:t>
            </a:r>
            <a:endParaRPr lang="en-US" sz="2200" dirty="0"/>
          </a:p>
        </p:txBody>
      </p:sp>
      <p:sp>
        <p:nvSpPr>
          <p:cNvPr id="7" name="text_367"/>
          <p:cNvSpPr txBox="1"/>
          <p:nvPr/>
        </p:nvSpPr>
        <p:spPr>
          <a:xfrm>
            <a:off x="594360" y="23774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1回の充電で走る距離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中央値0%（据え置き）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Omoda C5 EV −16%</a:t>
            </a:r>
            <a:endParaRPr lang="en-US" sz="1500" dirty="0"/>
          </a:p>
        </p:txBody>
      </p:sp>
      <p:sp>
        <p:nvSpPr>
          <p:cNvPr id="8" name="shape_368"/>
          <p:cNvSpPr/>
          <p:nvPr/>
        </p:nvSpPr>
        <p:spPr>
          <a:xfrm>
            <a:off x="3358134" y="2697480"/>
            <a:ext cx="548640" cy="548640"/>
          </a:xfrm>
          <a:prstGeom prst="mathPlus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shape_369"/>
          <p:cNvSpPr/>
          <p:nvPr/>
        </p:nvSpPr>
        <p:spPr>
          <a:xfrm>
            <a:off x="3835908" y="1234440"/>
            <a:ext cx="301752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_370"/>
          <p:cNvSpPr/>
          <p:nvPr/>
        </p:nvSpPr>
        <p:spPr>
          <a:xfrm>
            <a:off x="3835908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1" name="text_371"/>
          <p:cNvSpPr txBox="1"/>
          <p:nvPr/>
        </p:nvSpPr>
        <p:spPr>
          <a:xfrm>
            <a:off x="3945636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02</a:t>
            </a:r>
            <a:endParaRPr lang="en-US" sz="1300" dirty="0"/>
          </a:p>
        </p:txBody>
      </p:sp>
      <p:sp>
        <p:nvSpPr>
          <p:cNvPr id="12" name="text_372"/>
          <p:cNvSpPr txBox="1"/>
          <p:nvPr/>
        </p:nvSpPr>
        <p:spPr>
          <a:xfrm>
            <a:off x="4018788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寿命</a:t>
            </a:r>
            <a:endParaRPr lang="en-US" sz="2200" dirty="0"/>
          </a:p>
        </p:txBody>
      </p:sp>
      <p:sp>
        <p:nvSpPr>
          <p:cNvPr id="13" name="text_373"/>
          <p:cNvSpPr txBox="1"/>
          <p:nvPr/>
        </p:nvSpPr>
        <p:spPr>
          <a:xfrm>
            <a:off x="4018788" y="23774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劣化の遅さ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LFPへの切り替え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（Good Cat、G6、H6 PHEV）</a:t>
            </a:r>
            <a:endParaRPr lang="en-US" sz="1500" dirty="0"/>
          </a:p>
        </p:txBody>
      </p:sp>
      <p:sp>
        <p:nvSpPr>
          <p:cNvPr id="14" name="shape_374"/>
          <p:cNvSpPr/>
          <p:nvPr/>
        </p:nvSpPr>
        <p:spPr>
          <a:xfrm>
            <a:off x="6782562" y="2697480"/>
            <a:ext cx="548640" cy="548640"/>
          </a:xfrm>
          <a:prstGeom prst="mathPlus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shape_375"/>
          <p:cNvSpPr/>
          <p:nvPr/>
        </p:nvSpPr>
        <p:spPr>
          <a:xfrm>
            <a:off x="7260336" y="1234440"/>
            <a:ext cx="301752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shape_376"/>
          <p:cNvSpPr/>
          <p:nvPr/>
        </p:nvSpPr>
        <p:spPr>
          <a:xfrm>
            <a:off x="7260336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7" name="text_377"/>
          <p:cNvSpPr txBox="1"/>
          <p:nvPr/>
        </p:nvSpPr>
        <p:spPr>
          <a:xfrm>
            <a:off x="7370064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03</a:t>
            </a:r>
            <a:endParaRPr lang="en-US" sz="1300" dirty="0"/>
          </a:p>
        </p:txBody>
      </p:sp>
      <p:sp>
        <p:nvSpPr>
          <p:cNvPr id="18" name="text_378"/>
          <p:cNvSpPr txBox="1"/>
          <p:nvPr/>
        </p:nvSpPr>
        <p:spPr>
          <a:xfrm>
            <a:off x="7443216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充電速度</a:t>
            </a:r>
            <a:endParaRPr lang="en-US" sz="2200" dirty="0"/>
          </a:p>
        </p:txBody>
      </p:sp>
      <p:sp>
        <p:nvSpPr>
          <p:cNvPr id="19" name="text_379"/>
          <p:cNvSpPr txBox="1"/>
          <p:nvPr/>
        </p:nvSpPr>
        <p:spPr>
          <a:xfrm>
            <a:off x="7443216" y="23774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急速充電の時間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XPeng G6　10〜80% 12分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Deepal S07　30〜80% 15分</a:t>
            </a:r>
            <a:endParaRPr lang="en-US" sz="1500" dirty="0"/>
          </a:p>
        </p:txBody>
      </p:sp>
      <p:sp>
        <p:nvSpPr>
          <p:cNvPr id="20" name="summary_380"/>
          <p:cNvSpPr/>
          <p:nvPr/>
        </p:nvSpPr>
        <p:spPr>
          <a:xfrm>
            <a:off x="960120" y="5120640"/>
            <a:ext cx="8769096" cy="1371600"/>
          </a:xfrm>
          <a:prstGeom prst="roundRect">
            <a:avLst>
              <a:gd name="adj" fmla="val 666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電池の進化は「同じ距離をより小さく安い電池で」に使われた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航続を伸ばす方向には、あまり使われていない</a:t>
            </a:r>
            <a:endParaRPr lang="en-US" sz="1800" dirty="0"/>
          </a:p>
        </p:txBody>
      </p:sp>
      <p:sp>
        <p:nvSpPr>
          <p:cNvPr id="21" name="text_38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出典：XPeng、Changan、GWM、Omodaのタイ公式資料、BloombergNEF（電池価格 前年比−20%）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付録7　電池劣化の実データ　暑さと急速充電で進む</a:t>
            </a:r>
            <a:endParaRPr lang="en-US" sz="2400" dirty="0"/>
          </a:p>
        </p:txBody>
      </p:sp>
      <p:sp>
        <p:nvSpPr>
          <p:cNvPr id="3" name="text_382"/>
          <p:cNvSpPr txBox="1"/>
          <p:nvPr/>
        </p:nvSpPr>
        <p:spPr>
          <a:xfrm>
            <a:off x="411480" y="1280160"/>
            <a:ext cx="260604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2.3%／年</a:t>
            </a:r>
            <a:endParaRPr lang="en-US" sz="3400" dirty="0"/>
          </a:p>
        </p:txBody>
      </p:sp>
      <p:sp>
        <p:nvSpPr>
          <p:cNvPr id="4" name="text_383"/>
          <p:cNvSpPr txBox="1"/>
          <p:nvPr/>
        </p:nvSpPr>
        <p:spPr>
          <a:xfrm>
            <a:off x="411480" y="18415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電池容量の平均劣化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（実車2.3万台・21車種）</a:t>
            </a:r>
            <a:endParaRPr lang="en-US" sz="1400" dirty="0"/>
          </a:p>
        </p:txBody>
      </p:sp>
      <p:sp>
        <p:nvSpPr>
          <p:cNvPr id="5" name="text_384"/>
          <p:cNvSpPr txBox="1"/>
          <p:nvPr/>
        </p:nvSpPr>
        <p:spPr>
          <a:xfrm>
            <a:off x="3154680" y="1280160"/>
            <a:ext cx="260604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3.0%／年</a:t>
            </a:r>
            <a:endParaRPr lang="en-US" sz="3400" dirty="0"/>
          </a:p>
        </p:txBody>
      </p:sp>
      <p:sp>
        <p:nvSpPr>
          <p:cNvPr id="6" name="text_385"/>
          <p:cNvSpPr txBox="1"/>
          <p:nvPr/>
        </p:nvSpPr>
        <p:spPr>
          <a:xfrm>
            <a:off x="3154680" y="18415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急速充電の多い車</a:t>
            </a:r>
            <a:endParaRPr lang="en-US" sz="1400" dirty="0"/>
          </a:p>
        </p:txBody>
      </p:sp>
      <p:sp>
        <p:nvSpPr>
          <p:cNvPr id="7" name="text_386"/>
          <p:cNvSpPr txBox="1"/>
          <p:nvPr/>
        </p:nvSpPr>
        <p:spPr>
          <a:xfrm>
            <a:off x="411480" y="3200400"/>
            <a:ext cx="260604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+0.4pt／年</a:t>
            </a:r>
            <a:endParaRPr lang="en-US" sz="3400" dirty="0"/>
          </a:p>
        </p:txBody>
      </p:sp>
      <p:sp>
        <p:nvSpPr>
          <p:cNvPr id="8" name="text_387"/>
          <p:cNvSpPr txBox="1"/>
          <p:nvPr/>
        </p:nvSpPr>
        <p:spPr>
          <a:xfrm>
            <a:off x="411480" y="37617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暑い地域での上乗せ</a:t>
            </a:r>
            <a:endParaRPr lang="en-US" sz="1400" dirty="0"/>
          </a:p>
        </p:txBody>
      </p:sp>
      <p:sp>
        <p:nvSpPr>
          <p:cNvPr id="9" name="text_388"/>
          <p:cNvSpPr txBox="1"/>
          <p:nvPr/>
        </p:nvSpPr>
        <p:spPr>
          <a:xfrm>
            <a:off x="3154680" y="3200400"/>
            <a:ext cx="260604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400" dirty="0"/>
          </a:p>
        </p:txBody>
      </p:sp>
      <p:sp>
        <p:nvSpPr>
          <p:cNvPr id="10" name="text_389"/>
          <p:cNvSpPr txBox="1"/>
          <p:nvPr/>
        </p:nvSpPr>
        <p:spPr>
          <a:xfrm>
            <a:off x="3154680" y="37617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Seal（LFP）の5万km後の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電池の健全度</a:t>
            </a:r>
            <a:endParaRPr lang="en-US" sz="1400" dirty="0"/>
          </a:p>
        </p:txBody>
      </p:sp>
      <p:sp>
        <p:nvSpPr>
          <p:cNvPr id="11" name="shape_390"/>
          <p:cNvSpPr/>
          <p:nvPr/>
        </p:nvSpPr>
        <p:spPr>
          <a:xfrm>
            <a:off x="6035040" y="1188720"/>
            <a:ext cx="4242816" cy="3657600"/>
          </a:xfrm>
          <a:prstGeom prst="roundRect">
            <a:avLst>
              <a:gd name="adj" fmla="val 2500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2" name="tab_391"/>
          <p:cNvSpPr/>
          <p:nvPr/>
        </p:nvSpPr>
        <p:spPr>
          <a:xfrm>
            <a:off x="6144768" y="1280160"/>
            <a:ext cx="11633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タイの保証</a:t>
            </a:r>
            <a:endParaRPr lang="en-US" sz="1400" dirty="0"/>
          </a:p>
        </p:txBody>
      </p:sp>
      <p:sp>
        <p:nvSpPr>
          <p:cNvPr id="13" name="text_392"/>
          <p:cNvSpPr txBox="1"/>
          <p:nvPr/>
        </p:nvSpPr>
        <p:spPr>
          <a:xfrm>
            <a:off x="6263640" y="1828800"/>
            <a:ext cx="378561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8年／16万km</a:t>
            </a:r>
            <a:endParaRPr lang="en-US" sz="2800" dirty="0"/>
          </a:p>
        </p:txBody>
      </p:sp>
      <p:sp>
        <p:nvSpPr>
          <p:cNvPr id="14" name="text_393"/>
          <p:cNvSpPr txBox="1"/>
          <p:nvPr/>
        </p:nvSpPr>
        <p:spPr>
          <a:xfrm>
            <a:off x="6263640" y="2291080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BYDのタイでの電池保証</a:t>
            </a:r>
            <a:endParaRPr lang="en-US" sz="1400" dirty="0"/>
          </a:p>
        </p:txBody>
      </p:sp>
      <p:sp>
        <p:nvSpPr>
          <p:cNvPr id="15" name="text_394"/>
          <p:cNvSpPr txBox="1"/>
          <p:nvPr/>
        </p:nvSpPr>
        <p:spPr>
          <a:xfrm>
            <a:off x="6263640" y="3200400"/>
            <a:ext cx="37856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劣化の不安は保証で一部が消える。中古の買い手には、保証の引き継ぎとSOHの表示が効く</a:t>
            </a:r>
            <a:endParaRPr lang="en-US" sz="1500" dirty="0"/>
          </a:p>
        </p:txBody>
      </p:sp>
      <p:sp>
        <p:nvSpPr>
          <p:cNvPr id="16" name="summary_395"/>
          <p:cNvSpPr/>
          <p:nvPr/>
        </p:nvSpPr>
        <p:spPr>
          <a:xfrm>
            <a:off x="960120" y="5257800"/>
            <a:ext cx="8769096" cy="1188720"/>
          </a:xfrm>
          <a:prstGeom prst="roundRect">
            <a:avLst>
              <a:gd name="adj" fmla="val 769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長く乗るなら日系ICEが安心、という見方は一部正しい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ただし電池劣化は年2〜3%で、中古価格の差の主因ではない</a:t>
            </a:r>
            <a:endParaRPr lang="en-US" sz="1800" dirty="0"/>
          </a:p>
        </p:txBody>
      </p:sp>
      <p:sp>
        <p:nvSpPr>
          <p:cNvPr id="17" name="text_39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出典：Geotab（2026年1月）、BYD、BYD Rêver。タイの個別車種の寿命予測ではない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付録8　中古価格の比較条件（2023年式）</a:t>
            </a:r>
            <a:endParaRPr lang="en-US" sz="2400" dirty="0"/>
          </a:p>
        </p:txBody>
      </p:sp>
      <p:graphicFrame>
        <p:nvGraphicFramePr>
          <p:cNvPr id="30" name="table_3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986637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48640"/>
                <a:gridCol w="1417320"/>
                <a:gridCol w="1417320"/>
                <a:gridCol w="1280160"/>
                <a:gridCol w="1874520"/>
                <a:gridCol w="13167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中古の中央値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発売時の価格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発売時比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今の新車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今の新車比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 3 Extended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46.7万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120.0万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77.0万（特価）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Cross 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24.1pt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398"/>
          <p:cNvSpPr/>
          <p:nvPr/>
        </p:nvSpPr>
        <p:spPr>
          <a:xfrm>
            <a:off x="411480" y="1188720"/>
            <a:ext cx="9866376" cy="224028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399"/>
          <p:cNvSpPr txBox="1"/>
          <p:nvPr/>
        </p:nvSpPr>
        <p:spPr>
          <a:xfrm>
            <a:off x="4114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価格はバーツ</a:t>
            </a:r>
            <a:endParaRPr lang="en-US" sz="1200" dirty="0"/>
          </a:p>
        </p:txBody>
      </p:sp>
      <p:sp>
        <p:nvSpPr>
          <p:cNvPr id="6" name="shape_400"/>
          <p:cNvSpPr/>
          <p:nvPr/>
        </p:nvSpPr>
        <p:spPr>
          <a:xfrm>
            <a:off x="411480" y="4206240"/>
            <a:ext cx="9866376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7" name="fslabel_401"/>
          <p:cNvSpPr/>
          <p:nvPr/>
        </p:nvSpPr>
        <p:spPr>
          <a:xfrm>
            <a:off x="4991608" y="4050792"/>
            <a:ext cx="7061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</a:t>
            </a:r>
            <a:endParaRPr lang="en-US" sz="1700" dirty="0"/>
          </a:p>
        </p:txBody>
      </p:sp>
      <p:sp>
        <p:nvSpPr>
          <p:cNvPr id="8" name="text_402"/>
          <p:cNvSpPr txBox="1"/>
          <p:nvPr/>
        </p:nvSpPr>
        <p:spPr>
          <a:xfrm>
            <a:off x="777240" y="4526280"/>
            <a:ext cx="91348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掲載価格であり、成約価格ではない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SOH（電池の健全度）と保証の残りは未取得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旧グレードと今の代替グレードは完全には一致しない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分母を変えた差であり、電池劣化の寄与を推定した結果ではない</a:t>
            </a:r>
            <a:endParaRPr lang="en-US" sz="1600" dirty="0"/>
          </a:p>
        </p:txBody>
      </p:sp>
      <p:sp>
        <p:nvSpPr>
          <p:cNvPr id="9" name="text_403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出典：One2car（2026年10月8日観測）、BYD Rêver、Toyota Thailand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付録9　中古EVの平均価格は1年で2〜3割下がった</a:t>
            </a:r>
            <a:endParaRPr lang="en-US" sz="2400" dirty="0"/>
          </a:p>
        </p:txBody>
      </p:sp>
      <p:graphicFrame>
        <p:nvGraphicFramePr>
          <p:cNvPr id="3" name="chart_o2c" descr=""/>
          <p:cNvGraphicFramePr/>
          <p:nvPr/>
        </p:nvGraphicFramePr>
        <p:xfrm>
          <a:off x="411480" y="1097280"/>
          <a:ext cx="6035040" cy="5577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_404"/>
          <p:cNvSpPr/>
          <p:nvPr/>
        </p:nvSpPr>
        <p:spPr>
          <a:xfrm>
            <a:off x="6720840" y="1188720"/>
            <a:ext cx="3557016" cy="5486400"/>
          </a:xfrm>
          <a:prstGeom prst="roundRect">
            <a:avLst>
              <a:gd name="adj" fmla="val 2571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405"/>
          <p:cNvSpPr/>
          <p:nvPr/>
        </p:nvSpPr>
        <p:spPr>
          <a:xfrm>
            <a:off x="6830568" y="1280160"/>
            <a:ext cx="13411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同時期の動き</a:t>
            </a:r>
            <a:endParaRPr lang="en-US" sz="1400" dirty="0"/>
          </a:p>
        </p:txBody>
      </p:sp>
      <p:sp>
        <p:nvSpPr>
          <p:cNvPr id="6" name="text_406"/>
          <p:cNvSpPr txBox="1"/>
          <p:nvPr/>
        </p:nvSpPr>
        <p:spPr>
          <a:xfrm>
            <a:off x="6903720" y="1783080"/>
            <a:ext cx="31912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Atto 3の新車は2024年7月に大幅値下げ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中古BEVの多くは元値の60〜80%で掲載（2024年）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米国でも中古EVはテスラの新車値下げで−32%</a:t>
            </a:r>
            <a:endParaRPr lang="en-US" sz="1600" dirty="0"/>
          </a:p>
        </p:txBody>
      </p:sp>
      <p:sp>
        <p:nvSpPr>
          <p:cNvPr id="7" name="text_40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出典：One2car（2026年2月）、Krungsri Research（2025年1月）、iSeeCars。車両構成は固定していない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付録10　中古価格が下がる3つの経路</a:t>
            </a:r>
            <a:endParaRPr lang="en-US" sz="2400" dirty="0"/>
          </a:p>
        </p:txBody>
      </p:sp>
      <p:sp>
        <p:nvSpPr>
          <p:cNvPr id="3" name="path_408"/>
          <p:cNvSpPr/>
          <p:nvPr/>
        </p:nvSpPr>
        <p:spPr>
          <a:xfrm>
            <a:off x="411480" y="12801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電池の劣化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SOHが下がる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年2〜3%</a:t>
            </a:r>
            <a:endParaRPr lang="en-US" sz="1800" dirty="0"/>
          </a:p>
        </p:txBody>
      </p:sp>
      <p:sp>
        <p:nvSpPr>
          <p:cNvPr id="4" name="shape_409"/>
          <p:cNvSpPr/>
          <p:nvPr/>
        </p:nvSpPr>
        <p:spPr>
          <a:xfrm>
            <a:off x="3703320" y="1874520"/>
            <a:ext cx="1188720" cy="1188720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5" name="path_410"/>
          <p:cNvSpPr/>
          <p:nvPr/>
        </p:nvSpPr>
        <p:spPr>
          <a:xfrm>
            <a:off x="411480" y="2807208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DEDEE"/>
          </a:solidFill>
          <a:ln w="28575">
            <a:solidFill>
              <a:srgbClr val="E8384F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新車の値下げ・陳腐化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新車が安くなる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新世代が出る</a:t>
            </a:r>
            <a:endParaRPr lang="en-US" sz="1800" dirty="0"/>
          </a:p>
        </p:txBody>
      </p:sp>
      <p:sp>
        <p:nvSpPr>
          <p:cNvPr id="6" name="shape_411"/>
          <p:cNvSpPr/>
          <p:nvPr/>
        </p:nvSpPr>
        <p:spPr>
          <a:xfrm>
            <a:off x="3703320" y="3401568"/>
            <a:ext cx="1188720" cy="-338328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7" name="path_412"/>
          <p:cNvSpPr/>
          <p:nvPr/>
        </p:nvSpPr>
        <p:spPr>
          <a:xfrm>
            <a:off x="411480" y="4334256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不確実性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劣化・保証・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修理費が読めない</a:t>
            </a:r>
            <a:endParaRPr lang="en-US" sz="1800" dirty="0"/>
          </a:p>
        </p:txBody>
      </p:sp>
      <p:sp>
        <p:nvSpPr>
          <p:cNvPr id="8" name="shape_413"/>
          <p:cNvSpPr/>
          <p:nvPr/>
        </p:nvSpPr>
        <p:spPr>
          <a:xfrm>
            <a:off x="3703320" y="4928616"/>
            <a:ext cx="1188720" cy="-1865376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  <a:tailEnd type="triangle"/>
          </a:ln>
        </p:spPr>
      </p:sp>
      <p:sp>
        <p:nvSpPr>
          <p:cNvPr id="9" name="res_414"/>
          <p:cNvSpPr/>
          <p:nvPr/>
        </p:nvSpPr>
        <p:spPr>
          <a:xfrm>
            <a:off x="4937760" y="146304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中古価格の差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 vs Corolla Cross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24pt</a:t>
            </a:r>
            <a:endParaRPr lang="en-US" sz="2000" dirty="0"/>
          </a:p>
        </p:txBody>
      </p:sp>
      <p:sp>
        <p:nvSpPr>
          <p:cNvPr id="10" name="shape_415"/>
          <p:cNvSpPr/>
          <p:nvPr/>
        </p:nvSpPr>
        <p:spPr>
          <a:xfrm>
            <a:off x="7680960" y="1188720"/>
            <a:ext cx="2596896" cy="3931920"/>
          </a:xfrm>
          <a:prstGeom prst="roundRect">
            <a:avLst>
              <a:gd name="adj" fmla="val 3521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1" name="tab_416"/>
          <p:cNvSpPr/>
          <p:nvPr/>
        </p:nvSpPr>
        <p:spPr>
          <a:xfrm>
            <a:off x="7790688" y="1280160"/>
            <a:ext cx="1964944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24ptの内訳（説明用）</a:t>
            </a:r>
            <a:endParaRPr lang="en-US" sz="1300" dirty="0"/>
          </a:p>
        </p:txBody>
      </p:sp>
      <p:sp>
        <p:nvSpPr>
          <p:cNvPr id="12" name="shape_417"/>
          <p:cNvSpPr/>
          <p:nvPr/>
        </p:nvSpPr>
        <p:spPr>
          <a:xfrm>
            <a:off x="8092440" y="2221078"/>
            <a:ext cx="868680" cy="257952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3" name="text_418"/>
          <p:cNvSpPr txBox="1"/>
          <p:nvPr/>
        </p:nvSpPr>
        <p:spPr>
          <a:xfrm>
            <a:off x="7909560" y="187360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21.7pt</a:t>
            </a:r>
            <a:endParaRPr lang="en-US" sz="1500" dirty="0"/>
          </a:p>
        </p:txBody>
      </p:sp>
      <p:sp>
        <p:nvSpPr>
          <p:cNvPr id="14" name="text_419"/>
          <p:cNvSpPr txBox="1"/>
          <p:nvPr/>
        </p:nvSpPr>
        <p:spPr>
          <a:xfrm>
            <a:off x="7863840" y="48371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新車値下げ</a:t>
            </a:r>
            <a:endParaRPr lang="en-US" sz="1200" dirty="0"/>
          </a:p>
        </p:txBody>
      </p:sp>
      <p:sp>
        <p:nvSpPr>
          <p:cNvPr id="15" name="shape_420"/>
          <p:cNvSpPr/>
          <p:nvPr/>
        </p:nvSpPr>
        <p:spPr>
          <a:xfrm>
            <a:off x="9418320" y="4515307"/>
            <a:ext cx="868680" cy="285293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_421"/>
          <p:cNvSpPr txBox="1"/>
          <p:nvPr/>
        </p:nvSpPr>
        <p:spPr>
          <a:xfrm>
            <a:off x="9235440" y="4167835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2.4pt</a:t>
            </a:r>
            <a:endParaRPr lang="en-US" sz="1500" dirty="0"/>
          </a:p>
        </p:txBody>
      </p:sp>
      <p:sp>
        <p:nvSpPr>
          <p:cNvPr id="17" name="text_422"/>
          <p:cNvSpPr txBox="1"/>
          <p:nvPr/>
        </p:nvSpPr>
        <p:spPr>
          <a:xfrm>
            <a:off x="9189720" y="48371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残り</a:t>
            </a:r>
            <a:endParaRPr lang="en-US" sz="1200" dirty="0"/>
          </a:p>
        </p:txBody>
      </p:sp>
      <p:sp>
        <p:nvSpPr>
          <p:cNvPr id="18" name="summary_423"/>
          <p:cNvSpPr/>
          <p:nvPr/>
        </p:nvSpPr>
        <p:spPr>
          <a:xfrm>
            <a:off x="960120" y="5486400"/>
            <a:ext cx="8769096" cy="1188720"/>
          </a:xfrm>
          <a:prstGeom prst="roundRect">
            <a:avLst>
              <a:gd name="adj" fmla="val 769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特価でなく通常価格（90万）で比べると、値下げ13pt・残り11pt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因果の推定には、SOHと成約価格のデータが要る</a:t>
            </a:r>
            <a:endParaRPr lang="en-US" sz="1700" dirty="0"/>
          </a:p>
        </p:txBody>
      </p:sp>
      <p:sp>
        <p:nvSpPr>
          <p:cNvPr id="19" name="text_42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出典：One2car（2026年10月）、BYD Rêver。分母を変えた差の説明用分解で、因果推定ではない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付録11　C-SUVの入口価格（通常価格と特価）</a:t>
            </a:r>
            <a:endParaRPr lang="en-US" sz="2400" dirty="0"/>
          </a:p>
        </p:txBody>
      </p:sp>
      <p:graphicFrame>
        <p:nvGraphicFramePr>
          <p:cNvPr id="33" name="table_4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9866376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05840"/>
                <a:gridCol w="1600200"/>
                <a:gridCol w="1600200"/>
                <a:gridCol w="20025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車種・グレード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動力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通常価格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 Smart比（特価）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Atto 3 Premium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79.99万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66.99万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 Atto 3 Extended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76.99万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Haval H6 HEV Pro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Toyota Corolla Cross HEV Smart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Toyota Corolla Cross HEV Premium Luxury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Mazda CX-30 Essential Prime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426"/>
          <p:cNvSpPr/>
          <p:nvPr/>
        </p:nvSpPr>
        <p:spPr>
          <a:xfrm>
            <a:off x="411480" y="1188720"/>
            <a:ext cx="9866376" cy="3858768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427"/>
          <p:cNvSpPr txBox="1"/>
          <p:nvPr/>
        </p:nvSpPr>
        <p:spPr>
          <a:xfrm>
            <a:off x="411480" y="51206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価格はバーツ。BYDの特価は2026年10月1〜31日</a:t>
            </a:r>
            <a:endParaRPr lang="en-US" sz="1200" dirty="0"/>
          </a:p>
        </p:txBody>
      </p:sp>
      <p:sp>
        <p:nvSpPr>
          <p:cNvPr id="6" name="summary_428"/>
          <p:cNvSpPr/>
          <p:nvPr/>
        </p:nvSpPr>
        <p:spPr>
          <a:xfrm>
            <a:off x="1325880" y="5669280"/>
            <a:ext cx="8037576" cy="1005840"/>
          </a:xfrm>
          <a:prstGeom prst="roundRect">
            <a:avLst>
              <a:gd name="adj" fmla="val 9091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全長はAtto 3が4,455mm、Corolla Crossが4,460mmでほぼ同じ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同じ大きさで2〜3割安い</a:t>
            </a:r>
            <a:endParaRPr lang="en-US" sz="1700" dirty="0"/>
          </a:p>
        </p:txBody>
      </p:sp>
      <p:sp>
        <p:nvSpPr>
          <p:cNvPr id="7" name="text_42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出典：BYD Rêver（2026年10月）、Toyota Thailand、各社の価格表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付録12　5年の保有費の試算　残価しだいで逆転する</a:t>
            </a:r>
            <a:endParaRPr lang="en-US" sz="2400" dirty="0"/>
          </a:p>
        </p:txBody>
      </p:sp>
      <p:graphicFrame>
        <p:nvGraphicFramePr>
          <p:cNvPr id="34" name="table_4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項目（万バーツ）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 3 通常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 3 特価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 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購入価格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5年後の売却額（仮定）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エネルギー費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整備・保険・充電設備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保有費の合計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同額になるHEVの残価率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431"/>
          <p:cNvSpPr/>
          <p:nvPr/>
        </p:nvSpPr>
        <p:spPr>
          <a:xfrm>
            <a:off x="411480" y="1188720"/>
            <a:ext cx="6400800" cy="374904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hape_432"/>
          <p:cNvSpPr/>
          <p:nvPr/>
        </p:nvSpPr>
        <p:spPr>
          <a:xfrm>
            <a:off x="7086600" y="1188720"/>
            <a:ext cx="3191256" cy="3749040"/>
          </a:xfrm>
          <a:prstGeom prst="roundRect">
            <a:avLst>
              <a:gd name="adj" fmla="val 2865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6" name="tab_433"/>
          <p:cNvSpPr/>
          <p:nvPr/>
        </p:nvSpPr>
        <p:spPr>
          <a:xfrm>
            <a:off x="7196328" y="1280160"/>
            <a:ext cx="9855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主な仮定</a:t>
            </a:r>
            <a:endParaRPr lang="en-US" sz="1400" dirty="0"/>
          </a:p>
        </p:txBody>
      </p:sp>
      <p:sp>
        <p:nvSpPr>
          <p:cNvPr id="7" name="text_434"/>
          <p:cNvSpPr txBox="1"/>
          <p:nvPr/>
        </p:nvSpPr>
        <p:spPr>
          <a:xfrm>
            <a:off x="7269480" y="1783080"/>
            <a:ext cx="28254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年1.5万km・5年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ガソリン35バーツ/L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電気4.5〜7.5バーツ/kWh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 16kWh/100km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 25km/L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現金購入</a:t>
            </a:r>
            <a:endParaRPr lang="en-US" sz="1500" dirty="0"/>
          </a:p>
        </p:txBody>
      </p:sp>
      <p:sp>
        <p:nvSpPr>
          <p:cNvPr id="8" name="summary_435"/>
          <p:cNvSpPr/>
          <p:nvPr/>
        </p:nvSpPr>
        <p:spPr>
          <a:xfrm>
            <a:off x="960120" y="5486400"/>
            <a:ext cx="8769096" cy="1188720"/>
          </a:xfrm>
          <a:prstGeom prst="roundRect">
            <a:avLst>
              <a:gd name="adj" fmla="val 769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保有費は売却額の仮定で大きく変わる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日系はHEVの高い残価を残クレに使えば、特価のEVとも戦える</a:t>
            </a:r>
            <a:endParaRPr lang="en-US" sz="1700" dirty="0"/>
          </a:p>
        </p:txBody>
      </p:sp>
      <p:sp>
        <p:nvSpPr>
          <p:cNvPr id="9" name="text_43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出典：各社の価格表（2026年10月）。売却額・料金・整備費・保険料は説明用の仮定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付録13　残クレで見たCross HEVとAtto 3の月々の支払い</a:t>
            </a:r>
            <a:endParaRPr lang="en-US" sz="2400" dirty="0"/>
          </a:p>
        </p:txBody>
      </p:sp>
      <p:graphicFrame>
        <p:nvGraphicFramePr>
          <p:cNvPr id="3" name="chart_zancre" descr=""/>
          <p:cNvGraphicFramePr/>
          <p:nvPr/>
        </p:nvGraphicFramePr>
        <p:xfrm>
          <a:off x="411480" y="109728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_437"/>
          <p:cNvSpPr/>
          <p:nvPr/>
        </p:nvSpPr>
        <p:spPr>
          <a:xfrm>
            <a:off x="6720840" y="1188720"/>
            <a:ext cx="3557016" cy="4480560"/>
          </a:xfrm>
          <a:prstGeom prst="roundRect">
            <a:avLst>
              <a:gd name="adj" fmla="val 2571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438"/>
          <p:cNvSpPr/>
          <p:nvPr/>
        </p:nvSpPr>
        <p:spPr>
          <a:xfrm>
            <a:off x="6830568" y="1280160"/>
            <a:ext cx="2645156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iPhoneの返却プログラムと同じ</a:t>
            </a:r>
            <a:endParaRPr lang="en-US" sz="1300" dirty="0"/>
          </a:p>
        </p:txBody>
      </p:sp>
      <p:sp>
        <p:nvSpPr>
          <p:cNvPr id="6" name="text_439"/>
          <p:cNvSpPr txBox="1"/>
          <p:nvPr/>
        </p:nvSpPr>
        <p:spPr>
          <a:xfrm>
            <a:off x="6903720" y="1783080"/>
            <a:ext cx="31912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払うのは「価格 − 将来の残価」だけ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残価が高い車ほど、月々が安くなる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5年後の残価（仮定）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 HEV 65%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 45%（通常価格比）</a:t>
            </a:r>
            <a:endParaRPr lang="en-US" sz="1500" dirty="0"/>
          </a:p>
        </p:txBody>
      </p:sp>
      <p:sp>
        <p:nvSpPr>
          <p:cNvPr id="7" name="summary_440"/>
          <p:cNvSpPr/>
          <p:nvPr/>
        </p:nvSpPr>
        <p:spPr>
          <a:xfrm>
            <a:off x="960120" y="5897880"/>
            <a:ext cx="8769096" cy="914400"/>
          </a:xfrm>
          <a:prstGeom prst="roundRect">
            <a:avLst>
              <a:gd name="adj" fmla="val 100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高い残価が、そのまま月々の安さになる。ただし残価が外れたときの損は日系の金融会社が負う</a:t>
            </a:r>
            <a:endParaRPr lang="en-US" sz="1600" dirty="0"/>
          </a:p>
        </p:txBody>
      </p:sp>
      <p:sp>
        <p:nvSpPr>
          <p:cNvPr id="8" name="text_44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出典：各社の価格表（2026年10月）。残価は付録の保有費試算と同じ仮定。金利・手数料は含まない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付録14　2026年1〜6月のパワートレイン別登録と国籍</a:t>
            </a:r>
            <a:endParaRPr lang="en-US" sz="2400" dirty="0"/>
          </a:p>
        </p:txBody>
      </p:sp>
      <p:graphicFrame>
        <p:nvGraphicFramePr>
          <p:cNvPr id="36" name="table_4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986637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00200"/>
                <a:gridCol w="1600200"/>
                <a:gridCol w="1234440"/>
                <a:gridCol w="2148840"/>
                <a:gridCol w="20939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動力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2025年1〜6月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2026年1〜6月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前年比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56,973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105,280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+84.8%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94,752（90.0%）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1,113（1.1%）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71,613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89,878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+25.5%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1,407（1.6%）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87,910（97.8%）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11,324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10,214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−9.8%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7,128（69.8%）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59（0.6%）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合計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139,910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205,372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+46.8%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103,287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89,082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443"/>
          <p:cNvSpPr/>
          <p:nvPr/>
        </p:nvSpPr>
        <p:spPr>
          <a:xfrm>
            <a:off x="411480" y="1188720"/>
            <a:ext cx="9866376" cy="283464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ummary_444"/>
          <p:cNvSpPr/>
          <p:nvPr/>
        </p:nvSpPr>
        <p:spPr>
          <a:xfrm>
            <a:off x="960120" y="4572000"/>
            <a:ext cx="8769096" cy="1280160"/>
          </a:xfrm>
          <a:prstGeom prst="roundRect">
            <a:avLst>
              <a:gd name="adj" fmla="val 714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日系HEVの2026年上半期の台数は、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前年のHEV市場全体を上回る（1.23倍）</a:t>
            </a:r>
            <a:endParaRPr lang="en-US" sz="1900" dirty="0"/>
          </a:p>
        </p:txBody>
      </p:sp>
      <p:sp>
        <p:nvSpPr>
          <p:cNvPr id="6" name="text_445"/>
          <p:cNvSpPr txBox="1"/>
          <p:nvPr/>
        </p:nvSpPr>
        <p:spPr>
          <a:xfrm>
            <a:off x="411480" y="6035040"/>
            <a:ext cx="9866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BEVの日系はToyota・Hondaの明記分のみ。その他の国籍は未分解</a:t>
            </a:r>
            <a:endParaRPr lang="en-US" sz="1300" dirty="0"/>
          </a:p>
        </p:txBody>
      </p:sp>
      <p:sp>
        <p:nvSpPr>
          <p:cNvPr id="7" name="text_44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出典：JETRO（2026年7月24日）、EVAT・DLT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付録15　中国系BEVのグループ別シェア　上位4社で72%</a:t>
            </a:r>
            <a:endParaRPr lang="en-US" sz="2400" dirty="0"/>
          </a:p>
        </p:txBody>
      </p:sp>
      <p:graphicFrame>
        <p:nvGraphicFramePr>
          <p:cNvPr id="3" name="chart_grp" descr=""/>
          <p:cNvGraphicFramePr/>
          <p:nvPr/>
        </p:nvGraphicFramePr>
        <p:xfrm>
          <a:off x="411480" y="1097280"/>
          <a:ext cx="6583680" cy="5669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_447"/>
          <p:cNvSpPr/>
          <p:nvPr/>
        </p:nvSpPr>
        <p:spPr>
          <a:xfrm>
            <a:off x="7269480" y="1188720"/>
            <a:ext cx="3008376" cy="5486400"/>
          </a:xfrm>
          <a:prstGeom prst="roundRect">
            <a:avLst>
              <a:gd name="adj" fmla="val 3040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448"/>
          <p:cNvSpPr/>
          <p:nvPr/>
        </p:nvSpPr>
        <p:spPr>
          <a:xfrm>
            <a:off x="7379208" y="1280160"/>
            <a:ext cx="16967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上位の入れ替わり</a:t>
            </a:r>
            <a:endParaRPr lang="en-US" sz="1400" dirty="0"/>
          </a:p>
        </p:txBody>
      </p:sp>
      <p:graphicFrame>
        <p:nvGraphicFramePr>
          <p:cNvPr id="37" name="table_4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783080"/>
          <a:ext cx="2642616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18388"/>
                <a:gridCol w="81838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2025*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新規6社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_450"/>
          <p:cNvSpPr txBox="1"/>
          <p:nvPr/>
        </p:nvSpPr>
        <p:spPr>
          <a:xfrm>
            <a:off x="7452360" y="3977640"/>
            <a:ext cx="26426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*2025年1〜9月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新規6社＝Denza・XPeng・Zeekr・Jaecoo・Omoda・Hyptec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中国系どうしで席を奪い合っている</a:t>
            </a:r>
            <a:endParaRPr lang="en-US" sz="1300" dirty="0"/>
          </a:p>
        </p:txBody>
      </p:sp>
      <p:sp>
        <p:nvSpPr>
          <p:cNvPr id="8" name="text_45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出典：JETRO（2026年7月）、Autolife（2023〜2025年）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付録16　中国系の「速さ」の正体は、新しい車名の投入</a:t>
            </a:r>
            <a:endParaRPr lang="en-US" sz="2400" dirty="0"/>
          </a:p>
        </p:txBody>
      </p:sp>
      <p:graphicFrame>
        <p:nvGraphicFramePr>
          <p:cNvPr id="3" name="chart_launch" descr=""/>
          <p:cNvGraphicFramePr/>
          <p:nvPr/>
        </p:nvGraphicFramePr>
        <p:xfrm>
          <a:off x="411480" y="1097280"/>
          <a:ext cx="6400800" cy="5669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_452"/>
          <p:cNvSpPr txBox="1"/>
          <p:nvPr/>
        </p:nvSpPr>
        <p:spPr>
          <a:xfrm>
            <a:off x="7086600" y="1280160"/>
            <a:ext cx="319125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3800" dirty="0"/>
          </a:p>
        </p:txBody>
      </p:sp>
      <p:sp>
        <p:nvSpPr>
          <p:cNvPr id="5" name="text_453"/>
          <p:cNvSpPr txBox="1"/>
          <p:nvPr/>
        </p:nvSpPr>
        <p:spPr>
          <a:xfrm>
            <a:off x="7086600" y="190754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中国系の新車種のうち、新しい車名</a:t>
            </a:r>
            <a:endParaRPr lang="en-US" sz="1400" dirty="0"/>
          </a:p>
        </p:txBody>
      </p:sp>
      <p:sp>
        <p:nvSpPr>
          <p:cNvPr id="6" name="text_454"/>
          <p:cNvSpPr txBox="1"/>
          <p:nvPr/>
        </p:nvSpPr>
        <p:spPr>
          <a:xfrm>
            <a:off x="7086600" y="2606040"/>
            <a:ext cx="319125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800" dirty="0"/>
          </a:p>
        </p:txBody>
      </p:sp>
      <p:sp>
        <p:nvSpPr>
          <p:cNvPr id="7" name="text_455"/>
          <p:cNvSpPr txBox="1"/>
          <p:nvPr/>
        </p:nvSpPr>
        <p:spPr>
          <a:xfrm>
            <a:off x="7086600" y="323342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輸入で売り始めた割合</a:t>
            </a:r>
            <a:endParaRPr lang="en-US" sz="1400" dirty="0"/>
          </a:p>
        </p:txBody>
      </p:sp>
      <p:sp>
        <p:nvSpPr>
          <p:cNvPr id="8" name="text_456"/>
          <p:cNvSpPr txBox="1"/>
          <p:nvPr/>
        </p:nvSpPr>
        <p:spPr>
          <a:xfrm>
            <a:off x="7086600" y="3931920"/>
            <a:ext cx="319125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1〜2車種</a:t>
            </a:r>
            <a:endParaRPr lang="en-US" sz="3200" dirty="0"/>
          </a:p>
        </p:txBody>
      </p:sp>
      <p:sp>
        <p:nvSpPr>
          <p:cNvPr id="9" name="text_457"/>
          <p:cNvSpPr txBox="1"/>
          <p:nvPr/>
        </p:nvSpPr>
        <p:spPr>
          <a:xfrm>
            <a:off x="7086600" y="446024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タイで世代交代まで進んだ中国車</a:t>
            </a:r>
            <a:endParaRPr lang="en-US" sz="1400" dirty="0"/>
          </a:p>
        </p:txBody>
      </p:sp>
      <p:sp>
        <p:nvSpPr>
          <p:cNvPr id="10" name="pc_458"/>
          <p:cNvSpPr/>
          <p:nvPr/>
        </p:nvSpPr>
        <p:spPr>
          <a:xfrm>
            <a:off x="7086600" y="5257800"/>
            <a:ext cx="3191256" cy="146304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S&amp;Pの発売・改良時期で再集計</a:t>
            </a:r>
            <a:endParaRPr lang="en-US" sz="1000" dirty="0"/>
          </a:p>
        </p:txBody>
      </p:sp>
      <p:sp>
        <p:nvSpPr>
          <p:cNvPr id="11" name="text_45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出典：発売時期一覧（2026年10月、2026年は1〜10月）、Autolife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付録17　開発期間の差は、設計を決める前半で生まれる</a:t>
            </a:r>
            <a:endParaRPr lang="en-US" sz="2400" dirty="0"/>
          </a:p>
        </p:txBody>
      </p:sp>
      <p:graphicFrame>
        <p:nvGraphicFramePr>
          <p:cNvPr id="3" name="chart_phase" descr=""/>
          <p:cNvGraphicFramePr/>
          <p:nvPr/>
        </p:nvGraphicFramePr>
        <p:xfrm>
          <a:off x="411480" y="1097280"/>
          <a:ext cx="6766560" cy="5669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_460"/>
          <p:cNvSpPr/>
          <p:nvPr/>
        </p:nvSpPr>
        <p:spPr>
          <a:xfrm>
            <a:off x="7452360" y="1188720"/>
            <a:ext cx="2825496" cy="5486400"/>
          </a:xfrm>
          <a:prstGeom prst="roundRect">
            <a:avLst>
              <a:gd name="adj" fmla="val 3236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" name="tab_461"/>
          <p:cNvSpPr/>
          <p:nvPr/>
        </p:nvSpPr>
        <p:spPr>
          <a:xfrm>
            <a:off x="7562088" y="1280160"/>
            <a:ext cx="11633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縮める手段</a:t>
            </a:r>
            <a:endParaRPr lang="en-US" sz="1400" dirty="0"/>
          </a:p>
        </p:txBody>
      </p:sp>
      <p:sp>
        <p:nvSpPr>
          <p:cNvPr id="6" name="text_462"/>
          <p:cNvSpPr txBox="1"/>
          <p:nvPr/>
        </p:nvSpPr>
        <p:spPr>
          <a:xfrm>
            <a:off x="7635240" y="1783080"/>
            <a:ext cx="24597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決める人数と回数を減らす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仮想検証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標準部品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中国の開発体制を使う</a:t>
            </a:r>
            <a:endParaRPr lang="en-US" sz="1600" dirty="0"/>
          </a:p>
        </p:txBody>
      </p:sp>
      <p:sp>
        <p:nvSpPr>
          <p:cNvPr id="7" name="text_463"/>
          <p:cNvSpPr txBox="1"/>
          <p:nvPr/>
        </p:nvSpPr>
        <p:spPr>
          <a:xfrm>
            <a:off x="7635240" y="4846320"/>
            <a:ext cx="245973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18／21か月</a:t>
            </a:r>
            <a:endParaRPr lang="en-US" sz="2600" dirty="0"/>
          </a:p>
        </p:txBody>
      </p:sp>
      <p:sp>
        <p:nvSpPr>
          <p:cNvPr id="8" name="text_464"/>
          <p:cNvSpPr txBox="1"/>
          <p:nvPr/>
        </p:nvSpPr>
        <p:spPr>
          <a:xfrm>
            <a:off x="7635240" y="5275580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量販との差のうち前半で生まれる分</a:t>
            </a:r>
            <a:endParaRPr lang="en-US" sz="1400" dirty="0"/>
          </a:p>
        </p:txBody>
      </p:sp>
      <p:sp>
        <p:nvSpPr>
          <p:cNvPr id="9" name="text_465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出典：McKinsey（2025年10月）、報道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付録18　政策はBEVの普及と現地生産をセットにしてきた</a:t>
            </a:r>
            <a:endParaRPr lang="en-US" sz="2400" dirty="0"/>
          </a:p>
        </p:txBody>
      </p:sp>
      <p:sp>
        <p:nvSpPr>
          <p:cNvPr id="3" name="shape_466"/>
          <p:cNvSpPr/>
          <p:nvPr/>
        </p:nvSpPr>
        <p:spPr>
          <a:xfrm>
            <a:off x="411480" y="141732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467"/>
          <p:cNvSpPr/>
          <p:nvPr/>
        </p:nvSpPr>
        <p:spPr>
          <a:xfrm>
            <a:off x="1046480" y="1261872"/>
            <a:ext cx="878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</a:t>
            </a:r>
            <a:endParaRPr lang="en-US" sz="1700" dirty="0"/>
          </a:p>
        </p:txBody>
      </p:sp>
      <p:sp>
        <p:nvSpPr>
          <p:cNvPr id="5" name="text_468"/>
          <p:cNvSpPr txBox="1"/>
          <p:nvPr/>
        </p:nvSpPr>
        <p:spPr>
          <a:xfrm>
            <a:off x="548640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2022〜25年</a:t>
            </a:r>
            <a:endParaRPr lang="en-US" sz="1400" dirty="0"/>
          </a:p>
        </p:txBody>
      </p:sp>
      <p:sp>
        <p:nvSpPr>
          <p:cNvPr id="6" name="text_469"/>
          <p:cNvSpPr txBox="1"/>
          <p:nvPr/>
        </p:nvSpPr>
        <p:spPr>
          <a:xfrm>
            <a:off x="548640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 最大15万バーツ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物品税8%→2%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輸入1台に現地生産1〜1.5台</a:t>
            </a:r>
            <a:endParaRPr lang="en-US" sz="1500" dirty="0"/>
          </a:p>
        </p:txBody>
      </p:sp>
      <p:sp>
        <p:nvSpPr>
          <p:cNvPr id="7" name="shape_470"/>
          <p:cNvSpPr/>
          <p:nvPr/>
        </p:nvSpPr>
        <p:spPr>
          <a:xfrm>
            <a:off x="2634996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471"/>
          <p:cNvSpPr/>
          <p:nvPr/>
        </p:nvSpPr>
        <p:spPr>
          <a:xfrm>
            <a:off x="2750210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shape_472"/>
          <p:cNvSpPr/>
          <p:nvPr/>
        </p:nvSpPr>
        <p:spPr>
          <a:xfrm>
            <a:off x="2983992" y="141732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0" name="fslabel_473"/>
          <p:cNvSpPr/>
          <p:nvPr/>
        </p:nvSpPr>
        <p:spPr>
          <a:xfrm>
            <a:off x="3618992" y="1261872"/>
            <a:ext cx="878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</a:t>
            </a:r>
            <a:endParaRPr lang="en-US" sz="1700" dirty="0"/>
          </a:p>
        </p:txBody>
      </p:sp>
      <p:sp>
        <p:nvSpPr>
          <p:cNvPr id="11" name="text_474"/>
          <p:cNvSpPr txBox="1"/>
          <p:nvPr/>
        </p:nvSpPr>
        <p:spPr>
          <a:xfrm>
            <a:off x="3121152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2024〜27年</a:t>
            </a:r>
            <a:endParaRPr lang="en-US" sz="1400" dirty="0"/>
          </a:p>
        </p:txBody>
      </p:sp>
      <p:sp>
        <p:nvSpPr>
          <p:cNvPr id="12" name="text_475"/>
          <p:cNvSpPr txBox="1"/>
          <p:nvPr/>
        </p:nvSpPr>
        <p:spPr>
          <a:xfrm>
            <a:off x="3121152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補助は年々縮小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 2026年1:2、2027年1:3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輸出1台を1.5台に算入</a:t>
            </a:r>
            <a:endParaRPr lang="en-US" sz="1500" dirty="0"/>
          </a:p>
        </p:txBody>
      </p:sp>
      <p:sp>
        <p:nvSpPr>
          <p:cNvPr id="13" name="shape_476"/>
          <p:cNvSpPr/>
          <p:nvPr/>
        </p:nvSpPr>
        <p:spPr>
          <a:xfrm>
            <a:off x="5207508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4" name="shape_477"/>
          <p:cNvSpPr/>
          <p:nvPr/>
        </p:nvSpPr>
        <p:spPr>
          <a:xfrm>
            <a:off x="5322722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shape_478"/>
          <p:cNvSpPr/>
          <p:nvPr/>
        </p:nvSpPr>
        <p:spPr>
          <a:xfrm>
            <a:off x="5556504" y="141732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6" name="fslabel_479"/>
          <p:cNvSpPr/>
          <p:nvPr/>
        </p:nvSpPr>
        <p:spPr>
          <a:xfrm>
            <a:off x="5738114" y="1261872"/>
            <a:ext cx="17856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物品税の見直し</a:t>
            </a:r>
            <a:endParaRPr lang="en-US" sz="1700" dirty="0"/>
          </a:p>
        </p:txBody>
      </p:sp>
      <p:sp>
        <p:nvSpPr>
          <p:cNvPr id="17" name="text_480"/>
          <p:cNvSpPr txBox="1"/>
          <p:nvPr/>
        </p:nvSpPr>
        <p:spPr>
          <a:xfrm>
            <a:off x="5693664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2026年〜</a:t>
            </a:r>
            <a:endParaRPr lang="en-US" sz="1400" dirty="0"/>
          </a:p>
        </p:txBody>
      </p:sp>
      <p:sp>
        <p:nvSpPr>
          <p:cNvPr id="18" name="text_481"/>
          <p:cNvSpPr txBox="1"/>
          <p:nvPr/>
        </p:nvSpPr>
        <p:spPr>
          <a:xfrm>
            <a:off x="5693664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輸入EV 10%、現地2%</a:t>
            </a:r>
            <a:endParaRPr lang="en-US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PHEV 5%</a:t>
            </a:r>
            <a:endParaRPr lang="en-US" sz="1500" dirty="0"/>
          </a:p>
        </p:txBody>
      </p:sp>
      <p:sp>
        <p:nvSpPr>
          <p:cNvPr id="19" name="shape_482"/>
          <p:cNvSpPr/>
          <p:nvPr/>
        </p:nvSpPr>
        <p:spPr>
          <a:xfrm>
            <a:off x="7780020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0" name="shape_483"/>
          <p:cNvSpPr/>
          <p:nvPr/>
        </p:nvSpPr>
        <p:spPr>
          <a:xfrm>
            <a:off x="7895234" y="28803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1" name="shape_484"/>
          <p:cNvSpPr/>
          <p:nvPr/>
        </p:nvSpPr>
        <p:spPr>
          <a:xfrm>
            <a:off x="8129016" y="1417320"/>
            <a:ext cx="2148840" cy="3291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22" name="fslabel_485"/>
          <p:cNvSpPr/>
          <p:nvPr/>
        </p:nvSpPr>
        <p:spPr>
          <a:xfrm>
            <a:off x="8358124" y="1261872"/>
            <a:ext cx="16906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3段階の物品税</a:t>
            </a:r>
            <a:endParaRPr lang="en-US" sz="1700" dirty="0"/>
          </a:p>
        </p:txBody>
      </p:sp>
      <p:sp>
        <p:nvSpPr>
          <p:cNvPr id="23" name="text_486"/>
          <p:cNvSpPr txBox="1"/>
          <p:nvPr/>
        </p:nvSpPr>
        <p:spPr>
          <a:xfrm>
            <a:off x="8266176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2026年9月 合意</a:t>
            </a:r>
            <a:endParaRPr lang="en-US" sz="1400" dirty="0"/>
          </a:p>
        </p:txBody>
      </p:sp>
      <p:sp>
        <p:nvSpPr>
          <p:cNvPr id="24" name="text_487"/>
          <p:cNvSpPr txBox="1"/>
          <p:nvPr/>
        </p:nvSpPr>
        <p:spPr>
          <a:xfrm>
            <a:off x="8266176" y="224028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投資の少ない、輸入だけの会社が最も高い</a:t>
            </a:r>
            <a:endParaRPr lang="en-US" sz="1500" dirty="0"/>
          </a:p>
        </p:txBody>
      </p:sp>
      <p:sp>
        <p:nvSpPr>
          <p:cNvPr id="25" name="summary_488"/>
          <p:cNvSpPr/>
          <p:nvPr/>
        </p:nvSpPr>
        <p:spPr>
          <a:xfrm>
            <a:off x="868680" y="5120640"/>
            <a:ext cx="8951976" cy="1463040"/>
          </a:xfrm>
          <a:prstGeom prst="roundRect">
            <a:avLst>
              <a:gd name="adj" fmla="val 625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関税：中国製EV 0%、日本製 20%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中国系は輸入から始め、後から現地生産に移れた</a:t>
            </a:r>
            <a:endParaRPr lang="en-US" sz="1900" dirty="0"/>
          </a:p>
        </p:txBody>
      </p:sp>
      <p:sp>
        <p:nvSpPr>
          <p:cNvPr id="26" name="text_48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出典：BOI（2023〜2025年）、物品税局、The Nation（2026年9月）、ASEAN Briefing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付録19　ASEAN6か国の制度と、日系への示唆</a:t>
            </a:r>
            <a:endParaRPr lang="en-US" sz="2400" dirty="0"/>
          </a:p>
        </p:txBody>
      </p:sp>
      <p:graphicFrame>
        <p:nvGraphicFramePr>
          <p:cNvPr id="41" name="table_4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9866376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480560"/>
                <a:gridCol w="39227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制度・市場の条件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日系への示唆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タイ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 +85%、HEV +26%。EV3.5の相殺生産・輸出算入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HEVの収益を守り、都市・法人向けにBEVを投入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インドネシア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EV販売比率 約15%（2025年）。輸入優遇の終了後は現地化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MPV・SUVの用途と現地調達の採算を確認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マレーシア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2026年7月から新規CBUにCIF 20万リンギ以上・180kW以上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輸入の継続条件とCKDの採算を分けて設計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ベトナム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BEVの登録料0%を2030年末まで。地場VinFastが主力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地場を含めて商品・販売網・充電を評価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フィリピン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BEV・HEV・PHEVの関税0%を2028年まで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HEVも制度を使って価格を見直す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シンガポール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2026年のVESはEVのみ優遇。EEAIは2027年に終了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COEを含む負担でBEVの仕様を決める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491"/>
          <p:cNvSpPr/>
          <p:nvPr/>
        </p:nvSpPr>
        <p:spPr>
          <a:xfrm>
            <a:off x="411480" y="1143000"/>
            <a:ext cx="9866376" cy="5285232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492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出典：JETRO、BOI、MITI、ベトナム政府（政令202/2026）、フィリピン税関（EO62）、LTA、IEA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付録20　ピックアップの縮小は与信の引き締めによる</a:t>
            </a:r>
            <a:endParaRPr lang="en-US" sz="2400" dirty="0"/>
          </a:p>
        </p:txBody>
      </p:sp>
      <p:graphicFrame>
        <p:nvGraphicFramePr>
          <p:cNvPr id="3" name="chart_pickup" descr=""/>
          <p:cNvGraphicFramePr/>
          <p:nvPr/>
        </p:nvGraphicFramePr>
        <p:xfrm>
          <a:off x="411480" y="1097280"/>
          <a:ext cx="5303520" cy="5669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_493"/>
          <p:cNvSpPr txBox="1"/>
          <p:nvPr/>
        </p:nvSpPr>
        <p:spPr>
          <a:xfrm>
            <a:off x="6126480" y="1280160"/>
            <a:ext cx="415137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−63%</a:t>
            </a:r>
            <a:endParaRPr lang="en-US" sz="3800" dirty="0"/>
          </a:p>
        </p:txBody>
      </p:sp>
      <p:sp>
        <p:nvSpPr>
          <p:cNvPr id="5" name="text_494"/>
          <p:cNvSpPr txBox="1"/>
          <p:nvPr/>
        </p:nvSpPr>
        <p:spPr>
          <a:xfrm>
            <a:off x="6126480" y="1907540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ピックアップの販売（2022→2025年）</a:t>
            </a:r>
            <a:endParaRPr lang="en-US" sz="1400" dirty="0"/>
          </a:p>
        </p:txBody>
      </p:sp>
      <p:sp>
        <p:nvSpPr>
          <p:cNvPr id="6" name="text_495"/>
          <p:cNvSpPr txBox="1"/>
          <p:nvPr/>
        </p:nvSpPr>
        <p:spPr>
          <a:xfrm>
            <a:off x="6126480" y="2651760"/>
            <a:ext cx="415137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30〜40%</a:t>
            </a:r>
            <a:endParaRPr lang="en-US" sz="3800" dirty="0"/>
          </a:p>
        </p:txBody>
      </p:sp>
      <p:sp>
        <p:nvSpPr>
          <p:cNvPr id="7" name="text_496"/>
          <p:cNvSpPr txBox="1"/>
          <p:nvPr/>
        </p:nvSpPr>
        <p:spPr>
          <a:xfrm>
            <a:off x="6126480" y="3279140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ローンの否決率（2024年）</a:t>
            </a:r>
            <a:endParaRPr lang="en-US" sz="1400" dirty="0"/>
          </a:p>
        </p:txBody>
      </p:sp>
      <p:sp>
        <p:nvSpPr>
          <p:cNvPr id="8" name="text_497"/>
          <p:cNvSpPr txBox="1"/>
          <p:nvPr/>
        </p:nvSpPr>
        <p:spPr>
          <a:xfrm>
            <a:off x="6126480" y="4023360"/>
            <a:ext cx="415137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3800" dirty="0"/>
          </a:p>
        </p:txBody>
      </p:sp>
      <p:sp>
        <p:nvSpPr>
          <p:cNvPr id="9" name="text_498"/>
          <p:cNvSpPr txBox="1"/>
          <p:nvPr/>
        </p:nvSpPr>
        <p:spPr>
          <a:xfrm>
            <a:off x="6126480" y="4650740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ピックアップのうち日系</a:t>
            </a:r>
            <a:endParaRPr lang="en-US" sz="1400" dirty="0"/>
          </a:p>
        </p:txBody>
      </p:sp>
      <p:sp>
        <p:nvSpPr>
          <p:cNvPr id="10" name="summary_499"/>
          <p:cNvSpPr/>
          <p:nvPr/>
        </p:nvSpPr>
        <p:spPr>
          <a:xfrm>
            <a:off x="6126480" y="5394960"/>
            <a:ext cx="4151376" cy="1280160"/>
          </a:xfrm>
          <a:prstGeom prst="roundRect">
            <a:avLst>
              <a:gd name="adj" fmla="val 714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中国系との競争とは別の要因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与信が戻れば日系の台数も戻る</a:t>
            </a:r>
            <a:endParaRPr lang="en-US" sz="1700" dirty="0"/>
          </a:p>
        </p:txBody>
      </p:sp>
      <p:sp>
        <p:nvSpPr>
          <p:cNvPr id="11" name="text_500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出典：TMT、Bangkok Post、FTI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付録21　1車種依存と複数車種の比べ方</a:t>
            </a:r>
            <a:endParaRPr lang="en-US" sz="2400" dirty="0"/>
          </a:p>
        </p:txBody>
      </p:sp>
      <p:sp>
        <p:nvSpPr>
          <p:cNvPr id="3" name="text_501"/>
          <p:cNvSpPr txBox="1"/>
          <p:nvPr/>
        </p:nvSpPr>
        <p:spPr>
          <a:xfrm>
            <a:off x="1691640" y="1143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車種構成（2026年、100%）</a:t>
            </a:r>
            <a:endParaRPr lang="en-US" sz="1300" dirty="0"/>
          </a:p>
        </p:txBody>
      </p:sp>
      <p:sp>
        <p:nvSpPr>
          <p:cNvPr id="4" name="text_502"/>
          <p:cNvSpPr txBox="1"/>
          <p:nvPr/>
        </p:nvSpPr>
        <p:spPr>
          <a:xfrm>
            <a:off x="704088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シェア変化</a:t>
            </a:r>
            <a:endParaRPr lang="en-US" sz="1300" dirty="0"/>
          </a:p>
        </p:txBody>
      </p:sp>
      <p:sp>
        <p:nvSpPr>
          <p:cNvPr id="5" name="text_503"/>
          <p:cNvSpPr txBox="1"/>
          <p:nvPr/>
        </p:nvSpPr>
        <p:spPr>
          <a:xfrm>
            <a:off x="8686800" y="114300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主力の交代</a:t>
            </a:r>
            <a:endParaRPr lang="en-US" sz="1300" dirty="0"/>
          </a:p>
        </p:txBody>
      </p:sp>
      <p:sp>
        <p:nvSpPr>
          <p:cNvPr id="6" name="text_504"/>
          <p:cNvSpPr txBox="1"/>
          <p:nvPr/>
        </p:nvSpPr>
        <p:spPr>
          <a:xfrm>
            <a:off x="41148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</a:t>
            </a:r>
            <a:endParaRPr lang="en-US" sz="1400" dirty="0"/>
          </a:p>
        </p:txBody>
      </p:sp>
      <p:sp>
        <p:nvSpPr>
          <p:cNvPr id="7" name="text_505"/>
          <p:cNvSpPr txBox="1"/>
          <p:nvPr/>
        </p:nvSpPr>
        <p:spPr>
          <a:xfrm>
            <a:off x="411480" y="2130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Chery系</a:t>
            </a:r>
            <a:endParaRPr lang="en-US" sz="1400" dirty="0"/>
          </a:p>
        </p:txBody>
      </p:sp>
      <p:sp>
        <p:nvSpPr>
          <p:cNvPr id="8" name="text_506"/>
          <p:cNvSpPr txBox="1"/>
          <p:nvPr/>
        </p:nvSpPr>
        <p:spPr>
          <a:xfrm>
            <a:off x="411480" y="27066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</a:t>
            </a:r>
            <a:endParaRPr lang="en-US" sz="1400" dirty="0"/>
          </a:p>
        </p:txBody>
      </p:sp>
      <p:sp>
        <p:nvSpPr>
          <p:cNvPr id="9" name="text_507"/>
          <p:cNvSpPr txBox="1"/>
          <p:nvPr/>
        </p:nvSpPr>
        <p:spPr>
          <a:xfrm>
            <a:off x="411480" y="32826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GAC Aion</a:t>
            </a:r>
            <a:endParaRPr lang="en-US" sz="1400" dirty="0"/>
          </a:p>
        </p:txBody>
      </p:sp>
      <p:sp>
        <p:nvSpPr>
          <p:cNvPr id="10" name="text_508"/>
          <p:cNvSpPr txBox="1"/>
          <p:nvPr/>
        </p:nvSpPr>
        <p:spPr>
          <a:xfrm>
            <a:off x="411480" y="38587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Changan</a:t>
            </a:r>
            <a:endParaRPr lang="en-US" sz="1400" dirty="0"/>
          </a:p>
        </p:txBody>
      </p:sp>
      <p:sp>
        <p:nvSpPr>
          <p:cNvPr id="11" name="text_509"/>
          <p:cNvSpPr txBox="1"/>
          <p:nvPr/>
        </p:nvSpPr>
        <p:spPr>
          <a:xfrm>
            <a:off x="411480" y="4434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</a:t>
            </a:r>
            <a:endParaRPr lang="en-US" sz="1400" dirty="0"/>
          </a:p>
        </p:txBody>
      </p:sp>
      <p:sp>
        <p:nvSpPr>
          <p:cNvPr id="12" name="text_510"/>
          <p:cNvSpPr txBox="1"/>
          <p:nvPr/>
        </p:nvSpPr>
        <p:spPr>
          <a:xfrm>
            <a:off x="411480" y="50109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</a:t>
            </a:r>
            <a:endParaRPr lang="en-US" sz="1400" dirty="0"/>
          </a:p>
        </p:txBody>
      </p:sp>
      <p:sp>
        <p:nvSpPr>
          <p:cNvPr id="13" name="text_511"/>
          <p:cNvSpPr txBox="1"/>
          <p:nvPr/>
        </p:nvSpPr>
        <p:spPr>
          <a:xfrm>
            <a:off x="411480" y="558698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Honda</a:t>
            </a:r>
            <a:endParaRPr lang="en-US" sz="1400" dirty="0"/>
          </a:p>
        </p:txBody>
      </p:sp>
      <p:sp>
        <p:nvSpPr>
          <p:cNvPr id="14" name="pc_512"/>
          <p:cNvSpPr/>
          <p:nvPr/>
        </p:nvSpPr>
        <p:spPr>
          <a:xfrm>
            <a:off x="1691640" y="1554480"/>
            <a:ext cx="5120640" cy="4535424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横棒（主力1車種／2位／3位／その他）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主力1車種の比率の高い順に並べる</a:t>
            </a:r>
            <a:endParaRPr lang="en-US" sz="1000" dirty="0"/>
          </a:p>
        </p:txBody>
      </p:sp>
      <p:sp>
        <p:nvSpPr>
          <p:cNvPr id="15" name="pc_513"/>
          <p:cNvSpPr/>
          <p:nvPr/>
        </p:nvSpPr>
        <p:spPr>
          <a:xfrm>
            <a:off x="7040880" y="1554480"/>
            <a:ext cx="1463040" cy="4535424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矢印（pt）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2025→2026</a:t>
            </a:r>
            <a:endParaRPr lang="en-US" sz="900" dirty="0"/>
          </a:p>
        </p:txBody>
      </p:sp>
      <p:sp>
        <p:nvSpPr>
          <p:cNvPr id="16" name="pc_514"/>
          <p:cNvSpPr/>
          <p:nvPr/>
        </p:nvSpPr>
        <p:spPr>
          <a:xfrm>
            <a:off x="8686800" y="1554480"/>
            <a:ext cx="1591056" cy="4535424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回数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2023年以降に主力車種が入れ替わった回数</a:t>
            </a:r>
            <a:endParaRPr lang="en-US" sz="900" dirty="0"/>
          </a:p>
        </p:txBody>
      </p:sp>
      <p:sp>
        <p:nvSpPr>
          <p:cNvPr id="17" name="shape_515"/>
          <p:cNvSpPr/>
          <p:nvPr/>
        </p:nvSpPr>
        <p:spPr>
          <a:xfrm>
            <a:off x="1691640" y="6291072"/>
            <a:ext cx="182880" cy="18288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8" name="text_516"/>
          <p:cNvSpPr txBox="1"/>
          <p:nvPr/>
        </p:nvSpPr>
        <p:spPr>
          <a:xfrm>
            <a:off x="1938528" y="6217920"/>
            <a:ext cx="844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主力1車種</a:t>
            </a:r>
            <a:endParaRPr lang="en-US" sz="1300" dirty="0"/>
          </a:p>
        </p:txBody>
      </p:sp>
      <p:sp>
        <p:nvSpPr>
          <p:cNvPr id="19" name="shape_517"/>
          <p:cNvSpPr/>
          <p:nvPr/>
        </p:nvSpPr>
        <p:spPr>
          <a:xfrm>
            <a:off x="3011424" y="6291072"/>
            <a:ext cx="182880" cy="18288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0" name="text_518"/>
          <p:cNvSpPr txBox="1"/>
          <p:nvPr/>
        </p:nvSpPr>
        <p:spPr>
          <a:xfrm>
            <a:off x="3258312" y="6217920"/>
            <a:ext cx="348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2位</a:t>
            </a:r>
            <a:endParaRPr lang="en-US" sz="1300" dirty="0"/>
          </a:p>
        </p:txBody>
      </p:sp>
      <p:sp>
        <p:nvSpPr>
          <p:cNvPr id="21" name="shape_519"/>
          <p:cNvSpPr/>
          <p:nvPr/>
        </p:nvSpPr>
        <p:spPr>
          <a:xfrm>
            <a:off x="3835908" y="6291072"/>
            <a:ext cx="182880" cy="182880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text_520"/>
          <p:cNvSpPr txBox="1"/>
          <p:nvPr/>
        </p:nvSpPr>
        <p:spPr>
          <a:xfrm>
            <a:off x="4082796" y="6217920"/>
            <a:ext cx="348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3位</a:t>
            </a:r>
            <a:endParaRPr lang="en-US" sz="1300" dirty="0"/>
          </a:p>
        </p:txBody>
      </p:sp>
      <p:sp>
        <p:nvSpPr>
          <p:cNvPr id="23" name="shape_521"/>
          <p:cNvSpPr/>
          <p:nvPr/>
        </p:nvSpPr>
        <p:spPr>
          <a:xfrm>
            <a:off x="4660392" y="6291072"/>
            <a:ext cx="182880" cy="182880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4" name="text_522"/>
          <p:cNvSpPr txBox="1"/>
          <p:nvPr/>
        </p:nvSpPr>
        <p:spPr>
          <a:xfrm>
            <a:off x="4907280" y="6217920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その他</a:t>
            </a:r>
            <a:endParaRPr lang="en-US" sz="1300" dirty="0"/>
          </a:p>
        </p:txBody>
      </p:sp>
      <p:sp>
        <p:nvSpPr>
          <p:cNvPr id="25" name="summary_523"/>
          <p:cNvSpPr/>
          <p:nvPr/>
        </p:nvSpPr>
        <p:spPr>
          <a:xfrm>
            <a:off x="685800" y="6583680"/>
            <a:ext cx="9317736" cy="457200"/>
          </a:xfrm>
          <a:prstGeom prst="roundRect">
            <a:avLst>
              <a:gd name="adj" fmla="val 200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見どころ：主力1車種の比率が高いのに伸びている企業＝主力を次々入れ替えている企業</a:t>
            </a:r>
            <a:endParaRPr lang="en-US" sz="1400" dirty="0"/>
          </a:p>
        </p:txBody>
      </p:sp>
      <p:sp>
        <p:nvSpPr>
          <p:cNvPr id="26" name="text_52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出典：MarkLines（社内）で作成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付録22　中国系の逆風　淘汰はすでに始まっている</a:t>
            </a:r>
            <a:endParaRPr lang="en-US" sz="2400" dirty="0"/>
          </a:p>
        </p:txBody>
      </p:sp>
      <p:sp>
        <p:nvSpPr>
          <p:cNvPr id="3" name="shape_525"/>
          <p:cNvSpPr/>
          <p:nvPr/>
        </p:nvSpPr>
        <p:spPr>
          <a:xfrm>
            <a:off x="411480" y="141732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4" name="fslabel_526"/>
          <p:cNvSpPr/>
          <p:nvPr/>
        </p:nvSpPr>
        <p:spPr>
          <a:xfrm>
            <a:off x="1612900" y="1261872"/>
            <a:ext cx="7061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</a:t>
            </a:r>
            <a:endParaRPr lang="en-US" sz="1700" dirty="0"/>
          </a:p>
        </p:txBody>
      </p:sp>
      <p:sp>
        <p:nvSpPr>
          <p:cNvPr id="5" name="text_527"/>
          <p:cNvSpPr txBox="1"/>
          <p:nvPr/>
        </p:nvSpPr>
        <p:spPr>
          <a:xfrm>
            <a:off x="59436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60→20</a:t>
            </a:r>
            <a:endParaRPr lang="en-US" sz="4000" dirty="0"/>
          </a:p>
        </p:txBody>
      </p:sp>
      <p:sp>
        <p:nvSpPr>
          <p:cNvPr id="6" name="text_528"/>
          <p:cNvSpPr txBox="1"/>
          <p:nvPr/>
        </p:nvSpPr>
        <p:spPr>
          <a:xfrm>
            <a:off x="640080" y="278892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Netaの販売店。補助約20億バーツの返還を求められ撤退へ</a:t>
            </a:r>
            <a:endParaRPr lang="en-US" sz="1500" dirty="0"/>
          </a:p>
        </p:txBody>
      </p:sp>
      <p:sp>
        <p:nvSpPr>
          <p:cNvPr id="7" name="shape_529"/>
          <p:cNvSpPr/>
          <p:nvPr/>
        </p:nvSpPr>
        <p:spPr>
          <a:xfrm>
            <a:off x="3790188" y="141732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8" name="fslabel_530"/>
          <p:cNvSpPr/>
          <p:nvPr/>
        </p:nvSpPr>
        <p:spPr>
          <a:xfrm>
            <a:off x="4991608" y="1261872"/>
            <a:ext cx="7061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制度</a:t>
            </a:r>
            <a:endParaRPr lang="en-US" sz="1700" dirty="0"/>
          </a:p>
        </p:txBody>
      </p:sp>
      <p:sp>
        <p:nvSpPr>
          <p:cNvPr id="9" name="text_531"/>
          <p:cNvSpPr txBox="1"/>
          <p:nvPr/>
        </p:nvSpPr>
        <p:spPr>
          <a:xfrm>
            <a:off x="3973068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3段階</a:t>
            </a:r>
            <a:endParaRPr lang="en-US" sz="4000" dirty="0"/>
          </a:p>
        </p:txBody>
      </p:sp>
      <p:sp>
        <p:nvSpPr>
          <p:cNvPr id="10" name="text_532"/>
          <p:cNvSpPr txBox="1"/>
          <p:nvPr/>
        </p:nvSpPr>
        <p:spPr>
          <a:xfrm>
            <a:off x="4018788" y="278892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2026年から物品税を投資の度合いで3段階に。輸入だけの会社が最も高い</a:t>
            </a:r>
            <a:endParaRPr lang="en-US" sz="1500" dirty="0"/>
          </a:p>
        </p:txBody>
      </p:sp>
      <p:sp>
        <p:nvSpPr>
          <p:cNvPr id="11" name="shape_533"/>
          <p:cNvSpPr/>
          <p:nvPr/>
        </p:nvSpPr>
        <p:spPr>
          <a:xfrm>
            <a:off x="7168896" y="141732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2" name="fslabel_534"/>
          <p:cNvSpPr/>
          <p:nvPr/>
        </p:nvSpPr>
        <p:spPr>
          <a:xfrm>
            <a:off x="8370316" y="1261872"/>
            <a:ext cx="7061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採算</a:t>
            </a:r>
            <a:endParaRPr lang="en-US" sz="1700" dirty="0"/>
          </a:p>
        </p:txBody>
      </p:sp>
      <p:sp>
        <p:nvSpPr>
          <p:cNvPr id="13" name="text_535"/>
          <p:cNvSpPr txBox="1"/>
          <p:nvPr/>
        </p:nvSpPr>
        <p:spPr>
          <a:xfrm>
            <a:off x="7351776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4000" dirty="0"/>
          </a:p>
        </p:txBody>
      </p:sp>
      <p:sp>
        <p:nvSpPr>
          <p:cNvPr id="14" name="text_536"/>
          <p:cNvSpPr txBox="1"/>
          <p:nvPr/>
        </p:nvSpPr>
        <p:spPr>
          <a:xfrm>
            <a:off x="7397496" y="278892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中国の自動車産業の利益率（2026年1〜4月）。値下げの余力は細る</a:t>
            </a:r>
            <a:endParaRPr lang="en-US" sz="1500" dirty="0"/>
          </a:p>
        </p:txBody>
      </p:sp>
      <p:sp>
        <p:nvSpPr>
          <p:cNvPr id="15" name="summary_537"/>
          <p:cNvSpPr/>
          <p:nvPr/>
        </p:nvSpPr>
        <p:spPr>
          <a:xfrm>
            <a:off x="960120" y="5120640"/>
            <a:ext cx="8769096" cy="1371600"/>
          </a:xfrm>
          <a:prstGeom prst="roundRect">
            <a:avLst>
              <a:gd name="adj" fmla="val 666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撤退ブランドの保有者は、整備と中古の受け皿を探す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日系にとっては「拾う」機会</a:t>
            </a:r>
            <a:endParaRPr lang="en-US" sz="1800" dirty="0"/>
          </a:p>
        </p:txBody>
      </p:sp>
      <p:sp>
        <p:nvSpPr>
          <p:cNvPr id="16" name="text_538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出典：The Nation、CPCA、物品税局（2026年）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付録23　「埋める」手段　中国の開発体制でつくる日系BEV</a:t>
            </a:r>
            <a:endParaRPr lang="en-US" sz="2400" dirty="0"/>
          </a:p>
        </p:txBody>
      </p:sp>
      <p:sp>
        <p:nvSpPr>
          <p:cNvPr id="3" name="shape_539"/>
          <p:cNvSpPr/>
          <p:nvPr/>
        </p:nvSpPr>
        <p:spPr>
          <a:xfrm>
            <a:off x="411480" y="123444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shape_540"/>
          <p:cNvSpPr/>
          <p:nvPr/>
        </p:nvSpPr>
        <p:spPr>
          <a:xfrm>
            <a:off x="411480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5" name="text_541"/>
          <p:cNvSpPr txBox="1"/>
          <p:nvPr/>
        </p:nvSpPr>
        <p:spPr>
          <a:xfrm>
            <a:off x="521208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トヨタ</a:t>
            </a:r>
            <a:endParaRPr lang="en-US" sz="1300" dirty="0"/>
          </a:p>
        </p:txBody>
      </p:sp>
      <p:sp>
        <p:nvSpPr>
          <p:cNvPr id="6" name="text_542"/>
          <p:cNvSpPr txBox="1"/>
          <p:nvPr/>
        </p:nvSpPr>
        <p:spPr>
          <a:xfrm>
            <a:off x="5943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bZ3・bZ3X</a:t>
            </a:r>
            <a:endParaRPr lang="en-US" sz="2200" dirty="0"/>
          </a:p>
        </p:txBody>
      </p:sp>
      <p:sp>
        <p:nvSpPr>
          <p:cNvPr id="7" name="text_543"/>
          <p:cNvSpPr txBox="1"/>
          <p:nvPr/>
        </p:nvSpPr>
        <p:spPr>
          <a:xfrm>
            <a:off x="594360" y="23774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BYD・GACとの合弁で共同開発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BYDのLFP電池、制御はトヨタ</a:t>
            </a:r>
            <a:endParaRPr lang="en-US" sz="1500" dirty="0"/>
          </a:p>
        </p:txBody>
      </p:sp>
      <p:sp>
        <p:nvSpPr>
          <p:cNvPr id="8" name="shape_544"/>
          <p:cNvSpPr/>
          <p:nvPr/>
        </p:nvSpPr>
        <p:spPr>
          <a:xfrm>
            <a:off x="3835908" y="123444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_545"/>
          <p:cNvSpPr/>
          <p:nvPr/>
        </p:nvSpPr>
        <p:spPr>
          <a:xfrm>
            <a:off x="3835908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0" name="text_546"/>
          <p:cNvSpPr txBox="1"/>
          <p:nvPr/>
        </p:nvSpPr>
        <p:spPr>
          <a:xfrm>
            <a:off x="3945636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ホンダ</a:t>
            </a:r>
            <a:endParaRPr lang="en-US" sz="1300" dirty="0"/>
          </a:p>
        </p:txBody>
      </p:sp>
      <p:sp>
        <p:nvSpPr>
          <p:cNvPr id="11" name="text_547"/>
          <p:cNvSpPr txBox="1"/>
          <p:nvPr/>
        </p:nvSpPr>
        <p:spPr>
          <a:xfrm>
            <a:off x="4018788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e:N系</a:t>
            </a:r>
            <a:endParaRPr lang="en-US" sz="2200" dirty="0"/>
          </a:p>
        </p:txBody>
      </p:sp>
      <p:sp>
        <p:nvSpPr>
          <p:cNvPr id="12" name="text_548"/>
          <p:cNvSpPr txBox="1"/>
          <p:nvPr/>
        </p:nvSpPr>
        <p:spPr>
          <a:xfrm>
            <a:off x="4018788" y="23774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中国の合弁で開発・生産</a:t>
            </a:r>
            <a:endParaRPr lang="en-US" sz="1500" dirty="0"/>
          </a:p>
        </p:txBody>
      </p:sp>
      <p:sp>
        <p:nvSpPr>
          <p:cNvPr id="13" name="shape_549"/>
          <p:cNvSpPr/>
          <p:nvPr/>
        </p:nvSpPr>
        <p:spPr>
          <a:xfrm>
            <a:off x="7260336" y="123444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_550"/>
          <p:cNvSpPr/>
          <p:nvPr/>
        </p:nvSpPr>
        <p:spPr>
          <a:xfrm>
            <a:off x="7260336" y="134416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5" name="text_551"/>
          <p:cNvSpPr txBox="1"/>
          <p:nvPr/>
        </p:nvSpPr>
        <p:spPr>
          <a:xfrm>
            <a:off x="7370064" y="1344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マツダ</a:t>
            </a:r>
            <a:endParaRPr lang="en-US" sz="1300" dirty="0"/>
          </a:p>
        </p:txBody>
      </p:sp>
      <p:sp>
        <p:nvSpPr>
          <p:cNvPr id="16" name="text_552"/>
          <p:cNvSpPr txBox="1"/>
          <p:nvPr/>
        </p:nvSpPr>
        <p:spPr>
          <a:xfrm>
            <a:off x="7443216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6e</a:t>
            </a:r>
            <a:endParaRPr lang="en-US" sz="2200" dirty="0"/>
          </a:p>
        </p:txBody>
      </p:sp>
      <p:sp>
        <p:nvSpPr>
          <p:cNvPr id="17" name="text_553"/>
          <p:cNvSpPr txBox="1"/>
          <p:nvPr/>
        </p:nvSpPr>
        <p:spPr>
          <a:xfrm>
            <a:off x="7443216" y="23774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Changanとの合弁で開発</a:t>
            </a:r>
            <a:endParaRPr lang="en-US" sz="1500" dirty="0"/>
          </a:p>
        </p:txBody>
      </p:sp>
      <p:sp>
        <p:nvSpPr>
          <p:cNvPr id="18" name="shape_554"/>
          <p:cNvSpPr/>
          <p:nvPr/>
        </p:nvSpPr>
        <p:spPr>
          <a:xfrm>
            <a:off x="411480" y="4846320"/>
            <a:ext cx="9866376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9" name="fslabel_555"/>
          <p:cNvSpPr/>
          <p:nvPr/>
        </p:nvSpPr>
        <p:spPr>
          <a:xfrm>
            <a:off x="4667758" y="4690872"/>
            <a:ext cx="13538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採用の条件</a:t>
            </a:r>
            <a:endParaRPr lang="en-US" sz="1700" dirty="0"/>
          </a:p>
        </p:txBody>
      </p:sp>
      <p:sp>
        <p:nvSpPr>
          <p:cNvPr id="20" name="text_556"/>
          <p:cNvSpPr txBox="1"/>
          <p:nvPr/>
        </p:nvSpPr>
        <p:spPr>
          <a:xfrm>
            <a:off x="777240" y="5120640"/>
            <a:ext cx="9134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品質・保証・補修部品を日系が管理できる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開発費と部品の共通化で採算が合う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充電できる都市・法人の顧客に絞る</a:t>
            </a:r>
            <a:endParaRPr lang="en-US" sz="1600" dirty="0"/>
          </a:p>
        </p:txBody>
      </p:sp>
      <p:sp>
        <p:nvSpPr>
          <p:cNvPr id="21" name="text_55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出典：Toyota（2022年10月）、各社発表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付録24　2030年の日系シェアの試算　効くのはBEVの比率</a:t>
            </a:r>
            <a:endParaRPr lang="en-US" sz="2400" dirty="0"/>
          </a:p>
        </p:txBody>
      </p:sp>
      <p:graphicFrame>
        <p:nvGraphicFramePr>
          <p:cNvPr id="46" name="table_5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6217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52144"/>
                <a:gridCol w="1161288"/>
                <a:gridCol w="116128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前提（2030年）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弱気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強気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市場（万台）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乗用車のBEV比率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乗用車のPHEV比率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日系シェア：ピックアップ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日系シェア：BEV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日系シェア：HEV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日系シェア（結果）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</a:tbl>
          </a:graphicData>
        </a:graphic>
      </p:graphicFrame>
      <p:sp>
        <p:nvSpPr>
          <p:cNvPr id="4" name="shape_559"/>
          <p:cNvSpPr/>
          <p:nvPr/>
        </p:nvSpPr>
        <p:spPr>
          <a:xfrm>
            <a:off x="411480" y="1188720"/>
            <a:ext cx="6217920" cy="4535424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hape_560"/>
          <p:cNvSpPr/>
          <p:nvPr/>
        </p:nvSpPr>
        <p:spPr>
          <a:xfrm>
            <a:off x="6949440" y="1188720"/>
            <a:ext cx="3328416" cy="4535424"/>
          </a:xfrm>
          <a:prstGeom prst="roundRect">
            <a:avLst>
              <a:gd name="adj" fmla="val 274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6" name="tab_561"/>
          <p:cNvSpPr/>
          <p:nvPr/>
        </p:nvSpPr>
        <p:spPr>
          <a:xfrm>
            <a:off x="7059168" y="1280160"/>
            <a:ext cx="2440432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基本ケースからの変化（pt）</a:t>
            </a:r>
            <a:endParaRPr lang="en-US" sz="1300" dirty="0"/>
          </a:p>
        </p:txBody>
      </p:sp>
      <p:sp>
        <p:nvSpPr>
          <p:cNvPr id="7" name="text_562"/>
          <p:cNvSpPr txBox="1"/>
          <p:nvPr/>
        </p:nvSpPr>
        <p:spPr>
          <a:xfrm>
            <a:off x="7178040" y="1828800"/>
            <a:ext cx="291693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±7.3</a:t>
            </a:r>
            <a:endParaRPr lang="en-US" sz="2600" dirty="0"/>
          </a:p>
        </p:txBody>
      </p:sp>
      <p:sp>
        <p:nvSpPr>
          <p:cNvPr id="8" name="text_563"/>
          <p:cNvSpPr txBox="1"/>
          <p:nvPr/>
        </p:nvSpPr>
        <p:spPr>
          <a:xfrm>
            <a:off x="7178040" y="225806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BEV・PHEVの比率</a:t>
            </a:r>
            <a:endParaRPr lang="en-US" sz="1400" dirty="0"/>
          </a:p>
        </p:txBody>
      </p:sp>
      <p:sp>
        <p:nvSpPr>
          <p:cNvPr id="9" name="text_564"/>
          <p:cNvSpPr txBox="1"/>
          <p:nvPr/>
        </p:nvSpPr>
        <p:spPr>
          <a:xfrm>
            <a:off x="7178040" y="3063240"/>
            <a:ext cx="291693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+4.2／−2.1</a:t>
            </a:r>
            <a:endParaRPr lang="en-US" sz="2600" dirty="0"/>
          </a:p>
        </p:txBody>
      </p:sp>
      <p:sp>
        <p:nvSpPr>
          <p:cNvPr id="10" name="text_565"/>
          <p:cNvSpPr txBox="1"/>
          <p:nvPr/>
        </p:nvSpPr>
        <p:spPr>
          <a:xfrm>
            <a:off x="7178040" y="349250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日系のBEVシェア</a:t>
            </a:r>
            <a:endParaRPr lang="en-US" sz="1400" dirty="0"/>
          </a:p>
        </p:txBody>
      </p:sp>
      <p:sp>
        <p:nvSpPr>
          <p:cNvPr id="11" name="text_566"/>
          <p:cNvSpPr txBox="1"/>
          <p:nvPr/>
        </p:nvSpPr>
        <p:spPr>
          <a:xfrm>
            <a:off x="7178040" y="4297680"/>
            <a:ext cx="291693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+1.6／−1.2</a:t>
            </a:r>
            <a:endParaRPr lang="en-US" sz="2600" dirty="0"/>
          </a:p>
        </p:txBody>
      </p:sp>
      <p:sp>
        <p:nvSpPr>
          <p:cNvPr id="12" name="text_567"/>
          <p:cNvSpPr txBox="1"/>
          <p:nvPr/>
        </p:nvSpPr>
        <p:spPr>
          <a:xfrm>
            <a:off x="7178040" y="472694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ピックアップの台数</a:t>
            </a:r>
            <a:endParaRPr lang="en-US" sz="1400" dirty="0"/>
          </a:p>
        </p:txBody>
      </p:sp>
      <p:sp>
        <p:nvSpPr>
          <p:cNvPr id="13" name="text_568"/>
          <p:cNvSpPr txBox="1"/>
          <p:nvPr/>
        </p:nvSpPr>
        <p:spPr>
          <a:xfrm>
            <a:off x="411480" y="5897880"/>
            <a:ext cx="9866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日系の台数は約37万台。その8割はピックアップ・PPV・HEV</a:t>
            </a:r>
            <a:endParaRPr lang="en-US" sz="1500" dirty="0"/>
          </a:p>
        </p:txBody>
      </p:sp>
      <p:sp>
        <p:nvSpPr>
          <p:cNvPr id="14" name="text_56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出典：前回のデータブックによる試算（2026年の再現値59.8%、実績61.8%）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付録25　実行の順番</a:t>
            </a:r>
            <a:endParaRPr lang="en-US" sz="2400" dirty="0"/>
          </a:p>
        </p:txBody>
      </p:sp>
      <p:sp>
        <p:nvSpPr>
          <p:cNvPr id="3" name="shape_570"/>
          <p:cNvSpPr/>
          <p:nvPr/>
        </p:nvSpPr>
        <p:spPr>
          <a:xfrm>
            <a:off x="411480" y="1463040"/>
            <a:ext cx="301752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571"/>
          <p:cNvSpPr/>
          <p:nvPr/>
        </p:nvSpPr>
        <p:spPr>
          <a:xfrm>
            <a:off x="1312164" y="1298448"/>
            <a:ext cx="1216152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0〜6か月</a:t>
            </a:r>
            <a:endParaRPr lang="en-US" sz="1800" dirty="0"/>
          </a:p>
        </p:txBody>
      </p:sp>
      <p:sp>
        <p:nvSpPr>
          <p:cNvPr id="5" name="text_572"/>
          <p:cNvSpPr txBox="1"/>
          <p:nvPr/>
        </p:nvSpPr>
        <p:spPr>
          <a:xfrm>
            <a:off x="640080" y="18745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同クラスの実見積、SOH・買取実績、失注理由をそろえる</a:t>
            </a:r>
            <a:endParaRPr lang="en-US" sz="1600" dirty="0"/>
          </a:p>
        </p:txBody>
      </p:sp>
      <p:sp>
        <p:nvSpPr>
          <p:cNvPr id="6" name="crit_573"/>
          <p:cNvSpPr/>
          <p:nvPr/>
        </p:nvSpPr>
        <p:spPr>
          <a:xfrm>
            <a:off x="640080" y="3840480"/>
            <a:ext cx="2560320" cy="10515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判断の基準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残価で許せる価格差を把握</a:t>
            </a:r>
            <a:endParaRPr lang="en-US" sz="1200" dirty="0"/>
          </a:p>
        </p:txBody>
      </p:sp>
      <p:sp>
        <p:nvSpPr>
          <p:cNvPr id="7" name="shape_574"/>
          <p:cNvSpPr/>
          <p:nvPr/>
        </p:nvSpPr>
        <p:spPr>
          <a:xfrm>
            <a:off x="3495294" y="31089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575"/>
          <p:cNvSpPr/>
          <p:nvPr/>
        </p:nvSpPr>
        <p:spPr>
          <a:xfrm>
            <a:off x="3610508" y="31089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shape_576"/>
          <p:cNvSpPr/>
          <p:nvPr/>
        </p:nvSpPr>
        <p:spPr>
          <a:xfrm>
            <a:off x="3835908" y="1463040"/>
            <a:ext cx="301752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0" name="fslabel_577"/>
          <p:cNvSpPr/>
          <p:nvPr/>
        </p:nvSpPr>
        <p:spPr>
          <a:xfrm>
            <a:off x="4672584" y="1298448"/>
            <a:ext cx="1344168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6〜18か月</a:t>
            </a:r>
            <a:endParaRPr lang="en-US" sz="1800" dirty="0"/>
          </a:p>
        </p:txBody>
      </p:sp>
      <p:sp>
        <p:nvSpPr>
          <p:cNvPr id="11" name="text_578"/>
          <p:cNvSpPr txBox="1"/>
          <p:nvPr/>
        </p:nvSpPr>
        <p:spPr>
          <a:xfrm>
            <a:off x="4064508" y="18745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主力HEVに残クレを設計。中国開発BEVの案件を進める</a:t>
            </a:r>
            <a:endParaRPr lang="en-US" sz="1600" dirty="0"/>
          </a:p>
        </p:txBody>
      </p:sp>
      <p:sp>
        <p:nvSpPr>
          <p:cNvPr id="12" name="crit_579"/>
          <p:cNvSpPr/>
          <p:nvPr/>
        </p:nvSpPr>
        <p:spPr>
          <a:xfrm>
            <a:off x="4064508" y="3840480"/>
            <a:ext cx="2560320" cy="10515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判断の基準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用途・充電条件と車種ごとの採算</a:t>
            </a:r>
            <a:endParaRPr lang="en-US" sz="1200" dirty="0"/>
          </a:p>
        </p:txBody>
      </p:sp>
      <p:sp>
        <p:nvSpPr>
          <p:cNvPr id="13" name="shape_580"/>
          <p:cNvSpPr/>
          <p:nvPr/>
        </p:nvSpPr>
        <p:spPr>
          <a:xfrm>
            <a:off x="6919722" y="31089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4" name="shape_581"/>
          <p:cNvSpPr/>
          <p:nvPr/>
        </p:nvSpPr>
        <p:spPr>
          <a:xfrm>
            <a:off x="7034936" y="310896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shape_582"/>
          <p:cNvSpPr/>
          <p:nvPr/>
        </p:nvSpPr>
        <p:spPr>
          <a:xfrm>
            <a:off x="7260336" y="1463040"/>
            <a:ext cx="301752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6" name="fslabel_583"/>
          <p:cNvSpPr/>
          <p:nvPr/>
        </p:nvSpPr>
        <p:spPr>
          <a:xfrm>
            <a:off x="8033004" y="1298448"/>
            <a:ext cx="147218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18〜36か月</a:t>
            </a:r>
            <a:endParaRPr lang="en-US" sz="1800" dirty="0"/>
          </a:p>
        </p:txBody>
      </p:sp>
      <p:sp>
        <p:nvSpPr>
          <p:cNvPr id="17" name="text_584"/>
          <p:cNvSpPr txBox="1"/>
          <p:nvPr/>
        </p:nvSpPr>
        <p:spPr>
          <a:xfrm>
            <a:off x="7488936" y="18745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現地化・ライン増強を受注と輸出に合わせる</a:t>
            </a:r>
            <a:endParaRPr lang="en-US" sz="1600" dirty="0"/>
          </a:p>
        </p:txBody>
      </p:sp>
      <p:sp>
        <p:nvSpPr>
          <p:cNvPr id="18" name="crit_585"/>
          <p:cNvSpPr/>
          <p:nvPr/>
        </p:nvSpPr>
        <p:spPr>
          <a:xfrm>
            <a:off x="7488936" y="3840480"/>
            <a:ext cx="2560320" cy="10515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判断の基準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国内需要＋輸出が損益分岐を超えるか</a:t>
            </a:r>
            <a:endParaRPr lang="en-US" sz="1200" dirty="0"/>
          </a:p>
        </p:txBody>
      </p:sp>
      <p:sp>
        <p:nvSpPr>
          <p:cNvPr id="19" name="summary_586"/>
          <p:cNvSpPr/>
          <p:nvPr/>
        </p:nvSpPr>
        <p:spPr>
          <a:xfrm>
            <a:off x="1143000" y="5532120"/>
            <a:ext cx="8403336" cy="1097280"/>
          </a:xfrm>
          <a:prstGeom prst="roundRect">
            <a:avLst>
              <a:gd name="adj" fmla="val 833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利益＝車種ごとの台数×限界利益 − 共通基盤・改良・残価リスクの費用</a:t>
            </a:r>
            <a:endParaRPr lang="en-US" sz="1700" dirty="0"/>
          </a:p>
        </p:txBody>
      </p:sp>
      <p:sp>
        <p:nvSpPr>
          <p:cNvPr id="20" name="text_58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出典：本資料の検証にもとづく提案。個社の計画ではない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付録26　追加の検証設計（社内データで行うもの）</a:t>
            </a:r>
            <a:endParaRPr lang="en-US" sz="2400" dirty="0"/>
          </a:p>
        </p:txBody>
      </p:sp>
      <p:graphicFrame>
        <p:nvGraphicFramePr>
          <p:cNvPr id="48" name="table_5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9866376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32826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比べ方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必要なデータ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改良が競争力を高めるか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同じ車格・動力・価格帯で、改良の前後を比較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MarkLines月次、S&amp;P改良時期、実売価格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中国系は売れ行きの落ち方が速いか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同じ動力・セグメント・発売年で販売カーブを比較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MarkLines月次、発売月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新車値下げが中古価格を下げるか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値下げした車と、しない近い車の差の差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同型・同年式の成約価格の時系列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電池劣化の価格への寄与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同型・同年式・同距離でSOHの違いを比較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実測SOH、成約価格、保証・充電履歴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売れる車種の数が企業を支えるか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販売構成と採算の変化を企業・車種で追う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モデル別台数、価格、粗利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現地化が競争力を変えるか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同じ仕様のCBU→CKDを比較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生産国、現地調達、稼働率、在庫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589"/>
          <p:cNvSpPr/>
          <p:nvPr/>
        </p:nvSpPr>
        <p:spPr>
          <a:xfrm>
            <a:off x="411480" y="1143000"/>
            <a:ext cx="9866376" cy="512064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590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出典：本資料の検証設計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付録27　社内PCで作る図と、差し込む場所</a:t>
            </a:r>
            <a:endParaRPr lang="en-US" sz="2400" dirty="0"/>
          </a:p>
        </p:txBody>
      </p:sp>
      <p:graphicFrame>
        <p:nvGraphicFramePr>
          <p:cNvPr id="49" name="table_5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1143000"/>
          <a:ext cx="8403336" cy="914400"/>
        </p:xfrm>
        <a:graphic>
          <a:graphicData uri="http://schemas.openxmlformats.org/drawingml/2006/table">
            <a:tbl>
              <a:tblPr/>
              <a:tblGrid>
                <a:gridCol w="6391656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作る図（MarkLines・S&amp;P）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差し込む場所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ASEAN各国の中国系・日系シェアの推移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パワートレイン別の販売とシェアの推移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セグメント別の販売とシェアの推移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上位4社（中国系・日系）の車種別販売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マトリクス各セルの台数・シェア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BEV・HEVの月次販売（政策の年表とそろえる）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S&amp;Pの改良時期 × 改良前後の月次販売（中国系）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日系のモデルチェンジ前後の月次販売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スライド16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車種構成の横棒＋シェア変化＋主力の交代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スライド17、付録21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592"/>
          <p:cNvSpPr/>
          <p:nvPr/>
        </p:nvSpPr>
        <p:spPr>
          <a:xfrm>
            <a:off x="1143000" y="1143000"/>
            <a:ext cx="8403336" cy="5394960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付録28　想定される質問①（分析の方法）</a:t>
            </a:r>
            <a:endParaRPr lang="en-US" sz="2400" dirty="0"/>
          </a:p>
        </p:txBody>
      </p:sp>
      <p:sp>
        <p:nvSpPr>
          <p:cNvPr id="3" name="shape_593"/>
          <p:cNvSpPr/>
          <p:nvPr/>
        </p:nvSpPr>
        <p:spPr>
          <a:xfrm>
            <a:off x="411480" y="1143000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4" name="text_594"/>
          <p:cNvSpPr txBox="1"/>
          <p:nvPr/>
        </p:nvSpPr>
        <p:spPr>
          <a:xfrm>
            <a:off x="548640" y="1234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_595"/>
          <p:cNvSpPr txBox="1"/>
          <p:nvPr/>
        </p:nvSpPr>
        <p:spPr>
          <a:xfrm>
            <a:off x="960120" y="1234440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日系の失点の分解は、因果ではないのでは？</a:t>
            </a:r>
            <a:endParaRPr lang="en-US" sz="1600" dirty="0"/>
          </a:p>
        </p:txBody>
      </p:sp>
      <p:sp>
        <p:nvSpPr>
          <p:cNvPr id="6" name="text_596"/>
          <p:cNvSpPr txBox="1"/>
          <p:nvPr/>
        </p:nvSpPr>
        <p:spPr>
          <a:xfrm>
            <a:off x="548640" y="17099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_597"/>
          <p:cNvSpPr txBox="1"/>
          <p:nvPr/>
        </p:nvSpPr>
        <p:spPr>
          <a:xfrm>
            <a:off x="960120" y="1709928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はい、会計上の分解です。BEVの買い手が日系を選んだかは分かりません。ピックアップ縮小で分母が減った分も含むため、セグメント×動力で分解し直します。</a:t>
            </a:r>
            <a:endParaRPr lang="en-US" sz="1500" dirty="0"/>
          </a:p>
        </p:txBody>
      </p:sp>
      <p:sp>
        <p:nvSpPr>
          <p:cNvPr id="8" name="shape_598"/>
          <p:cNvSpPr/>
          <p:nvPr/>
        </p:nvSpPr>
        <p:spPr>
          <a:xfrm>
            <a:off x="411480" y="2670048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9" name="text_599"/>
          <p:cNvSpPr txBox="1"/>
          <p:nvPr/>
        </p:nvSpPr>
        <p:spPr>
          <a:xfrm>
            <a:off x="548640" y="27614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0" name="text_600"/>
          <p:cNvSpPr txBox="1"/>
          <p:nvPr/>
        </p:nvSpPr>
        <p:spPr>
          <a:xfrm>
            <a:off x="960120" y="2761488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中国系の改良間隔が短いのは、観測期間が短いからでは？</a:t>
            </a:r>
            <a:endParaRPr lang="en-US" sz="1600" dirty="0"/>
          </a:p>
        </p:txBody>
      </p:sp>
      <p:sp>
        <p:nvSpPr>
          <p:cNvPr id="11" name="text_601"/>
          <p:cNvSpPr txBox="1"/>
          <p:nvPr/>
        </p:nvSpPr>
        <p:spPr>
          <a:xfrm>
            <a:off x="548640" y="323697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_602"/>
          <p:cNvSpPr txBox="1"/>
          <p:nvPr/>
        </p:nvSpPr>
        <p:spPr>
          <a:xfrm>
            <a:off x="960120" y="3236976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その可能性があります。2022年以降の参入で、長い周期の車はまだ観測されていません。同じ発売年どうしで比べ直します。</a:t>
            </a:r>
            <a:endParaRPr lang="en-US" sz="1500" dirty="0"/>
          </a:p>
        </p:txBody>
      </p:sp>
      <p:sp>
        <p:nvSpPr>
          <p:cNvPr id="13" name="shape_603"/>
          <p:cNvSpPr/>
          <p:nvPr/>
        </p:nvSpPr>
        <p:spPr>
          <a:xfrm>
            <a:off x="411480" y="4197096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14" name="text_604"/>
          <p:cNvSpPr txBox="1"/>
          <p:nvPr/>
        </p:nvSpPr>
        <p:spPr>
          <a:xfrm>
            <a:off x="548640" y="42885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5" name="text_605"/>
          <p:cNvSpPr txBox="1"/>
          <p:nvPr/>
        </p:nvSpPr>
        <p:spPr>
          <a:xfrm>
            <a:off x="960120" y="4288536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「速さは中国系どうしの生き残り条件」の根拠は？</a:t>
            </a:r>
            <a:endParaRPr lang="en-US" sz="1600" dirty="0"/>
          </a:p>
        </p:txBody>
      </p:sp>
      <p:sp>
        <p:nvSpPr>
          <p:cNvPr id="16" name="text_606"/>
          <p:cNvSpPr txBox="1"/>
          <p:nvPr/>
        </p:nvSpPr>
        <p:spPr>
          <a:xfrm>
            <a:off x="548640" y="476402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_607"/>
          <p:cNvSpPr txBox="1"/>
          <p:nvPr/>
        </p:nvSpPr>
        <p:spPr>
          <a:xfrm>
            <a:off x="960120" y="4764024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今は状況証拠です（BYD 40%→31%、Neta 17%→3%）。S&amp;Pの改良時期とMarkLinesの月次で、改良前後の販売を確かめます。</a:t>
            </a:r>
            <a:endParaRPr lang="en-US" sz="1500" dirty="0"/>
          </a:p>
        </p:txBody>
      </p:sp>
      <p:sp>
        <p:nvSpPr>
          <p:cNvPr id="18" name="shape_608"/>
          <p:cNvSpPr/>
          <p:nvPr/>
        </p:nvSpPr>
        <p:spPr>
          <a:xfrm>
            <a:off x="411480" y="5724144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19" name="text_609"/>
          <p:cNvSpPr txBox="1"/>
          <p:nvPr/>
        </p:nvSpPr>
        <p:spPr>
          <a:xfrm>
            <a:off x="548640" y="58155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20" name="text_610"/>
          <p:cNvSpPr txBox="1"/>
          <p:nvPr/>
        </p:nvSpPr>
        <p:spPr>
          <a:xfrm>
            <a:off x="960120" y="5815584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中古価格の比較はN=7と5で、少ないのでは？</a:t>
            </a:r>
            <a:endParaRPr lang="en-US" sz="1600" dirty="0"/>
          </a:p>
        </p:txBody>
      </p:sp>
      <p:sp>
        <p:nvSpPr>
          <p:cNvPr id="21" name="text_611"/>
          <p:cNvSpPr txBox="1"/>
          <p:nvPr/>
        </p:nvSpPr>
        <p:spPr>
          <a:xfrm>
            <a:off x="548640" y="6291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2" name="text_612"/>
          <p:cNvSpPr txBox="1"/>
          <p:nvPr/>
        </p:nvSpPr>
        <p:spPr>
          <a:xfrm>
            <a:off x="960120" y="6291072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はい、掲載価格で件数も少なく、示唆にとどまります。One2carの時系列（1年で2〜3割下落）と方向は一致しています。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付録29　想定される質問②（戦略）</a:t>
            </a:r>
            <a:endParaRPr lang="en-US" sz="2400" dirty="0"/>
          </a:p>
        </p:txBody>
      </p:sp>
      <p:sp>
        <p:nvSpPr>
          <p:cNvPr id="3" name="shape_613"/>
          <p:cNvSpPr/>
          <p:nvPr/>
        </p:nvSpPr>
        <p:spPr>
          <a:xfrm>
            <a:off x="411480" y="1143000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4" name="text_614"/>
          <p:cNvSpPr txBox="1"/>
          <p:nvPr/>
        </p:nvSpPr>
        <p:spPr>
          <a:xfrm>
            <a:off x="548640" y="1234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5" name="text_615"/>
          <p:cNvSpPr txBox="1"/>
          <p:nvPr/>
        </p:nvSpPr>
        <p:spPr>
          <a:xfrm>
            <a:off x="960120" y="1234440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日系がBEVに入れば、日系も速さの勝負に巻き込まれるのでは？</a:t>
            </a:r>
            <a:endParaRPr lang="en-US" sz="1600" dirty="0"/>
          </a:p>
        </p:txBody>
      </p:sp>
      <p:sp>
        <p:nvSpPr>
          <p:cNvPr id="6" name="text_616"/>
          <p:cNvSpPr txBox="1"/>
          <p:nvPr/>
        </p:nvSpPr>
        <p:spPr>
          <a:xfrm>
            <a:off x="548640" y="17099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_617"/>
          <p:cNvSpPr txBox="1"/>
          <p:nvPr/>
        </p:nvSpPr>
        <p:spPr>
          <a:xfrm>
            <a:off x="960120" y="1709928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そうなります。そのため自社開発ではなく中国の開発体制を使い、車種を絞って都市・法人向けに投入します。</a:t>
            </a:r>
            <a:endParaRPr lang="en-US" sz="1500" dirty="0"/>
          </a:p>
        </p:txBody>
      </p:sp>
      <p:sp>
        <p:nvSpPr>
          <p:cNvPr id="8" name="shape_618"/>
          <p:cNvSpPr/>
          <p:nvPr/>
        </p:nvSpPr>
        <p:spPr>
          <a:xfrm>
            <a:off x="411480" y="2670048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9" name="text_619"/>
          <p:cNvSpPr txBox="1"/>
          <p:nvPr/>
        </p:nvSpPr>
        <p:spPr>
          <a:xfrm>
            <a:off x="548640" y="27614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0" name="text_620"/>
          <p:cNvSpPr txBox="1"/>
          <p:nvPr/>
        </p:nvSpPr>
        <p:spPr>
          <a:xfrm>
            <a:off x="960120" y="2761488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PHEVは7割が中国系。HEVも安泰ではないのでは？</a:t>
            </a:r>
            <a:endParaRPr lang="en-US" sz="1600" dirty="0"/>
          </a:p>
        </p:txBody>
      </p:sp>
      <p:sp>
        <p:nvSpPr>
          <p:cNvPr id="11" name="text_621"/>
          <p:cNvSpPr txBox="1"/>
          <p:nvPr/>
        </p:nvSpPr>
        <p:spPr>
          <a:xfrm>
            <a:off x="548640" y="323697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_622"/>
          <p:cNvSpPr txBox="1"/>
          <p:nvPr/>
        </p:nvSpPr>
        <p:spPr>
          <a:xfrm>
            <a:off x="960120" y="3236976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はい。HEV内の中国系シェア（今は1.6%）とC-SUVのPHEVを毎月見ます。10%を超えたら打ち手を前倒しします。</a:t>
            </a:r>
            <a:endParaRPr lang="en-US" sz="1500" dirty="0"/>
          </a:p>
        </p:txBody>
      </p:sp>
      <p:sp>
        <p:nvSpPr>
          <p:cNvPr id="13" name="shape_623"/>
          <p:cNvSpPr/>
          <p:nvPr/>
        </p:nvSpPr>
        <p:spPr>
          <a:xfrm>
            <a:off x="411480" y="4197096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14" name="text_624"/>
          <p:cNvSpPr txBox="1"/>
          <p:nvPr/>
        </p:nvSpPr>
        <p:spPr>
          <a:xfrm>
            <a:off x="548640" y="42885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15" name="text_625"/>
          <p:cNvSpPr txBox="1"/>
          <p:nvPr/>
        </p:nvSpPr>
        <p:spPr>
          <a:xfrm>
            <a:off x="960120" y="4288536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残クレは、残価が崩れたら日系が損をするのでは？</a:t>
            </a:r>
            <a:endParaRPr lang="en-US" sz="1600" dirty="0"/>
          </a:p>
        </p:txBody>
      </p:sp>
      <p:sp>
        <p:nvSpPr>
          <p:cNvPr id="16" name="text_626"/>
          <p:cNvSpPr txBox="1"/>
          <p:nvPr/>
        </p:nvSpPr>
        <p:spPr>
          <a:xfrm>
            <a:off x="548640" y="476402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_627"/>
          <p:cNvSpPr txBox="1"/>
          <p:nvPr/>
        </p:nvSpPr>
        <p:spPr>
          <a:xfrm>
            <a:off x="960120" y="4764024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はい、残価のリスクは金融会社が負います。中国系の値下げがHEVの中古相場に波及しないかを見ながら、残価率を保守的に置きます。</a:t>
            </a:r>
            <a:endParaRPr lang="en-US" sz="1500" dirty="0"/>
          </a:p>
        </p:txBody>
      </p:sp>
      <p:sp>
        <p:nvSpPr>
          <p:cNvPr id="18" name="shape_628"/>
          <p:cNvSpPr/>
          <p:nvPr/>
        </p:nvSpPr>
        <p:spPr>
          <a:xfrm>
            <a:off x="411480" y="5724144"/>
            <a:ext cx="986637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7F0"/>
            </a:solidFill>
            <a:prstDash val="solid"/>
          </a:ln>
        </p:spPr>
      </p:sp>
      <p:sp>
        <p:nvSpPr>
          <p:cNvPr id="19" name="text_629"/>
          <p:cNvSpPr txBox="1"/>
          <p:nvPr/>
        </p:nvSpPr>
        <p:spPr>
          <a:xfrm>
            <a:off x="548640" y="58155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20" name="text_630"/>
          <p:cNvSpPr txBox="1"/>
          <p:nvPr/>
        </p:nvSpPr>
        <p:spPr>
          <a:xfrm>
            <a:off x="960120" y="5815584"/>
            <a:ext cx="9134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電池劣化のデータは北米中心で、タイの暑さに合わないのでは？</a:t>
            </a:r>
            <a:endParaRPr lang="en-US" sz="1600" dirty="0"/>
          </a:p>
        </p:txBody>
      </p:sp>
      <p:sp>
        <p:nvSpPr>
          <p:cNvPr id="21" name="text_631"/>
          <p:cNvSpPr txBox="1"/>
          <p:nvPr/>
        </p:nvSpPr>
        <p:spPr>
          <a:xfrm>
            <a:off x="548640" y="6291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2" name="text_632"/>
          <p:cNvSpPr txBox="1"/>
          <p:nvPr/>
        </p:nvSpPr>
        <p:spPr>
          <a:xfrm>
            <a:off x="960120" y="6291072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はい。暑い地域ほど劣化が速いという結果はありますが、タイのLFP車の実測はありません。SOH付きの中古データで確かめます。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付録30　出典</a:t>
            </a:r>
            <a:endParaRPr lang="en-US" sz="2400" dirty="0"/>
          </a:p>
        </p:txBody>
      </p:sp>
      <p:sp>
        <p:nvSpPr>
          <p:cNvPr id="3" name="text_633"/>
          <p:cNvSpPr txBox="1"/>
          <p:nvPr/>
        </p:nvSpPr>
        <p:spPr>
          <a:xfrm>
            <a:off x="411480" y="1188720"/>
            <a:ext cx="9866376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市場：JETRO「タイ乗用車登録 2026年上半期」（2026/7/24）、EVAT・DLT、TMT、Thansettakij、Autolife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政策：BOI（EV3.5、2023/11；輸出算入1.5倍、2025/7/30；見直し、2025/11/25）、物品税局、The Nation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ASEAN：MITI（マレーシア）、ベトナム政令202/2026、フィリピンEO62/2024、LTA（シンガポール）、IEA Global EV Outlook 2026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改良：BYD Rêver、BYD販売店、MG Thailand、GWM、Changan、GAC、Neta、XPeng、Zeekr、Omoda、Toyota、Honda、Nissan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中古：One2car（2026/2/6、2026/10/8観測）、Krungsri Research（2025/1/27）、iSeeCars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電池：Geotab（2026/1/13）、BloombergNEF（2024/12/10）、BYD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価格：BYD Rêver（2026年10月キャンペーン）、Toyota Thailand、各社の価格表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その他：McKinsey（2025年10月）、CPCA、Toyota（bZ3、2022/10/24）、Bangkok Post、FTI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社内：MarkLines（ASEAN車種別月次販売）、S&amp;P（車種別の発売・改良時期）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ai OEM Research">
  <a:themeElements>
    <a:clrScheme name="Thai OEM Research">
      <a:dk1>
        <a:srgbClr val="333333"/>
      </a:dk1>
      <a:lt1>
        <a:srgbClr val="FFFFFF"/>
      </a:lt1>
      <a:dk2>
        <a:srgbClr val="3F3F3F"/>
      </a:dk2>
      <a:lt2>
        <a:srgbClr val="F2F2F2"/>
      </a:lt2>
      <a:accent1>
        <a:srgbClr val="4472C4"/>
      </a:accent1>
      <a:accent2>
        <a:srgbClr val="E8604C"/>
      </a:accent2>
      <a:accent3>
        <a:srgbClr val="3FB2AB"/>
      </a:accent3>
      <a:accent4>
        <a:srgbClr val="7F7F7F"/>
      </a:accent4>
      <a:accent5>
        <a:srgbClr val="EEF3FB"/>
      </a:accent5>
      <a:accent6>
        <a:srgbClr val="D3F0ED"/>
      </a:accent6>
      <a:hlink>
        <a:srgbClr val="2F5597"/>
      </a:hlink>
      <a:folHlink>
        <a:srgbClr val="7F7F7F"/>
      </a:folHlink>
    </a:clrScheme>
    <a:fontScheme name="Thai OEM Resear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タイ市場における中国系OEMの台頭と日系の戦略</dc:title>
  <dc:subject>PptxGenJS Presentation</dc:subject>
  <dc:creator>[発表者名]</dc:creator>
  <cp:lastModifiedBy>[発表者名]</cp:lastModifiedBy>
  <cp:revision>1</cp:revision>
  <dcterms:created xsi:type="dcterms:W3CDTF">2026-10-15T02:48:13Z</dcterms:created>
  <dcterms:modified xsi:type="dcterms:W3CDTF">2026-10-15T02:48:13Z</dcterms:modified>
</cp:coreProperties>
</file>