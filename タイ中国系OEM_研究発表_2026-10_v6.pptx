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9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0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1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2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3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14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5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16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ec7cb675-e615-dd86-5873-ff4aaa8d181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ppendix" id="{1209953e-9879-f8ed-60be-70ca4d8b618c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2026年1〜6月の乗用車登録（万台）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9.48</c:v>
                </c:pt>
                <c:pt idx="1">
                  <c:v>0.14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</c:v>
                </c:pt>
                <c:pt idx="1">
                  <c:v>8.79</c:v>
                </c:pt>
                <c:pt idx="2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0.06</c:v>
                </c:pt>
                <c:pt idx="2">
                  <c:v>0.3</c:v>
                </c:pt>
              </c:numCache>
            </c:numRef>
          </c:val>
        </c:ser>
        <c:dLbls>
          <c:numFmt formatCode="[&lt;0.5]&quot;&quot;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買う時：新車価格（万バーツ）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0</c:v>
                </c:pt>
                <c:pt idx="2">
                  <c:v>67</c:v>
                </c:pt>
                <c:pt idx="3">
                  <c:v>80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56.9</c:v>
                </c:pt>
                <c:pt idx="2">
                  <c:v>0</c:v>
                </c:pt>
                <c:pt idx="3">
                  <c:v>0</c:v>
                </c:pt>
                <c:pt idx="4">
                  <c:v>98.9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売る時：中古価格／発売時の新車価格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&quot;%&quot;;;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&quot;%&quot;;;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63</c:v>
                </c:pt>
              </c:numCache>
            </c:numRef>
          </c:val>
        </c:ser>
        <c:dLbls>
          <c:numFmt formatCode="0.0&quot;%&quot;;;;" sourceLinked="0"/>
          <c:txPr>
            <a:bodyPr/>
            <a:lstStyle/>
            <a:p>
              <a:pPr>
                <a:defRPr b="0" i="0" strike="noStrike" sz="15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2023年のBEV上位10車種の販売（千台）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12.8</c:v>
                </c:pt>
                <c:pt idx="2">
                  <c:v>9.4</c:v>
                </c:pt>
                <c:pt idx="3">
                  <c:v>6.7</c:v>
                </c:pt>
                <c:pt idx="4">
                  <c:v>5.9</c:v>
                </c:pt>
                <c:pt idx="5">
                  <c:v>4.8</c:v>
                </c:pt>
                <c:pt idx="6">
                  <c:v>4.5</c:v>
                </c:pt>
                <c:pt idx="7">
                  <c:v>2.3</c:v>
                </c:pt>
                <c:pt idx="8">
                  <c:v>1.8</c:v>
                </c:pt>
                <c:pt idx="9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7.7</c:v>
                </c:pt>
                <c:pt idx="1">
                  <c:v>6.6</c:v>
                </c:pt>
                <c:pt idx="2">
                  <c:v>13.4</c:v>
                </c:pt>
                <c:pt idx="3">
                  <c:v>2.4</c:v>
                </c:pt>
                <c:pt idx="4">
                  <c:v>0.9</c:v>
                </c:pt>
                <c:pt idx="5">
                  <c:v>5.4</c:v>
                </c:pt>
                <c:pt idx="6">
                  <c:v>1.9</c:v>
                </c:pt>
                <c:pt idx="7">
                  <c:v>3.2</c:v>
                </c:pt>
                <c:pt idx="8">
                  <c:v>5.2</c:v>
                </c:pt>
                <c:pt idx="9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BEV登録に占める割合（%）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38.5</c:v>
                </c:pt>
                <c:pt idx="1">
                  <c:v>0</c:v>
                </c:pt>
                <c:pt idx="2">
                  <c:v>12.9</c:v>
                </c:pt>
                <c:pt idx="3">
                  <c:v>7.4</c:v>
                </c:pt>
                <c:pt idx="4">
                  <c:v>0</c:v>
                </c:pt>
                <c:pt idx="5">
                  <c:v>8.4</c:v>
                </c:pt>
                <c:pt idx="6">
                  <c:v>4.6</c:v>
                </c:pt>
                <c:pt idx="7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2026年1〜6月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1.9</c:v>
                </c:pt>
                <c:pt idx="7">
                  <c:v>0.3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新車価格（万バーツ）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0</c:v>
                </c:pt>
                <c:pt idx="2">
                  <c:v>67</c:v>
                </c:pt>
                <c:pt idx="3">
                  <c:v>80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56.9</c:v>
                </c:pt>
                <c:pt idx="2">
                  <c:v>0</c:v>
                </c:pt>
                <c:pt idx="3">
                  <c:v>0</c:v>
                </c:pt>
                <c:pt idx="4">
                  <c:v>98.9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5年の保有費（万バーツ）Atto 3 vs Cross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BEV（通常価格）</c:v>
                  </c:pt>
                  <c:pt idx="1">
                    <c:v>BEV（特価）</c:v>
                  </c:pt>
                  <c:pt idx="2">
                    <c:v>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66.6</c:v>
                </c:pt>
                <c:pt idx="1">
                  <c:v>53.6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BEV（通常価格）</c:v>
                  </c:pt>
                  <c:pt idx="1">
                    <c:v>BEV（特価）</c:v>
                  </c:pt>
                  <c:pt idx="2">
                    <c:v>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60.1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中古の掲載価格（走行2万〜10万km）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発売時の新車価格に対する比率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</c:v>
                </c:pt>
                <c:pt idx="1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今の新車価格に対する比率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60.7</c:v>
                </c:pt>
                <c:pt idx="1">
                  <c:v>63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改良前後の電池容量の変化（タイ仕様）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+0.0&quot;%&quot;;−0.0&quot;%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Dolphin</c:v>
                  </c:pt>
                  <c:pt idx="1">
                    <c:v>Atto 3</c:v>
                  </c:pt>
                  <c:pt idx="2">
                    <c:v>MG4（標準）</c:v>
                  </c:pt>
                  <c:pt idx="3">
                    <c:v>MG4（長距離）</c:v>
                  </c:pt>
                  <c:pt idx="4">
                    <c:v>Omoda C5 EV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11.9</c:v>
                </c:pt>
                <c:pt idx="1">
                  <c:v>0.7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F4B3A6"/>
            </a:solidFill>
            <a:effectLst/>
          </c:spPr>
          <c:invertIfNegative val="0"/>
          <c:dLbls>
            <c:numFmt formatCode="+0.0&quot;%&quot;;−0.0&quot;%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Dolphin</c:v>
                  </c:pt>
                  <c:pt idx="1">
                    <c:v>Atto 3</c:v>
                  </c:pt>
                  <c:pt idx="2">
                    <c:v>MG4（標準）</c:v>
                  </c:pt>
                  <c:pt idx="3">
                    <c:v>MG4（長距離）</c:v>
                  </c:pt>
                  <c:pt idx="4">
                    <c:v>Omoda C5 EV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-3.9</c:v>
                </c:pt>
                <c:pt idx="3">
                  <c:v>-2.8</c:v>
                </c:pt>
                <c:pt idx="4">
                  <c:v>-17</c:v>
                </c:pt>
              </c:numCache>
            </c:numRef>
          </c:val>
        </c:ser>
        <c:dLbls>
          <c:numFmt formatCode="+0.0&quot;%&quot;;−0.0&quot;%&quot;;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25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中国系（13件）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電池・航続</c:v>
                  </c:pt>
                  <c:pt idx="1">
                    <c:v>価格</c:v>
                  </c:pt>
                  <c:pt idx="2">
                    <c:v>外装・内装</c:v>
                  </c:pt>
                  <c:pt idx="3">
                    <c:v>画面・装備</c:v>
                  </c:pt>
                  <c:pt idx="4">
                    <c:v>運転支援</c:v>
                  </c:pt>
                  <c:pt idx="5">
                    <c:v>現地生産化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54</c:v>
                </c:pt>
                <c:pt idx="2">
                  <c:v>54</c:v>
                </c:pt>
                <c:pt idx="3">
                  <c:v>62</c:v>
                </c:pt>
                <c:pt idx="4">
                  <c:v>23</c:v>
                </c:pt>
                <c:pt idx="5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日系（8件）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電池・航続</c:v>
                  </c:pt>
                  <c:pt idx="1">
                    <c:v>価格</c:v>
                  </c:pt>
                  <c:pt idx="2">
                    <c:v>外装・内装</c:v>
                  </c:pt>
                  <c:pt idx="3">
                    <c:v>画面・装備</c:v>
                  </c:pt>
                  <c:pt idx="4">
                    <c:v>運転支援</c:v>
                  </c:pt>
                  <c:pt idx="5">
                    <c:v>現地生産化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38</c:v>
                </c:pt>
                <c:pt idx="2">
                  <c:v>100</c:v>
                </c:pt>
                <c:pt idx="3">
                  <c:v>88</c:v>
                </c:pt>
                <c:pt idx="4">
                  <c:v>75</c:v>
                </c:pt>
                <c:pt idx="5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中古の平均掲載価格（2024年=100）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2024年1〜10月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</c:v>
                  </c:pt>
                  <c:pt idx="1">
                    <c:v>Dolphin</c:v>
                  </c:pt>
                  <c:pt idx="2">
                    <c:v>Seal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2025年1〜10月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</c:v>
                  </c:pt>
                  <c:pt idx="1">
                    <c:v>Dolphin</c:v>
                  </c:pt>
                  <c:pt idx="2">
                    <c:v>Seal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78</c:v>
                </c:pt>
                <c:pt idx="2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月々の元本の支払い（バーツ、金利・頭金を除く）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通常の5年ローン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13332</c:v>
                </c:pt>
                <c:pt idx="1">
                  <c:v>11165</c:v>
                </c:pt>
                <c:pt idx="2">
                  <c:v>16483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残クレ（5年後の残価を差し引く）</c:v>
                </c:pt>
              </c:strCache>
            </c:strRef>
          </c:tx>
          <c:spPr>
            <a:solidFill>
              <a:srgbClr val="1E9C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7332</c:v>
                </c:pt>
                <c:pt idx="1">
                  <c:v>5165</c:v>
                </c:pt>
                <c:pt idx="2">
                  <c:v>5769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2026年1〜6月のBEV登録に占める割合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BEV登録に占める割合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BYD・Denza</c:v>
                  </c:pt>
                  <c:pt idx="1">
                    <c:v>Chery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XPeng</c:v>
                  </c:pt>
                  <c:pt idx="7">
                    <c:v>GWM</c:v>
                  </c:pt>
                  <c:pt idx="8">
                    <c:v>Neta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3</c:v>
                </c:pt>
                <c:pt idx="7">
                  <c:v>1.9</c:v>
                </c:pt>
                <c:pt idx="8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タイでの新車種の発売数（年）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4</c:v>
                </c:pt>
                <c:pt idx="4">
                  <c:v>4</c:v>
                </c:pt>
                <c:pt idx="5">
                  <c:v>10</c:v>
                </c:pt>
                <c:pt idx="6">
                  <c:v>19</c:v>
                </c:pt>
                <c:pt idx="7">
                  <c:v>19</c:v>
                </c:pt>
                <c:pt idx="8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</c:v>
                </c:pt>
                <c:pt idx="1">
                  <c:v>10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11</c:v>
                </c:pt>
                <c:pt idx="6">
                  <c:v>3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開発期間（か月）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デザイン・設計の検証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28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設計・金型・試験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12</c:v>
                </c:pt>
                <c:pt idx="3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量産準備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新車販売（万台）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ピックアップ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&quot;万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それ以外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万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46.1</c:v>
                </c:pt>
                <c:pt idx="1">
                  <c:v>47.7</c:v>
                </c:pt>
              </c:numCache>
            </c:numRef>
          </c:val>
        </c:ser>
        <c:dLbls>
          <c:numFmt formatCode="0.0&quot;万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自動車市場で中国系が伸びている。その要因としてよく挙げられるモデルチェンジの速さが、本当にシェア拡大の要因なのかを検証し、日系が取るべき戦略を示す。発表は10分で、詳しいデータは付録にまとめ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旨を述べる。課題は、中国車のモデルチェンジの速さが、タイでのシェア拡大の要因かどうかである。答えは、速さは主因ではない。主因は、急拡大したBEV市場に日系の商品がないことである。速さが効いているのは中国系どうしの競争である。日系は、BEVの商品を持ち、HEVは長く売り、残クレで月々の支払いを下げ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結論に至った分析と視座を1枚にまとめた。左から、分析したこと、わかったこと、視座の順に読む。市場、日系と中国系、モデルチェンジ、中国系どうし、これからの5つの層で見た。勝敗を分けたのは動力の品ぞろえで、日系の武器は残価、速さは短命な商品を補う対応である。中国系は企業ごとに見極め、淘汰期に拾う。以降、この順に根拠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まずASEAN全体を見る。中国系はタイとインドネシアで伸びている。ベトナムだけは地場のVinFastが強い。中国系の伸びが最も大きく、データもそろうタイに絞って分析する。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タイをパワートレイン別に見る。2026年上半期の登録で、BEVは前年比85%増、HEVは26%増と、どちらも伸びている。BEVの9割は中国系、HEVの98%は日系で、パワートレインごとにすみ分けがはっきりしている。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シェアは2022年の85%から2026年の62%へ、23ポイント下がった。これを分解すると、BEV市場が広がった効果が25ポイントで、ほぼすべてを説明する。BEV以外の市場の中では、日系のシェアはむしろ86%から88%に上がっている。セグメント別の推移は社内データで差し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代表車種を動力とセグメントで並べた。BEVの行は中国系だけで、HEVとICEの行は日系が大半である。正面から競っているのは、HEVとPHEVの一部にとどまる。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政策は3つの道具でEVを広げた。購入補助、BEVの物品税の引き下げと中国製EVの関税0%、そして現地生産の義務である。中国系は輸入から先に市場に入り、その後の生産義務が値下げと販売攻勢を生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と販売を年表で重ねた。補助が始まったあとの2023年にBEVは7.6万台に急増し、補助が縮小した2024年は7.0万台に減った。生産義務が重くなった2026年は、上半期だけで10.5万台に増えた。因果は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電動車の登録は1年で6.5万台増えたが、その4分の3はBEVで、9割が中国系である。日系HEVの取り分は3割にとどまる。戦場はICEからの乗り換え先である。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買う時はBEVが安く、Atto 1はYaris Ativより安い。一方、売る時は逆で、2023年式のAtto 3は発売時の39%、Corolla Crossは63%である。この差の半分以上は新車値下げによる。日系の武器は残価で、残クレで月々の安さに変えられる。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ここからモデルチェンジを見る。カタログで比べると、どちらも駆動系はほぼ同じで、日系は外内装、中国系は画面と価格を変えている。注目すべきは販売で、Atto 3は改良した2024年に6割減った。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中国系どうしでも、Dolphinは電池を増やし、Omodaは減らした。共通するのはタイ生産にして値下げすることで、値下げしたDolphinは販売が4割増えた。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年のBEV上位10車種のうち6車種は、翌年に販売が半分前後まで減り、上位10車種のシェアは91%から68%に下がった。小改良では止まらず、値下げした車種が伸びた。速さは、短命な商品を補うための対応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日系は、改良の前後で販売があまり変わらず、数年たったモデルでも売れ続ける。中国系は1年で入れ替わり、日系は数年売れる。速さは勝敗を分けておらず、日系は長く売るほうが合理的である。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企業で見ると、BYDのシェアは2年で半分になり、Netaは撤退に向かった。一方、2024年に1%未満だったChery系とGeely系が上位に入った。残るのは次の車種を出せる企業で、中国系は企業ごとに見極めるべきである。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されたBEV生産能力は年38.6万台で、国内需要の約1.8倍ある。生産義務は2027年に輸入1台に3台まで重くなる。国内では消化しきれず、2027年から28年に淘汰が進む。日系には、撤退ブランドの顧客を拾う好機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打ち手は4つである。ピックアップとHEVセダンは長く売って残価を守る。C-SUVでは残クレで月々の支払いを下げて迎え撃つ。BEVは中国の開発体制で空白を埋める。淘汰期には撤退ブランドの顧客を拾う。中国企業とは、競合、協業、受け皿を企業ごとに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である。日系の失点は、BEV市場に商品がなかったことによる。速さは中国系どうしの生き残り条件で、日系との勝敗は分けていない。日系はBEVの商品を持ち、HEVは長く売り、残クレで月々を下げるべきである。以上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政策では中国製EVの関税が0%で、補助金も最大15万バーツ出た。供給では承認されたBEVの生産能力が年38.6万台あり、輸入1台につき現地で2台から3台の生産が求められる。価格ではAtto 3が25%から36%値下げされ、中国の自動車産業の利益率は3.4%まで下がっている。この3つでBEV市場が急拡大した。ただし日系はBEVの商品がなく、日本との勝負になる前に、日系不在の市場で中国系が伸びた。BEV以外では日系のシェアは上が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買う時点では、BEVが日系より安くなっている。最安のAtto 1は43万バーツで、トヨタの量販セダンYaris Ativの57万より安い。C-SUVでも、Atto 3はCorolla Cross HEVより2割から3割安い。IEAも、タイでは2024年にBEVとICEの購入価格が並んだとしている。ただし5年の保有費で見ると、BEVは値引きがなければHEVより高く、値引きがあれば安い。日系は入口価格では勝てないが、残価と保有費で戦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2023年式のAtto 3は、発売時の価格に対して39%まで下がり、同じ年式のCorolla Cross HEVの63%より大きく下がっている。中古EVのほうが下がるという現象は確認できた。ただしAtto 3の新車は、発売時の120万バーツから、通常価格で90万、10月の特価で77万まで下がった。今の新車価格で比べると、差は特価基準で2ポイント、通常価格基準で11ポイントまで縮む。24ポイントの差のうち13から22ポイントは新車値下げで説明でき、電池劣化の寄与は残りの最大11ポイントの中にある。電池劣化は平均で年2.3%で、暑さや急速充電で進む。寄与を確かめるには、SOHと成約価格のデータが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ここから中国系どうしの競争を見る。中国系の部分改良の間隔は約2年で、日系の3.3年より速い。ただし中身を見ると、電池容量はDolphinのように増えた車もあれば、Omoda C5 EVのように17%減った車もある。航続距離の中央値は変わらず、価格は中央値で19%下がった。改良の中身は、電池を小さくして安くする、充電を速くする、装備を増やすの3方向である。改良が販売を伸ばしたかは、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国籍の上位4社について、車種別の販売推移を見る。BYDは複数の車種で台数を積み上げているが、他の中国系の多くは主力1車種に頼っている。日系はトヨタを筆頭に、複数の車種で売っている。図は社内データで差し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10689336" cy="3657600"/>
          </a:xfrm>
          <a:prstGeom prst="rect">
            <a:avLst/>
          </a:prstGeom>
          <a:solidFill>
            <a:srgbClr val="62C1BC"/>
          </a:solidFill>
          <a:ln w="12700">
            <a:solidFill>
              <a:srgbClr val="62C1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67528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タイ市場における中国系OEMの台頭と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日系OEMが取るべき戦略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モデルチェンジの速さは、本当にシェア拡大の要因か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　[発表者名]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要旨　課題・仮説・答え</a:t>
            </a:r>
            <a:endParaRPr lang="en-US" sz="2400" dirty="0"/>
          </a:p>
        </p:txBody>
      </p:sp>
      <p:sp>
        <p:nvSpPr>
          <p:cNvPr id="3" name="shape_1"/>
          <p:cNvSpPr/>
          <p:nvPr/>
        </p:nvSpPr>
        <p:spPr>
          <a:xfrm>
            <a:off x="411480" y="1234440"/>
            <a:ext cx="2743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"/>
          <p:cNvSpPr/>
          <p:nvPr/>
        </p:nvSpPr>
        <p:spPr>
          <a:xfrm>
            <a:off x="1417320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</a:t>
            </a:r>
            <a:endParaRPr lang="en-US" sz="1800" dirty="0"/>
          </a:p>
        </p:txBody>
      </p:sp>
      <p:sp>
        <p:nvSpPr>
          <p:cNvPr id="5" name="text_3"/>
          <p:cNvSpPr txBox="1"/>
          <p:nvPr/>
        </p:nvSpPr>
        <p:spPr>
          <a:xfrm>
            <a:off x="594360" y="1508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中国車はモデルチェンジが速い。それが、タイでのシェア拡大の要因か</a:t>
            </a:r>
            <a:endParaRPr lang="en-US" sz="1800" dirty="0"/>
          </a:p>
        </p:txBody>
      </p:sp>
      <p:sp>
        <p:nvSpPr>
          <p:cNvPr id="6" name="shape_4"/>
          <p:cNvSpPr/>
          <p:nvPr/>
        </p:nvSpPr>
        <p:spPr>
          <a:xfrm>
            <a:off x="3209544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7" name="shape_5"/>
          <p:cNvSpPr/>
          <p:nvPr/>
        </p:nvSpPr>
        <p:spPr>
          <a:xfrm>
            <a:off x="3340120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"/>
          <p:cNvSpPr/>
          <p:nvPr/>
        </p:nvSpPr>
        <p:spPr>
          <a:xfrm>
            <a:off x="3566160" y="1234440"/>
            <a:ext cx="2971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7"/>
          <p:cNvSpPr/>
          <p:nvPr/>
        </p:nvSpPr>
        <p:spPr>
          <a:xfrm>
            <a:off x="4686300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</a:t>
            </a:r>
            <a:endParaRPr lang="en-US" sz="1800" dirty="0"/>
          </a:p>
        </p:txBody>
      </p:sp>
      <p:sp>
        <p:nvSpPr>
          <p:cNvPr id="10" name="text_8"/>
          <p:cNvSpPr txBox="1"/>
          <p:nvPr/>
        </p:nvSpPr>
        <p:spPr>
          <a:xfrm>
            <a:off x="3749040" y="150876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中国系のシェアが拡大</a:t>
            </a:r>
            <a:endParaRPr lang="en-US" sz="1600" dirty="0"/>
          </a:p>
        </p:txBody>
      </p:sp>
      <p:sp>
        <p:nvSpPr>
          <p:cNvPr id="11" name="shape_9"/>
          <p:cNvSpPr/>
          <p:nvPr/>
        </p:nvSpPr>
        <p:spPr>
          <a:xfrm>
            <a:off x="6592824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0"/>
          <p:cNvSpPr/>
          <p:nvPr/>
        </p:nvSpPr>
        <p:spPr>
          <a:xfrm>
            <a:off x="6723400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11"/>
          <p:cNvSpPr/>
          <p:nvPr/>
        </p:nvSpPr>
        <p:spPr>
          <a:xfrm>
            <a:off x="6949440" y="1234440"/>
            <a:ext cx="33284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12"/>
          <p:cNvSpPr/>
          <p:nvPr/>
        </p:nvSpPr>
        <p:spPr>
          <a:xfrm>
            <a:off x="8247888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</a:t>
            </a:r>
            <a:endParaRPr lang="en-US" sz="1800" dirty="0"/>
          </a:p>
        </p:txBody>
      </p:sp>
      <p:sp>
        <p:nvSpPr>
          <p:cNvPr id="15" name="text_13"/>
          <p:cNvSpPr txBox="1"/>
          <p:nvPr/>
        </p:nvSpPr>
        <p:spPr>
          <a:xfrm>
            <a:off x="7132320" y="15087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速さは主因ではない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主因は、急拡大したBEV市場に日系の商品がないこと</a:t>
            </a:r>
            <a:endParaRPr lang="en-US" sz="1600" dirty="0"/>
          </a:p>
        </p:txBody>
      </p:sp>
      <p:sp>
        <p:nvSpPr>
          <p:cNvPr id="16" name="lab_14"/>
          <p:cNvSpPr/>
          <p:nvPr/>
        </p:nvSpPr>
        <p:spPr>
          <a:xfrm>
            <a:off x="411480" y="3840480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600" dirty="0"/>
          </a:p>
        </p:txBody>
      </p:sp>
      <p:sp>
        <p:nvSpPr>
          <p:cNvPr id="17" name="text_15"/>
          <p:cNvSpPr txBox="1"/>
          <p:nvPr/>
        </p:nvSpPr>
        <p:spPr>
          <a:xfrm>
            <a:off x="2468880" y="3840480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政策×供給×価格でBEV市場が急拡大。日系はBEVに商品がなく、失点の大半はこれで説明できる</a:t>
            </a:r>
            <a:endParaRPr lang="en-US" sz="1600" dirty="0"/>
          </a:p>
        </p:txBody>
      </p:sp>
      <p:sp>
        <p:nvSpPr>
          <p:cNvPr id="18" name="lab_16"/>
          <p:cNvSpPr/>
          <p:nvPr/>
        </p:nvSpPr>
        <p:spPr>
          <a:xfrm>
            <a:off x="411480" y="4553712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600" dirty="0"/>
          </a:p>
        </p:txBody>
      </p:sp>
      <p:sp>
        <p:nvSpPr>
          <p:cNvPr id="19" name="text_17"/>
          <p:cNvSpPr txBox="1"/>
          <p:nvPr/>
        </p:nvSpPr>
        <p:spPr>
          <a:xfrm>
            <a:off x="2468880" y="4553712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日系は改良しても販売があまり変わらず、数年目のモデルでも売れ続ける</a:t>
            </a:r>
            <a:endParaRPr lang="en-US" sz="1600" dirty="0"/>
          </a:p>
        </p:txBody>
      </p:sp>
      <p:sp>
        <p:nvSpPr>
          <p:cNvPr id="20" name="lab_18"/>
          <p:cNvSpPr/>
          <p:nvPr/>
        </p:nvSpPr>
        <p:spPr>
          <a:xfrm>
            <a:off x="411480" y="5266944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1" name="text_19"/>
          <p:cNvSpPr txBox="1"/>
          <p:nvPr/>
        </p:nvSpPr>
        <p:spPr>
          <a:xfrm>
            <a:off x="2468880" y="5266944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次の売れる車種を出し続ける力が、生き残りを決める</a:t>
            </a:r>
            <a:endParaRPr lang="en-US" sz="1600" dirty="0"/>
          </a:p>
        </p:txBody>
      </p:sp>
      <p:sp>
        <p:nvSpPr>
          <p:cNvPr id="22" name="summary_20"/>
          <p:cNvSpPr/>
          <p:nvPr/>
        </p:nvSpPr>
        <p:spPr>
          <a:xfrm>
            <a:off x="777240" y="6126480"/>
            <a:ext cx="9134856" cy="822960"/>
          </a:xfrm>
          <a:prstGeom prst="roundRect">
            <a:avLst>
              <a:gd name="adj" fmla="val 1111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日系の打ち手：</a:t>
            </a:r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BEVの商品を持つ／HEVは長く売る／残クレで月々を下げる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結論に至った分析と、そこから得られる視座</a:t>
            </a:r>
            <a:endParaRPr lang="en-US" sz="2400" dirty="0"/>
          </a:p>
        </p:txBody>
      </p:sp>
      <p:sp>
        <p:nvSpPr>
          <p:cNvPr id="3" name="text_21"/>
          <p:cNvSpPr txBox="1"/>
          <p:nvPr/>
        </p:nvSpPr>
        <p:spPr>
          <a:xfrm>
            <a:off x="3191256" y="1078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分析したこと</a:t>
            </a:r>
            <a:endParaRPr lang="en-US" sz="1300" dirty="0"/>
          </a:p>
        </p:txBody>
      </p:sp>
      <p:sp>
        <p:nvSpPr>
          <p:cNvPr id="4" name="text_22"/>
          <p:cNvSpPr txBox="1"/>
          <p:nvPr/>
        </p:nvSpPr>
        <p:spPr>
          <a:xfrm>
            <a:off x="5120640" y="10789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300" dirty="0"/>
          </a:p>
        </p:txBody>
      </p:sp>
      <p:sp>
        <p:nvSpPr>
          <p:cNvPr id="5" name="text_23"/>
          <p:cNvSpPr txBox="1"/>
          <p:nvPr/>
        </p:nvSpPr>
        <p:spPr>
          <a:xfrm>
            <a:off x="7964424" y="107899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視座（だから何か）</a:t>
            </a:r>
            <a:endParaRPr lang="en-US" sz="1300" dirty="0"/>
          </a:p>
        </p:txBody>
      </p:sp>
      <p:sp>
        <p:nvSpPr>
          <p:cNvPr id="6" name="tch_24"/>
          <p:cNvSpPr/>
          <p:nvPr/>
        </p:nvSpPr>
        <p:spPr>
          <a:xfrm>
            <a:off x="1938528" y="1536192"/>
            <a:ext cx="1143000" cy="694944"/>
          </a:xfrm>
          <a:prstGeom prst="roundRect">
            <a:avLst>
              <a:gd name="adj" fmla="val 7895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p.4–7</a:t>
            </a:r>
            <a:endParaRPr lang="en-US" sz="1150" dirty="0"/>
          </a:p>
        </p:txBody>
      </p:sp>
      <p:sp>
        <p:nvSpPr>
          <p:cNvPr id="7" name="ta_25"/>
          <p:cNvSpPr/>
          <p:nvPr/>
        </p:nvSpPr>
        <p:spPr>
          <a:xfrm>
            <a:off x="3191256" y="1463040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ASEAN・タイのシェア、動力・セグメント別の分解</a:t>
            </a:r>
            <a:endParaRPr lang="en-US" sz="1150" dirty="0"/>
          </a:p>
        </p:txBody>
      </p:sp>
      <p:sp>
        <p:nvSpPr>
          <p:cNvPr id="8" name="shape_26"/>
          <p:cNvSpPr/>
          <p:nvPr/>
        </p:nvSpPr>
        <p:spPr>
          <a:xfrm>
            <a:off x="4919472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27"/>
          <p:cNvSpPr/>
          <p:nvPr/>
        </p:nvSpPr>
        <p:spPr>
          <a:xfrm>
            <a:off x="4996282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tf_28"/>
          <p:cNvSpPr/>
          <p:nvPr/>
        </p:nvSpPr>
        <p:spPr>
          <a:xfrm>
            <a:off x="5120640" y="146304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日系の失点の大半はBEV比率の上昇。BEV以外では日系のシェアが伸びている</a:t>
            </a:r>
            <a:endParaRPr lang="en-US" sz="1200" dirty="0"/>
          </a:p>
        </p:txBody>
      </p:sp>
      <p:sp>
        <p:nvSpPr>
          <p:cNvPr id="11" name="shape_29"/>
          <p:cNvSpPr/>
          <p:nvPr/>
        </p:nvSpPr>
        <p:spPr>
          <a:xfrm>
            <a:off x="7763256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30"/>
          <p:cNvSpPr/>
          <p:nvPr/>
        </p:nvSpPr>
        <p:spPr>
          <a:xfrm>
            <a:off x="7840066" y="1746504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tv_31"/>
          <p:cNvSpPr/>
          <p:nvPr/>
        </p:nvSpPr>
        <p:spPr>
          <a:xfrm>
            <a:off x="7964424" y="1463040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勝敗を分けたのは、車種の出来より動力の品ぞろえ</a:t>
            </a:r>
            <a:endParaRPr lang="en-US" sz="1250" dirty="0"/>
          </a:p>
        </p:txBody>
      </p:sp>
      <p:sp>
        <p:nvSpPr>
          <p:cNvPr id="14" name="tch_32"/>
          <p:cNvSpPr/>
          <p:nvPr/>
        </p:nvSpPr>
        <p:spPr>
          <a:xfrm>
            <a:off x="1938528" y="2468880"/>
            <a:ext cx="1143000" cy="694944"/>
          </a:xfrm>
          <a:prstGeom prst="roundRect">
            <a:avLst>
              <a:gd name="adj" fmla="val 7895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p.8–11</a:t>
            </a:r>
            <a:endParaRPr lang="en-US" sz="1150" dirty="0"/>
          </a:p>
        </p:txBody>
      </p:sp>
      <p:sp>
        <p:nvSpPr>
          <p:cNvPr id="15" name="ta_33"/>
          <p:cNvSpPr/>
          <p:nvPr/>
        </p:nvSpPr>
        <p:spPr>
          <a:xfrm>
            <a:off x="3191256" y="2395728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政策と販売の時系列、電動車の増加分、新車と中古の価格</a:t>
            </a:r>
            <a:endParaRPr lang="en-US" sz="1150" dirty="0"/>
          </a:p>
        </p:txBody>
      </p:sp>
      <p:sp>
        <p:nvSpPr>
          <p:cNvPr id="16" name="shape_34"/>
          <p:cNvSpPr/>
          <p:nvPr/>
        </p:nvSpPr>
        <p:spPr>
          <a:xfrm>
            <a:off x="4919472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35"/>
          <p:cNvSpPr/>
          <p:nvPr/>
        </p:nvSpPr>
        <p:spPr>
          <a:xfrm>
            <a:off x="4996282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tf_36"/>
          <p:cNvSpPr/>
          <p:nvPr/>
        </p:nvSpPr>
        <p:spPr>
          <a:xfrm>
            <a:off x="5120640" y="2395728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政策がBEV市場をつくり、増えた客の4分の3がBEVへ。EVは買う時に安く、日系は売る時に高い</a:t>
            </a:r>
            <a:endParaRPr lang="en-US" sz="1200" dirty="0"/>
          </a:p>
        </p:txBody>
      </p:sp>
      <p:sp>
        <p:nvSpPr>
          <p:cNvPr id="19" name="shape_37"/>
          <p:cNvSpPr/>
          <p:nvPr/>
        </p:nvSpPr>
        <p:spPr>
          <a:xfrm>
            <a:off x="7763256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shape_38"/>
          <p:cNvSpPr/>
          <p:nvPr/>
        </p:nvSpPr>
        <p:spPr>
          <a:xfrm>
            <a:off x="7840066" y="2679192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1" name="tv_39"/>
          <p:cNvSpPr/>
          <p:nvPr/>
        </p:nvSpPr>
        <p:spPr>
          <a:xfrm>
            <a:off x="7964424" y="2395728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日系の武器は残価。残クレで月々の安さに変えられる</a:t>
            </a:r>
            <a:endParaRPr lang="en-US" sz="1250" dirty="0"/>
          </a:p>
        </p:txBody>
      </p:sp>
      <p:sp>
        <p:nvSpPr>
          <p:cNvPr id="22" name="tch_40"/>
          <p:cNvSpPr/>
          <p:nvPr/>
        </p:nvSpPr>
        <p:spPr>
          <a:xfrm>
            <a:off x="1938528" y="3401568"/>
            <a:ext cx="1143000" cy="694944"/>
          </a:xfrm>
          <a:prstGeom prst="roundRect">
            <a:avLst>
              <a:gd name="adj" fmla="val 7895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p.12–15</a:t>
            </a:r>
            <a:endParaRPr lang="en-US" sz="1150" dirty="0"/>
          </a:p>
        </p:txBody>
      </p:sp>
      <p:sp>
        <p:nvSpPr>
          <p:cNvPr id="23" name="ta_41"/>
          <p:cNvSpPr/>
          <p:nvPr/>
        </p:nvSpPr>
        <p:spPr>
          <a:xfrm>
            <a:off x="3191256" y="3328416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カタログの新旧比較、売れ筋の入れ替わり、改良前後の販売</a:t>
            </a:r>
            <a:endParaRPr lang="en-US" sz="1150" dirty="0"/>
          </a:p>
        </p:txBody>
      </p:sp>
      <p:sp>
        <p:nvSpPr>
          <p:cNvPr id="24" name="shape_42"/>
          <p:cNvSpPr/>
          <p:nvPr/>
        </p:nvSpPr>
        <p:spPr>
          <a:xfrm>
            <a:off x="4919472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5" name="shape_43"/>
          <p:cNvSpPr/>
          <p:nvPr/>
        </p:nvSpPr>
        <p:spPr>
          <a:xfrm>
            <a:off x="4996282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6" name="tf_44"/>
          <p:cNvSpPr/>
          <p:nvPr/>
        </p:nvSpPr>
        <p:spPr>
          <a:xfrm>
            <a:off x="5120640" y="3328416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中国系の改良は値下げ・充電・装備。売れ筋は1年で入れ替わる。日系は改良しても販売が変わらない</a:t>
            </a:r>
            <a:endParaRPr lang="en-US" sz="1200" dirty="0"/>
          </a:p>
        </p:txBody>
      </p:sp>
      <p:sp>
        <p:nvSpPr>
          <p:cNvPr id="27" name="shape_45"/>
          <p:cNvSpPr/>
          <p:nvPr/>
        </p:nvSpPr>
        <p:spPr>
          <a:xfrm>
            <a:off x="7763256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8" name="shape_46"/>
          <p:cNvSpPr/>
          <p:nvPr/>
        </p:nvSpPr>
        <p:spPr>
          <a:xfrm>
            <a:off x="7840066" y="3611880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9" name="tv_47"/>
          <p:cNvSpPr/>
          <p:nvPr/>
        </p:nvSpPr>
        <p:spPr>
          <a:xfrm>
            <a:off x="7964424" y="3328416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速さは短命な商品を補う対応。日系が追う必要はない</a:t>
            </a:r>
            <a:endParaRPr lang="en-US" sz="1250" dirty="0"/>
          </a:p>
        </p:txBody>
      </p:sp>
      <p:sp>
        <p:nvSpPr>
          <p:cNvPr id="30" name="tch_48"/>
          <p:cNvSpPr/>
          <p:nvPr/>
        </p:nvSpPr>
        <p:spPr>
          <a:xfrm>
            <a:off x="1938528" y="4334256"/>
            <a:ext cx="1143000" cy="694944"/>
          </a:xfrm>
          <a:prstGeom prst="roundRect">
            <a:avLst>
              <a:gd name="adj" fmla="val 7895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</a:t>
            </a:r>
            <a:endParaRPr lang="en-US" sz="1150" dirty="0"/>
          </a:p>
        </p:txBody>
      </p:sp>
      <p:sp>
        <p:nvSpPr>
          <p:cNvPr id="31" name="ta_49"/>
          <p:cNvSpPr/>
          <p:nvPr/>
        </p:nvSpPr>
        <p:spPr>
          <a:xfrm>
            <a:off x="3191256" y="4261104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企業別シェアの推移、車種構成</a:t>
            </a:r>
            <a:endParaRPr lang="en-US" sz="1150" dirty="0"/>
          </a:p>
        </p:txBody>
      </p:sp>
      <p:sp>
        <p:nvSpPr>
          <p:cNvPr id="32" name="shape_50"/>
          <p:cNvSpPr/>
          <p:nvPr/>
        </p:nvSpPr>
        <p:spPr>
          <a:xfrm>
            <a:off x="4919472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3" name="shape_51"/>
          <p:cNvSpPr/>
          <p:nvPr/>
        </p:nvSpPr>
        <p:spPr>
          <a:xfrm>
            <a:off x="4996282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4" name="tf_52"/>
          <p:cNvSpPr/>
          <p:nvPr/>
        </p:nvSpPr>
        <p:spPr>
          <a:xfrm>
            <a:off x="5120640" y="4261104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BYDは半減、Netaは撤退へ。新車名を出し続けたChery系が2位に</a:t>
            </a:r>
            <a:endParaRPr lang="en-US" sz="1200" dirty="0"/>
          </a:p>
        </p:txBody>
      </p:sp>
      <p:sp>
        <p:nvSpPr>
          <p:cNvPr id="35" name="shape_53"/>
          <p:cNvSpPr/>
          <p:nvPr/>
        </p:nvSpPr>
        <p:spPr>
          <a:xfrm>
            <a:off x="7763256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6" name="shape_54"/>
          <p:cNvSpPr/>
          <p:nvPr/>
        </p:nvSpPr>
        <p:spPr>
          <a:xfrm>
            <a:off x="7840066" y="4544568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37" name="tv_55"/>
          <p:cNvSpPr/>
          <p:nvPr/>
        </p:nvSpPr>
        <p:spPr>
          <a:xfrm>
            <a:off x="7964424" y="4261104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中国系は一括りにせず、残る企業を見極めて付き合う</a:t>
            </a:r>
            <a:endParaRPr lang="en-US" sz="1250" dirty="0"/>
          </a:p>
        </p:txBody>
      </p:sp>
      <p:sp>
        <p:nvSpPr>
          <p:cNvPr id="38" name="tch_56"/>
          <p:cNvSpPr/>
          <p:nvPr/>
        </p:nvSpPr>
        <p:spPr>
          <a:xfrm>
            <a:off x="1938528" y="5266944"/>
            <a:ext cx="1143000" cy="694944"/>
          </a:xfrm>
          <a:prstGeom prst="roundRect">
            <a:avLst>
              <a:gd name="adj" fmla="val 7895"/>
            </a:avLst>
          </a:prstGeom>
          <a:solidFill>
            <a:srgbClr val="7A4FB0"/>
          </a:solidFill>
          <a:ln>
            <a:solidFill>
              <a:srgbClr val="7A4FB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</a:t>
            </a:r>
            <a:endParaRPr lang="en-US" sz="1150" dirty="0"/>
          </a:p>
        </p:txBody>
      </p:sp>
      <p:sp>
        <p:nvSpPr>
          <p:cNvPr id="39" name="ta_57"/>
          <p:cNvSpPr/>
          <p:nvPr/>
        </p:nvSpPr>
        <p:spPr>
          <a:xfrm>
            <a:off x="3191256" y="519379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生産能力・生産義務と国内需要</a:t>
            </a:r>
            <a:endParaRPr lang="en-US" sz="1150" dirty="0"/>
          </a:p>
        </p:txBody>
      </p:sp>
      <p:sp>
        <p:nvSpPr>
          <p:cNvPr id="40" name="shape_58"/>
          <p:cNvSpPr/>
          <p:nvPr/>
        </p:nvSpPr>
        <p:spPr>
          <a:xfrm>
            <a:off x="4919472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1" name="shape_59"/>
          <p:cNvSpPr/>
          <p:nvPr/>
        </p:nvSpPr>
        <p:spPr>
          <a:xfrm>
            <a:off x="4996282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2" name="tf_60"/>
          <p:cNvSpPr/>
          <p:nvPr/>
        </p:nvSpPr>
        <p:spPr>
          <a:xfrm>
            <a:off x="5120640" y="5193792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7A4FB0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承認生産能力は国内BEV需要の約1.8倍。2027〜28年に義務が一巡</a:t>
            </a:r>
            <a:endParaRPr lang="en-US" sz="1200" dirty="0"/>
          </a:p>
        </p:txBody>
      </p:sp>
      <p:sp>
        <p:nvSpPr>
          <p:cNvPr id="43" name="shape_61"/>
          <p:cNvSpPr/>
          <p:nvPr/>
        </p:nvSpPr>
        <p:spPr>
          <a:xfrm>
            <a:off x="7763256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4" name="shape_62"/>
          <p:cNvSpPr/>
          <p:nvPr/>
        </p:nvSpPr>
        <p:spPr>
          <a:xfrm>
            <a:off x="7840066" y="5477256"/>
            <a:ext cx="109728" cy="27432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45" name="tv_63"/>
          <p:cNvSpPr/>
          <p:nvPr/>
        </p:nvSpPr>
        <p:spPr>
          <a:xfrm>
            <a:off x="7964424" y="5193792"/>
            <a:ext cx="2313432" cy="841248"/>
          </a:xfrm>
          <a:prstGeom prst="roundRect">
            <a:avLst>
              <a:gd name="adj" fmla="val 6522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38100" tIns="76200" rIns="76200" bIns="381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淘汰期に、撤退ブランドの顧客・販売店を拾う</a:t>
            </a:r>
            <a:endParaRPr lang="en-US" sz="1250" dirty="0"/>
          </a:p>
        </p:txBody>
      </p:sp>
      <p:sp>
        <p:nvSpPr>
          <p:cNvPr id="46" name="troot_64"/>
          <p:cNvSpPr/>
          <p:nvPr/>
        </p:nvSpPr>
        <p:spPr>
          <a:xfrm>
            <a:off x="411480" y="2651760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チェンジの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主因ではない</a:t>
            </a:r>
            <a:endParaRPr lang="en-US" sz="1200" dirty="0"/>
          </a:p>
        </p:txBody>
      </p:sp>
      <p:sp>
        <p:nvSpPr>
          <p:cNvPr id="47" name="shape_65"/>
          <p:cNvSpPr/>
          <p:nvPr/>
        </p:nvSpPr>
        <p:spPr>
          <a:xfrm>
            <a:off x="1737360" y="3749040"/>
            <a:ext cx="201168" cy="-18653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48" name="shape_66"/>
          <p:cNvSpPr/>
          <p:nvPr/>
        </p:nvSpPr>
        <p:spPr>
          <a:xfrm>
            <a:off x="1737360" y="3749040"/>
            <a:ext cx="201168" cy="-93268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49" name="shape_67"/>
          <p:cNvSpPr/>
          <p:nvPr/>
        </p:nvSpPr>
        <p:spPr>
          <a:xfrm>
            <a:off x="1737360" y="3749040"/>
            <a:ext cx="201168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0" name="shape_68"/>
          <p:cNvSpPr/>
          <p:nvPr/>
        </p:nvSpPr>
        <p:spPr>
          <a:xfrm>
            <a:off x="1737360" y="3749040"/>
            <a:ext cx="201168" cy="93268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1" name="shape_69"/>
          <p:cNvSpPr/>
          <p:nvPr/>
        </p:nvSpPr>
        <p:spPr>
          <a:xfrm>
            <a:off x="1737360" y="3749040"/>
            <a:ext cx="201168" cy="18653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2" name="summary_70"/>
          <p:cNvSpPr/>
          <p:nvPr/>
        </p:nvSpPr>
        <p:spPr>
          <a:xfrm>
            <a:off x="685800" y="6172200"/>
            <a:ext cx="931773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日系の打ち手（p.18）：</a:t>
            </a:r>
            <a:pPr algn="ctr" indent="0" marL="0">
              <a:buNone/>
            </a:pPr>
            <a:r>
              <a:rPr lang="en-US" sz="16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BEVの商品を持つ／HEVは長く売る／残クレ／淘汰期に拾う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市場分析①　ASEANで中国系が伸び、ベトナムは地場が強い</a:t>
            </a:r>
            <a:endParaRPr lang="en-US" sz="2400" dirty="0"/>
          </a:p>
        </p:txBody>
      </p:sp>
      <p:sp>
        <p:nvSpPr>
          <p:cNvPr id="3" name="pc_71"/>
          <p:cNvSpPr/>
          <p:nvPr/>
        </p:nvSpPr>
        <p:spPr>
          <a:xfrm>
            <a:off x="411480" y="1097280"/>
            <a:ext cx="64008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ASEAN各国の中国系・日系シェアの推移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MarkLines：ASEAN各国の車種別月次販売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国ごとの小さな折れ線（日系・中国系・地場・その他）</a:t>
            </a:r>
            <a:endParaRPr lang="en-US" sz="1200" dirty="0"/>
          </a:p>
        </p:txBody>
      </p:sp>
      <p:sp>
        <p:nvSpPr>
          <p:cNvPr id="4" name="shape_72"/>
          <p:cNvSpPr/>
          <p:nvPr/>
        </p:nvSpPr>
        <p:spPr>
          <a:xfrm>
            <a:off x="7086600" y="1097280"/>
            <a:ext cx="3191256" cy="3566160"/>
          </a:xfrm>
          <a:prstGeom prst="roundRect">
            <a:avLst>
              <a:gd name="adj" fmla="val 286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73"/>
          <p:cNvSpPr/>
          <p:nvPr/>
        </p:nvSpPr>
        <p:spPr>
          <a:xfrm>
            <a:off x="7196328" y="1188720"/>
            <a:ext cx="1417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見るポイント</a:t>
            </a:r>
            <a:endParaRPr lang="en-US" sz="1500" dirty="0"/>
          </a:p>
        </p:txBody>
      </p:sp>
      <p:sp>
        <p:nvSpPr>
          <p:cNvPr id="6" name="text_74"/>
          <p:cNvSpPr txBox="1"/>
          <p:nvPr/>
        </p:nvSpPr>
        <p:spPr>
          <a:xfrm>
            <a:off x="7269480" y="1691640"/>
            <a:ext cx="28254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タイ・インドネシアで中国系が伸びる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ベトナムは地場（VinFast）が強い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日系はどの国でも最大勢力</a:t>
            </a:r>
            <a:endParaRPr lang="en-US" sz="1600" dirty="0"/>
          </a:p>
        </p:txBody>
      </p:sp>
      <p:sp>
        <p:nvSpPr>
          <p:cNvPr id="7" name="shape_75"/>
          <p:cNvSpPr/>
          <p:nvPr/>
        </p:nvSpPr>
        <p:spPr>
          <a:xfrm>
            <a:off x="8407908" y="4800600"/>
            <a:ext cx="548640" cy="41148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8" name="summary_76"/>
          <p:cNvSpPr/>
          <p:nvPr/>
        </p:nvSpPr>
        <p:spPr>
          <a:xfrm>
            <a:off x="7086600" y="5349240"/>
            <a:ext cx="3191256" cy="1554480"/>
          </a:xfrm>
          <a:prstGeom prst="roundRect">
            <a:avLst>
              <a:gd name="adj" fmla="val 588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以降はタイに絞る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中国系の伸びが最も大きく、データもそろう</a:t>
            </a:r>
            <a:endParaRPr lang="en-US" sz="2000" dirty="0"/>
          </a:p>
        </p:txBody>
      </p:sp>
      <p:sp>
        <p:nvSpPr>
          <p:cNvPr id="9" name="text_7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市場分析②　BEVの9割が中国系、HEVの98%が日系</a:t>
            </a:r>
            <a:endParaRPr lang="en-US" sz="2400" dirty="0"/>
          </a:p>
        </p:txBody>
      </p:sp>
      <p:sp>
        <p:nvSpPr>
          <p:cNvPr id="3" name="pc_78"/>
          <p:cNvSpPr/>
          <p:nvPr/>
        </p:nvSpPr>
        <p:spPr>
          <a:xfrm>
            <a:off x="411480" y="1097280"/>
            <a:ext cx="45720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パワートレイン別の販売とシェアの推移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BEV・HEV・ICEの月次台数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各パワートレイン内の国籍別シェア</a:t>
            </a:r>
            <a:endParaRPr lang="en-US" sz="1200" dirty="0"/>
          </a:p>
        </p:txBody>
      </p:sp>
      <p:graphicFrame>
        <p:nvGraphicFramePr>
          <p:cNvPr id="4" name="chart_pt" descr=""/>
          <p:cNvGraphicFramePr/>
          <p:nvPr/>
        </p:nvGraphicFramePr>
        <p:xfrm>
          <a:off x="5166360" y="1097280"/>
          <a:ext cx="511149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_79"/>
          <p:cNvSpPr txBox="1"/>
          <p:nvPr/>
        </p:nvSpPr>
        <p:spPr>
          <a:xfrm>
            <a:off x="5257800" y="4389120"/>
            <a:ext cx="2377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000" dirty="0"/>
          </a:p>
        </p:txBody>
      </p:sp>
      <p:sp>
        <p:nvSpPr>
          <p:cNvPr id="6" name="text_80"/>
          <p:cNvSpPr txBox="1"/>
          <p:nvPr/>
        </p:nvSpPr>
        <p:spPr>
          <a:xfrm>
            <a:off x="5257800" y="504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BEVのうち中国系</a:t>
            </a:r>
            <a:endParaRPr lang="en-US" sz="1400" dirty="0"/>
          </a:p>
        </p:txBody>
      </p:sp>
      <p:sp>
        <p:nvSpPr>
          <p:cNvPr id="7" name="text_81"/>
          <p:cNvSpPr txBox="1"/>
          <p:nvPr/>
        </p:nvSpPr>
        <p:spPr>
          <a:xfrm>
            <a:off x="7818120" y="4389120"/>
            <a:ext cx="2377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4000" dirty="0"/>
          </a:p>
        </p:txBody>
      </p:sp>
      <p:sp>
        <p:nvSpPr>
          <p:cNvPr id="8" name="text_82"/>
          <p:cNvSpPr txBox="1"/>
          <p:nvPr/>
        </p:nvSpPr>
        <p:spPr>
          <a:xfrm>
            <a:off x="7818120" y="504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HEVのうち日系</a:t>
            </a:r>
            <a:endParaRPr lang="en-US" sz="1400" dirty="0"/>
          </a:p>
        </p:txBody>
      </p:sp>
      <p:sp>
        <p:nvSpPr>
          <p:cNvPr id="9" name="shape_83"/>
          <p:cNvSpPr/>
          <p:nvPr/>
        </p:nvSpPr>
        <p:spPr>
          <a:xfrm>
            <a:off x="5166360" y="5852160"/>
            <a:ext cx="511149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84"/>
          <p:cNvSpPr/>
          <p:nvPr/>
        </p:nvSpPr>
        <p:spPr>
          <a:xfrm>
            <a:off x="5440680" y="5724144"/>
            <a:ext cx="807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前年比</a:t>
            </a:r>
            <a:endParaRPr lang="en-US" sz="1400" dirty="0"/>
          </a:p>
        </p:txBody>
      </p:sp>
      <p:sp>
        <p:nvSpPr>
          <p:cNvPr id="11" name="text_85"/>
          <p:cNvSpPr txBox="1"/>
          <p:nvPr/>
        </p:nvSpPr>
        <p:spPr>
          <a:xfrm>
            <a:off x="5303520" y="6053328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+85%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HEV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PHEV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−10%</a:t>
            </a:r>
            <a:endParaRPr lang="en-US" sz="1800" dirty="0"/>
          </a:p>
        </p:txBody>
      </p:sp>
      <p:sp>
        <p:nvSpPr>
          <p:cNvPr id="12" name="text_8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出典：JETRO（2026年7月）、MarkLines（社内）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市場分析③　日系の失点は、ほぼBEV比率の上昇による</a:t>
            </a:r>
            <a:endParaRPr lang="en-US" sz="2400" dirty="0"/>
          </a:p>
        </p:txBody>
      </p:sp>
      <p:sp>
        <p:nvSpPr>
          <p:cNvPr id="3" name="pc_87"/>
          <p:cNvSpPr/>
          <p:nvPr/>
        </p:nvSpPr>
        <p:spPr>
          <a:xfrm>
            <a:off x="411480" y="1097280"/>
            <a:ext cx="45720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A/B・C・D・SUV・MPV（ピックアップは別掲）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セグメント×パワートレインで同じ分解</a:t>
            </a:r>
            <a:endParaRPr lang="en-US" sz="1200" dirty="0"/>
          </a:p>
        </p:txBody>
      </p:sp>
      <p:sp>
        <p:nvSpPr>
          <p:cNvPr id="4" name="text_88"/>
          <p:cNvSpPr txBox="1"/>
          <p:nvPr/>
        </p:nvSpPr>
        <p:spPr>
          <a:xfrm>
            <a:off x="525780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日系シェアの変化の分解（pt）</a:t>
            </a:r>
            <a:endParaRPr lang="en-US" sz="1400" dirty="0"/>
          </a:p>
        </p:txBody>
      </p:sp>
      <p:sp>
        <p:nvSpPr>
          <p:cNvPr id="5" name="shape_89"/>
          <p:cNvSpPr/>
          <p:nvPr/>
        </p:nvSpPr>
        <p:spPr>
          <a:xfrm>
            <a:off x="5257800" y="1709562"/>
            <a:ext cx="777240" cy="405115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_90"/>
          <p:cNvSpPr txBox="1"/>
          <p:nvPr/>
        </p:nvSpPr>
        <p:spPr>
          <a:xfrm>
            <a:off x="5074920" y="134380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1500" dirty="0"/>
          </a:p>
        </p:txBody>
      </p:sp>
      <p:sp>
        <p:nvSpPr>
          <p:cNvPr id="7" name="text_91"/>
          <p:cNvSpPr txBox="1"/>
          <p:nvPr/>
        </p:nvSpPr>
        <p:spPr>
          <a:xfrm>
            <a:off x="5074920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</a:t>
            </a:r>
            <a:endParaRPr lang="en-US" sz="1200" dirty="0"/>
          </a:p>
        </p:txBody>
      </p:sp>
      <p:sp>
        <p:nvSpPr>
          <p:cNvPr id="8" name="shape_92"/>
          <p:cNvSpPr/>
          <p:nvPr/>
        </p:nvSpPr>
        <p:spPr>
          <a:xfrm>
            <a:off x="6236208" y="1709562"/>
            <a:ext cx="777240" cy="12077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_93"/>
          <p:cNvSpPr txBox="1"/>
          <p:nvPr/>
        </p:nvSpPr>
        <p:spPr>
          <a:xfrm>
            <a:off x="6053328" y="134380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−25.4</a:t>
            </a:r>
            <a:endParaRPr lang="en-US" sz="1500" dirty="0"/>
          </a:p>
        </p:txBody>
      </p:sp>
      <p:sp>
        <p:nvSpPr>
          <p:cNvPr id="10" name="text_94"/>
          <p:cNvSpPr txBox="1"/>
          <p:nvPr/>
        </p:nvSpPr>
        <p:spPr>
          <a:xfrm>
            <a:off x="6053328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BEV比率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の上昇</a:t>
            </a:r>
            <a:endParaRPr lang="en-US" sz="1200" dirty="0"/>
          </a:p>
        </p:txBody>
      </p:sp>
      <p:sp>
        <p:nvSpPr>
          <p:cNvPr id="11" name="shape_95"/>
          <p:cNvSpPr/>
          <p:nvPr/>
        </p:nvSpPr>
        <p:spPr>
          <a:xfrm>
            <a:off x="7214616" y="2871582"/>
            <a:ext cx="777240" cy="45720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2" name="text_96"/>
          <p:cNvSpPr txBox="1"/>
          <p:nvPr/>
        </p:nvSpPr>
        <p:spPr>
          <a:xfrm>
            <a:off x="7031736" y="250582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</a:t>
            </a:r>
            <a:endParaRPr lang="en-US" sz="1500" dirty="0"/>
          </a:p>
        </p:txBody>
      </p:sp>
      <p:sp>
        <p:nvSpPr>
          <p:cNvPr id="13" name="text_97"/>
          <p:cNvSpPr txBox="1"/>
          <p:nvPr/>
        </p:nvSpPr>
        <p:spPr>
          <a:xfrm>
            <a:off x="7031736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BEV内の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200" dirty="0"/>
          </a:p>
        </p:txBody>
      </p:sp>
      <p:sp>
        <p:nvSpPr>
          <p:cNvPr id="14" name="shape_98"/>
          <p:cNvSpPr/>
          <p:nvPr/>
        </p:nvSpPr>
        <p:spPr>
          <a:xfrm>
            <a:off x="8193024" y="2822204"/>
            <a:ext cx="777240" cy="66568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5" name="text_99"/>
          <p:cNvSpPr txBox="1"/>
          <p:nvPr/>
        </p:nvSpPr>
        <p:spPr>
          <a:xfrm>
            <a:off x="8010144" y="24564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</a:t>
            </a:r>
            <a:endParaRPr lang="en-US" sz="1500" dirty="0"/>
          </a:p>
        </p:txBody>
      </p:sp>
      <p:sp>
        <p:nvSpPr>
          <p:cNvPr id="16" name="text_100"/>
          <p:cNvSpPr txBox="1"/>
          <p:nvPr/>
        </p:nvSpPr>
        <p:spPr>
          <a:xfrm>
            <a:off x="8010144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の日系</a:t>
            </a:r>
            <a:endParaRPr lang="en-US" sz="1200" dirty="0"/>
          </a:p>
        </p:txBody>
      </p:sp>
      <p:sp>
        <p:nvSpPr>
          <p:cNvPr id="17" name="shape_101"/>
          <p:cNvSpPr/>
          <p:nvPr/>
        </p:nvSpPr>
        <p:spPr>
          <a:xfrm>
            <a:off x="9171432" y="2822204"/>
            <a:ext cx="777240" cy="29385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_102"/>
          <p:cNvSpPr txBox="1"/>
          <p:nvPr/>
        </p:nvSpPr>
        <p:spPr>
          <a:xfrm>
            <a:off x="8988552" y="24564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61.8%</a:t>
            </a:r>
            <a:endParaRPr lang="en-US" sz="1500" dirty="0"/>
          </a:p>
        </p:txBody>
      </p:sp>
      <p:sp>
        <p:nvSpPr>
          <p:cNvPr id="19" name="text_103"/>
          <p:cNvSpPr txBox="1"/>
          <p:nvPr/>
        </p:nvSpPr>
        <p:spPr>
          <a:xfrm>
            <a:off x="8988552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1〜7月</a:t>
            </a:r>
            <a:endParaRPr lang="en-US" sz="1200" dirty="0"/>
          </a:p>
        </p:txBody>
      </p:sp>
      <p:sp>
        <p:nvSpPr>
          <p:cNvPr id="20" name="shape_104"/>
          <p:cNvSpPr/>
          <p:nvPr/>
        </p:nvSpPr>
        <p:spPr>
          <a:xfrm>
            <a:off x="5212080" y="5760720"/>
            <a:ext cx="489204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21" name="summary_105"/>
          <p:cNvSpPr/>
          <p:nvPr/>
        </p:nvSpPr>
        <p:spPr>
          <a:xfrm>
            <a:off x="8275320" y="1600200"/>
            <a:ext cx="2002536" cy="1417320"/>
          </a:xfrm>
          <a:prstGeom prst="roundRect">
            <a:avLst>
              <a:gd name="adj" fmla="val 645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BEV以外の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86%→88%</a:t>
            </a:r>
            <a:endParaRPr lang="en-US" sz="1600" dirty="0"/>
          </a:p>
        </p:txBody>
      </p:sp>
      <p:sp>
        <p:nvSpPr>
          <p:cNvPr id="22" name="text_10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出典：TMT、Thansettakijから試算（BEV内の日系は1%→3%と仮定）。BEV比率の上昇にはピックアップ縮小による分母の減少も含む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市場分析④　中国系はBEV、日系はHEV・ICEに分かれている</a:t>
            </a:r>
            <a:endParaRPr lang="en-US" sz="2400" dirty="0"/>
          </a:p>
        </p:txBody>
      </p:sp>
      <p:graphicFrame>
        <p:nvGraphicFramePr>
          <p:cNvPr id="8" name="table_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8404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乗用車（セダン・ハッチバック）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Dolphin、Atto 1、Good Cat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EV、MG ZS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3、Deepal S07、Omoda C5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bZ4X（少量）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7、XPeng G6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6、H6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Outlander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 HEV、City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 HEV、Civic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Camry、Accord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Jolion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Cross、HR-V、Kicks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Ativ、City、Almera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Altis、Civic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CX-5、CX-30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Fortuner、Pajero Sport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108"/>
          <p:cNvSpPr/>
          <p:nvPr/>
        </p:nvSpPr>
        <p:spPr>
          <a:xfrm>
            <a:off x="411480" y="1097280"/>
            <a:ext cx="9866376" cy="427024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109"/>
          <p:cNvSpPr/>
          <p:nvPr/>
        </p:nvSpPr>
        <p:spPr>
          <a:xfrm>
            <a:off x="411480" y="5541264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" name="text_110"/>
          <p:cNvSpPr txBox="1"/>
          <p:nvPr/>
        </p:nvSpPr>
        <p:spPr>
          <a:xfrm>
            <a:off x="658368" y="5468112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7" name="shape_111"/>
          <p:cNvSpPr/>
          <p:nvPr/>
        </p:nvSpPr>
        <p:spPr>
          <a:xfrm>
            <a:off x="1473708" y="5541264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_112"/>
          <p:cNvSpPr txBox="1"/>
          <p:nvPr/>
        </p:nvSpPr>
        <p:spPr>
          <a:xfrm>
            <a:off x="1720596" y="5468112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9" name="text_113"/>
          <p:cNvSpPr txBox="1"/>
          <p:nvPr/>
        </p:nvSpPr>
        <p:spPr>
          <a:xfrm>
            <a:off x="3017520" y="5468112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代表車種（目安）。ピックアップは対象外（日系91%）</a:t>
            </a:r>
            <a:endParaRPr lang="en-US" sz="1300" dirty="0"/>
          </a:p>
        </p:txBody>
      </p:sp>
      <p:sp>
        <p:nvSpPr>
          <p:cNvPr id="10" name="shape_114"/>
          <p:cNvSpPr/>
          <p:nvPr/>
        </p:nvSpPr>
        <p:spPr>
          <a:xfrm>
            <a:off x="411480" y="5989320"/>
            <a:ext cx="47960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fslabel_115"/>
          <p:cNvSpPr/>
          <p:nvPr/>
        </p:nvSpPr>
        <p:spPr>
          <a:xfrm>
            <a:off x="2321814" y="5852160"/>
            <a:ext cx="97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BEVの行</a:t>
            </a:r>
            <a:endParaRPr lang="en-US" sz="1500" dirty="0"/>
          </a:p>
        </p:txBody>
      </p:sp>
      <p:sp>
        <p:nvSpPr>
          <p:cNvPr id="12" name="text_116"/>
          <p:cNvSpPr txBox="1"/>
          <p:nvPr/>
        </p:nvSpPr>
        <p:spPr>
          <a:xfrm>
            <a:off x="640080" y="6144768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中国系だけが競う。速さが効くのはここ</a:t>
            </a:r>
            <a:endParaRPr lang="en-US" sz="1600" dirty="0"/>
          </a:p>
        </p:txBody>
      </p:sp>
      <p:sp>
        <p:nvSpPr>
          <p:cNvPr id="13" name="shape_117"/>
          <p:cNvSpPr/>
          <p:nvPr/>
        </p:nvSpPr>
        <p:spPr>
          <a:xfrm>
            <a:off x="5481828" y="5989320"/>
            <a:ext cx="47960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4" name="fslabel_118"/>
          <p:cNvSpPr/>
          <p:nvPr/>
        </p:nvSpPr>
        <p:spPr>
          <a:xfrm>
            <a:off x="7136892" y="5852160"/>
            <a:ext cx="14859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HEV・ICEの行</a:t>
            </a:r>
            <a:endParaRPr lang="en-US" sz="1500" dirty="0"/>
          </a:p>
        </p:txBody>
      </p:sp>
      <p:sp>
        <p:nvSpPr>
          <p:cNvPr id="15" name="text_119"/>
          <p:cNvSpPr txBox="1"/>
          <p:nvPr/>
        </p:nvSpPr>
        <p:spPr>
          <a:xfrm>
            <a:off x="5710428" y="6144768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日系が大半。接点はHEV・PHEVの一部</a:t>
            </a:r>
            <a:endParaRPr lang="en-US" sz="1600" dirty="0"/>
          </a:p>
        </p:txBody>
      </p:sp>
      <p:sp>
        <p:nvSpPr>
          <p:cNvPr id="16" name="text_12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出典：各社のタイ公式サイト（2026年10月）。各セルの台数・シェアは社内PC（MarkLines）で追記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タイのEV政策　輸入で市場をつくり、あとで現地生産を求める</a:t>
            </a:r>
            <a:endParaRPr lang="en-US" sz="2400" dirty="0"/>
          </a:p>
        </p:txBody>
      </p:sp>
      <p:sp>
        <p:nvSpPr>
          <p:cNvPr id="3" name="grp_121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22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タイ政府は、どのようにEVを広げたのか</a:t>
            </a:r>
            <a:endParaRPr lang="en-US" sz="1600" dirty="0"/>
          </a:p>
        </p:txBody>
      </p:sp>
      <p:sp>
        <p:nvSpPr>
          <p:cNvPr id="5" name="shape_123"/>
          <p:cNvSpPr/>
          <p:nvPr/>
        </p:nvSpPr>
        <p:spPr>
          <a:xfrm>
            <a:off x="411480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124"/>
          <p:cNvSpPr/>
          <p:nvPr/>
        </p:nvSpPr>
        <p:spPr>
          <a:xfrm>
            <a:off x="411480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125"/>
          <p:cNvSpPr txBox="1"/>
          <p:nvPr/>
        </p:nvSpPr>
        <p:spPr>
          <a:xfrm>
            <a:off x="521208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126"/>
          <p:cNvSpPr txBox="1"/>
          <p:nvPr/>
        </p:nvSpPr>
        <p:spPr>
          <a:xfrm>
            <a:off x="5943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買う人への補助</a:t>
            </a:r>
            <a:endParaRPr lang="en-US" sz="2000" dirty="0"/>
          </a:p>
        </p:txBody>
      </p:sp>
      <p:sp>
        <p:nvSpPr>
          <p:cNvPr id="9" name="text_127"/>
          <p:cNvSpPr txBox="1"/>
          <p:nvPr/>
        </p:nvSpPr>
        <p:spPr>
          <a:xfrm>
            <a:off x="594360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EV3.0（2022〜23年）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最大15万バーツ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EV3.5（2024〜27年）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最大10万バーツ、年々縮小</a:t>
            </a:r>
            <a:endParaRPr lang="en-US" sz="1500" dirty="0"/>
          </a:p>
        </p:txBody>
      </p:sp>
      <p:sp>
        <p:nvSpPr>
          <p:cNvPr id="10" name="shape_128"/>
          <p:cNvSpPr/>
          <p:nvPr/>
        </p:nvSpPr>
        <p:spPr>
          <a:xfrm>
            <a:off x="3495294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129"/>
          <p:cNvSpPr/>
          <p:nvPr/>
        </p:nvSpPr>
        <p:spPr>
          <a:xfrm>
            <a:off x="3610508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30"/>
          <p:cNvSpPr/>
          <p:nvPr/>
        </p:nvSpPr>
        <p:spPr>
          <a:xfrm>
            <a:off x="3835908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_131"/>
          <p:cNvSpPr/>
          <p:nvPr/>
        </p:nvSpPr>
        <p:spPr>
          <a:xfrm>
            <a:off x="3835908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4" name="text_132"/>
          <p:cNvSpPr txBox="1"/>
          <p:nvPr/>
        </p:nvSpPr>
        <p:spPr>
          <a:xfrm>
            <a:off x="3945636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5" name="text_133"/>
          <p:cNvSpPr txBox="1"/>
          <p:nvPr/>
        </p:nvSpPr>
        <p:spPr>
          <a:xfrm>
            <a:off x="4018788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税の優遇</a:t>
            </a:r>
            <a:endParaRPr lang="en-US" sz="2000" dirty="0"/>
          </a:p>
        </p:txBody>
      </p:sp>
      <p:sp>
        <p:nvSpPr>
          <p:cNvPr id="16" name="text_134"/>
          <p:cNvSpPr txBox="1"/>
          <p:nvPr/>
        </p:nvSpPr>
        <p:spPr>
          <a:xfrm>
            <a:off x="4018788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BEVの物品税 8%→2%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</p:txBody>
      </p:sp>
      <p:sp>
        <p:nvSpPr>
          <p:cNvPr id="17" name="shape_135"/>
          <p:cNvSpPr/>
          <p:nvPr/>
        </p:nvSpPr>
        <p:spPr>
          <a:xfrm>
            <a:off x="6919722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136"/>
          <p:cNvSpPr/>
          <p:nvPr/>
        </p:nvSpPr>
        <p:spPr>
          <a:xfrm>
            <a:off x="7034936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137"/>
          <p:cNvSpPr/>
          <p:nvPr/>
        </p:nvSpPr>
        <p:spPr>
          <a:xfrm>
            <a:off x="7260336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_138"/>
          <p:cNvSpPr/>
          <p:nvPr/>
        </p:nvSpPr>
        <p:spPr>
          <a:xfrm>
            <a:off x="7260336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1" name="text_139"/>
          <p:cNvSpPr txBox="1"/>
          <p:nvPr/>
        </p:nvSpPr>
        <p:spPr>
          <a:xfrm>
            <a:off x="7370064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2" name="text_140"/>
          <p:cNvSpPr txBox="1"/>
          <p:nvPr/>
        </p:nvSpPr>
        <p:spPr>
          <a:xfrm>
            <a:off x="7443216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endParaRPr lang="en-US" sz="2000" dirty="0"/>
          </a:p>
        </p:txBody>
      </p:sp>
      <p:sp>
        <p:nvSpPr>
          <p:cNvPr id="23" name="text_141"/>
          <p:cNvSpPr txBox="1"/>
          <p:nvPr/>
        </p:nvSpPr>
        <p:spPr>
          <a:xfrm>
            <a:off x="7443216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補助を受けた輸入1台に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1〜1.5台（EV3.0）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 2台、2027年 3台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（EV3.5、輸出は1.5台分）</a:t>
            </a:r>
            <a:endParaRPr lang="en-US" sz="1500" dirty="0"/>
          </a:p>
        </p:txBody>
      </p:sp>
      <p:sp>
        <p:nvSpPr>
          <p:cNvPr id="24" name="shape_142"/>
          <p:cNvSpPr/>
          <p:nvPr/>
        </p:nvSpPr>
        <p:spPr>
          <a:xfrm>
            <a:off x="5024628" y="4873752"/>
            <a:ext cx="640080" cy="36576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5" name="summary_143"/>
          <p:cNvSpPr/>
          <p:nvPr/>
        </p:nvSpPr>
        <p:spPr>
          <a:xfrm>
            <a:off x="777240" y="5376672"/>
            <a:ext cx="913485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補助と関税0%で、中国系は輸入から先に市場に入れた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その後の生産義務が、現地での値下げと販売攻勢を生んでいる</a:t>
            </a:r>
            <a:endParaRPr lang="en-US" sz="1800" dirty="0"/>
          </a:p>
        </p:txBody>
      </p:sp>
      <p:sp>
        <p:nvSpPr>
          <p:cNvPr id="26" name="text_14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Nation（2026年9月）。2026年からは物品税を投資の度合いで3段階に（9月合意）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政策と販売台数　補助・値下げ・生産義務の時期に販売が動く</a:t>
            </a:r>
            <a:endParaRPr lang="en-US" sz="2400" dirty="0"/>
          </a:p>
        </p:txBody>
      </p:sp>
      <p:sp>
        <p:nvSpPr>
          <p:cNvPr id="3" name="grp_14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4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政策の時期と、販売台数の動きは重なるか</a:t>
            </a:r>
            <a:endParaRPr lang="en-US" sz="1600" dirty="0"/>
          </a:p>
        </p:txBody>
      </p:sp>
      <p:sp>
        <p:nvSpPr>
          <p:cNvPr id="5" name="pc_147"/>
          <p:cNvSpPr/>
          <p:nvPr/>
        </p:nvSpPr>
        <p:spPr>
          <a:xfrm>
            <a:off x="411480" y="1572768"/>
            <a:ext cx="986637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BEV・HEVの月次販売台数（2022年1月〜最新）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MarkLines：タイ。横軸を下の年表にそろえ、政策の時期に縦の点線を入れる</a:t>
            </a:r>
            <a:endParaRPr lang="en-US" sz="1200" dirty="0"/>
          </a:p>
        </p:txBody>
      </p:sp>
      <p:sp>
        <p:nvSpPr>
          <p:cNvPr id="6" name="shape_148"/>
          <p:cNvSpPr/>
          <p:nvPr/>
        </p:nvSpPr>
        <p:spPr>
          <a:xfrm>
            <a:off x="640080" y="4462272"/>
            <a:ext cx="9409176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" name="shape_149"/>
          <p:cNvSpPr/>
          <p:nvPr/>
        </p:nvSpPr>
        <p:spPr>
          <a:xfrm>
            <a:off x="64008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_150"/>
          <p:cNvSpPr txBox="1"/>
          <p:nvPr/>
        </p:nvSpPr>
        <p:spPr>
          <a:xfrm>
            <a:off x="59436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9" name="shape_151"/>
          <p:cNvSpPr/>
          <p:nvPr/>
        </p:nvSpPr>
        <p:spPr>
          <a:xfrm>
            <a:off x="2208276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0" name="text_152"/>
          <p:cNvSpPr txBox="1"/>
          <p:nvPr/>
        </p:nvSpPr>
        <p:spPr>
          <a:xfrm>
            <a:off x="2162556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_153"/>
          <p:cNvSpPr/>
          <p:nvPr/>
        </p:nvSpPr>
        <p:spPr>
          <a:xfrm>
            <a:off x="3776472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" name="text_154"/>
          <p:cNvSpPr txBox="1"/>
          <p:nvPr/>
        </p:nvSpPr>
        <p:spPr>
          <a:xfrm>
            <a:off x="3730752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3" name="shape_155"/>
          <p:cNvSpPr/>
          <p:nvPr/>
        </p:nvSpPr>
        <p:spPr>
          <a:xfrm>
            <a:off x="5344668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text_156"/>
          <p:cNvSpPr txBox="1"/>
          <p:nvPr/>
        </p:nvSpPr>
        <p:spPr>
          <a:xfrm>
            <a:off x="5298948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5" name="shape_157"/>
          <p:cNvSpPr/>
          <p:nvPr/>
        </p:nvSpPr>
        <p:spPr>
          <a:xfrm>
            <a:off x="6912864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_158"/>
          <p:cNvSpPr txBox="1"/>
          <p:nvPr/>
        </p:nvSpPr>
        <p:spPr>
          <a:xfrm>
            <a:off x="6867144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shape_159"/>
          <p:cNvSpPr/>
          <p:nvPr/>
        </p:nvSpPr>
        <p:spPr>
          <a:xfrm>
            <a:off x="848106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text_160"/>
          <p:cNvSpPr txBox="1"/>
          <p:nvPr/>
        </p:nvSpPr>
        <p:spPr>
          <a:xfrm>
            <a:off x="843534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9" name="ev_161"/>
          <p:cNvSpPr/>
          <p:nvPr/>
        </p:nvSpPr>
        <p:spPr>
          <a:xfrm>
            <a:off x="697611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_162"/>
          <p:cNvSpPr txBox="1"/>
          <p:nvPr/>
        </p:nvSpPr>
        <p:spPr>
          <a:xfrm>
            <a:off x="32004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補助15万</a:t>
            </a:r>
            <a:endParaRPr lang="en-US" sz="1200" dirty="0"/>
          </a:p>
        </p:txBody>
      </p:sp>
      <p:sp>
        <p:nvSpPr>
          <p:cNvPr id="21" name="ev_163"/>
          <p:cNvSpPr/>
          <p:nvPr/>
        </p:nvSpPr>
        <p:spPr>
          <a:xfrm>
            <a:off x="3703320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_164"/>
          <p:cNvSpPr txBox="1"/>
          <p:nvPr/>
        </p:nvSpPr>
        <p:spPr>
          <a:xfrm>
            <a:off x="3090672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補助10万に縮小</a:t>
            </a:r>
            <a:endParaRPr lang="en-US" sz="1200" dirty="0"/>
          </a:p>
        </p:txBody>
      </p:sp>
      <p:sp>
        <p:nvSpPr>
          <p:cNvPr id="23" name="ev_165"/>
          <p:cNvSpPr/>
          <p:nvPr/>
        </p:nvSpPr>
        <p:spPr>
          <a:xfrm>
            <a:off x="4487418" y="4389120"/>
            <a:ext cx="146304" cy="14630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4" name="text_166"/>
          <p:cNvSpPr txBox="1"/>
          <p:nvPr/>
        </p:nvSpPr>
        <p:spPr>
          <a:xfrm>
            <a:off x="3874770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大幅値下げ</a:t>
            </a:r>
            <a:endParaRPr lang="en-US" sz="1200" dirty="0"/>
          </a:p>
        </p:txBody>
      </p:sp>
      <p:sp>
        <p:nvSpPr>
          <p:cNvPr id="25" name="ev_167"/>
          <p:cNvSpPr/>
          <p:nvPr/>
        </p:nvSpPr>
        <p:spPr>
          <a:xfrm>
            <a:off x="6839712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6" name="text_168"/>
          <p:cNvSpPr txBox="1"/>
          <p:nvPr/>
        </p:nvSpPr>
        <p:spPr>
          <a:xfrm>
            <a:off x="6227064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輸入1:2</a:t>
            </a:r>
            <a:endParaRPr lang="en-US" sz="1200" dirty="0"/>
          </a:p>
        </p:txBody>
      </p:sp>
      <p:sp>
        <p:nvSpPr>
          <p:cNvPr id="27" name="ev_169"/>
          <p:cNvSpPr/>
          <p:nvPr/>
        </p:nvSpPr>
        <p:spPr>
          <a:xfrm>
            <a:off x="7885176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8" name="text_170"/>
          <p:cNvSpPr txBox="1"/>
          <p:nvPr/>
        </p:nvSpPr>
        <p:spPr>
          <a:xfrm>
            <a:off x="7272528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3段階に合意</a:t>
            </a:r>
            <a:endParaRPr lang="en-US" sz="1200" dirty="0"/>
          </a:p>
        </p:txBody>
      </p:sp>
      <p:sp>
        <p:nvSpPr>
          <p:cNvPr id="29" name="ev_171"/>
          <p:cNvSpPr/>
          <p:nvPr/>
        </p:nvSpPr>
        <p:spPr>
          <a:xfrm>
            <a:off x="8407908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30" name="text_172"/>
          <p:cNvSpPr txBox="1"/>
          <p:nvPr/>
        </p:nvSpPr>
        <p:spPr>
          <a:xfrm>
            <a:off x="779526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輸入1:3</a:t>
            </a:r>
            <a:endParaRPr lang="en-US" sz="1200" dirty="0"/>
          </a:p>
        </p:txBody>
      </p:sp>
      <p:sp>
        <p:nvSpPr>
          <p:cNvPr id="31" name="shape_173"/>
          <p:cNvSpPr/>
          <p:nvPr/>
        </p:nvSpPr>
        <p:spPr>
          <a:xfrm>
            <a:off x="411480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_174"/>
          <p:cNvSpPr txBox="1"/>
          <p:nvPr/>
        </p:nvSpPr>
        <p:spPr>
          <a:xfrm>
            <a:off x="548640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補助で急増</a:t>
            </a:r>
            <a:endParaRPr lang="en-US" sz="1600" dirty="0"/>
          </a:p>
        </p:txBody>
      </p:sp>
      <p:sp>
        <p:nvSpPr>
          <p:cNvPr id="33" name="shape_175"/>
          <p:cNvSpPr/>
          <p:nvPr/>
        </p:nvSpPr>
        <p:spPr>
          <a:xfrm>
            <a:off x="3761232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text_176"/>
          <p:cNvSpPr txBox="1"/>
          <p:nvPr/>
        </p:nvSpPr>
        <p:spPr>
          <a:xfrm>
            <a:off x="3898392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補助縮小・値下げ待ち・与信の引き締め</a:t>
            </a:r>
            <a:endParaRPr lang="en-US" sz="1600" dirty="0"/>
          </a:p>
        </p:txBody>
      </p:sp>
      <p:sp>
        <p:nvSpPr>
          <p:cNvPr id="35" name="shape_177"/>
          <p:cNvSpPr/>
          <p:nvPr/>
        </p:nvSpPr>
        <p:spPr>
          <a:xfrm>
            <a:off x="7110984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6" name="text_178"/>
          <p:cNvSpPr txBox="1"/>
          <p:nvPr/>
        </p:nvSpPr>
        <p:spPr>
          <a:xfrm>
            <a:off x="7248144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2026年1〜6月のBEV（+85%）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生産義務の消化で販売攻勢</a:t>
            </a:r>
            <a:endParaRPr lang="en-US" sz="1600" dirty="0"/>
          </a:p>
        </p:txBody>
      </p:sp>
      <p:sp>
        <p:nvSpPr>
          <p:cNvPr id="37" name="text_17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出典：Autolife（2023〜24年）、JETRO（2026年7月）、BOI。下段の要因は時期の一致からの読み取り（因果は未検証）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電動化で増えた客の4分の3はBEVへ。日系HEVは3割</a:t>
            </a:r>
            <a:endParaRPr lang="en-US" sz="2400" dirty="0"/>
          </a:p>
        </p:txBody>
      </p:sp>
      <p:sp>
        <p:nvSpPr>
          <p:cNvPr id="3" name="grp_180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81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中国系のBEVは、どの客を取ったのか</a:t>
            </a:r>
            <a:endParaRPr lang="en-US" sz="1600" dirty="0"/>
          </a:p>
        </p:txBody>
      </p:sp>
      <p:sp>
        <p:nvSpPr>
          <p:cNvPr id="5" name="text_182"/>
          <p:cNvSpPr txBox="1"/>
          <p:nvPr/>
        </p:nvSpPr>
        <p:spPr>
          <a:xfrm>
            <a:off x="41148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電動車の登録の増減（2025年1〜6月 → 2026年1〜6月）</a:t>
            </a:r>
            <a:endParaRPr lang="en-US" sz="1300" dirty="0"/>
          </a:p>
        </p:txBody>
      </p:sp>
      <p:sp>
        <p:nvSpPr>
          <p:cNvPr id="6" name="shape_183"/>
          <p:cNvSpPr/>
          <p:nvPr/>
        </p:nvSpPr>
        <p:spPr>
          <a:xfrm>
            <a:off x="731520" y="2560320"/>
            <a:ext cx="1051560" cy="17830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7" name="text_184"/>
          <p:cNvSpPr txBox="1"/>
          <p:nvPr/>
        </p:nvSpPr>
        <p:spPr>
          <a:xfrm>
            <a:off x="457200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（増加分の74%）</a:t>
            </a:r>
            <a:endParaRPr lang="en-US" sz="1600" dirty="0"/>
          </a:p>
        </p:txBody>
      </p:sp>
      <p:sp>
        <p:nvSpPr>
          <p:cNvPr id="8" name="text_185"/>
          <p:cNvSpPr txBox="1"/>
          <p:nvPr/>
        </p:nvSpPr>
        <p:spPr>
          <a:xfrm>
            <a:off x="457200" y="4434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9割が中国系</a:t>
            </a:r>
            <a:endParaRPr lang="en-US" sz="1600" dirty="0"/>
          </a:p>
        </p:txBody>
      </p:sp>
      <p:sp>
        <p:nvSpPr>
          <p:cNvPr id="9" name="shape_186"/>
          <p:cNvSpPr/>
          <p:nvPr/>
        </p:nvSpPr>
        <p:spPr>
          <a:xfrm>
            <a:off x="2194560" y="3669213"/>
            <a:ext cx="1051560" cy="674187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_187"/>
          <p:cNvSpPr txBox="1"/>
          <p:nvPr/>
        </p:nvSpPr>
        <p:spPr>
          <a:xfrm>
            <a:off x="1920240" y="3047421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（増加分の28%）</a:t>
            </a:r>
            <a:endParaRPr lang="en-US" sz="1600" dirty="0"/>
          </a:p>
        </p:txBody>
      </p:sp>
      <p:sp>
        <p:nvSpPr>
          <p:cNvPr id="11" name="text_188"/>
          <p:cNvSpPr txBox="1"/>
          <p:nvPr/>
        </p:nvSpPr>
        <p:spPr>
          <a:xfrm>
            <a:off x="1920240" y="4434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98%が日系</a:t>
            </a:r>
            <a:endParaRPr lang="en-US" sz="1600" dirty="0"/>
          </a:p>
        </p:txBody>
      </p:sp>
      <p:sp>
        <p:nvSpPr>
          <p:cNvPr id="12" name="shape_189"/>
          <p:cNvSpPr/>
          <p:nvPr/>
        </p:nvSpPr>
        <p:spPr>
          <a:xfrm>
            <a:off x="3657600" y="4343400"/>
            <a:ext cx="1051560" cy="40972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_190"/>
          <p:cNvSpPr txBox="1"/>
          <p:nvPr/>
        </p:nvSpPr>
        <p:spPr>
          <a:xfrm>
            <a:off x="3383280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（増加分の−2%）</a:t>
            </a:r>
            <a:endParaRPr lang="en-US" sz="1600" dirty="0"/>
          </a:p>
        </p:txBody>
      </p:sp>
      <p:sp>
        <p:nvSpPr>
          <p:cNvPr id="14" name="text_191"/>
          <p:cNvSpPr txBox="1"/>
          <p:nvPr/>
        </p:nvSpPr>
        <p:spPr>
          <a:xfrm>
            <a:off x="3383280" y="4434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7割が中国系</a:t>
            </a:r>
            <a:endParaRPr lang="en-US" sz="1600" dirty="0"/>
          </a:p>
        </p:txBody>
      </p:sp>
      <p:sp>
        <p:nvSpPr>
          <p:cNvPr id="15" name="shape_192"/>
          <p:cNvSpPr/>
          <p:nvPr/>
        </p:nvSpPr>
        <p:spPr>
          <a:xfrm>
            <a:off x="594360" y="4343400"/>
            <a:ext cx="425196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16" name="pc_193"/>
          <p:cNvSpPr/>
          <p:nvPr/>
        </p:nvSpPr>
        <p:spPr>
          <a:xfrm>
            <a:off x="5486400" y="1600200"/>
            <a:ext cx="4791456" cy="32918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ICEの減少と行き先（社内データ）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乗用車の台数変化を「国籍×動力」で分解（2023→2026年）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日系ICEの減少分は、日系HEVと中国系BEVのどちらへ流れたか</a:t>
            </a:r>
            <a:endParaRPr lang="en-US" sz="1200" dirty="0"/>
          </a:p>
        </p:txBody>
      </p:sp>
      <p:sp>
        <p:nvSpPr>
          <p:cNvPr id="17" name="shape_194"/>
          <p:cNvSpPr/>
          <p:nvPr/>
        </p:nvSpPr>
        <p:spPr>
          <a:xfrm>
            <a:off x="411480" y="5440680"/>
            <a:ext cx="479602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8" name="fslabel_195"/>
          <p:cNvSpPr/>
          <p:nvPr/>
        </p:nvSpPr>
        <p:spPr>
          <a:xfrm>
            <a:off x="2100834" y="530352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9" name="text_196"/>
          <p:cNvSpPr txBox="1"/>
          <p:nvPr/>
        </p:nvSpPr>
        <p:spPr>
          <a:xfrm>
            <a:off x="640080" y="5650992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増えた客の約4分の3がBEV（主に中国系）へ。日系HEVの取り分は約3割</a:t>
            </a:r>
            <a:endParaRPr lang="en-US" sz="1600" dirty="0"/>
          </a:p>
        </p:txBody>
      </p:sp>
      <p:sp>
        <p:nvSpPr>
          <p:cNvPr id="20" name="summary_197"/>
          <p:cNvSpPr/>
          <p:nvPr/>
        </p:nvSpPr>
        <p:spPr>
          <a:xfrm>
            <a:off x="5481828" y="5303520"/>
            <a:ext cx="4796028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戦場は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ICEからの乗り換え先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HEVだけでは、日系の取り分は3割にとどまる</a:t>
            </a:r>
            <a:endParaRPr lang="en-US" sz="1700" dirty="0"/>
          </a:p>
        </p:txBody>
      </p:sp>
      <p:sp>
        <p:nvSpPr>
          <p:cNvPr id="21" name="text_19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出典：JETRO（2026年7月24日）、乗用車登録の3動力。増加分の合計は+6.5万台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買う時はEVが安く、売る時は日系が高い</a:t>
            </a:r>
            <a:endParaRPr lang="en-US" sz="2400" dirty="0"/>
          </a:p>
        </p:txBody>
      </p:sp>
      <p:sp>
        <p:nvSpPr>
          <p:cNvPr id="3" name="grp_199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200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EVは日系車より安いのか。中古になっても安いのか</a:t>
            </a:r>
            <a:endParaRPr lang="en-US" sz="1600" dirty="0"/>
          </a:p>
        </p:txBody>
      </p:sp>
      <p:graphicFrame>
        <p:nvGraphicFramePr>
          <p:cNvPr id="5" name="chart_price2" descr=""/>
          <p:cNvGraphicFramePr/>
          <p:nvPr/>
        </p:nvGraphicFramePr>
        <p:xfrm>
          <a:off x="411480" y="1554480"/>
          <a:ext cx="4892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used2" descr=""/>
          <p:cNvGraphicFramePr/>
          <p:nvPr/>
        </p:nvGraphicFramePr>
        <p:xfrm>
          <a:off x="5486400" y="1554480"/>
          <a:ext cx="4791456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_201"/>
          <p:cNvSpPr/>
          <p:nvPr/>
        </p:nvSpPr>
        <p:spPr>
          <a:xfrm>
            <a:off x="411480" y="4992624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_202"/>
          <p:cNvSpPr txBox="1"/>
          <p:nvPr/>
        </p:nvSpPr>
        <p:spPr>
          <a:xfrm>
            <a:off x="658368" y="4919472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9" name="shape_203"/>
          <p:cNvSpPr/>
          <p:nvPr/>
        </p:nvSpPr>
        <p:spPr>
          <a:xfrm>
            <a:off x="1473708" y="4992624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_204"/>
          <p:cNvSpPr txBox="1"/>
          <p:nvPr/>
        </p:nvSpPr>
        <p:spPr>
          <a:xfrm>
            <a:off x="1720596" y="4919472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1" name="text_205"/>
          <p:cNvSpPr txBox="1"/>
          <p:nvPr/>
        </p:nvSpPr>
        <p:spPr>
          <a:xfrm>
            <a:off x="5486400" y="4901184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差24ptのうち13〜22ptは新車値下げによる（Atto 3：120万→通常90万・特価77万）</a:t>
            </a:r>
            <a:endParaRPr lang="en-US" sz="1150" dirty="0"/>
          </a:p>
        </p:txBody>
      </p:sp>
      <p:sp>
        <p:nvSpPr>
          <p:cNvPr id="12" name="shape_206"/>
          <p:cNvSpPr/>
          <p:nvPr/>
        </p:nvSpPr>
        <p:spPr>
          <a:xfrm>
            <a:off x="411480" y="548640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3" name="fslabel_207"/>
          <p:cNvSpPr/>
          <p:nvPr/>
        </p:nvSpPr>
        <p:spPr>
          <a:xfrm>
            <a:off x="2100834" y="534924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4" name="text_208"/>
          <p:cNvSpPr txBox="1"/>
          <p:nvPr/>
        </p:nvSpPr>
        <p:spPr>
          <a:xfrm>
            <a:off x="640080" y="568756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EVは入口価格が安いが、中古では大きく下がる。主因は新車値下げ</a:t>
            </a:r>
            <a:endParaRPr lang="en-US" sz="1600" dirty="0"/>
          </a:p>
        </p:txBody>
      </p:sp>
      <p:sp>
        <p:nvSpPr>
          <p:cNvPr id="15" name="summary_209"/>
          <p:cNvSpPr/>
          <p:nvPr/>
        </p:nvSpPr>
        <p:spPr>
          <a:xfrm>
            <a:off x="5481828" y="537667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日系の武器は残価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残クレで、月々の支払いの安さに変えられる（付録）</a:t>
            </a:r>
            <a:endParaRPr lang="en-US" sz="1900" dirty="0"/>
          </a:p>
        </p:txBody>
      </p:sp>
      <p:sp>
        <p:nvSpPr>
          <p:cNvPr id="16" name="text_21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出典：各社の価格表（2026年10月）、One2car（2026年10月、走行2万〜10万km、N=7・5）、BYD Rêver。価格はバーツ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　日系 vs 中国系（タイの販売カタログ）</a:t>
            </a:r>
            <a:endParaRPr lang="en-US" sz="2400" dirty="0"/>
          </a:p>
        </p:txBody>
      </p:sp>
      <p:sp>
        <p:nvSpPr>
          <p:cNvPr id="3" name="shape_211"/>
          <p:cNvSpPr/>
          <p:nvPr/>
        </p:nvSpPr>
        <p:spPr>
          <a:xfrm>
            <a:off x="411480" y="1097280"/>
            <a:ext cx="4796028" cy="498348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ch_212"/>
          <p:cNvSpPr/>
          <p:nvPr/>
        </p:nvSpPr>
        <p:spPr>
          <a:xfrm>
            <a:off x="429768" y="1115568"/>
            <a:ext cx="4759452" cy="43891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Corolla Cross HEV</a:t>
            </a:r>
            <a:endParaRPr lang="en-US" sz="1700" dirty="0"/>
          </a:p>
        </p:txBody>
      </p:sp>
      <p:sp>
        <p:nvSpPr>
          <p:cNvPr id="5" name="pc_213"/>
          <p:cNvSpPr/>
          <p:nvPr/>
        </p:nvSpPr>
        <p:spPr>
          <a:xfrm>
            <a:off x="594360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6" name="pc_214"/>
          <p:cNvSpPr/>
          <p:nvPr/>
        </p:nvSpPr>
        <p:spPr>
          <a:xfrm>
            <a:off x="2900934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7" name="shape_215"/>
          <p:cNvSpPr/>
          <p:nvPr/>
        </p:nvSpPr>
        <p:spPr>
          <a:xfrm>
            <a:off x="269976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216"/>
          <p:cNvSpPr/>
          <p:nvPr/>
        </p:nvSpPr>
        <p:spPr>
          <a:xfrm>
            <a:off x="2791938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3" name="table_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画面・電動パーキング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 4.3L/100km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同じ駆動系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価格（最上級）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_218"/>
          <p:cNvSpPr/>
          <p:nvPr/>
        </p:nvSpPr>
        <p:spPr>
          <a:xfrm>
            <a:off x="5481828" y="1097280"/>
            <a:ext cx="4796028" cy="498348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ch_219"/>
          <p:cNvSpPr/>
          <p:nvPr/>
        </p:nvSpPr>
        <p:spPr>
          <a:xfrm>
            <a:off x="5500116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Atto 3</a:t>
            </a:r>
            <a:endParaRPr lang="en-US" sz="1700" dirty="0"/>
          </a:p>
        </p:txBody>
      </p:sp>
      <p:sp>
        <p:nvSpPr>
          <p:cNvPr id="12" name="pc_220"/>
          <p:cNvSpPr/>
          <p:nvPr/>
        </p:nvSpPr>
        <p:spPr>
          <a:xfrm>
            <a:off x="5664708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MY2023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3" name="pc_221"/>
          <p:cNvSpPr/>
          <p:nvPr/>
        </p:nvSpPr>
        <p:spPr>
          <a:xfrm>
            <a:off x="7971282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MY2024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4" name="shape_222"/>
          <p:cNvSpPr/>
          <p:nvPr/>
        </p:nvSpPr>
        <p:spPr>
          <a:xfrm>
            <a:off x="7770114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223"/>
          <p:cNvSpPr/>
          <p:nvPr/>
        </p:nvSpPr>
        <p:spPr>
          <a:xfrm>
            <a:off x="786228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25" name="table_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ピラー色・ロゴ・タイヤ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電池（標準）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410／480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価格（長距離）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89.99万（特価77万）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1.92万台（2023年）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0.77万台（2024年）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7" name="shape_225"/>
          <p:cNvSpPr/>
          <p:nvPr/>
        </p:nvSpPr>
        <p:spPr>
          <a:xfrm>
            <a:off x="411480" y="6428232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18" name="text_226"/>
          <p:cNvSpPr txBox="1"/>
          <p:nvPr/>
        </p:nvSpPr>
        <p:spPr>
          <a:xfrm>
            <a:off x="658368" y="6355080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19" name="summary_227"/>
          <p:cNvSpPr/>
          <p:nvPr/>
        </p:nvSpPr>
        <p:spPr>
          <a:xfrm>
            <a:off x="2788920" y="6217920"/>
            <a:ext cx="7488936" cy="749808"/>
          </a:xfrm>
          <a:prstGeom prst="roundRect">
            <a:avLst>
              <a:gd name="adj" fmla="val 1219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駆動系はどちらもほぼ同じ。日系は外内装、中国系は画面と価格を変える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3は改良した2024年に、販売が6割減った</a:t>
            </a:r>
            <a:endParaRPr lang="en-US" sz="1500" dirty="0"/>
          </a:p>
        </p:txBody>
      </p:sp>
      <p:sp>
        <p:nvSpPr>
          <p:cNvPr id="20" name="text_22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出典：Toyota（2020年7月、2024年2月）、BYD Rêver、BYD販売店（2024年4月）、Autolife。価格はバーツ、Atto 3の値下げは2024年7月以降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　中国系どうし（タイの販売カタログ）</a:t>
            </a:r>
            <a:endParaRPr lang="en-US" sz="2400" dirty="0"/>
          </a:p>
        </p:txBody>
      </p:sp>
      <p:sp>
        <p:nvSpPr>
          <p:cNvPr id="3" name="shape_229"/>
          <p:cNvSpPr/>
          <p:nvPr/>
        </p:nvSpPr>
        <p:spPr>
          <a:xfrm>
            <a:off x="411480" y="1097280"/>
            <a:ext cx="4796028" cy="498348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4" name="ch_230"/>
          <p:cNvSpPr/>
          <p:nvPr/>
        </p:nvSpPr>
        <p:spPr>
          <a:xfrm>
            <a:off x="429768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Dolphin（標準）</a:t>
            </a:r>
            <a:endParaRPr lang="en-US" sz="1700" dirty="0"/>
          </a:p>
        </p:txBody>
      </p:sp>
      <p:sp>
        <p:nvSpPr>
          <p:cNvPr id="5" name="pc_231"/>
          <p:cNvSpPr/>
          <p:nvPr/>
        </p:nvSpPr>
        <p:spPr>
          <a:xfrm>
            <a:off x="594360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2023年7月 輸入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6" name="pc_232"/>
          <p:cNvSpPr/>
          <p:nvPr/>
        </p:nvSpPr>
        <p:spPr>
          <a:xfrm>
            <a:off x="2900934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タイ生産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7" name="shape_233"/>
          <p:cNvSpPr/>
          <p:nvPr/>
        </p:nvSpPr>
        <p:spPr>
          <a:xfrm>
            <a:off x="269976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234"/>
          <p:cNvSpPr/>
          <p:nvPr/>
        </p:nvSpPr>
        <p:spPr>
          <a:xfrm>
            <a:off x="2791938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4" name="table_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2023年7月 輸入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 タイ生産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ツートン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単色・新色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中国から輸入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タイで生産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0.94万台（2023年）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1.34万台（2024年）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0" name="shape_236"/>
          <p:cNvSpPr/>
          <p:nvPr/>
        </p:nvSpPr>
        <p:spPr>
          <a:xfrm>
            <a:off x="5481828" y="1097280"/>
            <a:ext cx="4796028" cy="4983480"/>
          </a:xfrm>
          <a:prstGeom prst="roundRect">
            <a:avLst>
              <a:gd name="adj" fmla="val 1525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ch_237"/>
          <p:cNvSpPr/>
          <p:nvPr/>
        </p:nvSpPr>
        <p:spPr>
          <a:xfrm>
            <a:off x="5500116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700" dirty="0"/>
          </a:p>
        </p:txBody>
      </p:sp>
      <p:sp>
        <p:nvSpPr>
          <p:cNvPr id="12" name="pc_238"/>
          <p:cNvSpPr/>
          <p:nvPr/>
        </p:nvSpPr>
        <p:spPr>
          <a:xfrm>
            <a:off x="5664708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3" name="pc_239"/>
          <p:cNvSpPr/>
          <p:nvPr/>
        </p:nvSpPr>
        <p:spPr>
          <a:xfrm>
            <a:off x="7971282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2026年9月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4" name="shape_240"/>
          <p:cNvSpPr/>
          <p:nvPr/>
        </p:nvSpPr>
        <p:spPr>
          <a:xfrm>
            <a:off x="7770114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241"/>
          <p:cNvSpPr/>
          <p:nvPr/>
        </p:nvSpPr>
        <p:spPr>
          <a:xfrm>
            <a:off x="786228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27" name="table_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前面・全長を変更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89.9万〜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70.9万（限定64.9万）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2026年9月に改良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_243"/>
          <p:cNvSpPr/>
          <p:nvPr/>
        </p:nvSpPr>
        <p:spPr>
          <a:xfrm>
            <a:off x="411480" y="6428232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18" name="text_244"/>
          <p:cNvSpPr txBox="1"/>
          <p:nvPr/>
        </p:nvSpPr>
        <p:spPr>
          <a:xfrm>
            <a:off x="658368" y="6355080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19" name="summary_245"/>
          <p:cNvSpPr/>
          <p:nvPr/>
        </p:nvSpPr>
        <p:spPr>
          <a:xfrm>
            <a:off x="2788920" y="6217920"/>
            <a:ext cx="7488936" cy="749808"/>
          </a:xfrm>
          <a:prstGeom prst="roundRect">
            <a:avLst>
              <a:gd name="adj" fmla="val 1219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電池の方向は逆でも、共通するのはタイ生産にして値下げすること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値下げしたDolphinは、販売が4割増えた</a:t>
            </a:r>
            <a:endParaRPr lang="en-US" sz="1500" dirty="0"/>
          </a:p>
        </p:txBody>
      </p:sp>
      <p:sp>
        <p:nvSpPr>
          <p:cNvPr id="20" name="text_24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出典：BYD販売店・BYD Rêver（2024年）、The Standard（2023年）、Chobrod（2024年8月）、Omoda &amp; Jaecoo（2026年9月）、Autolife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中国系BEVの売れ筋は、1年で入れ替わる</a:t>
            </a:r>
            <a:endParaRPr lang="en-US" sz="2400" dirty="0"/>
          </a:p>
        </p:txBody>
      </p:sp>
      <p:sp>
        <p:nvSpPr>
          <p:cNvPr id="3" name="grp_247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200" dirty="0"/>
          </a:p>
        </p:txBody>
      </p:sp>
      <p:sp>
        <p:nvSpPr>
          <p:cNvPr id="4" name="text_248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中国系の車は、どれくらい長く売れるのか</a:t>
            </a:r>
            <a:endParaRPr lang="en-US" sz="1600" dirty="0"/>
          </a:p>
        </p:txBody>
      </p:sp>
      <p:graphicFrame>
        <p:nvGraphicFramePr>
          <p:cNvPr id="5" name="chart_life" descr=""/>
          <p:cNvGraphicFramePr/>
          <p:nvPr/>
        </p:nvGraphicFramePr>
        <p:xfrm>
          <a:off x="411480" y="1536192"/>
          <a:ext cx="59436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249"/>
          <p:cNvSpPr/>
          <p:nvPr/>
        </p:nvSpPr>
        <p:spPr>
          <a:xfrm>
            <a:off x="6537960" y="1600200"/>
            <a:ext cx="3739896" cy="3703320"/>
          </a:xfrm>
          <a:prstGeom prst="roundRect">
            <a:avLst>
              <a:gd name="adj" fmla="val 2469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250"/>
          <p:cNvSpPr/>
          <p:nvPr/>
        </p:nvSpPr>
        <p:spPr>
          <a:xfrm>
            <a:off x="6647688" y="1691640"/>
            <a:ext cx="1874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入れ替わりの大きさ</a:t>
            </a:r>
            <a:endParaRPr lang="en-US" sz="1400" dirty="0"/>
          </a:p>
        </p:txBody>
      </p:sp>
      <p:sp>
        <p:nvSpPr>
          <p:cNvPr id="8" name="text_251"/>
          <p:cNvSpPr txBox="1"/>
          <p:nvPr/>
        </p:nvSpPr>
        <p:spPr>
          <a:xfrm>
            <a:off x="6766560" y="2148840"/>
            <a:ext cx="328269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91%→68%</a:t>
            </a:r>
            <a:endParaRPr lang="en-US" sz="2800" dirty="0"/>
          </a:p>
        </p:txBody>
      </p:sp>
      <p:sp>
        <p:nvSpPr>
          <p:cNvPr id="9" name="text_252"/>
          <p:cNvSpPr txBox="1"/>
          <p:nvPr/>
        </p:nvSpPr>
        <p:spPr>
          <a:xfrm>
            <a:off x="6766560" y="2611120"/>
            <a:ext cx="3282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2023年の上位10車種がBEVに占める割合（翌年）</a:t>
            </a:r>
            <a:endParaRPr lang="en-US" sz="1200" dirty="0"/>
          </a:p>
        </p:txBody>
      </p:sp>
      <p:sp>
        <p:nvSpPr>
          <p:cNvPr id="10" name="text_253"/>
          <p:cNvSpPr txBox="1"/>
          <p:nvPr/>
        </p:nvSpPr>
        <p:spPr>
          <a:xfrm>
            <a:off x="6766560" y="3246120"/>
            <a:ext cx="328269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6／10車種</a:t>
            </a:r>
            <a:endParaRPr lang="en-US" sz="2800" dirty="0"/>
          </a:p>
        </p:txBody>
      </p:sp>
      <p:sp>
        <p:nvSpPr>
          <p:cNvPr id="11" name="text_254"/>
          <p:cNvSpPr txBox="1"/>
          <p:nvPr/>
        </p:nvSpPr>
        <p:spPr>
          <a:xfrm>
            <a:off x="6766560" y="370840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翌年に販売が半分前後まで減少</a:t>
            </a:r>
            <a:endParaRPr lang="en-US" sz="1200" dirty="0"/>
          </a:p>
        </p:txBody>
      </p:sp>
      <p:sp>
        <p:nvSpPr>
          <p:cNvPr id="12" name="text_255"/>
          <p:cNvSpPr txBox="1"/>
          <p:nvPr/>
        </p:nvSpPr>
        <p:spPr>
          <a:xfrm>
            <a:off x="6766560" y="4434840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小改良したAtto 3は−60%、タイ生産で値下げしたDolphinは+42%</a:t>
            </a:r>
            <a:endParaRPr lang="en-US" sz="1300" dirty="0"/>
          </a:p>
        </p:txBody>
      </p:sp>
      <p:sp>
        <p:nvSpPr>
          <p:cNvPr id="13" name="shape_256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257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5" name="text_258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売れ筋の6割が翌年に半減。小改良では止まらず、値下げした車種が伸びた</a:t>
            </a:r>
            <a:endParaRPr lang="en-US" sz="1550" dirty="0"/>
          </a:p>
        </p:txBody>
      </p:sp>
      <p:sp>
        <p:nvSpPr>
          <p:cNvPr id="16" name="summary_259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短命な商品を補うための対応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新車を出し続けないと席を失う</a:t>
            </a:r>
            <a:endParaRPr lang="en-US" sz="1700" dirty="0"/>
          </a:p>
        </p:txBody>
      </p:sp>
      <p:sp>
        <p:nvSpPr>
          <p:cNvPr id="17" name="text_26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出典：Autolife（タイBEV登録、車種別、2023年・2024年）。BEV全体は7.6万台→7.0万台（−8%）。Teslaは米国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日系は改良しても販売が変わらず、数年目でも売れる</a:t>
            </a:r>
            <a:endParaRPr lang="en-US" sz="2400" dirty="0"/>
          </a:p>
        </p:txBody>
      </p:sp>
      <p:sp>
        <p:nvSpPr>
          <p:cNvPr id="3" name="grp_261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200" dirty="0"/>
          </a:p>
        </p:txBody>
      </p:sp>
      <p:sp>
        <p:nvSpPr>
          <p:cNvPr id="4" name="text_262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日系はモデルチェンジで販売が伸びるのか</a:t>
            </a:r>
            <a:endParaRPr lang="en-US" sz="1600" dirty="0"/>
          </a:p>
        </p:txBody>
      </p:sp>
      <p:sp>
        <p:nvSpPr>
          <p:cNvPr id="5" name="pc_263"/>
          <p:cNvSpPr/>
          <p:nvPr/>
        </p:nvSpPr>
        <p:spPr>
          <a:xfrm>
            <a:off x="411480" y="1600200"/>
            <a:ext cx="603504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日系の主力車種：モデルチェンジ前後の月次販売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Cross（2024/2）、HR-V（2024/11）、Camry（2024/10）、Yaris Ativ（2025/8 HEV追加）など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変更月を0、前6か月の平均を100とした指数</a:t>
            </a:r>
            <a:endParaRPr lang="en-US" sz="1200" dirty="0"/>
          </a:p>
        </p:txBody>
      </p:sp>
      <p:sp>
        <p:nvSpPr>
          <p:cNvPr id="6" name="shape_264"/>
          <p:cNvSpPr/>
          <p:nvPr/>
        </p:nvSpPr>
        <p:spPr>
          <a:xfrm>
            <a:off x="6675120" y="1600200"/>
            <a:ext cx="3602736" cy="3657600"/>
          </a:xfrm>
          <a:prstGeom prst="roundRect">
            <a:avLst>
              <a:gd name="adj" fmla="val 2538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265"/>
          <p:cNvSpPr/>
          <p:nvPr/>
        </p:nvSpPr>
        <p:spPr>
          <a:xfrm>
            <a:off x="6784848" y="1691640"/>
            <a:ext cx="2420620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わかったこと（社内データ）</a:t>
            </a:r>
            <a:endParaRPr lang="en-US" sz="1300" dirty="0"/>
          </a:p>
        </p:txBody>
      </p:sp>
      <p:sp>
        <p:nvSpPr>
          <p:cNvPr id="8" name="text_266"/>
          <p:cNvSpPr txBox="1"/>
          <p:nvPr/>
        </p:nvSpPr>
        <p:spPr>
          <a:xfrm>
            <a:off x="6858000" y="2194560"/>
            <a:ext cx="32369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改良の前後で販売はあまり変わらない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発売から数年たったモデルでも売れ続ける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全面刷新でも大きくは伸びない</a:t>
            </a:r>
            <a:endParaRPr lang="en-US" sz="1600" dirty="0"/>
          </a:p>
        </p:txBody>
      </p:sp>
      <p:sp>
        <p:nvSpPr>
          <p:cNvPr id="9" name="shape_267"/>
          <p:cNvSpPr/>
          <p:nvPr/>
        </p:nvSpPr>
        <p:spPr>
          <a:xfrm>
            <a:off x="411480" y="557784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268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269"/>
          <p:cNvSpPr txBox="1"/>
          <p:nvPr/>
        </p:nvSpPr>
        <p:spPr>
          <a:xfrm>
            <a:off x="640080" y="5788152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日系の販売を動かすのは、改良より車種の評判・残価・販売網</a:t>
            </a:r>
            <a:endParaRPr lang="en-US" sz="1600" dirty="0"/>
          </a:p>
        </p:txBody>
      </p:sp>
      <p:sp>
        <p:nvSpPr>
          <p:cNvPr id="12" name="summary_270"/>
          <p:cNvSpPr/>
          <p:nvPr/>
        </p:nvSpPr>
        <p:spPr>
          <a:xfrm>
            <a:off x="5481828" y="548640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中国系は1年で入れ替わり、日系は数年売れる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速さは勝敗を分けていない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日系は「長く売る」ほうが合理的</a:t>
            </a:r>
            <a:endParaRPr lang="en-US" sz="1700" dirty="0"/>
          </a:p>
        </p:txBody>
      </p:sp>
      <p:sp>
        <p:nvSpPr>
          <p:cNvPr id="13" name="text_27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出典：MarkLines、S&amp;P（社内）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中国系の上位は2年で入れ替わり、次の車種を出せる企業が残る</a:t>
            </a:r>
            <a:endParaRPr lang="en-US" sz="2400" dirty="0"/>
          </a:p>
        </p:txBody>
      </p:sp>
      <p:sp>
        <p:nvSpPr>
          <p:cNvPr id="3" name="grp_272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273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中国系どうしでは、どの企業が残っているのか</a:t>
            </a:r>
            <a:endParaRPr lang="en-US" sz="1600" dirty="0"/>
          </a:p>
        </p:txBody>
      </p:sp>
      <p:graphicFrame>
        <p:nvGraphicFramePr>
          <p:cNvPr id="5" name="chart_churn2" descr=""/>
          <p:cNvGraphicFramePr/>
          <p:nvPr/>
        </p:nvGraphicFramePr>
        <p:xfrm>
          <a:off x="411480" y="1536192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c_274"/>
          <p:cNvSpPr/>
          <p:nvPr/>
        </p:nvSpPr>
        <p:spPr>
          <a:xfrm>
            <a:off x="5760720" y="1600200"/>
            <a:ext cx="451713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上位企業の車種別販売の推移（社内データ）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BYD・Chery系・MG・Aion／Toyota・Honda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1車種依存か、複数車種か（付録の横棒）</a:t>
            </a:r>
            <a:endParaRPr lang="en-US" sz="1000" dirty="0"/>
          </a:p>
        </p:txBody>
      </p:sp>
      <p:sp>
        <p:nvSpPr>
          <p:cNvPr id="7" name="cc_275"/>
          <p:cNvSpPr/>
          <p:nvPr/>
        </p:nvSpPr>
        <p:spPr>
          <a:xfrm>
            <a:off x="5760720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EVが販売の約5割。新車名を連投して2位に</a:t>
            </a:r>
            <a:endParaRPr lang="en-US" sz="1500" dirty="0"/>
          </a:p>
        </p:txBody>
      </p:sp>
      <p:sp>
        <p:nvSpPr>
          <p:cNvPr id="8" name="cc_276"/>
          <p:cNvSpPr/>
          <p:nvPr/>
        </p:nvSpPr>
        <p:spPr>
          <a:xfrm>
            <a:off x="8087868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 Vだけに頼り、次の車種が出ず撤退へ</a:t>
            </a:r>
            <a:endParaRPr lang="en-US" sz="1500" dirty="0"/>
          </a:p>
        </p:txBody>
      </p:sp>
      <p:sp>
        <p:nvSpPr>
          <p:cNvPr id="9" name="shape_277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278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279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BYDは半減、Netaは撤退へ。2024年に1%未満だったChery系・Geely系が上位に</a:t>
            </a:r>
            <a:endParaRPr lang="en-US" sz="1550" dirty="0"/>
          </a:p>
        </p:txBody>
      </p:sp>
      <p:sp>
        <p:nvSpPr>
          <p:cNvPr id="12" name="summary_280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中国系は一括りにせず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残る企業を見極めて付き合う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競合・協業の相手を企業ごとに決める</a:t>
            </a:r>
            <a:endParaRPr lang="en-US" sz="1700" dirty="0"/>
          </a:p>
        </p:txBody>
      </p:sp>
      <p:sp>
        <p:nvSpPr>
          <p:cNvPr id="13" name="text_28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出典：Autolife（2024年）、JETRO（2026年7月）。BYDはDenzaを含む。Geely系はVolvoを除く。2024年のChery系・Geely系は上位10社外（1%未満）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生産能力は国内需要の約1.8倍。2027〜28年に淘汰が進む</a:t>
            </a:r>
            <a:endParaRPr lang="en-US" sz="2400" dirty="0"/>
          </a:p>
        </p:txBody>
      </p:sp>
      <p:sp>
        <p:nvSpPr>
          <p:cNvPr id="3" name="grp_282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7A4F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4" name="text_283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これから、中国系に何が起きるか</a:t>
            </a:r>
            <a:endParaRPr lang="en-US" sz="1600" dirty="0"/>
          </a:p>
        </p:txBody>
      </p:sp>
      <p:sp>
        <p:nvSpPr>
          <p:cNvPr id="5" name="text_284"/>
          <p:cNvSpPr txBox="1"/>
          <p:nvPr/>
        </p:nvSpPr>
        <p:spPr>
          <a:xfrm>
            <a:off x="4114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BEVの生産能力と国内需要（年）</a:t>
            </a:r>
            <a:endParaRPr lang="en-US" sz="1300" dirty="0"/>
          </a:p>
        </p:txBody>
      </p:sp>
      <p:sp>
        <p:nvSpPr>
          <p:cNvPr id="6" name="shape_285"/>
          <p:cNvSpPr/>
          <p:nvPr/>
        </p:nvSpPr>
        <p:spPr>
          <a:xfrm>
            <a:off x="822960" y="2240280"/>
            <a:ext cx="1234440" cy="23317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" name="text_286"/>
          <p:cNvSpPr txBox="1"/>
          <p:nvPr/>
        </p:nvSpPr>
        <p:spPr>
          <a:xfrm>
            <a:off x="548640" y="18562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38.6万台</a:t>
            </a:r>
            <a:endParaRPr lang="en-US" sz="1600" dirty="0"/>
          </a:p>
        </p:txBody>
      </p:sp>
      <p:sp>
        <p:nvSpPr>
          <p:cNvPr id="8" name="text_287"/>
          <p:cNvSpPr txBox="1"/>
          <p:nvPr/>
        </p:nvSpPr>
        <p:spPr>
          <a:xfrm>
            <a:off x="502920" y="4645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承認された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BEV生産能力</a:t>
            </a:r>
            <a:endParaRPr lang="en-US" sz="1150" dirty="0"/>
          </a:p>
        </p:txBody>
      </p:sp>
      <p:sp>
        <p:nvSpPr>
          <p:cNvPr id="9" name="shape_288"/>
          <p:cNvSpPr/>
          <p:nvPr/>
        </p:nvSpPr>
        <p:spPr>
          <a:xfrm>
            <a:off x="2743200" y="3297407"/>
            <a:ext cx="1234440" cy="1274593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0" name="text_289"/>
          <p:cNvSpPr txBox="1"/>
          <p:nvPr/>
        </p:nvSpPr>
        <p:spPr>
          <a:xfrm>
            <a:off x="2468880" y="2913359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約21万台</a:t>
            </a:r>
            <a:endParaRPr lang="en-US" sz="1600" dirty="0"/>
          </a:p>
        </p:txBody>
      </p:sp>
      <p:sp>
        <p:nvSpPr>
          <p:cNvPr id="11" name="text_290"/>
          <p:cNvSpPr txBox="1"/>
          <p:nvPr/>
        </p:nvSpPr>
        <p:spPr>
          <a:xfrm>
            <a:off x="2423160" y="4645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国内BEV需要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（2026年の年換算）</a:t>
            </a:r>
            <a:endParaRPr lang="en-US" sz="1150" dirty="0"/>
          </a:p>
        </p:txBody>
      </p:sp>
      <p:sp>
        <p:nvSpPr>
          <p:cNvPr id="12" name="shape_291"/>
          <p:cNvSpPr/>
          <p:nvPr/>
        </p:nvSpPr>
        <p:spPr>
          <a:xfrm>
            <a:off x="640080" y="4572000"/>
            <a:ext cx="352044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13" name="text_292"/>
          <p:cNvSpPr txBox="1"/>
          <p:nvPr/>
        </p:nvSpPr>
        <p:spPr>
          <a:xfrm>
            <a:off x="242316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約1.8倍</a:t>
            </a:r>
            <a:endParaRPr lang="en-US" sz="2000" dirty="0"/>
          </a:p>
        </p:txBody>
      </p:sp>
      <p:sp>
        <p:nvSpPr>
          <p:cNvPr id="14" name="shape_293"/>
          <p:cNvSpPr/>
          <p:nvPr/>
        </p:nvSpPr>
        <p:spPr>
          <a:xfrm>
            <a:off x="5074920" y="1600200"/>
            <a:ext cx="5202936" cy="3611880"/>
          </a:xfrm>
          <a:prstGeom prst="roundRect">
            <a:avLst>
              <a:gd name="adj" fmla="val 2532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5" name="tab_294"/>
          <p:cNvSpPr/>
          <p:nvPr/>
        </p:nvSpPr>
        <p:spPr>
          <a:xfrm>
            <a:off x="5184648" y="1691640"/>
            <a:ext cx="2052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生産義務と制度の期限</a:t>
            </a:r>
            <a:endParaRPr lang="en-US" sz="1400" dirty="0"/>
          </a:p>
        </p:txBody>
      </p:sp>
      <p:sp>
        <p:nvSpPr>
          <p:cNvPr id="16" name="text_295"/>
          <p:cNvSpPr txBox="1"/>
          <p:nvPr/>
        </p:nvSpPr>
        <p:spPr>
          <a:xfrm>
            <a:off x="5257800" y="219456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2026年：補助を受けた輸入1台に、現地生産2台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2027年：同じく現地生産3台（輸出は1.5台分）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2026年〜：物品税を投資の度合いで3段階に（9月合意）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義務を果たせないと補助金を返還（Neta：約20億バーツ）</a:t>
            </a:r>
            <a:endParaRPr lang="en-US" sz="1600" dirty="0"/>
          </a:p>
        </p:txBody>
      </p:sp>
      <p:sp>
        <p:nvSpPr>
          <p:cNvPr id="17" name="shape_296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8" name="fslabel_297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9" name="text_298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国内だけでは消化しきれない。輸出か値下げで台数をさばくしかない</a:t>
            </a:r>
            <a:endParaRPr lang="en-US" sz="1550" dirty="0"/>
          </a:p>
        </p:txBody>
      </p:sp>
      <p:sp>
        <p:nvSpPr>
          <p:cNvPr id="20" name="summary_299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2027〜28年の淘汰期に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撤退ブランドの顧客・販売店を拾う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値下げ競争は中古EVを下げ、日系の残価優位が広がる</a:t>
            </a:r>
            <a:endParaRPr lang="en-US" sz="1700" dirty="0"/>
          </a:p>
        </p:txBody>
      </p:sp>
      <p:sp>
        <p:nvSpPr>
          <p:cNvPr id="21" name="text_30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出典：BOI（2025年7月・11月）、JETRO（2026年7月）、The Nation（2026年）。承認能力は実際の生産能力ではない。需要は2026年上半期の2倍とした試算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日系の戦略　4つの打ち手と、中国企業との向き合い方</a:t>
            </a:r>
            <a:endParaRPr lang="en-US" sz="2400" dirty="0"/>
          </a:p>
        </p:txBody>
      </p:sp>
      <p:sp>
        <p:nvSpPr>
          <p:cNvPr id="3" name="shape_301"/>
          <p:cNvSpPr/>
          <p:nvPr/>
        </p:nvSpPr>
        <p:spPr>
          <a:xfrm>
            <a:off x="411480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302"/>
          <p:cNvSpPr/>
          <p:nvPr/>
        </p:nvSpPr>
        <p:spPr>
          <a:xfrm>
            <a:off x="1633220" y="1014984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守る</a:t>
            </a:r>
            <a:endParaRPr lang="en-US" sz="1900" dirty="0"/>
          </a:p>
        </p:txBody>
      </p:sp>
      <p:sp>
        <p:nvSpPr>
          <p:cNvPr id="5" name="text_303"/>
          <p:cNvSpPr txBox="1"/>
          <p:nvPr/>
        </p:nvSpPr>
        <p:spPr>
          <a:xfrm>
            <a:off x="594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ピックアップ・HEVセダン</a:t>
            </a:r>
            <a:endParaRPr lang="en-US" sz="1600" dirty="0"/>
          </a:p>
        </p:txBody>
      </p:sp>
      <p:sp>
        <p:nvSpPr>
          <p:cNvPr id="6" name="text_304"/>
          <p:cNvSpPr txBox="1"/>
          <p:nvPr/>
        </p:nvSpPr>
        <p:spPr>
          <a:xfrm>
            <a:off x="59436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モデルを長く売り、残価を守る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（毎年の刷新はしない）</a:t>
            </a:r>
            <a:endParaRPr lang="en-US" sz="1600" dirty="0"/>
          </a:p>
        </p:txBody>
      </p:sp>
      <p:sp>
        <p:nvSpPr>
          <p:cNvPr id="7" name="when_305"/>
          <p:cNvSpPr/>
          <p:nvPr/>
        </p:nvSpPr>
        <p:spPr>
          <a:xfrm>
            <a:off x="2514600" y="33832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</a:t>
            </a:r>
            <a:endParaRPr lang="en-US" sz="1150" dirty="0"/>
          </a:p>
        </p:txBody>
      </p:sp>
      <p:sp>
        <p:nvSpPr>
          <p:cNvPr id="8" name="shape_306"/>
          <p:cNvSpPr/>
          <p:nvPr/>
        </p:nvSpPr>
        <p:spPr>
          <a:xfrm>
            <a:off x="3776472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307"/>
          <p:cNvSpPr/>
          <p:nvPr/>
        </p:nvSpPr>
        <p:spPr>
          <a:xfrm>
            <a:off x="4756912" y="1014984"/>
            <a:ext cx="1239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迎え撃つ</a:t>
            </a:r>
            <a:endParaRPr lang="en-US" sz="1900" dirty="0"/>
          </a:p>
        </p:txBody>
      </p:sp>
      <p:sp>
        <p:nvSpPr>
          <p:cNvPr id="10" name="text_308"/>
          <p:cNvSpPr txBox="1"/>
          <p:nvPr/>
        </p:nvSpPr>
        <p:spPr>
          <a:xfrm>
            <a:off x="3959352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C-SUVのHEV／PHEV</a:t>
            </a:r>
            <a:endParaRPr lang="en-US" sz="1600" dirty="0"/>
          </a:p>
        </p:txBody>
      </p:sp>
      <p:sp>
        <p:nvSpPr>
          <p:cNvPr id="11" name="text_309"/>
          <p:cNvSpPr txBox="1"/>
          <p:nvPr/>
        </p:nvSpPr>
        <p:spPr>
          <a:xfrm>
            <a:off x="3959352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残クレで高い残価を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月々の支払いの安さに変える</a:t>
            </a:r>
            <a:endParaRPr lang="en-US" sz="1600" dirty="0"/>
          </a:p>
        </p:txBody>
      </p:sp>
      <p:sp>
        <p:nvSpPr>
          <p:cNvPr id="12" name="when_310"/>
          <p:cNvSpPr/>
          <p:nvPr/>
        </p:nvSpPr>
        <p:spPr>
          <a:xfrm>
            <a:off x="5879592" y="338328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今から</a:t>
            </a:r>
            <a:endParaRPr lang="en-US" sz="1150" dirty="0"/>
          </a:p>
        </p:txBody>
      </p:sp>
      <p:sp>
        <p:nvSpPr>
          <p:cNvPr id="13" name="shape_311"/>
          <p:cNvSpPr/>
          <p:nvPr/>
        </p:nvSpPr>
        <p:spPr>
          <a:xfrm>
            <a:off x="411480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312"/>
          <p:cNvSpPr/>
          <p:nvPr/>
        </p:nvSpPr>
        <p:spPr>
          <a:xfrm>
            <a:off x="1512570" y="3968496"/>
            <a:ext cx="9982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埋める</a:t>
            </a:r>
            <a:endParaRPr lang="en-US" sz="1900" dirty="0"/>
          </a:p>
        </p:txBody>
      </p:sp>
      <p:sp>
        <p:nvSpPr>
          <p:cNvPr id="15" name="text_313"/>
          <p:cNvSpPr txBox="1"/>
          <p:nvPr/>
        </p:nvSpPr>
        <p:spPr>
          <a:xfrm>
            <a:off x="594360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</p:txBody>
      </p:sp>
      <p:sp>
        <p:nvSpPr>
          <p:cNvPr id="16" name="text_314"/>
          <p:cNvSpPr txBox="1"/>
          <p:nvPr/>
        </p:nvSpPr>
        <p:spPr>
          <a:xfrm>
            <a:off x="594360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中国の開発体制で短い周期のBEVを持つ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（bZ3X、e:N2、6e）</a:t>
            </a:r>
            <a:endParaRPr lang="en-US" sz="1600" dirty="0"/>
          </a:p>
        </p:txBody>
      </p:sp>
      <p:sp>
        <p:nvSpPr>
          <p:cNvPr id="17" name="when_315"/>
          <p:cNvSpPr/>
          <p:nvPr/>
        </p:nvSpPr>
        <p:spPr>
          <a:xfrm>
            <a:off x="2514600" y="633679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2026年〜</a:t>
            </a:r>
            <a:endParaRPr lang="en-US" sz="1150" dirty="0"/>
          </a:p>
        </p:txBody>
      </p:sp>
      <p:sp>
        <p:nvSpPr>
          <p:cNvPr id="18" name="shape_316"/>
          <p:cNvSpPr/>
          <p:nvPr/>
        </p:nvSpPr>
        <p:spPr>
          <a:xfrm>
            <a:off x="3776472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9" name="fslabel_317"/>
          <p:cNvSpPr/>
          <p:nvPr/>
        </p:nvSpPr>
        <p:spPr>
          <a:xfrm>
            <a:off x="4998212" y="3968496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拾う</a:t>
            </a:r>
            <a:endParaRPr lang="en-US" sz="1900" dirty="0"/>
          </a:p>
        </p:txBody>
      </p:sp>
      <p:sp>
        <p:nvSpPr>
          <p:cNvPr id="20" name="text_318"/>
          <p:cNvSpPr txBox="1"/>
          <p:nvPr/>
        </p:nvSpPr>
        <p:spPr>
          <a:xfrm>
            <a:off x="3959352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撤退する中国ブランドの顧客</a:t>
            </a:r>
            <a:endParaRPr lang="en-US" sz="1600" dirty="0"/>
          </a:p>
        </p:txBody>
      </p:sp>
      <p:sp>
        <p:nvSpPr>
          <p:cNvPr id="21" name="text_319"/>
          <p:cNvSpPr txBox="1"/>
          <p:nvPr/>
        </p:nvSpPr>
        <p:spPr>
          <a:xfrm>
            <a:off x="3959352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認定中古・整備・販売店ごと受け止める</a:t>
            </a:r>
            <a:endParaRPr lang="en-US" sz="1600" dirty="0"/>
          </a:p>
        </p:txBody>
      </p:sp>
      <p:sp>
        <p:nvSpPr>
          <p:cNvPr id="22" name="when_320"/>
          <p:cNvSpPr/>
          <p:nvPr/>
        </p:nvSpPr>
        <p:spPr>
          <a:xfrm>
            <a:off x="5879592" y="633679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2027年〜</a:t>
            </a:r>
            <a:endParaRPr lang="en-US" sz="1150" dirty="0"/>
          </a:p>
        </p:txBody>
      </p:sp>
      <p:sp>
        <p:nvSpPr>
          <p:cNvPr id="23" name="shape_321"/>
          <p:cNvSpPr/>
          <p:nvPr/>
        </p:nvSpPr>
        <p:spPr>
          <a:xfrm>
            <a:off x="7296912" y="1188720"/>
            <a:ext cx="2980944" cy="5577840"/>
          </a:xfrm>
          <a:prstGeom prst="roundRect">
            <a:avLst>
              <a:gd name="adj" fmla="val 30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4" name="tab_322"/>
          <p:cNvSpPr/>
          <p:nvPr/>
        </p:nvSpPr>
        <p:spPr>
          <a:xfrm>
            <a:off x="7406640" y="1280160"/>
            <a:ext cx="2230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中国企業との向き合い方</a:t>
            </a:r>
            <a:endParaRPr lang="en-US" sz="1400" dirty="0"/>
          </a:p>
        </p:txBody>
      </p:sp>
      <p:sp>
        <p:nvSpPr>
          <p:cNvPr id="25" name="role_323"/>
          <p:cNvSpPr/>
          <p:nvPr/>
        </p:nvSpPr>
        <p:spPr>
          <a:xfrm>
            <a:off x="7479792" y="18288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</a:t>
            </a:r>
            <a:endParaRPr lang="en-US" sz="1700" dirty="0"/>
          </a:p>
        </p:txBody>
      </p:sp>
      <p:sp>
        <p:nvSpPr>
          <p:cNvPr id="26" name="text_324"/>
          <p:cNvSpPr txBox="1"/>
          <p:nvPr/>
        </p:nvSpPr>
        <p:spPr>
          <a:xfrm>
            <a:off x="8577072" y="18288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BYD・MG・Chery系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次の車種を出し続ける相手と正面から</a:t>
            </a:r>
            <a:endParaRPr lang="en-US" sz="1600" dirty="0"/>
          </a:p>
        </p:txBody>
      </p:sp>
      <p:sp>
        <p:nvSpPr>
          <p:cNvPr id="27" name="role_325"/>
          <p:cNvSpPr/>
          <p:nvPr/>
        </p:nvSpPr>
        <p:spPr>
          <a:xfrm>
            <a:off x="7479792" y="34290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協業</a:t>
            </a:r>
            <a:endParaRPr lang="en-US" sz="1700" dirty="0"/>
          </a:p>
        </p:txBody>
      </p:sp>
      <p:sp>
        <p:nvSpPr>
          <p:cNvPr id="28" name="text_326"/>
          <p:cNvSpPr txBox="1"/>
          <p:nvPr/>
        </p:nvSpPr>
        <p:spPr>
          <a:xfrm>
            <a:off x="8577072" y="34290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残る企業の電池・開発体制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BYD・GAC・Changanなどを企業ごとに選ぶ</a:t>
            </a:r>
            <a:endParaRPr lang="en-US" sz="1600" dirty="0"/>
          </a:p>
        </p:txBody>
      </p:sp>
      <p:sp>
        <p:nvSpPr>
          <p:cNvPr id="29" name="role_327"/>
          <p:cNvSpPr/>
          <p:nvPr/>
        </p:nvSpPr>
        <p:spPr>
          <a:xfrm>
            <a:off x="7479792" y="50292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受け皿</a:t>
            </a:r>
            <a:endParaRPr lang="en-US" sz="1700" dirty="0"/>
          </a:p>
        </p:txBody>
      </p:sp>
      <p:sp>
        <p:nvSpPr>
          <p:cNvPr id="30" name="text_328"/>
          <p:cNvSpPr txBox="1"/>
          <p:nvPr/>
        </p:nvSpPr>
        <p:spPr>
          <a:xfrm>
            <a:off x="8577072" y="50292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顧客・販売店を引き取る（2027年〜）</a:t>
            </a:r>
            <a:endParaRPr lang="en-US" sz="1600" dirty="0"/>
          </a:p>
        </p:txBody>
      </p:sp>
      <p:sp>
        <p:nvSpPr>
          <p:cNvPr id="31" name="text_32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出典：本資料の検証、Toyota（bZ3の共同開発）、各社発表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400" dirty="0"/>
          </a:p>
        </p:txBody>
      </p:sp>
      <p:sp>
        <p:nvSpPr>
          <p:cNvPr id="3" name="num_330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_331"/>
          <p:cNvSpPr txBox="1"/>
          <p:nvPr/>
        </p:nvSpPr>
        <p:spPr>
          <a:xfrm>
            <a:off x="1463040" y="123444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中国系：政策×供給×価格でできたBEV市場に、日系の商品がなかった</a:t>
            </a:r>
            <a:endParaRPr lang="en-US" sz="2000" dirty="0"/>
          </a:p>
        </p:txBody>
      </p:sp>
      <p:sp>
        <p:nvSpPr>
          <p:cNvPr id="5" name="num_332"/>
          <p:cNvSpPr/>
          <p:nvPr/>
        </p:nvSpPr>
        <p:spPr>
          <a:xfrm>
            <a:off x="502920" y="267004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_333"/>
          <p:cNvSpPr txBox="1"/>
          <p:nvPr/>
        </p:nvSpPr>
        <p:spPr>
          <a:xfrm>
            <a:off x="1463040" y="256032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モデルチェンジ：中国系の売れ筋は1年で入れ替わり、日系は数年売れる。速さは勝敗を分けていない</a:t>
            </a:r>
            <a:endParaRPr lang="en-US" sz="2000" dirty="0"/>
          </a:p>
        </p:txBody>
      </p:sp>
      <p:sp>
        <p:nvSpPr>
          <p:cNvPr id="7" name="num_334"/>
          <p:cNvSpPr/>
          <p:nvPr/>
        </p:nvSpPr>
        <p:spPr>
          <a:xfrm>
            <a:off x="502920" y="399592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_335"/>
          <p:cNvSpPr txBox="1"/>
          <p:nvPr/>
        </p:nvSpPr>
        <p:spPr>
          <a:xfrm>
            <a:off x="1463040" y="388620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中国系どうし：次の車種を出せる企業だけが残る。2027〜28年に淘汰が進む</a:t>
            </a:r>
            <a:endParaRPr lang="en-US" sz="2000" dirty="0"/>
          </a:p>
        </p:txBody>
      </p:sp>
      <p:sp>
        <p:nvSpPr>
          <p:cNvPr id="9" name="summary_336"/>
          <p:cNvSpPr/>
          <p:nvPr/>
        </p:nvSpPr>
        <p:spPr>
          <a:xfrm>
            <a:off x="777240" y="5349240"/>
            <a:ext cx="913485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日系がタイで取るべきこと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BEVの商品を持ち、HEVは長く売って残価を守り、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残クレで月々の支払いを下げる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モデルチェンジの中身／電池と中古価格／価格と保有費／市場と政策／中国系の淘汰／日系の打ち手／検証設計／出典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　BEV市場ができた3つの要因（政策×供給力×価格）</a:t>
            </a:r>
            <a:endParaRPr lang="en-US" sz="2400" dirty="0"/>
          </a:p>
        </p:txBody>
      </p:sp>
      <p:sp>
        <p:nvSpPr>
          <p:cNvPr id="3" name="grp_337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338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中国系はなぜ日系からシェアを取れたのか</a:t>
            </a:r>
            <a:endParaRPr lang="en-US" sz="1600" dirty="0"/>
          </a:p>
        </p:txBody>
      </p:sp>
      <p:sp>
        <p:nvSpPr>
          <p:cNvPr id="5" name="shape_339"/>
          <p:cNvSpPr/>
          <p:nvPr/>
        </p:nvSpPr>
        <p:spPr>
          <a:xfrm>
            <a:off x="411480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340"/>
          <p:cNvSpPr/>
          <p:nvPr/>
        </p:nvSpPr>
        <p:spPr>
          <a:xfrm>
            <a:off x="411480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341"/>
          <p:cNvSpPr txBox="1"/>
          <p:nvPr/>
        </p:nvSpPr>
        <p:spPr>
          <a:xfrm>
            <a:off x="521208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342"/>
          <p:cNvSpPr txBox="1"/>
          <p:nvPr/>
        </p:nvSpPr>
        <p:spPr>
          <a:xfrm>
            <a:off x="59436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政策支援</a:t>
            </a:r>
            <a:endParaRPr lang="en-US" sz="2100" dirty="0"/>
          </a:p>
        </p:txBody>
      </p:sp>
      <p:sp>
        <p:nvSpPr>
          <p:cNvPr id="9" name="text_343"/>
          <p:cNvSpPr txBox="1"/>
          <p:nvPr/>
        </p:nvSpPr>
        <p:spPr>
          <a:xfrm>
            <a:off x="594360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 最大15万バーツ</a:t>
            </a:r>
            <a:endParaRPr lang="en-US" sz="1500" dirty="0"/>
          </a:p>
        </p:txBody>
      </p:sp>
      <p:sp>
        <p:nvSpPr>
          <p:cNvPr id="10" name="shape_344"/>
          <p:cNvSpPr/>
          <p:nvPr/>
        </p:nvSpPr>
        <p:spPr>
          <a:xfrm>
            <a:off x="3328416" y="2656332"/>
            <a:ext cx="493776" cy="493776"/>
          </a:xfrm>
          <a:prstGeom prst="mathMultiply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345"/>
          <p:cNvSpPr/>
          <p:nvPr/>
        </p:nvSpPr>
        <p:spPr>
          <a:xfrm>
            <a:off x="3950208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_346"/>
          <p:cNvSpPr/>
          <p:nvPr/>
        </p:nvSpPr>
        <p:spPr>
          <a:xfrm>
            <a:off x="3950208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3" name="text_347"/>
          <p:cNvSpPr txBox="1"/>
          <p:nvPr/>
        </p:nvSpPr>
        <p:spPr>
          <a:xfrm>
            <a:off x="4059936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4" name="text_348"/>
          <p:cNvSpPr txBox="1"/>
          <p:nvPr/>
        </p:nvSpPr>
        <p:spPr>
          <a:xfrm>
            <a:off x="4133088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供給力</a:t>
            </a:r>
            <a:endParaRPr lang="en-US" sz="2100" dirty="0"/>
          </a:p>
        </p:txBody>
      </p:sp>
      <p:sp>
        <p:nvSpPr>
          <p:cNvPr id="15" name="text_349"/>
          <p:cNvSpPr txBox="1"/>
          <p:nvPr/>
        </p:nvSpPr>
        <p:spPr>
          <a:xfrm>
            <a:off x="4133088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承認BEV能力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38.6万台／年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現地生産2〜3台</a:t>
            </a:r>
            <a:endParaRPr lang="en-US" sz="1500" dirty="0"/>
          </a:p>
        </p:txBody>
      </p:sp>
      <p:sp>
        <p:nvSpPr>
          <p:cNvPr id="16" name="shape_350"/>
          <p:cNvSpPr/>
          <p:nvPr/>
        </p:nvSpPr>
        <p:spPr>
          <a:xfrm>
            <a:off x="6867144" y="2656332"/>
            <a:ext cx="493776" cy="493776"/>
          </a:xfrm>
          <a:prstGeom prst="mathMultiply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351"/>
          <p:cNvSpPr/>
          <p:nvPr/>
        </p:nvSpPr>
        <p:spPr>
          <a:xfrm>
            <a:off x="7488936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_352"/>
          <p:cNvSpPr/>
          <p:nvPr/>
        </p:nvSpPr>
        <p:spPr>
          <a:xfrm>
            <a:off x="7488936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9" name="text_353"/>
          <p:cNvSpPr txBox="1"/>
          <p:nvPr/>
        </p:nvSpPr>
        <p:spPr>
          <a:xfrm>
            <a:off x="7598664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0" name="text_354"/>
          <p:cNvSpPr txBox="1"/>
          <p:nvPr/>
        </p:nvSpPr>
        <p:spPr>
          <a:xfrm>
            <a:off x="7671816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価格競争</a:t>
            </a:r>
            <a:endParaRPr lang="en-US" sz="2100" dirty="0"/>
          </a:p>
        </p:txBody>
      </p:sp>
      <p:sp>
        <p:nvSpPr>
          <p:cNvPr id="21" name="text_355"/>
          <p:cNvSpPr txBox="1"/>
          <p:nvPr/>
        </p:nvSpPr>
        <p:spPr>
          <a:xfrm>
            <a:off x="7671816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3 −25〜36%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中国の自動車産業の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利益率 3.4%</a:t>
            </a:r>
            <a:endParaRPr lang="en-US" sz="1500" dirty="0"/>
          </a:p>
        </p:txBody>
      </p:sp>
      <p:sp>
        <p:nvSpPr>
          <p:cNvPr id="22" name="shape_356"/>
          <p:cNvSpPr/>
          <p:nvPr/>
        </p:nvSpPr>
        <p:spPr>
          <a:xfrm>
            <a:off x="5024628" y="4297680"/>
            <a:ext cx="640080" cy="45720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3" name="summary_357"/>
          <p:cNvSpPr/>
          <p:nvPr/>
        </p:nvSpPr>
        <p:spPr>
          <a:xfrm>
            <a:off x="1143000" y="4846320"/>
            <a:ext cx="840333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BEV市場が前年比 +85%。日系はBEVの商品がなく、ほぼ不戦敗</a:t>
            </a:r>
            <a:endParaRPr lang="en-US" sz="1800" dirty="0"/>
          </a:p>
        </p:txBody>
      </p:sp>
      <p:sp>
        <p:nvSpPr>
          <p:cNvPr id="24" name="shape_358"/>
          <p:cNvSpPr/>
          <p:nvPr/>
        </p:nvSpPr>
        <p:spPr>
          <a:xfrm>
            <a:off x="411480" y="5943600"/>
            <a:ext cx="47960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5" name="fslabel_359"/>
          <p:cNvSpPr/>
          <p:nvPr/>
        </p:nvSpPr>
        <p:spPr>
          <a:xfrm>
            <a:off x="2100834" y="580644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26" name="text_360"/>
          <p:cNvSpPr txBox="1"/>
          <p:nvPr/>
        </p:nvSpPr>
        <p:spPr>
          <a:xfrm>
            <a:off x="640080" y="6126480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正面の価格勝負より、日系不在の市場で伸びた</a:t>
            </a:r>
            <a:endParaRPr lang="en-US" sz="1600" dirty="0"/>
          </a:p>
        </p:txBody>
      </p:sp>
      <p:sp>
        <p:nvSpPr>
          <p:cNvPr id="27" name="shape_361"/>
          <p:cNvSpPr/>
          <p:nvPr/>
        </p:nvSpPr>
        <p:spPr>
          <a:xfrm>
            <a:off x="5481828" y="5943600"/>
            <a:ext cx="47960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28" name="fslabel_362"/>
          <p:cNvSpPr/>
          <p:nvPr/>
        </p:nvSpPr>
        <p:spPr>
          <a:xfrm>
            <a:off x="7361682" y="5806440"/>
            <a:ext cx="1036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あわせて</a:t>
            </a:r>
            <a:endParaRPr lang="en-US" sz="1500" dirty="0"/>
          </a:p>
        </p:txBody>
      </p:sp>
      <p:sp>
        <p:nvSpPr>
          <p:cNvPr id="29" name="text_363"/>
          <p:cNvSpPr txBox="1"/>
          <p:nvPr/>
        </p:nvSpPr>
        <p:spPr>
          <a:xfrm>
            <a:off x="5710428" y="6126480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BEV以外では日系シェア </a:t>
            </a:r>
            <a:pPr algn="ctr"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86%→88%</a:t>
            </a:r>
            <a:endParaRPr lang="en-US" sz="1600" dirty="0"/>
          </a:p>
        </p:txBody>
      </p:sp>
      <p:sp>
        <p:nvSpPr>
          <p:cNvPr id="30" name="text_36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出典：BOI（2023〜2025年）、物品税局、CPCA、JETRO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　価格と保有費の詳細　保有費は値引きと残価しだい</a:t>
            </a:r>
            <a:endParaRPr lang="en-US" sz="2400" dirty="0"/>
          </a:p>
        </p:txBody>
      </p:sp>
      <p:sp>
        <p:nvSpPr>
          <p:cNvPr id="3" name="grp_36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36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EVは日系車より安く、燃費（電費）が良いのか</a:t>
            </a:r>
            <a:endParaRPr lang="en-US" sz="1600" dirty="0"/>
          </a:p>
        </p:txBody>
      </p:sp>
      <p:graphicFrame>
        <p:nvGraphicFramePr>
          <p:cNvPr id="5" name="chart_price" descr=""/>
          <p:cNvGraphicFramePr/>
          <p:nvPr/>
        </p:nvGraphicFramePr>
        <p:xfrm>
          <a:off x="411480" y="160020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tco" descr=""/>
          <p:cNvGraphicFramePr/>
          <p:nvPr/>
        </p:nvGraphicFramePr>
        <p:xfrm>
          <a:off x="5760720" y="1600200"/>
          <a:ext cx="4517136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_367"/>
          <p:cNvSpPr/>
          <p:nvPr/>
        </p:nvSpPr>
        <p:spPr>
          <a:xfrm>
            <a:off x="411480" y="5212080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_368"/>
          <p:cNvSpPr txBox="1"/>
          <p:nvPr/>
        </p:nvSpPr>
        <p:spPr>
          <a:xfrm>
            <a:off x="658368" y="5138928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9" name="shape_369"/>
          <p:cNvSpPr/>
          <p:nvPr/>
        </p:nvSpPr>
        <p:spPr>
          <a:xfrm>
            <a:off x="1473708" y="5212080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_370"/>
          <p:cNvSpPr txBox="1"/>
          <p:nvPr/>
        </p:nvSpPr>
        <p:spPr>
          <a:xfrm>
            <a:off x="1720596" y="5138928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1" name="shape_371"/>
          <p:cNvSpPr/>
          <p:nvPr/>
        </p:nvSpPr>
        <p:spPr>
          <a:xfrm>
            <a:off x="411480" y="5577840"/>
            <a:ext cx="47960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372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3" name="text_373"/>
          <p:cNvSpPr txBox="1"/>
          <p:nvPr/>
        </p:nvSpPr>
        <p:spPr>
          <a:xfrm>
            <a:off x="640080" y="5779008"/>
            <a:ext cx="4338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保有費では、値引きがないとEVが高い</a:t>
            </a:r>
            <a:endParaRPr lang="en-US" sz="1600" dirty="0"/>
          </a:p>
        </p:txBody>
      </p:sp>
      <p:sp>
        <p:nvSpPr>
          <p:cNvPr id="14" name="summary_374"/>
          <p:cNvSpPr/>
          <p:nvPr/>
        </p:nvSpPr>
        <p:spPr>
          <a:xfrm>
            <a:off x="5481828" y="5440680"/>
            <a:ext cx="4796028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</a:t>
            </a:r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残価と保有費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で戦える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入口価格の差は埋まらない</a:t>
            </a:r>
            <a:endParaRPr lang="en-US" sz="1800" dirty="0"/>
          </a:p>
        </p:txBody>
      </p:sp>
      <p:sp>
        <p:nvSpPr>
          <p:cNvPr id="15" name="text_37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出典：各社の価格表（2026年10月）、IEA（2026年）。保有費は年1.5万km・残価等を仮定した試算（付録）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　中古価格の詳細　主因は電池劣化より新車値下げ</a:t>
            </a:r>
            <a:endParaRPr lang="en-US" sz="2400" dirty="0"/>
          </a:p>
        </p:txBody>
      </p:sp>
      <p:sp>
        <p:nvSpPr>
          <p:cNvPr id="3" name="grp_376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377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中古EVはなぜ安いのか。電池劣化のためか</a:t>
            </a:r>
            <a:endParaRPr lang="en-US" sz="1600" dirty="0"/>
          </a:p>
        </p:txBody>
      </p:sp>
      <p:graphicFrame>
        <p:nvGraphicFramePr>
          <p:cNvPr id="5" name="chart_used" descr=""/>
          <p:cNvGraphicFramePr/>
          <p:nvPr/>
        </p:nvGraphicFramePr>
        <p:xfrm>
          <a:off x="411480" y="16002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378"/>
          <p:cNvSpPr/>
          <p:nvPr/>
        </p:nvSpPr>
        <p:spPr>
          <a:xfrm>
            <a:off x="6263640" y="1600200"/>
            <a:ext cx="4014216" cy="34290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379"/>
          <p:cNvSpPr/>
          <p:nvPr/>
        </p:nvSpPr>
        <p:spPr>
          <a:xfrm>
            <a:off x="6373368" y="1691640"/>
            <a:ext cx="1974088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値下がりの2つの要因</a:t>
            </a:r>
            <a:endParaRPr lang="en-US" sz="1400" dirty="0"/>
          </a:p>
        </p:txBody>
      </p:sp>
      <p:sp>
        <p:nvSpPr>
          <p:cNvPr id="8" name="text_380"/>
          <p:cNvSpPr txBox="1"/>
          <p:nvPr/>
        </p:nvSpPr>
        <p:spPr>
          <a:xfrm>
            <a:off x="6492240" y="2148840"/>
            <a:ext cx="35570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2.3%／年</a:t>
            </a:r>
            <a:endParaRPr lang="en-US" sz="2800" dirty="0"/>
          </a:p>
        </p:txBody>
      </p:sp>
      <p:sp>
        <p:nvSpPr>
          <p:cNvPr id="9" name="text_381"/>
          <p:cNvSpPr txBox="1"/>
          <p:nvPr/>
        </p:nvSpPr>
        <p:spPr>
          <a:xfrm>
            <a:off x="6492240" y="261112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電池容量の平均劣化（実車2.3万台）</a:t>
            </a:r>
            <a:endParaRPr lang="en-US" sz="1400" dirty="0"/>
          </a:p>
        </p:txBody>
      </p:sp>
      <p:sp>
        <p:nvSpPr>
          <p:cNvPr id="10" name="text_382"/>
          <p:cNvSpPr txBox="1"/>
          <p:nvPr/>
        </p:nvSpPr>
        <p:spPr>
          <a:xfrm>
            <a:off x="6492240" y="3246120"/>
            <a:ext cx="35570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−25〜36%</a:t>
            </a:r>
            <a:endParaRPr lang="en-US" sz="2800" dirty="0"/>
          </a:p>
        </p:txBody>
      </p:sp>
      <p:sp>
        <p:nvSpPr>
          <p:cNvPr id="11" name="text_383"/>
          <p:cNvSpPr txBox="1"/>
          <p:nvPr/>
        </p:nvSpPr>
        <p:spPr>
          <a:xfrm>
            <a:off x="6492240" y="370840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3の新車価格（120万→通常90万・特価77万）</a:t>
            </a:r>
            <a:endParaRPr lang="en-US" sz="1400" dirty="0"/>
          </a:p>
        </p:txBody>
      </p:sp>
      <p:sp>
        <p:nvSpPr>
          <p:cNvPr id="12" name="shape_384"/>
          <p:cNvSpPr/>
          <p:nvPr/>
        </p:nvSpPr>
        <p:spPr>
          <a:xfrm>
            <a:off x="411480" y="5349240"/>
            <a:ext cx="479602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3" name="fslabel_385"/>
          <p:cNvSpPr/>
          <p:nvPr/>
        </p:nvSpPr>
        <p:spPr>
          <a:xfrm>
            <a:off x="2100834" y="52120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4" name="text_386"/>
          <p:cNvSpPr txBox="1"/>
          <p:nvPr/>
        </p:nvSpPr>
        <p:spPr>
          <a:xfrm>
            <a:off x="640080" y="5559552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24ptの差のうち、新車値下げで説明できるのは13〜22pt（通常価格〜特価）</a:t>
            </a:r>
            <a:endParaRPr lang="en-US" sz="1600" dirty="0"/>
          </a:p>
        </p:txBody>
      </p:sp>
      <p:sp>
        <p:nvSpPr>
          <p:cNvPr id="15" name="summary_387"/>
          <p:cNvSpPr/>
          <p:nvPr/>
        </p:nvSpPr>
        <p:spPr>
          <a:xfrm>
            <a:off x="5481828" y="5212080"/>
            <a:ext cx="4796028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中古を下げる最大の要因は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新車値下げと世代の陳腐化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電池劣化の寄与は、残りの最大11ptの中</a:t>
            </a:r>
            <a:endParaRPr lang="en-US" sz="1700" dirty="0"/>
          </a:p>
        </p:txBody>
      </p:sp>
      <p:sp>
        <p:nvSpPr>
          <p:cNvPr id="16" name="text_38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出典：One2car（2026年10月、N=7・5）、Geotab（2026年1月）、BYD Rêver。SOH・成約価格は未取得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付録4　改良の中身の集計　航続は伸びず電池は安く小さく</a:t>
            </a:r>
            <a:endParaRPr lang="en-US" sz="2400" dirty="0"/>
          </a:p>
        </p:txBody>
      </p:sp>
      <p:sp>
        <p:nvSpPr>
          <p:cNvPr id="3" name="grp_389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200" dirty="0"/>
          </a:p>
        </p:txBody>
      </p:sp>
      <p:sp>
        <p:nvSpPr>
          <p:cNvPr id="4" name="text_390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中国系のモデルチェンジは速いか。何が変わっているか</a:t>
            </a:r>
            <a:endParaRPr lang="en-US" sz="1600" dirty="0"/>
          </a:p>
        </p:txBody>
      </p:sp>
      <p:graphicFrame>
        <p:nvGraphicFramePr>
          <p:cNvPr id="5" name="chart_batt" descr=""/>
          <p:cNvGraphicFramePr/>
          <p:nvPr/>
        </p:nvGraphicFramePr>
        <p:xfrm>
          <a:off x="411480" y="16002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391"/>
          <p:cNvSpPr/>
          <p:nvPr/>
        </p:nvSpPr>
        <p:spPr>
          <a:xfrm>
            <a:off x="6263640" y="1600200"/>
            <a:ext cx="4014216" cy="34290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392"/>
          <p:cNvSpPr/>
          <p:nvPr/>
        </p:nvSpPr>
        <p:spPr>
          <a:xfrm>
            <a:off x="6373368" y="1691640"/>
            <a:ext cx="1561592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 vs 日系</a:t>
            </a:r>
            <a:endParaRPr lang="en-US" sz="1400" dirty="0"/>
          </a:p>
        </p:txBody>
      </p:sp>
      <p:sp>
        <p:nvSpPr>
          <p:cNvPr id="8" name="text_393"/>
          <p:cNvSpPr txBox="1"/>
          <p:nvPr/>
        </p:nvSpPr>
        <p:spPr>
          <a:xfrm>
            <a:off x="6492240" y="2148840"/>
            <a:ext cx="35570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2.0年 vs 3.3年</a:t>
            </a:r>
            <a:endParaRPr lang="en-US" sz="2600" dirty="0"/>
          </a:p>
        </p:txBody>
      </p:sp>
      <p:sp>
        <p:nvSpPr>
          <p:cNvPr id="9" name="text_394"/>
          <p:cNvSpPr txBox="1"/>
          <p:nvPr/>
        </p:nvSpPr>
        <p:spPr>
          <a:xfrm>
            <a:off x="6492240" y="257810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部分改良の間隔（価格だけの変更は除く）</a:t>
            </a:r>
            <a:endParaRPr lang="en-US" sz="1400" dirty="0"/>
          </a:p>
        </p:txBody>
      </p:sp>
      <p:sp>
        <p:nvSpPr>
          <p:cNvPr id="10" name="text_395"/>
          <p:cNvSpPr txBox="1"/>
          <p:nvPr/>
        </p:nvSpPr>
        <p:spPr>
          <a:xfrm>
            <a:off x="6492240" y="3108960"/>
            <a:ext cx="1737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000" dirty="0"/>
          </a:p>
        </p:txBody>
      </p:sp>
      <p:sp>
        <p:nvSpPr>
          <p:cNvPr id="11" name="text_396"/>
          <p:cNvSpPr txBox="1"/>
          <p:nvPr/>
        </p:nvSpPr>
        <p:spPr>
          <a:xfrm>
            <a:off x="6492240" y="36042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航続の変化（中央値）</a:t>
            </a:r>
            <a:endParaRPr lang="en-US" sz="1400" dirty="0"/>
          </a:p>
        </p:txBody>
      </p:sp>
      <p:sp>
        <p:nvSpPr>
          <p:cNvPr id="12" name="text_397"/>
          <p:cNvSpPr txBox="1"/>
          <p:nvPr/>
        </p:nvSpPr>
        <p:spPr>
          <a:xfrm>
            <a:off x="8229600" y="3108960"/>
            <a:ext cx="1737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−19%</a:t>
            </a:r>
            <a:endParaRPr lang="en-US" sz="3000" dirty="0"/>
          </a:p>
        </p:txBody>
      </p:sp>
      <p:sp>
        <p:nvSpPr>
          <p:cNvPr id="13" name="text_398"/>
          <p:cNvSpPr txBox="1"/>
          <p:nvPr/>
        </p:nvSpPr>
        <p:spPr>
          <a:xfrm>
            <a:off x="8229600" y="36042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価格の変化（中央値）</a:t>
            </a:r>
            <a:endParaRPr lang="en-US" sz="1400" dirty="0"/>
          </a:p>
        </p:txBody>
      </p:sp>
      <p:sp>
        <p:nvSpPr>
          <p:cNvPr id="14" name="text_399"/>
          <p:cNvSpPr txBox="1"/>
          <p:nvPr/>
        </p:nvSpPr>
        <p:spPr>
          <a:xfrm>
            <a:off x="6492240" y="4526280"/>
            <a:ext cx="3557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中国系13件・日系8件の改良を集計</a:t>
            </a:r>
            <a:endParaRPr lang="en-US" sz="1200" dirty="0"/>
          </a:p>
        </p:txBody>
      </p:sp>
      <p:sp>
        <p:nvSpPr>
          <p:cNvPr id="15" name="shape_400"/>
          <p:cNvSpPr/>
          <p:nvPr/>
        </p:nvSpPr>
        <p:spPr>
          <a:xfrm>
            <a:off x="411480" y="5349240"/>
            <a:ext cx="479602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6" name="fslabel_401"/>
          <p:cNvSpPr/>
          <p:nvPr/>
        </p:nvSpPr>
        <p:spPr>
          <a:xfrm>
            <a:off x="2100834" y="52120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7" name="text_402"/>
          <p:cNvSpPr txBox="1"/>
          <p:nvPr/>
        </p:nvSpPr>
        <p:spPr>
          <a:xfrm>
            <a:off x="640080" y="5559552"/>
            <a:ext cx="4338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航続は据え置き。電池は小型化して値下げに使われた</a:t>
            </a:r>
            <a:endParaRPr lang="en-US" sz="1600" dirty="0"/>
          </a:p>
        </p:txBody>
      </p:sp>
      <p:sp>
        <p:nvSpPr>
          <p:cNvPr id="18" name="summary_403"/>
          <p:cNvSpPr/>
          <p:nvPr/>
        </p:nvSpPr>
        <p:spPr>
          <a:xfrm>
            <a:off x="5481828" y="521208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「安く・速く充電・装備を増やす」</a:t>
            </a:r>
            <a:endParaRPr lang="en-US" sz="1700" dirty="0"/>
          </a:p>
        </p:txBody>
      </p:sp>
      <p:sp>
        <p:nvSpPr>
          <p:cNvPr id="19" name="pc_404"/>
          <p:cNvSpPr/>
          <p:nvPr/>
        </p:nvSpPr>
        <p:spPr>
          <a:xfrm>
            <a:off x="411480" y="6601968"/>
            <a:ext cx="9866376" cy="45720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S&amp;Pの改良時期 × 改良前後の月次販売（改良で販売が伸びたか）</a:t>
            </a:r>
            <a:endParaRPr lang="en-US" sz="1000" dirty="0"/>
          </a:p>
        </p:txBody>
      </p:sp>
      <p:sp>
        <p:nvSpPr>
          <p:cNvPr id="20" name="text_40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出典：各社のタイ公式資料・販売店資料。件数・中央値は価格だけの変更を含む。中国系は観測期間が短く、間隔は短めに出うる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付録5　上位4社の車種別販売（社内データ）</a:t>
            </a:r>
            <a:endParaRPr lang="en-US" sz="2400" dirty="0"/>
          </a:p>
        </p:txBody>
      </p:sp>
      <p:sp>
        <p:nvSpPr>
          <p:cNvPr id="3" name="rowlab_406"/>
          <p:cNvSpPr/>
          <p:nvPr/>
        </p:nvSpPr>
        <p:spPr>
          <a:xfrm>
            <a:off x="411480" y="1097280"/>
            <a:ext cx="438912" cy="2240280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600" dirty="0"/>
          </a:p>
        </p:txBody>
      </p:sp>
      <p:sp>
        <p:nvSpPr>
          <p:cNvPr id="4" name="pc_407"/>
          <p:cNvSpPr/>
          <p:nvPr/>
        </p:nvSpPr>
        <p:spPr>
          <a:xfrm>
            <a:off x="978408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　BYD（候補）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5" name="pc_408"/>
          <p:cNvSpPr/>
          <p:nvPr/>
        </p:nvSpPr>
        <p:spPr>
          <a:xfrm>
            <a:off x="3337560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　Chery系（候補）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6" name="pc_409"/>
          <p:cNvSpPr/>
          <p:nvPr/>
        </p:nvSpPr>
        <p:spPr>
          <a:xfrm>
            <a:off x="5696712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　MG（候補）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7" name="pc_410"/>
          <p:cNvSpPr/>
          <p:nvPr/>
        </p:nvSpPr>
        <p:spPr>
          <a:xfrm>
            <a:off x="8055864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4位　GAC Aion（候補）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8" name="rowlab_411"/>
          <p:cNvSpPr/>
          <p:nvPr/>
        </p:nvSpPr>
        <p:spPr>
          <a:xfrm>
            <a:off x="411480" y="3474720"/>
            <a:ext cx="438912" cy="22402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600" dirty="0"/>
          </a:p>
        </p:txBody>
      </p:sp>
      <p:sp>
        <p:nvSpPr>
          <p:cNvPr id="9" name="pc_412"/>
          <p:cNvSpPr/>
          <p:nvPr/>
        </p:nvSpPr>
        <p:spPr>
          <a:xfrm>
            <a:off x="978408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　Toyota（候補）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0" name="pc_413"/>
          <p:cNvSpPr/>
          <p:nvPr/>
        </p:nvSpPr>
        <p:spPr>
          <a:xfrm>
            <a:off x="3337560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　Honda（候補）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1" name="pc_414"/>
          <p:cNvSpPr/>
          <p:nvPr/>
        </p:nvSpPr>
        <p:spPr>
          <a:xfrm>
            <a:off x="5696712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　Isuzu（候補）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2" name="pc_415"/>
          <p:cNvSpPr/>
          <p:nvPr/>
        </p:nvSpPr>
        <p:spPr>
          <a:xfrm>
            <a:off x="8055864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4位　Mitsubishi（候補）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3" name="summary_416"/>
          <p:cNvSpPr/>
          <p:nvPr/>
        </p:nvSpPr>
        <p:spPr>
          <a:xfrm>
            <a:off x="411480" y="5897880"/>
            <a:ext cx="9866376" cy="1005840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BYDは複数車種で売るが、多くの中国系は主力1車種に頼る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日系はトヨタを筆頭に複数車種で売る</a:t>
            </a:r>
            <a:endParaRPr lang="en-US" sz="1900" dirty="0"/>
          </a:p>
        </p:txBody>
      </p:sp>
      <p:sp>
        <p:nvSpPr>
          <p:cNvPr id="14" name="text_41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出典：MarkLines（社内）。企業名は2026年上半期のBEV・全体登録の上位からの候補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付録6　車種別のBEV登録（2023年→2024年）</a:t>
            </a:r>
            <a:endParaRPr lang="en-US" sz="2400" dirty="0"/>
          </a:p>
        </p:txBody>
      </p:sp>
      <p:graphicFrame>
        <p:nvGraphicFramePr>
          <p:cNvPr id="27" name="table_4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371600"/>
                <a:gridCol w="1371600"/>
                <a:gridCol w="109728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2023年（台）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2024年（台）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増減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 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12,777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6,587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Dolphin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13,386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 Good Cat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Tesla Model 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5,881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EP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1,886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Tesla Model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米国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Seal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5,156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 EV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1,753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Deepal S07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上位10外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4,874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Aion Y Plus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上位10外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3,874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 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上位10外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Aion 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上位10外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19"/>
          <p:cNvSpPr/>
          <p:nvPr/>
        </p:nvSpPr>
        <p:spPr>
          <a:xfrm>
            <a:off x="411480" y="1097280"/>
            <a:ext cx="6949440" cy="528066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420"/>
          <p:cNvSpPr/>
          <p:nvPr/>
        </p:nvSpPr>
        <p:spPr>
          <a:xfrm>
            <a:off x="7635240" y="1188720"/>
            <a:ext cx="2642616" cy="5120640"/>
          </a:xfrm>
          <a:prstGeom prst="roundRect">
            <a:avLst>
              <a:gd name="adj" fmla="val 3460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ab_421"/>
          <p:cNvSpPr/>
          <p:nvPr/>
        </p:nvSpPr>
        <p:spPr>
          <a:xfrm>
            <a:off x="7744968" y="1280160"/>
            <a:ext cx="985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7" name="text_422"/>
          <p:cNvSpPr txBox="1"/>
          <p:nvPr/>
        </p:nvSpPr>
        <p:spPr>
          <a:xfrm>
            <a:off x="7818120" y="1783080"/>
            <a:ext cx="227685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2023年の上位10車種のうち6車種が、翌年に半分前後まで減った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伸びたのは、タイ生産・値下げのDolphin・MG4と、発売2年目のSeal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2024年に新しく出た車種が、席の3割を取った</a:t>
            </a:r>
            <a:endParaRPr lang="en-US" sz="1600" dirty="0"/>
          </a:p>
        </p:txBody>
      </p:sp>
      <p:sp>
        <p:nvSpPr>
          <p:cNvPr id="8" name="text_42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出典：Autolife（2023年・2024年のタイBEV登録、車種別上位）。BEV全体は2023年76,314台、2024年70,137台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付録7　追加の分析　中国系の新車は、誰の客を取るのか</a:t>
            </a:r>
            <a:endParaRPr lang="en-US" sz="2400" dirty="0"/>
          </a:p>
        </p:txBody>
      </p:sp>
      <p:sp>
        <p:nvSpPr>
          <p:cNvPr id="3" name="pc_424"/>
          <p:cNvSpPr/>
          <p:nvPr/>
        </p:nvSpPr>
        <p:spPr>
          <a:xfrm>
            <a:off x="411480" y="1143000"/>
            <a:ext cx="5852160" cy="42062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新車投入の前後6か月の販売（同じセグメント）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他の中国系の車種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日系の車種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新車の投入月を0として、①と②の台数の変化を比べる</a:t>
            </a:r>
            <a:endParaRPr lang="en-US" sz="1200" dirty="0"/>
          </a:p>
        </p:txBody>
      </p:sp>
      <p:sp>
        <p:nvSpPr>
          <p:cNvPr id="4" name="shape_425"/>
          <p:cNvSpPr/>
          <p:nvPr/>
        </p:nvSpPr>
        <p:spPr>
          <a:xfrm>
            <a:off x="6492240" y="1188720"/>
            <a:ext cx="3785616" cy="4160520"/>
          </a:xfrm>
          <a:prstGeom prst="roundRect">
            <a:avLst>
              <a:gd name="adj" fmla="val 241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26"/>
          <p:cNvSpPr/>
          <p:nvPr/>
        </p:nvSpPr>
        <p:spPr>
          <a:xfrm>
            <a:off x="6601968" y="1280160"/>
            <a:ext cx="6299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見方</a:t>
            </a:r>
            <a:endParaRPr lang="en-US" sz="1400" dirty="0"/>
          </a:p>
        </p:txBody>
      </p:sp>
      <p:sp>
        <p:nvSpPr>
          <p:cNvPr id="6" name="text_427"/>
          <p:cNvSpPr txBox="1"/>
          <p:nvPr/>
        </p:nvSpPr>
        <p:spPr>
          <a:xfrm>
            <a:off x="6675120" y="1783080"/>
            <a:ext cx="34198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①が減り、②が変わらない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中国系どうしの奪い合い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②が減る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日系の客を直接取っている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どちらも減らない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市場を広げている（ICEからの乗り換え）</a:t>
            </a:r>
            <a:endParaRPr lang="en-US" sz="1500" dirty="0"/>
          </a:p>
        </p:txBody>
      </p:sp>
      <p:sp>
        <p:nvSpPr>
          <p:cNvPr id="7" name="summary_428"/>
          <p:cNvSpPr/>
          <p:nvPr/>
        </p:nvSpPr>
        <p:spPr>
          <a:xfrm>
            <a:off x="960120" y="5669280"/>
            <a:ext cx="8769096" cy="1051560"/>
          </a:xfrm>
          <a:prstGeom prst="roundRect">
            <a:avLst>
              <a:gd name="adj" fmla="val 869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「速さは中国系どうしの生き残り条件」を、販売データで直接確かめる分析</a:t>
            </a:r>
            <a:endParaRPr lang="en-US" sz="17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Copilotの指示文【H】で作成</a:t>
            </a:r>
            <a:endParaRPr lang="en-US" sz="1700" dirty="0"/>
          </a:p>
        </p:txBody>
      </p:sp>
      <p:sp>
        <p:nvSpPr>
          <p:cNvPr id="8" name="text_42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出典：MarkLines・S&amp;P（社内）で作成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付録8　モデルチェンジの数え方</a:t>
            </a:r>
            <a:endParaRPr lang="en-US" sz="2400" dirty="0"/>
          </a:p>
        </p:txBody>
      </p:sp>
      <p:sp>
        <p:nvSpPr>
          <p:cNvPr id="3" name="shape_430"/>
          <p:cNvSpPr/>
          <p:nvPr/>
        </p:nvSpPr>
        <p:spPr>
          <a:xfrm>
            <a:off x="411480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431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432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_433"/>
          <p:cNvSpPr txBox="1"/>
          <p:nvPr/>
        </p:nvSpPr>
        <p:spPr>
          <a:xfrm>
            <a:off x="59436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全面刷新</a:t>
            </a:r>
            <a:endParaRPr lang="en-US" sz="2000" dirty="0"/>
          </a:p>
        </p:txBody>
      </p:sp>
      <p:sp>
        <p:nvSpPr>
          <p:cNvPr id="7" name="text_434"/>
          <p:cNvSpPr txBox="1"/>
          <p:nvPr/>
        </p:nvSpPr>
        <p:spPr>
          <a:xfrm>
            <a:off x="594360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車体・内装・駆動系を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まとめて刷新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MG3（2024年）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Camry（2024年）</a:t>
            </a:r>
            <a:endParaRPr lang="en-US" sz="1400" dirty="0"/>
          </a:p>
        </p:txBody>
      </p:sp>
      <p:sp>
        <p:nvSpPr>
          <p:cNvPr id="8" name="shape_435"/>
          <p:cNvSpPr/>
          <p:nvPr/>
        </p:nvSpPr>
        <p:spPr>
          <a:xfrm>
            <a:off x="2938272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_436"/>
          <p:cNvSpPr/>
          <p:nvPr/>
        </p:nvSpPr>
        <p:spPr>
          <a:xfrm>
            <a:off x="2938272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0" name="text_437"/>
          <p:cNvSpPr txBox="1"/>
          <p:nvPr/>
        </p:nvSpPr>
        <p:spPr>
          <a:xfrm>
            <a:off x="3048000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_438"/>
          <p:cNvSpPr txBox="1"/>
          <p:nvPr/>
        </p:nvSpPr>
        <p:spPr>
          <a:xfrm>
            <a:off x="3121152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</a:t>
            </a:r>
            <a:endParaRPr lang="en-US" sz="2000" dirty="0"/>
          </a:p>
        </p:txBody>
      </p:sp>
      <p:sp>
        <p:nvSpPr>
          <p:cNvPr id="12" name="text_439"/>
          <p:cNvSpPr txBox="1"/>
          <p:nvPr/>
        </p:nvSpPr>
        <p:spPr>
          <a:xfrm>
            <a:off x="3121152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外内装・装備・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電池の一部を変更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MG4 MY2026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2024</a:t>
            </a:r>
            <a:endParaRPr lang="en-US" sz="1400" dirty="0"/>
          </a:p>
        </p:txBody>
      </p:sp>
      <p:sp>
        <p:nvSpPr>
          <p:cNvPr id="13" name="shape_440"/>
          <p:cNvSpPr/>
          <p:nvPr/>
        </p:nvSpPr>
        <p:spPr>
          <a:xfrm>
            <a:off x="5465064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_441"/>
          <p:cNvSpPr/>
          <p:nvPr/>
        </p:nvSpPr>
        <p:spPr>
          <a:xfrm>
            <a:off x="5465064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5" name="text_442"/>
          <p:cNvSpPr txBox="1"/>
          <p:nvPr/>
        </p:nvSpPr>
        <p:spPr>
          <a:xfrm>
            <a:off x="5574792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_443"/>
          <p:cNvSpPr txBox="1"/>
          <p:nvPr/>
        </p:nvSpPr>
        <p:spPr>
          <a:xfrm>
            <a:off x="5647944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年次改良</a:t>
            </a:r>
            <a:endParaRPr lang="en-US" sz="2000" dirty="0"/>
          </a:p>
        </p:txBody>
      </p:sp>
      <p:sp>
        <p:nvSpPr>
          <p:cNvPr id="17" name="text_444"/>
          <p:cNvSpPr txBox="1"/>
          <p:nvPr/>
        </p:nvSpPr>
        <p:spPr>
          <a:xfrm>
            <a:off x="5647944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容量・装備・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グレードの更新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MY2024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 2024</a:t>
            </a:r>
            <a:endParaRPr lang="en-US" sz="1400" dirty="0"/>
          </a:p>
        </p:txBody>
      </p:sp>
      <p:sp>
        <p:nvSpPr>
          <p:cNvPr id="18" name="shape_445"/>
          <p:cNvSpPr/>
          <p:nvPr/>
        </p:nvSpPr>
        <p:spPr>
          <a:xfrm>
            <a:off x="7991856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_446"/>
          <p:cNvSpPr/>
          <p:nvPr/>
        </p:nvSpPr>
        <p:spPr>
          <a:xfrm>
            <a:off x="799185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0" name="text_447"/>
          <p:cNvSpPr txBox="1"/>
          <p:nvPr/>
        </p:nvSpPr>
        <p:spPr>
          <a:xfrm>
            <a:off x="810158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_448"/>
          <p:cNvSpPr txBox="1"/>
          <p:nvPr/>
        </p:nvSpPr>
        <p:spPr>
          <a:xfrm>
            <a:off x="8174736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価格施策</a:t>
            </a:r>
            <a:endParaRPr lang="en-US" sz="2000" dirty="0"/>
          </a:p>
        </p:txBody>
      </p:sp>
      <p:sp>
        <p:nvSpPr>
          <p:cNvPr id="22" name="text_449"/>
          <p:cNvSpPr txBox="1"/>
          <p:nvPr/>
        </p:nvSpPr>
        <p:spPr>
          <a:xfrm>
            <a:off x="8174736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価格だけを変更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（2024年11月）</a:t>
            </a:r>
            <a:endParaRPr lang="en-US" sz="1400" dirty="0"/>
          </a:p>
        </p:txBody>
      </p:sp>
      <p:sp>
        <p:nvSpPr>
          <p:cNvPr id="23" name="shape_450"/>
          <p:cNvSpPr/>
          <p:nvPr/>
        </p:nvSpPr>
        <p:spPr>
          <a:xfrm>
            <a:off x="7871460" y="1234440"/>
            <a:ext cx="0" cy="3291840"/>
          </a:xfrm>
          <a:prstGeom prst="line">
            <a:avLst/>
          </a:prstGeom>
          <a:noFill/>
          <a:ln w="19050">
            <a:solidFill>
              <a:srgbClr val="E8384F"/>
            </a:solidFill>
            <a:prstDash val="dash"/>
          </a:ln>
        </p:spPr>
      </p:sp>
      <p:sp>
        <p:nvSpPr>
          <p:cNvPr id="24" name="shape_451"/>
          <p:cNvSpPr/>
          <p:nvPr/>
        </p:nvSpPr>
        <p:spPr>
          <a:xfrm>
            <a:off x="411480" y="4983480"/>
            <a:ext cx="986637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5" name="fslabel_452"/>
          <p:cNvSpPr/>
          <p:nvPr/>
        </p:nvSpPr>
        <p:spPr>
          <a:xfrm>
            <a:off x="4451858" y="4828032"/>
            <a:ext cx="17856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本資料のルール</a:t>
            </a:r>
            <a:endParaRPr lang="en-US" sz="1700" dirty="0"/>
          </a:p>
        </p:txBody>
      </p:sp>
      <p:sp>
        <p:nvSpPr>
          <p:cNvPr id="26" name="text_453"/>
          <p:cNvSpPr txBox="1"/>
          <p:nvPr/>
        </p:nvSpPr>
        <p:spPr>
          <a:xfrm>
            <a:off x="777240" y="5257800"/>
            <a:ext cx="9134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価格だけの変更はモデルチェンジに数えない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グレード追加・別名の後継車は、元の車種の世代交代に数えない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中国で発表された新型と、タイで売られる仕様を分ける</a:t>
            </a:r>
            <a:endParaRPr lang="en-US" sz="1600" dirty="0"/>
          </a:p>
        </p:txBody>
      </p:sp>
      <p:sp>
        <p:nvSpPr>
          <p:cNvPr id="27" name="text_45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出典：各社のタイ公式資料。数え直し後の部分改良の間隔：中国系2.0年、日系3.3年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付録9　中国系の改良の中身①（BYD・SAIC MG・GWM）</a:t>
            </a:r>
            <a:endParaRPr lang="en-US" sz="2400" dirty="0"/>
          </a:p>
        </p:txBody>
      </p:sp>
      <p:graphicFrame>
        <p:nvGraphicFramePr>
          <p:cNvPr id="30" name="table_4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49.92→50.25 kWh、航続は据え置き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15.6型画面。7月に同じMY23を大幅値下げ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Dolphin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2024/7〜9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44.9→50.25 kWh、410→435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56.99万バーツ。容量+12%で航続+6%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Seal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世代交代は未確認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タイの旧新比較なし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値下げは改良に数えない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51→49 kWh、425→423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価格・グレードを再編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 長距離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64→62.2 kWh、540 kmを維持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新しい内装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ICE→1.5L HEV（1.83 kWh）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車体・内装・安全装備を刷新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 Good Cat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NMC→LFP 57.7 kWh、500→480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充電DC60→70 kW。電池をSVOLTへ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後継（別名）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58.3 kWh、520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ハッチバック→SUV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56"/>
          <p:cNvSpPr/>
          <p:nvPr/>
        </p:nvSpPr>
        <p:spPr>
          <a:xfrm>
            <a:off x="411480" y="1097280"/>
            <a:ext cx="9866376" cy="5385816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45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Rêver、BYD販売店、MG Thailand、GWM（2022〜2026年）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付録10　中国系の改良の中身②（Changan・GAC・Neta 他）</a:t>
            </a:r>
            <a:endParaRPr lang="en-US" sz="2400" dirty="0"/>
          </a:p>
        </p:txBody>
      </p:sp>
      <p:graphicFrame>
        <p:nvGraphicFramePr>
          <p:cNvPr id="31" name="table_4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Deepal S07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技術改良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66.8→68.8 kWh LFP、30〜80% 15分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早期特価 109.9万バーツ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Aion Y Plus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価格施策（数えない）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変更なし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99.59万→82.99万バーツ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 V-II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外装・14.6型画面・ADAS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XPeng G6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87.5 NMC→80.8 kWh LFP、10〜80% 12分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航続570→525 km（WLTP）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Zeekr 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 kWh、470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内装・快適装備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Omoda C5 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2026/9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外内装・電池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61→50.6 kWh、505→422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70.9万（9月限定64.9万）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PHEV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 kWh NMC→27.4 kWh LFP、EV航続201→150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電池を安価なLFPへ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 DM-i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18.3→26.6 kWh、EV航続95→150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急速充電18→55 kW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59"/>
          <p:cNvSpPr/>
          <p:nvPr/>
        </p:nvSpPr>
        <p:spPr>
          <a:xfrm>
            <a:off x="411480" y="1097280"/>
            <a:ext cx="9866376" cy="5385816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46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出典：Changan、GAC、Neta、XPeng、Zeekr、Omoda、GWM、BYDのタイ公式資料（2024〜2026年）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付録11　日系の改良の中身　HEVでも駆動系の更新はある</a:t>
            </a:r>
            <a:endParaRPr lang="en-US" sz="2400" dirty="0"/>
          </a:p>
        </p:txBody>
      </p:sp>
      <p:graphicFrame>
        <p:nvGraphicFramePr>
          <p:cNvPr id="32" name="table_4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 PSを継続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グリル・灯火・画面・電動パーキング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HR-V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1.5L e:HEV、25.6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グリル・ランプ・8型画面・安全装備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駆動系の改良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第2世代e-POWER、136 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内装・安全装備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新ハイブリッド、227 PS、25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外内装・車体・安全装備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1.2L 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車体・内装・安全装備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駆動系の追加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1.5L HEV、29.4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 Sportを追加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2023/5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1.0Lターボを継続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外観・コネクト・安全装備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62"/>
          <p:cNvSpPr/>
          <p:nvPr/>
        </p:nvSpPr>
        <p:spPr>
          <a:xfrm>
            <a:off x="411480" y="1097280"/>
            <a:ext cx="9866376" cy="48920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463"/>
          <p:cNvSpPr/>
          <p:nvPr/>
        </p:nvSpPr>
        <p:spPr>
          <a:xfrm>
            <a:off x="1783080" y="6035040"/>
            <a:ext cx="712317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日系の部分改良は外内装・装備が中心。全面刷新で駆動系も変える</a:t>
            </a:r>
            <a:endParaRPr lang="en-US" sz="1600" dirty="0"/>
          </a:p>
        </p:txBody>
      </p:sp>
      <p:sp>
        <p:nvSpPr>
          <p:cNvPr id="6" name="text_46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出典：Toyota、Honda、Nissanのタイ公式資料（2020〜2025年）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付録12　改良で変わった項目の割合（中国系 vs 日系）</a:t>
            </a:r>
            <a:endParaRPr lang="en-US" sz="2400" dirty="0"/>
          </a:p>
        </p:txBody>
      </p:sp>
      <p:graphicFrame>
        <p:nvGraphicFramePr>
          <p:cNvPr id="3" name="chart_agg" descr=""/>
          <p:cNvGraphicFramePr/>
          <p:nvPr/>
        </p:nvGraphicFramePr>
        <p:xfrm>
          <a:off x="411480" y="1097280"/>
          <a:ext cx="667512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465"/>
          <p:cNvSpPr/>
          <p:nvPr/>
        </p:nvSpPr>
        <p:spPr>
          <a:xfrm>
            <a:off x="7360920" y="1188720"/>
            <a:ext cx="2916936" cy="5577840"/>
          </a:xfrm>
          <a:prstGeom prst="roundRect">
            <a:avLst>
              <a:gd name="adj" fmla="val 313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66"/>
          <p:cNvSpPr/>
          <p:nvPr/>
        </p:nvSpPr>
        <p:spPr>
          <a:xfrm>
            <a:off x="7470648" y="1280160"/>
            <a:ext cx="985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6" name="text_467"/>
          <p:cNvSpPr txBox="1"/>
          <p:nvPr/>
        </p:nvSpPr>
        <p:spPr>
          <a:xfrm>
            <a:off x="7543800" y="1783080"/>
            <a:ext cx="2551176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中国系の電池変更は、増加5件・減少2件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航続の中央値は0%、価格の中央値は−19%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日系は運転支援・装備の更新が多い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日系は元から現地生産</a:t>
            </a:r>
            <a:endParaRPr lang="en-US" sz="1600" dirty="0"/>
          </a:p>
        </p:txBody>
      </p:sp>
      <p:sp>
        <p:nvSpPr>
          <p:cNvPr id="7" name="text_46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出典：各社のタイ公式資料から集計（価格だけの変更を除く前の件数）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付録13　「電池の持ち」の3つの意味　進んだのは充電とコスト</a:t>
            </a:r>
            <a:endParaRPr lang="en-US" sz="2400" dirty="0"/>
          </a:p>
        </p:txBody>
      </p:sp>
      <p:sp>
        <p:nvSpPr>
          <p:cNvPr id="3" name="shape_469"/>
          <p:cNvSpPr/>
          <p:nvPr/>
        </p:nvSpPr>
        <p:spPr>
          <a:xfrm>
            <a:off x="411480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470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471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6" name="text_472"/>
          <p:cNvSpPr txBox="1"/>
          <p:nvPr/>
        </p:nvSpPr>
        <p:spPr>
          <a:xfrm>
            <a:off x="594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</a:t>
            </a:r>
            <a:endParaRPr lang="en-US" sz="2200" dirty="0"/>
          </a:p>
        </p:txBody>
      </p:sp>
      <p:sp>
        <p:nvSpPr>
          <p:cNvPr id="7" name="text_473"/>
          <p:cNvSpPr txBox="1"/>
          <p:nvPr/>
        </p:nvSpPr>
        <p:spPr>
          <a:xfrm>
            <a:off x="594360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1回の充電で走る距離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中央値0%（据え置き）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 −16%</a:t>
            </a:r>
            <a:endParaRPr lang="en-US" sz="1500" dirty="0"/>
          </a:p>
        </p:txBody>
      </p:sp>
      <p:sp>
        <p:nvSpPr>
          <p:cNvPr id="8" name="shape_474"/>
          <p:cNvSpPr/>
          <p:nvPr/>
        </p:nvSpPr>
        <p:spPr>
          <a:xfrm>
            <a:off x="3358134" y="2697480"/>
            <a:ext cx="548640" cy="548640"/>
          </a:xfrm>
          <a:prstGeom prst="mathPlus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475"/>
          <p:cNvSpPr/>
          <p:nvPr/>
        </p:nvSpPr>
        <p:spPr>
          <a:xfrm>
            <a:off x="3835908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_476"/>
          <p:cNvSpPr/>
          <p:nvPr/>
        </p:nvSpPr>
        <p:spPr>
          <a:xfrm>
            <a:off x="3835908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1" name="text_477"/>
          <p:cNvSpPr txBox="1"/>
          <p:nvPr/>
        </p:nvSpPr>
        <p:spPr>
          <a:xfrm>
            <a:off x="3945636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2" name="text_478"/>
          <p:cNvSpPr txBox="1"/>
          <p:nvPr/>
        </p:nvSpPr>
        <p:spPr>
          <a:xfrm>
            <a:off x="4018788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寿命</a:t>
            </a:r>
            <a:endParaRPr lang="en-US" sz="2200" dirty="0"/>
          </a:p>
        </p:txBody>
      </p:sp>
      <p:sp>
        <p:nvSpPr>
          <p:cNvPr id="13" name="text_479"/>
          <p:cNvSpPr txBox="1"/>
          <p:nvPr/>
        </p:nvSpPr>
        <p:spPr>
          <a:xfrm>
            <a:off x="4018788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劣化の遅さ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LFPへの切り替え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（Good Cat、G6、H6 PHEV）</a:t>
            </a:r>
            <a:endParaRPr lang="en-US" sz="1500" dirty="0"/>
          </a:p>
        </p:txBody>
      </p:sp>
      <p:sp>
        <p:nvSpPr>
          <p:cNvPr id="14" name="shape_480"/>
          <p:cNvSpPr/>
          <p:nvPr/>
        </p:nvSpPr>
        <p:spPr>
          <a:xfrm>
            <a:off x="6782562" y="2697480"/>
            <a:ext cx="548640" cy="548640"/>
          </a:xfrm>
          <a:prstGeom prst="mathPlus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481"/>
          <p:cNvSpPr/>
          <p:nvPr/>
        </p:nvSpPr>
        <p:spPr>
          <a:xfrm>
            <a:off x="7260336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_482"/>
          <p:cNvSpPr/>
          <p:nvPr/>
        </p:nvSpPr>
        <p:spPr>
          <a:xfrm>
            <a:off x="726033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7" name="text_483"/>
          <p:cNvSpPr txBox="1"/>
          <p:nvPr/>
        </p:nvSpPr>
        <p:spPr>
          <a:xfrm>
            <a:off x="737006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18" name="text_484"/>
          <p:cNvSpPr txBox="1"/>
          <p:nvPr/>
        </p:nvSpPr>
        <p:spPr>
          <a:xfrm>
            <a:off x="7443216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充電速度</a:t>
            </a:r>
            <a:endParaRPr lang="en-US" sz="2200" dirty="0"/>
          </a:p>
        </p:txBody>
      </p:sp>
      <p:sp>
        <p:nvSpPr>
          <p:cNvPr id="19" name="text_485"/>
          <p:cNvSpPr txBox="1"/>
          <p:nvPr/>
        </p:nvSpPr>
        <p:spPr>
          <a:xfrm>
            <a:off x="7443216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急速充電の時間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XPeng G6　10〜80% 12分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Deepal S07　30〜80% 15分</a:t>
            </a:r>
            <a:endParaRPr lang="en-US" sz="1500" dirty="0"/>
          </a:p>
        </p:txBody>
      </p:sp>
      <p:sp>
        <p:nvSpPr>
          <p:cNvPr id="20" name="summary_486"/>
          <p:cNvSpPr/>
          <p:nvPr/>
        </p:nvSpPr>
        <p:spPr>
          <a:xfrm>
            <a:off x="960120" y="5120640"/>
            <a:ext cx="8769096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電池の進化は「同じ距離をより小さく安い電池で」に使われた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航続を伸ばす方向には、あまり使われていない</a:t>
            </a:r>
            <a:endParaRPr lang="en-US" sz="1800" dirty="0"/>
          </a:p>
        </p:txBody>
      </p:sp>
      <p:sp>
        <p:nvSpPr>
          <p:cNvPr id="21" name="text_48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出典：XPeng、Changan、GWM、Omodaのタイ公式資料、BloombergNEF（電池価格 前年比−20%）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付録14　電池劣化の実データ　暑さと急速充電で進む</a:t>
            </a:r>
            <a:endParaRPr lang="en-US" sz="2400" dirty="0"/>
          </a:p>
        </p:txBody>
      </p:sp>
      <p:sp>
        <p:nvSpPr>
          <p:cNvPr id="3" name="text_488"/>
          <p:cNvSpPr txBox="1"/>
          <p:nvPr/>
        </p:nvSpPr>
        <p:spPr>
          <a:xfrm>
            <a:off x="411480" y="128016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2.3%／年</a:t>
            </a:r>
            <a:endParaRPr lang="en-US" sz="3400" dirty="0"/>
          </a:p>
        </p:txBody>
      </p:sp>
      <p:sp>
        <p:nvSpPr>
          <p:cNvPr id="4" name="text_489"/>
          <p:cNvSpPr txBox="1"/>
          <p:nvPr/>
        </p:nvSpPr>
        <p:spPr>
          <a:xfrm>
            <a:off x="411480" y="1841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電池容量の平均劣化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（実車2.3万台・21車種）</a:t>
            </a:r>
            <a:endParaRPr lang="en-US" sz="1400" dirty="0"/>
          </a:p>
        </p:txBody>
      </p:sp>
      <p:sp>
        <p:nvSpPr>
          <p:cNvPr id="5" name="text_490"/>
          <p:cNvSpPr txBox="1"/>
          <p:nvPr/>
        </p:nvSpPr>
        <p:spPr>
          <a:xfrm>
            <a:off x="3154680" y="128016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3.0%／年</a:t>
            </a:r>
            <a:endParaRPr lang="en-US" sz="3400" dirty="0"/>
          </a:p>
        </p:txBody>
      </p:sp>
      <p:sp>
        <p:nvSpPr>
          <p:cNvPr id="6" name="text_491"/>
          <p:cNvSpPr txBox="1"/>
          <p:nvPr/>
        </p:nvSpPr>
        <p:spPr>
          <a:xfrm>
            <a:off x="3154680" y="1841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急速充電の多い車</a:t>
            </a:r>
            <a:endParaRPr lang="en-US" sz="1400" dirty="0"/>
          </a:p>
        </p:txBody>
      </p:sp>
      <p:sp>
        <p:nvSpPr>
          <p:cNvPr id="7" name="text_492"/>
          <p:cNvSpPr txBox="1"/>
          <p:nvPr/>
        </p:nvSpPr>
        <p:spPr>
          <a:xfrm>
            <a:off x="411480" y="320040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+0.4pt／年</a:t>
            </a:r>
            <a:endParaRPr lang="en-US" sz="3400" dirty="0"/>
          </a:p>
        </p:txBody>
      </p:sp>
      <p:sp>
        <p:nvSpPr>
          <p:cNvPr id="8" name="text_493"/>
          <p:cNvSpPr txBox="1"/>
          <p:nvPr/>
        </p:nvSpPr>
        <p:spPr>
          <a:xfrm>
            <a:off x="411480" y="37617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暑い地域での上乗せ</a:t>
            </a:r>
            <a:endParaRPr lang="en-US" sz="1400" dirty="0"/>
          </a:p>
        </p:txBody>
      </p:sp>
      <p:sp>
        <p:nvSpPr>
          <p:cNvPr id="9" name="text_494"/>
          <p:cNvSpPr txBox="1"/>
          <p:nvPr/>
        </p:nvSpPr>
        <p:spPr>
          <a:xfrm>
            <a:off x="3154680" y="320040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400" dirty="0"/>
          </a:p>
        </p:txBody>
      </p:sp>
      <p:sp>
        <p:nvSpPr>
          <p:cNvPr id="10" name="text_495"/>
          <p:cNvSpPr txBox="1"/>
          <p:nvPr/>
        </p:nvSpPr>
        <p:spPr>
          <a:xfrm>
            <a:off x="3154680" y="37617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Seal（LFP）の5万km後の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電池の健全度</a:t>
            </a:r>
            <a:endParaRPr lang="en-US" sz="1400" dirty="0"/>
          </a:p>
        </p:txBody>
      </p:sp>
      <p:sp>
        <p:nvSpPr>
          <p:cNvPr id="11" name="shape_496"/>
          <p:cNvSpPr/>
          <p:nvPr/>
        </p:nvSpPr>
        <p:spPr>
          <a:xfrm>
            <a:off x="6035040" y="1188720"/>
            <a:ext cx="4242816" cy="3657600"/>
          </a:xfrm>
          <a:prstGeom prst="roundRect">
            <a:avLst>
              <a:gd name="adj" fmla="val 2500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2" name="tab_497"/>
          <p:cNvSpPr/>
          <p:nvPr/>
        </p:nvSpPr>
        <p:spPr>
          <a:xfrm>
            <a:off x="6144768" y="1280160"/>
            <a:ext cx="1163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タイの保証</a:t>
            </a:r>
            <a:endParaRPr lang="en-US" sz="1400" dirty="0"/>
          </a:p>
        </p:txBody>
      </p:sp>
      <p:sp>
        <p:nvSpPr>
          <p:cNvPr id="13" name="text_498"/>
          <p:cNvSpPr txBox="1"/>
          <p:nvPr/>
        </p:nvSpPr>
        <p:spPr>
          <a:xfrm>
            <a:off x="6263640" y="1828800"/>
            <a:ext cx="37856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8年／16万km</a:t>
            </a:r>
            <a:endParaRPr lang="en-US" sz="2800" dirty="0"/>
          </a:p>
        </p:txBody>
      </p:sp>
      <p:sp>
        <p:nvSpPr>
          <p:cNvPr id="14" name="text_499"/>
          <p:cNvSpPr txBox="1"/>
          <p:nvPr/>
        </p:nvSpPr>
        <p:spPr>
          <a:xfrm>
            <a:off x="6263640" y="229108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BYDのタイでの電池保証</a:t>
            </a:r>
            <a:endParaRPr lang="en-US" sz="1400" dirty="0"/>
          </a:p>
        </p:txBody>
      </p:sp>
      <p:sp>
        <p:nvSpPr>
          <p:cNvPr id="15" name="text_500"/>
          <p:cNvSpPr txBox="1"/>
          <p:nvPr/>
        </p:nvSpPr>
        <p:spPr>
          <a:xfrm>
            <a:off x="6263640" y="3200400"/>
            <a:ext cx="3785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劣化の不安は保証で一部が消える。中古の買い手には、保証の引き継ぎとSOHの表示が効く</a:t>
            </a:r>
            <a:endParaRPr lang="en-US" sz="1500" dirty="0"/>
          </a:p>
        </p:txBody>
      </p:sp>
      <p:sp>
        <p:nvSpPr>
          <p:cNvPr id="16" name="summary_501"/>
          <p:cNvSpPr/>
          <p:nvPr/>
        </p:nvSpPr>
        <p:spPr>
          <a:xfrm>
            <a:off x="960120" y="52578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長く乗るなら日系ICEが安心、という見方は一部正しい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ただし電池劣化は年2〜3%で、中古価格の差の主因ではない</a:t>
            </a:r>
            <a:endParaRPr lang="en-US" sz="1800" dirty="0"/>
          </a:p>
        </p:txBody>
      </p:sp>
      <p:sp>
        <p:nvSpPr>
          <p:cNvPr id="17" name="text_50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出典：Geotab（2026年1月）、BYD、BYD Rêver。タイの個別車種の寿命予測ではない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付録15　中古価格の比較条件（2023年式）</a:t>
            </a:r>
            <a:endParaRPr lang="en-US" sz="2400" dirty="0"/>
          </a:p>
        </p:txBody>
      </p:sp>
      <p:graphicFrame>
        <p:nvGraphicFramePr>
          <p:cNvPr id="36" name="table_5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1417320"/>
                <a:gridCol w="1417320"/>
                <a:gridCol w="1280160"/>
                <a:gridCol w="1874520"/>
                <a:gridCol w="13167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中古の中央値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発売時の価格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発売時比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今の新車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今の新車比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Extended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77.0万（特価）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24.1pt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04"/>
          <p:cNvSpPr/>
          <p:nvPr/>
        </p:nvSpPr>
        <p:spPr>
          <a:xfrm>
            <a:off x="411480" y="1188720"/>
            <a:ext cx="9866376" cy="224028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505"/>
          <p:cNvSpPr txBox="1"/>
          <p:nvPr/>
        </p:nvSpPr>
        <p:spPr>
          <a:xfrm>
            <a:off x="4114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価格はバーツ</a:t>
            </a:r>
            <a:endParaRPr lang="en-US" sz="1200" dirty="0"/>
          </a:p>
        </p:txBody>
      </p:sp>
      <p:sp>
        <p:nvSpPr>
          <p:cNvPr id="6" name="shape_506"/>
          <p:cNvSpPr/>
          <p:nvPr/>
        </p:nvSpPr>
        <p:spPr>
          <a:xfrm>
            <a:off x="411480" y="4206240"/>
            <a:ext cx="9866376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7" name="fslabel_507"/>
          <p:cNvSpPr/>
          <p:nvPr/>
        </p:nvSpPr>
        <p:spPr>
          <a:xfrm>
            <a:off x="4991608" y="405079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endParaRPr lang="en-US" sz="1700" dirty="0"/>
          </a:p>
        </p:txBody>
      </p:sp>
      <p:sp>
        <p:nvSpPr>
          <p:cNvPr id="8" name="text_508"/>
          <p:cNvSpPr txBox="1"/>
          <p:nvPr/>
        </p:nvSpPr>
        <p:spPr>
          <a:xfrm>
            <a:off x="777240" y="4526280"/>
            <a:ext cx="91348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掲載価格であり、成約価格ではない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SOH（電池の健全度）と保証の残りは未取得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旧グレードと今の代替グレードは完全には一致しない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分母を変えた差であり、電池劣化の寄与を推定した結果ではない</a:t>
            </a:r>
            <a:endParaRPr lang="en-US" sz="1600" dirty="0"/>
          </a:p>
        </p:txBody>
      </p:sp>
      <p:sp>
        <p:nvSpPr>
          <p:cNvPr id="9" name="text_50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出典：One2car（2026年10月8日観測）、BYD Rêver、Toyota Thailand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付録16　中古EVの平均価格は1年で2〜3割下がった</a:t>
            </a:r>
            <a:endParaRPr lang="en-US" sz="2400" dirty="0"/>
          </a:p>
        </p:txBody>
      </p:sp>
      <p:graphicFrame>
        <p:nvGraphicFramePr>
          <p:cNvPr id="3" name="chart_o2c" descr=""/>
          <p:cNvGraphicFramePr/>
          <p:nvPr/>
        </p:nvGraphicFramePr>
        <p:xfrm>
          <a:off x="411480" y="1097280"/>
          <a:ext cx="6035040" cy="5577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510"/>
          <p:cNvSpPr/>
          <p:nvPr/>
        </p:nvSpPr>
        <p:spPr>
          <a:xfrm>
            <a:off x="6720840" y="1188720"/>
            <a:ext cx="3557016" cy="548640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511"/>
          <p:cNvSpPr/>
          <p:nvPr/>
        </p:nvSpPr>
        <p:spPr>
          <a:xfrm>
            <a:off x="6830568" y="1280160"/>
            <a:ext cx="1341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同時期の動き</a:t>
            </a:r>
            <a:endParaRPr lang="en-US" sz="1400" dirty="0"/>
          </a:p>
        </p:txBody>
      </p:sp>
      <p:sp>
        <p:nvSpPr>
          <p:cNvPr id="6" name="text_512"/>
          <p:cNvSpPr txBox="1"/>
          <p:nvPr/>
        </p:nvSpPr>
        <p:spPr>
          <a:xfrm>
            <a:off x="6903720" y="1783080"/>
            <a:ext cx="31912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Atto 3の新車は2024年7月に大幅値下げ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中古BEVの多くは元値の60〜80%で掲載（2024年）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米国でも中古EVはテスラの新車値下げで−32%</a:t>
            </a:r>
            <a:endParaRPr lang="en-US" sz="1600" dirty="0"/>
          </a:p>
        </p:txBody>
      </p:sp>
      <p:sp>
        <p:nvSpPr>
          <p:cNvPr id="7" name="text_51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出典：One2car（2026年2月）、Krungsri Research（2025年1月）、iSeeCars。車両構成は固定していない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付録17　中古価格が下がる3つの経路</a:t>
            </a:r>
            <a:endParaRPr lang="en-US" sz="2400" dirty="0"/>
          </a:p>
        </p:txBody>
      </p:sp>
      <p:sp>
        <p:nvSpPr>
          <p:cNvPr id="3" name="path_514"/>
          <p:cNvSpPr/>
          <p:nvPr/>
        </p:nvSpPr>
        <p:spPr>
          <a:xfrm>
            <a:off x="411480" y="12801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電池の劣化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SOHが下がる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年2〜3%</a:t>
            </a:r>
            <a:endParaRPr lang="en-US" sz="1800" dirty="0"/>
          </a:p>
        </p:txBody>
      </p:sp>
      <p:sp>
        <p:nvSpPr>
          <p:cNvPr id="4" name="shape_515"/>
          <p:cNvSpPr/>
          <p:nvPr/>
        </p:nvSpPr>
        <p:spPr>
          <a:xfrm>
            <a:off x="3703320" y="1874520"/>
            <a:ext cx="1188720" cy="1188720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" name="path_516"/>
          <p:cNvSpPr/>
          <p:nvPr/>
        </p:nvSpPr>
        <p:spPr>
          <a:xfrm>
            <a:off x="411480" y="2807208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DEDEE"/>
          </a:solidFill>
          <a:ln w="28575">
            <a:solidFill>
              <a:srgbClr val="E8384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新車の値下げ・陳腐化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新車が安くなる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新世代が出る</a:t>
            </a:r>
            <a:endParaRPr lang="en-US" sz="1800" dirty="0"/>
          </a:p>
        </p:txBody>
      </p:sp>
      <p:sp>
        <p:nvSpPr>
          <p:cNvPr id="6" name="shape_517"/>
          <p:cNvSpPr/>
          <p:nvPr/>
        </p:nvSpPr>
        <p:spPr>
          <a:xfrm>
            <a:off x="3703320" y="3401568"/>
            <a:ext cx="1188720" cy="-33832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7" name="path_518"/>
          <p:cNvSpPr/>
          <p:nvPr/>
        </p:nvSpPr>
        <p:spPr>
          <a:xfrm>
            <a:off x="411480" y="4334256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不確実性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劣化・保証・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修理費が読めない</a:t>
            </a:r>
            <a:endParaRPr lang="en-US" sz="1800" dirty="0"/>
          </a:p>
        </p:txBody>
      </p:sp>
      <p:sp>
        <p:nvSpPr>
          <p:cNvPr id="8" name="shape_519"/>
          <p:cNvSpPr/>
          <p:nvPr/>
        </p:nvSpPr>
        <p:spPr>
          <a:xfrm>
            <a:off x="3703320" y="4928616"/>
            <a:ext cx="1188720" cy="-1865376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9" name="res_520"/>
          <p:cNvSpPr/>
          <p:nvPr/>
        </p:nvSpPr>
        <p:spPr>
          <a:xfrm>
            <a:off x="4937760" y="14630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中古価格の差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vs Corolla Cross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000" dirty="0"/>
          </a:p>
        </p:txBody>
      </p:sp>
      <p:sp>
        <p:nvSpPr>
          <p:cNvPr id="10" name="shape_521"/>
          <p:cNvSpPr/>
          <p:nvPr/>
        </p:nvSpPr>
        <p:spPr>
          <a:xfrm>
            <a:off x="7680960" y="1188720"/>
            <a:ext cx="2596896" cy="3931920"/>
          </a:xfrm>
          <a:prstGeom prst="roundRect">
            <a:avLst>
              <a:gd name="adj" fmla="val 352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1" name="tab_522"/>
          <p:cNvSpPr/>
          <p:nvPr/>
        </p:nvSpPr>
        <p:spPr>
          <a:xfrm>
            <a:off x="7790688" y="1280160"/>
            <a:ext cx="1964944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24ptの内訳（説明用）</a:t>
            </a:r>
            <a:endParaRPr lang="en-US" sz="1300" dirty="0"/>
          </a:p>
        </p:txBody>
      </p:sp>
      <p:sp>
        <p:nvSpPr>
          <p:cNvPr id="12" name="shape_523"/>
          <p:cNvSpPr/>
          <p:nvPr/>
        </p:nvSpPr>
        <p:spPr>
          <a:xfrm>
            <a:off x="8092440" y="2221078"/>
            <a:ext cx="868680" cy="257952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3" name="text_524"/>
          <p:cNvSpPr txBox="1"/>
          <p:nvPr/>
        </p:nvSpPr>
        <p:spPr>
          <a:xfrm>
            <a:off x="7909560" y="187360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21.7pt</a:t>
            </a:r>
            <a:endParaRPr lang="en-US" sz="1500" dirty="0"/>
          </a:p>
        </p:txBody>
      </p:sp>
      <p:sp>
        <p:nvSpPr>
          <p:cNvPr id="14" name="text_525"/>
          <p:cNvSpPr txBox="1"/>
          <p:nvPr/>
        </p:nvSpPr>
        <p:spPr>
          <a:xfrm>
            <a:off x="7863840" y="4837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新車値下げ</a:t>
            </a:r>
            <a:endParaRPr lang="en-US" sz="1200" dirty="0"/>
          </a:p>
        </p:txBody>
      </p:sp>
      <p:sp>
        <p:nvSpPr>
          <p:cNvPr id="15" name="shape_526"/>
          <p:cNvSpPr/>
          <p:nvPr/>
        </p:nvSpPr>
        <p:spPr>
          <a:xfrm>
            <a:off x="9418320" y="4515307"/>
            <a:ext cx="868680" cy="285293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_527"/>
          <p:cNvSpPr txBox="1"/>
          <p:nvPr/>
        </p:nvSpPr>
        <p:spPr>
          <a:xfrm>
            <a:off x="9235440" y="416783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2.4pt</a:t>
            </a:r>
            <a:endParaRPr lang="en-US" sz="1500" dirty="0"/>
          </a:p>
        </p:txBody>
      </p:sp>
      <p:sp>
        <p:nvSpPr>
          <p:cNvPr id="17" name="text_528"/>
          <p:cNvSpPr txBox="1"/>
          <p:nvPr/>
        </p:nvSpPr>
        <p:spPr>
          <a:xfrm>
            <a:off x="9189720" y="4837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残り</a:t>
            </a:r>
            <a:endParaRPr lang="en-US" sz="1200" dirty="0"/>
          </a:p>
        </p:txBody>
      </p:sp>
      <p:sp>
        <p:nvSpPr>
          <p:cNvPr id="18" name="summary_529"/>
          <p:cNvSpPr/>
          <p:nvPr/>
        </p:nvSpPr>
        <p:spPr>
          <a:xfrm>
            <a:off x="960120" y="54864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特価でなく通常価格（90万）で比べると、値下げ13pt・残り11pt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因果の推定には、SOHと成約価格のデータが要る</a:t>
            </a:r>
            <a:endParaRPr lang="en-US" sz="1700" dirty="0"/>
          </a:p>
        </p:txBody>
      </p:sp>
      <p:sp>
        <p:nvSpPr>
          <p:cNvPr id="19" name="text_53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出典：One2car（2026年10月）、BYD Rêver。分母を変えた差の説明用分解で、因果推定ではない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付録18　C-SUVの入口価格（通常価格と特価）</a:t>
            </a:r>
            <a:endParaRPr lang="en-US" sz="2400" dirty="0"/>
          </a:p>
        </p:txBody>
      </p:sp>
      <p:graphicFrame>
        <p:nvGraphicFramePr>
          <p:cNvPr id="39" name="table_5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  <a:gridCol w="1600200"/>
                <a:gridCol w="1600200"/>
                <a:gridCol w="20025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車種・グレード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Smart比（特価）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 Premium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 Extended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 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Toyota Corolla Cross HEV Smart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Toyota Corolla Cross HEV Premium Luxury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Mazda CX-30 Essential Prime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32"/>
          <p:cNvSpPr/>
          <p:nvPr/>
        </p:nvSpPr>
        <p:spPr>
          <a:xfrm>
            <a:off x="411480" y="1188720"/>
            <a:ext cx="9866376" cy="385876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533"/>
          <p:cNvSpPr txBox="1"/>
          <p:nvPr/>
        </p:nvSpPr>
        <p:spPr>
          <a:xfrm>
            <a:off x="411480" y="51206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価格はバーツ。BYDの特価は2026年10月1〜31日</a:t>
            </a:r>
            <a:endParaRPr lang="en-US" sz="1200" dirty="0"/>
          </a:p>
        </p:txBody>
      </p:sp>
      <p:sp>
        <p:nvSpPr>
          <p:cNvPr id="6" name="summary_534"/>
          <p:cNvSpPr/>
          <p:nvPr/>
        </p:nvSpPr>
        <p:spPr>
          <a:xfrm>
            <a:off x="1325880" y="5669280"/>
            <a:ext cx="8037576" cy="1005840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全長はAtto 3が4,455mm、Corolla Crossが4,460mmでほぼ同じ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同じ大きさで2〜3割安い</a:t>
            </a:r>
            <a:endParaRPr lang="en-US" sz="1700" dirty="0"/>
          </a:p>
        </p:txBody>
      </p:sp>
      <p:sp>
        <p:nvSpPr>
          <p:cNvPr id="7" name="text_53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Rêver（2026年10月）、Toyota Thailand、各社の価格表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付録19　5年の保有費の試算　残価しだいで逆転する</a:t>
            </a:r>
            <a:endParaRPr lang="en-US" sz="2400" dirty="0"/>
          </a:p>
        </p:txBody>
      </p:sp>
      <p:graphicFrame>
        <p:nvGraphicFramePr>
          <p:cNvPr id="40" name="table_5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項目（万バーツ）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通常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特価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購入価格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5年後の売却額（仮定）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エネルギー費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整備・保険・充電設備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保有費の合計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同額になるHEVの残価率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37"/>
          <p:cNvSpPr/>
          <p:nvPr/>
        </p:nvSpPr>
        <p:spPr>
          <a:xfrm>
            <a:off x="411480" y="1188720"/>
            <a:ext cx="6400800" cy="37490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538"/>
          <p:cNvSpPr/>
          <p:nvPr/>
        </p:nvSpPr>
        <p:spPr>
          <a:xfrm>
            <a:off x="7086600" y="1188720"/>
            <a:ext cx="3191256" cy="3749040"/>
          </a:xfrm>
          <a:prstGeom prst="roundRect">
            <a:avLst>
              <a:gd name="adj" fmla="val 286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ab_539"/>
          <p:cNvSpPr/>
          <p:nvPr/>
        </p:nvSpPr>
        <p:spPr>
          <a:xfrm>
            <a:off x="7196328" y="1280160"/>
            <a:ext cx="985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主な仮定</a:t>
            </a:r>
            <a:endParaRPr lang="en-US" sz="1400" dirty="0"/>
          </a:p>
        </p:txBody>
      </p:sp>
      <p:sp>
        <p:nvSpPr>
          <p:cNvPr id="7" name="text_540"/>
          <p:cNvSpPr txBox="1"/>
          <p:nvPr/>
        </p:nvSpPr>
        <p:spPr>
          <a:xfrm>
            <a:off x="7269480" y="1783080"/>
            <a:ext cx="28254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年1.5万km・5年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ガソリン35バーツ/L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電気4.5〜7.5バーツ/kWh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16kWh/100km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 25km/L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現金購入</a:t>
            </a:r>
            <a:endParaRPr lang="en-US" sz="1500" dirty="0"/>
          </a:p>
        </p:txBody>
      </p:sp>
      <p:sp>
        <p:nvSpPr>
          <p:cNvPr id="8" name="summary_541"/>
          <p:cNvSpPr/>
          <p:nvPr/>
        </p:nvSpPr>
        <p:spPr>
          <a:xfrm>
            <a:off x="960120" y="54864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保有費は売却額の仮定で大きく変わる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日系はHEVの高い残価を残クレに使えば、特価のEVとも戦える</a:t>
            </a:r>
            <a:endParaRPr lang="en-US" sz="1700" dirty="0"/>
          </a:p>
        </p:txBody>
      </p:sp>
      <p:sp>
        <p:nvSpPr>
          <p:cNvPr id="9" name="text_54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出典：各社の価格表（2026年10月）。売却額・料金・整備費・保険料は説明用の仮定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付録20　残クレで見たCross HEVとAtto 3の月々の支払い</a:t>
            </a:r>
            <a:endParaRPr lang="en-US" sz="2400" dirty="0"/>
          </a:p>
        </p:txBody>
      </p:sp>
      <p:graphicFrame>
        <p:nvGraphicFramePr>
          <p:cNvPr id="3" name="chart_zancre" descr=""/>
          <p:cNvGraphicFramePr/>
          <p:nvPr/>
        </p:nvGraphicFramePr>
        <p:xfrm>
          <a:off x="411480" y="10972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543"/>
          <p:cNvSpPr/>
          <p:nvPr/>
        </p:nvSpPr>
        <p:spPr>
          <a:xfrm>
            <a:off x="6720840" y="1188720"/>
            <a:ext cx="3557016" cy="448056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544"/>
          <p:cNvSpPr/>
          <p:nvPr/>
        </p:nvSpPr>
        <p:spPr>
          <a:xfrm>
            <a:off x="6830568" y="1280160"/>
            <a:ext cx="2645156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iPhoneの返却プログラムと同じ</a:t>
            </a:r>
            <a:endParaRPr lang="en-US" sz="1300" dirty="0"/>
          </a:p>
        </p:txBody>
      </p:sp>
      <p:sp>
        <p:nvSpPr>
          <p:cNvPr id="6" name="text_545"/>
          <p:cNvSpPr txBox="1"/>
          <p:nvPr/>
        </p:nvSpPr>
        <p:spPr>
          <a:xfrm>
            <a:off x="6903720" y="1783080"/>
            <a:ext cx="31912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払うのは「価格 − 将来の残価」だけ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残価が高い車ほど、月々が安くなる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5年後の残価（仮定）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 65%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45%（通常価格比）</a:t>
            </a:r>
            <a:endParaRPr lang="en-US" sz="1500" dirty="0"/>
          </a:p>
        </p:txBody>
      </p:sp>
      <p:sp>
        <p:nvSpPr>
          <p:cNvPr id="7" name="summary_546"/>
          <p:cNvSpPr/>
          <p:nvPr/>
        </p:nvSpPr>
        <p:spPr>
          <a:xfrm>
            <a:off x="960120" y="5897880"/>
            <a:ext cx="8769096" cy="914400"/>
          </a:xfrm>
          <a:prstGeom prst="roundRect">
            <a:avLst>
              <a:gd name="adj" fmla="val 10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高い残価が、そのまま月々の安さになる。ただし残価が外れたときの損は日系の金融会社が負う</a:t>
            </a:r>
            <a:endParaRPr lang="en-US" sz="1600" dirty="0"/>
          </a:p>
        </p:txBody>
      </p:sp>
      <p:sp>
        <p:nvSpPr>
          <p:cNvPr id="8" name="text_54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出典：各社の価格表（2026年10月）。残価は付録の保有費試算と同じ仮定。金利・手数料は含まない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付録21　2026年1〜6月のパワートレイン別登録と国籍</a:t>
            </a:r>
            <a:endParaRPr lang="en-US" sz="2400" dirty="0"/>
          </a:p>
        </p:txBody>
      </p:sp>
      <p:graphicFrame>
        <p:nvGraphicFramePr>
          <p:cNvPr id="42" name="table_5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00200"/>
                <a:gridCol w="1600200"/>
                <a:gridCol w="1234440"/>
                <a:gridCol w="2148840"/>
                <a:gridCol w="20939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2025年1〜6月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2026年1〜6月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前年比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56,973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105,280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94,752（90.0%）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1,113（1.1%）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71,613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+25.5%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1,407（1.6%）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87,910（97.8%）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7,128（69.8%）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59（0.6%）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139,910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205,372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103,287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89,082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49"/>
          <p:cNvSpPr/>
          <p:nvPr/>
        </p:nvSpPr>
        <p:spPr>
          <a:xfrm>
            <a:off x="411480" y="1188720"/>
            <a:ext cx="9866376" cy="28346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550"/>
          <p:cNvSpPr/>
          <p:nvPr/>
        </p:nvSpPr>
        <p:spPr>
          <a:xfrm>
            <a:off x="960120" y="4572000"/>
            <a:ext cx="8769096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日系HEVの2026年上半期の台数は、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前年のHEV市場全体を上回る（1.23倍）</a:t>
            </a:r>
            <a:endParaRPr lang="en-US" sz="1900" dirty="0"/>
          </a:p>
        </p:txBody>
      </p:sp>
      <p:sp>
        <p:nvSpPr>
          <p:cNvPr id="6" name="text_551"/>
          <p:cNvSpPr txBox="1"/>
          <p:nvPr/>
        </p:nvSpPr>
        <p:spPr>
          <a:xfrm>
            <a:off x="411480" y="6035040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BEVの日系はToyota・Hondaの明記分のみ。その他の国籍は未分解</a:t>
            </a:r>
            <a:endParaRPr lang="en-US" sz="1300" dirty="0"/>
          </a:p>
        </p:txBody>
      </p:sp>
      <p:sp>
        <p:nvSpPr>
          <p:cNvPr id="7" name="text_55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出典：JETRO（2026年7月24日）、EVAT・DLT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付録22　中国系BEVのグループ別シェア　上位4社で72%</a:t>
            </a:r>
            <a:endParaRPr lang="en-US" sz="2400" dirty="0"/>
          </a:p>
        </p:txBody>
      </p:sp>
      <p:graphicFrame>
        <p:nvGraphicFramePr>
          <p:cNvPr id="3" name="chart_grp" descr=""/>
          <p:cNvGraphicFramePr/>
          <p:nvPr/>
        </p:nvGraphicFramePr>
        <p:xfrm>
          <a:off x="411480" y="1097280"/>
          <a:ext cx="658368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553"/>
          <p:cNvSpPr/>
          <p:nvPr/>
        </p:nvSpPr>
        <p:spPr>
          <a:xfrm>
            <a:off x="7269480" y="1188720"/>
            <a:ext cx="3008376" cy="5486400"/>
          </a:xfrm>
          <a:prstGeom prst="roundRect">
            <a:avLst>
              <a:gd name="adj" fmla="val 3040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554"/>
          <p:cNvSpPr/>
          <p:nvPr/>
        </p:nvSpPr>
        <p:spPr>
          <a:xfrm>
            <a:off x="7379208" y="1280160"/>
            <a:ext cx="16967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上位の入れ替わり</a:t>
            </a:r>
            <a:endParaRPr lang="en-US" sz="1400" dirty="0"/>
          </a:p>
        </p:txBody>
      </p:sp>
      <p:graphicFrame>
        <p:nvGraphicFramePr>
          <p:cNvPr id="43" name="table_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83080"/>
          <a:ext cx="264261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18388"/>
                <a:gridCol w="8183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新規6社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_556"/>
          <p:cNvSpPr txBox="1"/>
          <p:nvPr/>
        </p:nvSpPr>
        <p:spPr>
          <a:xfrm>
            <a:off x="7452360" y="3977640"/>
            <a:ext cx="2642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*2025年1〜9月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新規6社＝Denza・XPeng・Zeekr・Jaecoo・Omoda・Hyptec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中国系どうしで席を奪い合っている</a:t>
            </a:r>
            <a:endParaRPr lang="en-US" sz="1300" dirty="0"/>
          </a:p>
        </p:txBody>
      </p:sp>
      <p:sp>
        <p:nvSpPr>
          <p:cNvPr id="8" name="text_55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出典：JETRO（2026年7月）、Autolife（2023〜2025年）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付録23　中国系の「速さ」の正体は、新しい車名の投入</a:t>
            </a:r>
            <a:endParaRPr lang="en-US" sz="2400" dirty="0"/>
          </a:p>
        </p:txBody>
      </p:sp>
      <p:graphicFrame>
        <p:nvGraphicFramePr>
          <p:cNvPr id="3" name="chart_launch" descr=""/>
          <p:cNvGraphicFramePr/>
          <p:nvPr/>
        </p:nvGraphicFramePr>
        <p:xfrm>
          <a:off x="411480" y="1097280"/>
          <a:ext cx="640080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_558"/>
          <p:cNvSpPr txBox="1"/>
          <p:nvPr/>
        </p:nvSpPr>
        <p:spPr>
          <a:xfrm>
            <a:off x="7086600" y="1280160"/>
            <a:ext cx="319125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</p:txBody>
      </p:sp>
      <p:sp>
        <p:nvSpPr>
          <p:cNvPr id="5" name="text_559"/>
          <p:cNvSpPr txBox="1"/>
          <p:nvPr/>
        </p:nvSpPr>
        <p:spPr>
          <a:xfrm>
            <a:off x="7086600" y="19075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中国系の新車種のうち、新しい車名</a:t>
            </a:r>
            <a:endParaRPr lang="en-US" sz="1400" dirty="0"/>
          </a:p>
        </p:txBody>
      </p:sp>
      <p:sp>
        <p:nvSpPr>
          <p:cNvPr id="6" name="text_560"/>
          <p:cNvSpPr txBox="1"/>
          <p:nvPr/>
        </p:nvSpPr>
        <p:spPr>
          <a:xfrm>
            <a:off x="7086600" y="2606040"/>
            <a:ext cx="319125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800" dirty="0"/>
          </a:p>
        </p:txBody>
      </p:sp>
      <p:sp>
        <p:nvSpPr>
          <p:cNvPr id="7" name="text_561"/>
          <p:cNvSpPr txBox="1"/>
          <p:nvPr/>
        </p:nvSpPr>
        <p:spPr>
          <a:xfrm>
            <a:off x="7086600" y="323342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輸入で売り始めた割合</a:t>
            </a:r>
            <a:endParaRPr lang="en-US" sz="1400" dirty="0"/>
          </a:p>
        </p:txBody>
      </p:sp>
      <p:sp>
        <p:nvSpPr>
          <p:cNvPr id="8" name="text_562"/>
          <p:cNvSpPr txBox="1"/>
          <p:nvPr/>
        </p:nvSpPr>
        <p:spPr>
          <a:xfrm>
            <a:off x="7086600" y="3931920"/>
            <a:ext cx="319125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1〜2車種</a:t>
            </a:r>
            <a:endParaRPr lang="en-US" sz="3200" dirty="0"/>
          </a:p>
        </p:txBody>
      </p:sp>
      <p:sp>
        <p:nvSpPr>
          <p:cNvPr id="9" name="text_563"/>
          <p:cNvSpPr txBox="1"/>
          <p:nvPr/>
        </p:nvSpPr>
        <p:spPr>
          <a:xfrm>
            <a:off x="7086600" y="44602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タイで世代交代まで進んだ中国車</a:t>
            </a:r>
            <a:endParaRPr lang="en-US" sz="1400" dirty="0"/>
          </a:p>
        </p:txBody>
      </p:sp>
      <p:sp>
        <p:nvSpPr>
          <p:cNvPr id="10" name="pc_564"/>
          <p:cNvSpPr/>
          <p:nvPr/>
        </p:nvSpPr>
        <p:spPr>
          <a:xfrm>
            <a:off x="7086600" y="5257800"/>
            <a:ext cx="3191256" cy="14630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S&amp;Pの発売・改良時期で再集計</a:t>
            </a:r>
            <a:endParaRPr lang="en-US" sz="1000" dirty="0"/>
          </a:p>
        </p:txBody>
      </p:sp>
      <p:sp>
        <p:nvSpPr>
          <p:cNvPr id="11" name="text_56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出典：発売時期一覧（2026年10月、2026年は1〜10月）、Autolife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付録24　開発期間の差は、設計を決める前半で生まれる</a:t>
            </a:r>
            <a:endParaRPr lang="en-US" sz="2400" dirty="0"/>
          </a:p>
        </p:txBody>
      </p:sp>
      <p:graphicFrame>
        <p:nvGraphicFramePr>
          <p:cNvPr id="3" name="chart_phase" descr=""/>
          <p:cNvGraphicFramePr/>
          <p:nvPr/>
        </p:nvGraphicFramePr>
        <p:xfrm>
          <a:off x="411480" y="1097280"/>
          <a:ext cx="676656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566"/>
          <p:cNvSpPr/>
          <p:nvPr/>
        </p:nvSpPr>
        <p:spPr>
          <a:xfrm>
            <a:off x="7452360" y="1188720"/>
            <a:ext cx="2825496" cy="5486400"/>
          </a:xfrm>
          <a:prstGeom prst="roundRect">
            <a:avLst>
              <a:gd name="adj" fmla="val 3236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567"/>
          <p:cNvSpPr/>
          <p:nvPr/>
        </p:nvSpPr>
        <p:spPr>
          <a:xfrm>
            <a:off x="7562088" y="1280160"/>
            <a:ext cx="1163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縮める手段</a:t>
            </a:r>
            <a:endParaRPr lang="en-US" sz="1400" dirty="0"/>
          </a:p>
        </p:txBody>
      </p:sp>
      <p:sp>
        <p:nvSpPr>
          <p:cNvPr id="6" name="text_568"/>
          <p:cNvSpPr txBox="1"/>
          <p:nvPr/>
        </p:nvSpPr>
        <p:spPr>
          <a:xfrm>
            <a:off x="7635240" y="1783080"/>
            <a:ext cx="24597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決める人数と回数を減らす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仮想検証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標準部品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中国の開発体制を使う</a:t>
            </a:r>
            <a:endParaRPr lang="en-US" sz="1600" dirty="0"/>
          </a:p>
        </p:txBody>
      </p:sp>
      <p:sp>
        <p:nvSpPr>
          <p:cNvPr id="7" name="text_569"/>
          <p:cNvSpPr txBox="1"/>
          <p:nvPr/>
        </p:nvSpPr>
        <p:spPr>
          <a:xfrm>
            <a:off x="7635240" y="4846320"/>
            <a:ext cx="24597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18／21か月</a:t>
            </a:r>
            <a:endParaRPr lang="en-US" sz="2600" dirty="0"/>
          </a:p>
        </p:txBody>
      </p:sp>
      <p:sp>
        <p:nvSpPr>
          <p:cNvPr id="8" name="text_570"/>
          <p:cNvSpPr txBox="1"/>
          <p:nvPr/>
        </p:nvSpPr>
        <p:spPr>
          <a:xfrm>
            <a:off x="7635240" y="527558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量販との差のうち前半で生まれる分</a:t>
            </a:r>
            <a:endParaRPr lang="en-US" sz="1400" dirty="0"/>
          </a:p>
        </p:txBody>
      </p:sp>
      <p:sp>
        <p:nvSpPr>
          <p:cNvPr id="9" name="text_57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出典：McKinsey（2025年10月）、報道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付録25　政策はBEVの普及と現地生産をセットにしてきた</a:t>
            </a:r>
            <a:endParaRPr lang="en-US" sz="2400" dirty="0"/>
          </a:p>
        </p:txBody>
      </p:sp>
      <p:sp>
        <p:nvSpPr>
          <p:cNvPr id="3" name="shape_572"/>
          <p:cNvSpPr/>
          <p:nvPr/>
        </p:nvSpPr>
        <p:spPr>
          <a:xfrm>
            <a:off x="411480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573"/>
          <p:cNvSpPr/>
          <p:nvPr/>
        </p:nvSpPr>
        <p:spPr>
          <a:xfrm>
            <a:off x="1046480" y="1261872"/>
            <a:ext cx="87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</a:t>
            </a:r>
            <a:endParaRPr lang="en-US" sz="1700" dirty="0"/>
          </a:p>
        </p:txBody>
      </p:sp>
      <p:sp>
        <p:nvSpPr>
          <p:cNvPr id="5" name="text_574"/>
          <p:cNvSpPr txBox="1"/>
          <p:nvPr/>
        </p:nvSpPr>
        <p:spPr>
          <a:xfrm>
            <a:off x="548640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2022〜25年</a:t>
            </a:r>
            <a:endParaRPr lang="en-US" sz="1400" dirty="0"/>
          </a:p>
        </p:txBody>
      </p:sp>
      <p:sp>
        <p:nvSpPr>
          <p:cNvPr id="6" name="text_575"/>
          <p:cNvSpPr txBox="1"/>
          <p:nvPr/>
        </p:nvSpPr>
        <p:spPr>
          <a:xfrm>
            <a:off x="548640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 最大15万バーツ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物品税8%→2%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輸入1台に現地生産1〜1.5台</a:t>
            </a:r>
            <a:endParaRPr lang="en-US" sz="1500" dirty="0"/>
          </a:p>
        </p:txBody>
      </p:sp>
      <p:sp>
        <p:nvSpPr>
          <p:cNvPr id="7" name="shape_576"/>
          <p:cNvSpPr/>
          <p:nvPr/>
        </p:nvSpPr>
        <p:spPr>
          <a:xfrm>
            <a:off x="2634996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577"/>
          <p:cNvSpPr/>
          <p:nvPr/>
        </p:nvSpPr>
        <p:spPr>
          <a:xfrm>
            <a:off x="2750210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578"/>
          <p:cNvSpPr/>
          <p:nvPr/>
        </p:nvSpPr>
        <p:spPr>
          <a:xfrm>
            <a:off x="2983992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579"/>
          <p:cNvSpPr/>
          <p:nvPr/>
        </p:nvSpPr>
        <p:spPr>
          <a:xfrm>
            <a:off x="3618992" y="1261872"/>
            <a:ext cx="87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</a:t>
            </a:r>
            <a:endParaRPr lang="en-US" sz="1700" dirty="0"/>
          </a:p>
        </p:txBody>
      </p:sp>
      <p:sp>
        <p:nvSpPr>
          <p:cNvPr id="11" name="text_580"/>
          <p:cNvSpPr txBox="1"/>
          <p:nvPr/>
        </p:nvSpPr>
        <p:spPr>
          <a:xfrm>
            <a:off x="3121152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2024〜27年</a:t>
            </a:r>
            <a:endParaRPr lang="en-US" sz="1400" dirty="0"/>
          </a:p>
        </p:txBody>
      </p:sp>
      <p:sp>
        <p:nvSpPr>
          <p:cNvPr id="12" name="text_581"/>
          <p:cNvSpPr txBox="1"/>
          <p:nvPr/>
        </p:nvSpPr>
        <p:spPr>
          <a:xfrm>
            <a:off x="3121152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補助は年々縮小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2026年1:2、2027年1:3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輸出1台を1.5台に算入</a:t>
            </a:r>
            <a:endParaRPr lang="en-US" sz="1500" dirty="0"/>
          </a:p>
        </p:txBody>
      </p:sp>
      <p:sp>
        <p:nvSpPr>
          <p:cNvPr id="13" name="shape_582"/>
          <p:cNvSpPr/>
          <p:nvPr/>
        </p:nvSpPr>
        <p:spPr>
          <a:xfrm>
            <a:off x="5207508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583"/>
          <p:cNvSpPr/>
          <p:nvPr/>
        </p:nvSpPr>
        <p:spPr>
          <a:xfrm>
            <a:off x="5322722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584"/>
          <p:cNvSpPr/>
          <p:nvPr/>
        </p:nvSpPr>
        <p:spPr>
          <a:xfrm>
            <a:off x="5556504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6" name="fslabel_585"/>
          <p:cNvSpPr/>
          <p:nvPr/>
        </p:nvSpPr>
        <p:spPr>
          <a:xfrm>
            <a:off x="5738114" y="1261872"/>
            <a:ext cx="17856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物品税の見直し</a:t>
            </a:r>
            <a:endParaRPr lang="en-US" sz="1700" dirty="0"/>
          </a:p>
        </p:txBody>
      </p:sp>
      <p:sp>
        <p:nvSpPr>
          <p:cNvPr id="17" name="text_586"/>
          <p:cNvSpPr txBox="1"/>
          <p:nvPr/>
        </p:nvSpPr>
        <p:spPr>
          <a:xfrm>
            <a:off x="5693664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2026年〜</a:t>
            </a:r>
            <a:endParaRPr lang="en-US" sz="1400" dirty="0"/>
          </a:p>
        </p:txBody>
      </p:sp>
      <p:sp>
        <p:nvSpPr>
          <p:cNvPr id="18" name="text_587"/>
          <p:cNvSpPr txBox="1"/>
          <p:nvPr/>
        </p:nvSpPr>
        <p:spPr>
          <a:xfrm>
            <a:off x="5693664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輸入EV 10%、現地2%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 5%</a:t>
            </a:r>
            <a:endParaRPr lang="en-US" sz="1500" dirty="0"/>
          </a:p>
        </p:txBody>
      </p:sp>
      <p:sp>
        <p:nvSpPr>
          <p:cNvPr id="19" name="shape_588"/>
          <p:cNvSpPr/>
          <p:nvPr/>
        </p:nvSpPr>
        <p:spPr>
          <a:xfrm>
            <a:off x="7780020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shape_589"/>
          <p:cNvSpPr/>
          <p:nvPr/>
        </p:nvSpPr>
        <p:spPr>
          <a:xfrm>
            <a:off x="7895234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1" name="shape_590"/>
          <p:cNvSpPr/>
          <p:nvPr/>
        </p:nvSpPr>
        <p:spPr>
          <a:xfrm>
            <a:off x="8129016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2" name="fslabel_591"/>
          <p:cNvSpPr/>
          <p:nvPr/>
        </p:nvSpPr>
        <p:spPr>
          <a:xfrm>
            <a:off x="8358124" y="1261872"/>
            <a:ext cx="16906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3段階の物品税</a:t>
            </a:r>
            <a:endParaRPr lang="en-US" sz="1700" dirty="0"/>
          </a:p>
        </p:txBody>
      </p:sp>
      <p:sp>
        <p:nvSpPr>
          <p:cNvPr id="23" name="text_592"/>
          <p:cNvSpPr txBox="1"/>
          <p:nvPr/>
        </p:nvSpPr>
        <p:spPr>
          <a:xfrm>
            <a:off x="8266176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2026年9月 合意</a:t>
            </a:r>
            <a:endParaRPr lang="en-US" sz="1400" dirty="0"/>
          </a:p>
        </p:txBody>
      </p:sp>
      <p:sp>
        <p:nvSpPr>
          <p:cNvPr id="24" name="text_593"/>
          <p:cNvSpPr txBox="1"/>
          <p:nvPr/>
        </p:nvSpPr>
        <p:spPr>
          <a:xfrm>
            <a:off x="8266176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投資の少ない、輸入だけの会社が最も高い</a:t>
            </a:r>
            <a:endParaRPr lang="en-US" sz="1500" dirty="0"/>
          </a:p>
        </p:txBody>
      </p:sp>
      <p:sp>
        <p:nvSpPr>
          <p:cNvPr id="25" name="summary_594"/>
          <p:cNvSpPr/>
          <p:nvPr/>
        </p:nvSpPr>
        <p:spPr>
          <a:xfrm>
            <a:off x="868680" y="5120640"/>
            <a:ext cx="895197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関税：中国製EV 0%、日本製 20%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中国系は輸入から始め、後から現地生産に移れた</a:t>
            </a:r>
            <a:endParaRPr lang="en-US" sz="1900" dirty="0"/>
          </a:p>
        </p:txBody>
      </p:sp>
      <p:sp>
        <p:nvSpPr>
          <p:cNvPr id="26" name="text_59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Nation（2026年9月）、ASEAN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付録26　ASEAN6か国の制度と、日系への示唆</a:t>
            </a:r>
            <a:endParaRPr lang="en-US" sz="2400" dirty="0"/>
          </a:p>
        </p:txBody>
      </p:sp>
      <p:graphicFrame>
        <p:nvGraphicFramePr>
          <p:cNvPr id="47" name="table_5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986637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39227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制度・市場の条件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日系への示唆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 +85%、HEV +26%。EV3.5の相殺生産・輸出算入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HEVの収益を守り、都市・法人向けにBEVを投入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インドネシア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EV販売比率 約15%（2025年）。輸入優遇の終了後は現地化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MPV・SUVの用途と現地調達の採算を確認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マレーシア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2026年7月から新規CBUにCIF 20万リンギ以上・180kW以上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輸入の継続条件とCKDの採算を分けて設計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ベトナム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BEVの登録料0%を2030年末まで。地場VinFastが主力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地場を含めて商品・販売網・充電を評価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フィリピン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BEV・HEV・PHEVの関税0%を2028年まで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HEVも制度を使って価格を見直す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シンガポール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2026年のVESはEVのみ優遇。EEAIは2027年に終了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COEを含む負担でBEVの仕様を決める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97"/>
          <p:cNvSpPr/>
          <p:nvPr/>
        </p:nvSpPr>
        <p:spPr>
          <a:xfrm>
            <a:off x="411480" y="1143000"/>
            <a:ext cx="9866376" cy="5285232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59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出典：JETRO、BOI、MITI、ベトナム政府（政令202/2026）、フィリピン税関（EO62）、LTA、IEA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付録27　ピックアップの縮小は与信の引き締めによる</a:t>
            </a:r>
            <a:endParaRPr lang="en-US" sz="2400" dirty="0"/>
          </a:p>
        </p:txBody>
      </p:sp>
      <p:graphicFrame>
        <p:nvGraphicFramePr>
          <p:cNvPr id="3" name="chart_pickup" descr=""/>
          <p:cNvGraphicFramePr/>
          <p:nvPr/>
        </p:nvGraphicFramePr>
        <p:xfrm>
          <a:off x="411480" y="1097280"/>
          <a:ext cx="530352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_599"/>
          <p:cNvSpPr txBox="1"/>
          <p:nvPr/>
        </p:nvSpPr>
        <p:spPr>
          <a:xfrm>
            <a:off x="6126480" y="12801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−63%</a:t>
            </a:r>
            <a:endParaRPr lang="en-US" sz="3800" dirty="0"/>
          </a:p>
        </p:txBody>
      </p:sp>
      <p:sp>
        <p:nvSpPr>
          <p:cNvPr id="5" name="text_600"/>
          <p:cNvSpPr txBox="1"/>
          <p:nvPr/>
        </p:nvSpPr>
        <p:spPr>
          <a:xfrm>
            <a:off x="6126480" y="19075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ピックアップの販売（2022→2025年）</a:t>
            </a:r>
            <a:endParaRPr lang="en-US" sz="1400" dirty="0"/>
          </a:p>
        </p:txBody>
      </p:sp>
      <p:sp>
        <p:nvSpPr>
          <p:cNvPr id="6" name="text_601"/>
          <p:cNvSpPr txBox="1"/>
          <p:nvPr/>
        </p:nvSpPr>
        <p:spPr>
          <a:xfrm>
            <a:off x="6126480" y="26517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30〜40%</a:t>
            </a:r>
            <a:endParaRPr lang="en-US" sz="3800" dirty="0"/>
          </a:p>
        </p:txBody>
      </p:sp>
      <p:sp>
        <p:nvSpPr>
          <p:cNvPr id="7" name="text_602"/>
          <p:cNvSpPr txBox="1"/>
          <p:nvPr/>
        </p:nvSpPr>
        <p:spPr>
          <a:xfrm>
            <a:off x="6126480" y="32791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ローンの否決率（2024年）</a:t>
            </a:r>
            <a:endParaRPr lang="en-US" sz="1400" dirty="0"/>
          </a:p>
        </p:txBody>
      </p:sp>
      <p:sp>
        <p:nvSpPr>
          <p:cNvPr id="8" name="text_603"/>
          <p:cNvSpPr txBox="1"/>
          <p:nvPr/>
        </p:nvSpPr>
        <p:spPr>
          <a:xfrm>
            <a:off x="6126480" y="40233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</p:txBody>
      </p:sp>
      <p:sp>
        <p:nvSpPr>
          <p:cNvPr id="9" name="text_604"/>
          <p:cNvSpPr txBox="1"/>
          <p:nvPr/>
        </p:nvSpPr>
        <p:spPr>
          <a:xfrm>
            <a:off x="6126480" y="46507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ピックアップのうち日系</a:t>
            </a:r>
            <a:endParaRPr lang="en-US" sz="1400" dirty="0"/>
          </a:p>
        </p:txBody>
      </p:sp>
      <p:sp>
        <p:nvSpPr>
          <p:cNvPr id="10" name="summary_605"/>
          <p:cNvSpPr/>
          <p:nvPr/>
        </p:nvSpPr>
        <p:spPr>
          <a:xfrm>
            <a:off x="6126480" y="5394960"/>
            <a:ext cx="4151376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中国系との競争とは別の要因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与信が戻れば日系の台数も戻る</a:t>
            </a:r>
            <a:endParaRPr lang="en-US" sz="1700" dirty="0"/>
          </a:p>
        </p:txBody>
      </p:sp>
      <p:sp>
        <p:nvSpPr>
          <p:cNvPr id="11" name="text_60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出典：TMT、Bangkok Post、FTI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付録28　1車種依存と複数車種の比べ方</a:t>
            </a:r>
            <a:endParaRPr lang="en-US" sz="2400" dirty="0"/>
          </a:p>
        </p:txBody>
      </p:sp>
      <p:sp>
        <p:nvSpPr>
          <p:cNvPr id="3" name="text_607"/>
          <p:cNvSpPr txBox="1"/>
          <p:nvPr/>
        </p:nvSpPr>
        <p:spPr>
          <a:xfrm>
            <a:off x="169164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車種構成（2026年、100%）</a:t>
            </a:r>
            <a:endParaRPr lang="en-US" sz="1300" dirty="0"/>
          </a:p>
        </p:txBody>
      </p:sp>
      <p:sp>
        <p:nvSpPr>
          <p:cNvPr id="4" name="text_608"/>
          <p:cNvSpPr txBox="1"/>
          <p:nvPr/>
        </p:nvSpPr>
        <p:spPr>
          <a:xfrm>
            <a:off x="704088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シェア変化</a:t>
            </a:r>
            <a:endParaRPr lang="en-US" sz="1300" dirty="0"/>
          </a:p>
        </p:txBody>
      </p:sp>
      <p:sp>
        <p:nvSpPr>
          <p:cNvPr id="5" name="text_609"/>
          <p:cNvSpPr txBox="1"/>
          <p:nvPr/>
        </p:nvSpPr>
        <p:spPr>
          <a:xfrm>
            <a:off x="8686800" y="11430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主力の交代</a:t>
            </a:r>
            <a:endParaRPr lang="en-US" sz="1300" dirty="0"/>
          </a:p>
        </p:txBody>
      </p:sp>
      <p:sp>
        <p:nvSpPr>
          <p:cNvPr id="6" name="text_610"/>
          <p:cNvSpPr txBox="1"/>
          <p:nvPr/>
        </p:nvSpPr>
        <p:spPr>
          <a:xfrm>
            <a:off x="41148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1400" dirty="0"/>
          </a:p>
        </p:txBody>
      </p:sp>
      <p:sp>
        <p:nvSpPr>
          <p:cNvPr id="7" name="text_611"/>
          <p:cNvSpPr txBox="1"/>
          <p:nvPr/>
        </p:nvSpPr>
        <p:spPr>
          <a:xfrm>
            <a:off x="41148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400" dirty="0"/>
          </a:p>
        </p:txBody>
      </p:sp>
      <p:sp>
        <p:nvSpPr>
          <p:cNvPr id="8" name="text_612"/>
          <p:cNvSpPr txBox="1"/>
          <p:nvPr/>
        </p:nvSpPr>
        <p:spPr>
          <a:xfrm>
            <a:off x="411480" y="27066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</a:t>
            </a:r>
            <a:endParaRPr lang="en-US" sz="1400" dirty="0"/>
          </a:p>
        </p:txBody>
      </p:sp>
      <p:sp>
        <p:nvSpPr>
          <p:cNvPr id="9" name="text_613"/>
          <p:cNvSpPr txBox="1"/>
          <p:nvPr/>
        </p:nvSpPr>
        <p:spPr>
          <a:xfrm>
            <a:off x="411480" y="32826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 Aion</a:t>
            </a:r>
            <a:endParaRPr lang="en-US" sz="1400" dirty="0"/>
          </a:p>
        </p:txBody>
      </p:sp>
      <p:sp>
        <p:nvSpPr>
          <p:cNvPr id="10" name="text_614"/>
          <p:cNvSpPr txBox="1"/>
          <p:nvPr/>
        </p:nvSpPr>
        <p:spPr>
          <a:xfrm>
            <a:off x="411480" y="3858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</a:t>
            </a:r>
            <a:endParaRPr lang="en-US" sz="1400" dirty="0"/>
          </a:p>
        </p:txBody>
      </p:sp>
      <p:sp>
        <p:nvSpPr>
          <p:cNvPr id="11" name="text_615"/>
          <p:cNvSpPr txBox="1"/>
          <p:nvPr/>
        </p:nvSpPr>
        <p:spPr>
          <a:xfrm>
            <a:off x="411480" y="4434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400" dirty="0"/>
          </a:p>
        </p:txBody>
      </p:sp>
      <p:sp>
        <p:nvSpPr>
          <p:cNvPr id="12" name="text_616"/>
          <p:cNvSpPr txBox="1"/>
          <p:nvPr/>
        </p:nvSpPr>
        <p:spPr>
          <a:xfrm>
            <a:off x="411480" y="5010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</a:t>
            </a:r>
            <a:endParaRPr lang="en-US" sz="1400" dirty="0"/>
          </a:p>
        </p:txBody>
      </p:sp>
      <p:sp>
        <p:nvSpPr>
          <p:cNvPr id="13" name="text_617"/>
          <p:cNvSpPr txBox="1"/>
          <p:nvPr/>
        </p:nvSpPr>
        <p:spPr>
          <a:xfrm>
            <a:off x="411480" y="55869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</a:t>
            </a:r>
            <a:endParaRPr lang="en-US" sz="1400" dirty="0"/>
          </a:p>
        </p:txBody>
      </p:sp>
      <p:sp>
        <p:nvSpPr>
          <p:cNvPr id="14" name="pc_618"/>
          <p:cNvSpPr/>
          <p:nvPr/>
        </p:nvSpPr>
        <p:spPr>
          <a:xfrm>
            <a:off x="1691640" y="1554480"/>
            <a:ext cx="5120640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横棒（主力1車種／2位／3位／その他）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主力1車種の比率の高い順に並べる</a:t>
            </a:r>
            <a:endParaRPr lang="en-US" sz="1000" dirty="0"/>
          </a:p>
        </p:txBody>
      </p:sp>
      <p:sp>
        <p:nvSpPr>
          <p:cNvPr id="15" name="pc_619"/>
          <p:cNvSpPr/>
          <p:nvPr/>
        </p:nvSpPr>
        <p:spPr>
          <a:xfrm>
            <a:off x="7040880" y="1554480"/>
            <a:ext cx="1463040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矢印（pt）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2025→2026</a:t>
            </a:r>
            <a:endParaRPr lang="en-US" sz="900" dirty="0"/>
          </a:p>
        </p:txBody>
      </p:sp>
      <p:sp>
        <p:nvSpPr>
          <p:cNvPr id="16" name="pc_620"/>
          <p:cNvSpPr/>
          <p:nvPr/>
        </p:nvSpPr>
        <p:spPr>
          <a:xfrm>
            <a:off x="8686800" y="1554480"/>
            <a:ext cx="1591056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2023年以降に主力車種が入れ替わった回数</a:t>
            </a:r>
            <a:endParaRPr lang="en-US" sz="900" dirty="0"/>
          </a:p>
        </p:txBody>
      </p:sp>
      <p:sp>
        <p:nvSpPr>
          <p:cNvPr id="17" name="shape_621"/>
          <p:cNvSpPr/>
          <p:nvPr/>
        </p:nvSpPr>
        <p:spPr>
          <a:xfrm>
            <a:off x="1691640" y="6291072"/>
            <a:ext cx="182880" cy="18288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8" name="text_622"/>
          <p:cNvSpPr txBox="1"/>
          <p:nvPr/>
        </p:nvSpPr>
        <p:spPr>
          <a:xfrm>
            <a:off x="1938528" y="6217920"/>
            <a:ext cx="844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主力1車種</a:t>
            </a:r>
            <a:endParaRPr lang="en-US" sz="1300" dirty="0"/>
          </a:p>
        </p:txBody>
      </p:sp>
      <p:sp>
        <p:nvSpPr>
          <p:cNvPr id="19" name="shape_623"/>
          <p:cNvSpPr/>
          <p:nvPr/>
        </p:nvSpPr>
        <p:spPr>
          <a:xfrm>
            <a:off x="3011424" y="6291072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text_624"/>
          <p:cNvSpPr txBox="1"/>
          <p:nvPr/>
        </p:nvSpPr>
        <p:spPr>
          <a:xfrm>
            <a:off x="3258312" y="6217920"/>
            <a:ext cx="348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</a:t>
            </a:r>
            <a:endParaRPr lang="en-US" sz="1300" dirty="0"/>
          </a:p>
        </p:txBody>
      </p:sp>
      <p:sp>
        <p:nvSpPr>
          <p:cNvPr id="21" name="shape_625"/>
          <p:cNvSpPr/>
          <p:nvPr/>
        </p:nvSpPr>
        <p:spPr>
          <a:xfrm>
            <a:off x="3835908" y="6291072"/>
            <a:ext cx="182880" cy="182880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_626"/>
          <p:cNvSpPr txBox="1"/>
          <p:nvPr/>
        </p:nvSpPr>
        <p:spPr>
          <a:xfrm>
            <a:off x="4082796" y="6217920"/>
            <a:ext cx="348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</a:t>
            </a:r>
            <a:endParaRPr lang="en-US" sz="1300" dirty="0"/>
          </a:p>
        </p:txBody>
      </p:sp>
      <p:sp>
        <p:nvSpPr>
          <p:cNvPr id="23" name="shape_627"/>
          <p:cNvSpPr/>
          <p:nvPr/>
        </p:nvSpPr>
        <p:spPr>
          <a:xfrm>
            <a:off x="4660392" y="6291072"/>
            <a:ext cx="182880" cy="18288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_628"/>
          <p:cNvSpPr txBox="1"/>
          <p:nvPr/>
        </p:nvSpPr>
        <p:spPr>
          <a:xfrm>
            <a:off x="4907280" y="6217920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</a:t>
            </a:r>
            <a:endParaRPr lang="en-US" sz="1300" dirty="0"/>
          </a:p>
        </p:txBody>
      </p:sp>
      <p:sp>
        <p:nvSpPr>
          <p:cNvPr id="25" name="summary_629"/>
          <p:cNvSpPr/>
          <p:nvPr/>
        </p:nvSpPr>
        <p:spPr>
          <a:xfrm>
            <a:off x="685800" y="6583680"/>
            <a:ext cx="9317736" cy="457200"/>
          </a:xfrm>
          <a:prstGeom prst="roundRect">
            <a:avLst>
              <a:gd name="adj" fmla="val 20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見どころ：主力1車種の比率が高いのに伸びている企業＝主力を次々入れ替えている企業</a:t>
            </a:r>
            <a:endParaRPr lang="en-US" sz="1400" dirty="0"/>
          </a:p>
        </p:txBody>
      </p:sp>
      <p:sp>
        <p:nvSpPr>
          <p:cNvPr id="26" name="text_63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付録29　中国系の逆風　淘汰はすでに始まっている</a:t>
            </a:r>
            <a:endParaRPr lang="en-US" sz="2400" dirty="0"/>
          </a:p>
        </p:txBody>
      </p:sp>
      <p:sp>
        <p:nvSpPr>
          <p:cNvPr id="3" name="shape_631"/>
          <p:cNvSpPr/>
          <p:nvPr/>
        </p:nvSpPr>
        <p:spPr>
          <a:xfrm>
            <a:off x="411480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4" name="fslabel_632"/>
          <p:cNvSpPr/>
          <p:nvPr/>
        </p:nvSpPr>
        <p:spPr>
          <a:xfrm>
            <a:off x="1612900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</a:t>
            </a:r>
            <a:endParaRPr lang="en-US" sz="1700" dirty="0"/>
          </a:p>
        </p:txBody>
      </p:sp>
      <p:sp>
        <p:nvSpPr>
          <p:cNvPr id="5" name="text_633"/>
          <p:cNvSpPr txBox="1"/>
          <p:nvPr/>
        </p:nvSpPr>
        <p:spPr>
          <a:xfrm>
            <a:off x="59436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60→20</a:t>
            </a:r>
            <a:endParaRPr lang="en-US" sz="4000" dirty="0"/>
          </a:p>
        </p:txBody>
      </p:sp>
      <p:sp>
        <p:nvSpPr>
          <p:cNvPr id="6" name="text_634"/>
          <p:cNvSpPr txBox="1"/>
          <p:nvPr/>
        </p:nvSpPr>
        <p:spPr>
          <a:xfrm>
            <a:off x="640080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Netaの販売店。補助約20億バーツの返還を求められ撤退へ</a:t>
            </a:r>
            <a:endParaRPr lang="en-US" sz="1500" dirty="0"/>
          </a:p>
        </p:txBody>
      </p:sp>
      <p:sp>
        <p:nvSpPr>
          <p:cNvPr id="7" name="shape_635"/>
          <p:cNvSpPr/>
          <p:nvPr/>
        </p:nvSpPr>
        <p:spPr>
          <a:xfrm>
            <a:off x="3790188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8" name="fslabel_636"/>
          <p:cNvSpPr/>
          <p:nvPr/>
        </p:nvSpPr>
        <p:spPr>
          <a:xfrm>
            <a:off x="4991608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</a:t>
            </a:r>
            <a:endParaRPr lang="en-US" sz="1700" dirty="0"/>
          </a:p>
        </p:txBody>
      </p:sp>
      <p:sp>
        <p:nvSpPr>
          <p:cNvPr id="9" name="text_637"/>
          <p:cNvSpPr txBox="1"/>
          <p:nvPr/>
        </p:nvSpPr>
        <p:spPr>
          <a:xfrm>
            <a:off x="3973068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</a:t>
            </a:r>
            <a:endParaRPr lang="en-US" sz="4000" dirty="0"/>
          </a:p>
        </p:txBody>
      </p:sp>
      <p:sp>
        <p:nvSpPr>
          <p:cNvPr id="10" name="text_638"/>
          <p:cNvSpPr txBox="1"/>
          <p:nvPr/>
        </p:nvSpPr>
        <p:spPr>
          <a:xfrm>
            <a:off x="4018788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2026年から物品税を投資の度合いで3段階に。輸入だけの会社が最も高い</a:t>
            </a:r>
            <a:endParaRPr lang="en-US" sz="1500" dirty="0"/>
          </a:p>
        </p:txBody>
      </p:sp>
      <p:sp>
        <p:nvSpPr>
          <p:cNvPr id="11" name="shape_639"/>
          <p:cNvSpPr/>
          <p:nvPr/>
        </p:nvSpPr>
        <p:spPr>
          <a:xfrm>
            <a:off x="7168896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640"/>
          <p:cNvSpPr/>
          <p:nvPr/>
        </p:nvSpPr>
        <p:spPr>
          <a:xfrm>
            <a:off x="8370316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</a:t>
            </a:r>
            <a:endParaRPr lang="en-US" sz="1700" dirty="0"/>
          </a:p>
        </p:txBody>
      </p:sp>
      <p:sp>
        <p:nvSpPr>
          <p:cNvPr id="13" name="text_641"/>
          <p:cNvSpPr txBox="1"/>
          <p:nvPr/>
        </p:nvSpPr>
        <p:spPr>
          <a:xfrm>
            <a:off x="7351776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4000" dirty="0"/>
          </a:p>
        </p:txBody>
      </p:sp>
      <p:sp>
        <p:nvSpPr>
          <p:cNvPr id="14" name="text_642"/>
          <p:cNvSpPr txBox="1"/>
          <p:nvPr/>
        </p:nvSpPr>
        <p:spPr>
          <a:xfrm>
            <a:off x="7397496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中国の自動車産業の利益率（2026年1〜4月）。値下げの余力は細る</a:t>
            </a:r>
            <a:endParaRPr lang="en-US" sz="1500" dirty="0"/>
          </a:p>
        </p:txBody>
      </p:sp>
      <p:sp>
        <p:nvSpPr>
          <p:cNvPr id="15" name="summary_643"/>
          <p:cNvSpPr/>
          <p:nvPr/>
        </p:nvSpPr>
        <p:spPr>
          <a:xfrm>
            <a:off x="960120" y="5120640"/>
            <a:ext cx="8769096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撤退ブランドの保有者は、整備と中古の受け皿を探す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日系にとっては「拾う」機会</a:t>
            </a:r>
            <a:endParaRPr lang="en-US" sz="1800" dirty="0"/>
          </a:p>
        </p:txBody>
      </p:sp>
      <p:sp>
        <p:nvSpPr>
          <p:cNvPr id="16" name="text_64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出典：The Nation、CPCA、物品税局（2026年）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付録30　「埋める」手段　中国の開発体制でつくる日系BEV</a:t>
            </a:r>
            <a:endParaRPr lang="en-US" sz="2400" dirty="0"/>
          </a:p>
        </p:txBody>
      </p:sp>
      <p:sp>
        <p:nvSpPr>
          <p:cNvPr id="3" name="shape_645"/>
          <p:cNvSpPr/>
          <p:nvPr/>
        </p:nvSpPr>
        <p:spPr>
          <a:xfrm>
            <a:off x="411480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646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647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トヨタ</a:t>
            </a:r>
            <a:endParaRPr lang="en-US" sz="1300" dirty="0"/>
          </a:p>
        </p:txBody>
      </p:sp>
      <p:sp>
        <p:nvSpPr>
          <p:cNvPr id="6" name="text_648"/>
          <p:cNvSpPr txBox="1"/>
          <p:nvPr/>
        </p:nvSpPr>
        <p:spPr>
          <a:xfrm>
            <a:off x="594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bZ3・bZ3X</a:t>
            </a:r>
            <a:endParaRPr lang="en-US" sz="2200" dirty="0"/>
          </a:p>
        </p:txBody>
      </p:sp>
      <p:sp>
        <p:nvSpPr>
          <p:cNvPr id="7" name="text_649"/>
          <p:cNvSpPr txBox="1"/>
          <p:nvPr/>
        </p:nvSpPr>
        <p:spPr>
          <a:xfrm>
            <a:off x="594360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BYD・GACとの合弁で共同開発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BYDのLFP電池、制御はトヨタ</a:t>
            </a:r>
            <a:endParaRPr lang="en-US" sz="1500" dirty="0"/>
          </a:p>
        </p:txBody>
      </p:sp>
      <p:sp>
        <p:nvSpPr>
          <p:cNvPr id="8" name="shape_650"/>
          <p:cNvSpPr/>
          <p:nvPr/>
        </p:nvSpPr>
        <p:spPr>
          <a:xfrm>
            <a:off x="3835908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_651"/>
          <p:cNvSpPr/>
          <p:nvPr/>
        </p:nvSpPr>
        <p:spPr>
          <a:xfrm>
            <a:off x="3835908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0" name="text_652"/>
          <p:cNvSpPr txBox="1"/>
          <p:nvPr/>
        </p:nvSpPr>
        <p:spPr>
          <a:xfrm>
            <a:off x="3945636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ホンダ</a:t>
            </a:r>
            <a:endParaRPr lang="en-US" sz="1300" dirty="0"/>
          </a:p>
        </p:txBody>
      </p:sp>
      <p:sp>
        <p:nvSpPr>
          <p:cNvPr id="11" name="text_653"/>
          <p:cNvSpPr txBox="1"/>
          <p:nvPr/>
        </p:nvSpPr>
        <p:spPr>
          <a:xfrm>
            <a:off x="4018788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e:N系</a:t>
            </a:r>
            <a:endParaRPr lang="en-US" sz="2200" dirty="0"/>
          </a:p>
        </p:txBody>
      </p:sp>
      <p:sp>
        <p:nvSpPr>
          <p:cNvPr id="12" name="text_654"/>
          <p:cNvSpPr txBox="1"/>
          <p:nvPr/>
        </p:nvSpPr>
        <p:spPr>
          <a:xfrm>
            <a:off x="4018788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中国の合弁で開発・生産</a:t>
            </a:r>
            <a:endParaRPr lang="en-US" sz="1500" dirty="0"/>
          </a:p>
        </p:txBody>
      </p:sp>
      <p:sp>
        <p:nvSpPr>
          <p:cNvPr id="13" name="shape_655"/>
          <p:cNvSpPr/>
          <p:nvPr/>
        </p:nvSpPr>
        <p:spPr>
          <a:xfrm>
            <a:off x="7260336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_656"/>
          <p:cNvSpPr/>
          <p:nvPr/>
        </p:nvSpPr>
        <p:spPr>
          <a:xfrm>
            <a:off x="726033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5" name="text_657"/>
          <p:cNvSpPr txBox="1"/>
          <p:nvPr/>
        </p:nvSpPr>
        <p:spPr>
          <a:xfrm>
            <a:off x="737006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マツダ</a:t>
            </a:r>
            <a:endParaRPr lang="en-US" sz="1300" dirty="0"/>
          </a:p>
        </p:txBody>
      </p:sp>
      <p:sp>
        <p:nvSpPr>
          <p:cNvPr id="16" name="text_658"/>
          <p:cNvSpPr txBox="1"/>
          <p:nvPr/>
        </p:nvSpPr>
        <p:spPr>
          <a:xfrm>
            <a:off x="7443216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6e</a:t>
            </a:r>
            <a:endParaRPr lang="en-US" sz="2200" dirty="0"/>
          </a:p>
        </p:txBody>
      </p:sp>
      <p:sp>
        <p:nvSpPr>
          <p:cNvPr id="17" name="text_659"/>
          <p:cNvSpPr txBox="1"/>
          <p:nvPr/>
        </p:nvSpPr>
        <p:spPr>
          <a:xfrm>
            <a:off x="7443216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Changanとの合弁で開発</a:t>
            </a:r>
            <a:endParaRPr lang="en-US" sz="1500" dirty="0"/>
          </a:p>
        </p:txBody>
      </p:sp>
      <p:sp>
        <p:nvSpPr>
          <p:cNvPr id="18" name="shape_660"/>
          <p:cNvSpPr/>
          <p:nvPr/>
        </p:nvSpPr>
        <p:spPr>
          <a:xfrm>
            <a:off x="411480" y="4846320"/>
            <a:ext cx="986637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9" name="fslabel_661"/>
          <p:cNvSpPr/>
          <p:nvPr/>
        </p:nvSpPr>
        <p:spPr>
          <a:xfrm>
            <a:off x="4667758" y="4690872"/>
            <a:ext cx="13538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採用の条件</a:t>
            </a:r>
            <a:endParaRPr lang="en-US" sz="1700" dirty="0"/>
          </a:p>
        </p:txBody>
      </p:sp>
      <p:sp>
        <p:nvSpPr>
          <p:cNvPr id="20" name="text_662"/>
          <p:cNvSpPr txBox="1"/>
          <p:nvPr/>
        </p:nvSpPr>
        <p:spPr>
          <a:xfrm>
            <a:off x="777240" y="5120640"/>
            <a:ext cx="9134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品質・保証・補修部品を日系が管理できる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開発費と部品の共通化で採算が合う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充電できる都市・法人の顧客に絞る</a:t>
            </a:r>
            <a:endParaRPr lang="en-US" sz="1600" dirty="0"/>
          </a:p>
        </p:txBody>
      </p:sp>
      <p:sp>
        <p:nvSpPr>
          <p:cNvPr id="21" name="text_66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出典：Toyota（2022年10月）、各社発表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付録31　2030年の日系シェアの試算　効くのはBEVの比率</a:t>
            </a:r>
            <a:endParaRPr lang="en-US" sz="2400" dirty="0"/>
          </a:p>
        </p:txBody>
      </p:sp>
      <p:graphicFrame>
        <p:nvGraphicFramePr>
          <p:cNvPr id="52" name="table_6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6217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52144"/>
                <a:gridCol w="1161288"/>
                <a:gridCol w="11612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前提（2030年）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強気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市場（万台）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乗用車のBEV比率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乗用車のPHEV比率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日系シェア：ピックアップ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日系シェア（結果）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4" name="shape_665"/>
          <p:cNvSpPr/>
          <p:nvPr/>
        </p:nvSpPr>
        <p:spPr>
          <a:xfrm>
            <a:off x="411480" y="1188720"/>
            <a:ext cx="6217920" cy="4535424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666"/>
          <p:cNvSpPr/>
          <p:nvPr/>
        </p:nvSpPr>
        <p:spPr>
          <a:xfrm>
            <a:off x="6949440" y="1188720"/>
            <a:ext cx="3328416" cy="4535424"/>
          </a:xfrm>
          <a:prstGeom prst="roundRect">
            <a:avLst>
              <a:gd name="adj" fmla="val 274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ab_667"/>
          <p:cNvSpPr/>
          <p:nvPr/>
        </p:nvSpPr>
        <p:spPr>
          <a:xfrm>
            <a:off x="7059168" y="1280160"/>
            <a:ext cx="2440432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基本ケースからの変化（pt）</a:t>
            </a:r>
            <a:endParaRPr lang="en-US" sz="1300" dirty="0"/>
          </a:p>
        </p:txBody>
      </p:sp>
      <p:sp>
        <p:nvSpPr>
          <p:cNvPr id="7" name="text_668"/>
          <p:cNvSpPr txBox="1"/>
          <p:nvPr/>
        </p:nvSpPr>
        <p:spPr>
          <a:xfrm>
            <a:off x="7178040" y="182880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±7.3</a:t>
            </a:r>
            <a:endParaRPr lang="en-US" sz="2600" dirty="0"/>
          </a:p>
        </p:txBody>
      </p:sp>
      <p:sp>
        <p:nvSpPr>
          <p:cNvPr id="8" name="text_669"/>
          <p:cNvSpPr txBox="1"/>
          <p:nvPr/>
        </p:nvSpPr>
        <p:spPr>
          <a:xfrm>
            <a:off x="7178040" y="22580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BEV・PHEVの比率</a:t>
            </a:r>
            <a:endParaRPr lang="en-US" sz="1400" dirty="0"/>
          </a:p>
        </p:txBody>
      </p:sp>
      <p:sp>
        <p:nvSpPr>
          <p:cNvPr id="9" name="text_670"/>
          <p:cNvSpPr txBox="1"/>
          <p:nvPr/>
        </p:nvSpPr>
        <p:spPr>
          <a:xfrm>
            <a:off x="7178040" y="306324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+4.2／−2.1</a:t>
            </a:r>
            <a:endParaRPr lang="en-US" sz="2600" dirty="0"/>
          </a:p>
        </p:txBody>
      </p:sp>
      <p:sp>
        <p:nvSpPr>
          <p:cNvPr id="10" name="text_671"/>
          <p:cNvSpPr txBox="1"/>
          <p:nvPr/>
        </p:nvSpPr>
        <p:spPr>
          <a:xfrm>
            <a:off x="7178040" y="349250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日系のBEVシェア</a:t>
            </a:r>
            <a:endParaRPr lang="en-US" sz="1400" dirty="0"/>
          </a:p>
        </p:txBody>
      </p:sp>
      <p:sp>
        <p:nvSpPr>
          <p:cNvPr id="11" name="text_672"/>
          <p:cNvSpPr txBox="1"/>
          <p:nvPr/>
        </p:nvSpPr>
        <p:spPr>
          <a:xfrm>
            <a:off x="7178040" y="429768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+1.6／−1.2</a:t>
            </a:r>
            <a:endParaRPr lang="en-US" sz="2600" dirty="0"/>
          </a:p>
        </p:txBody>
      </p:sp>
      <p:sp>
        <p:nvSpPr>
          <p:cNvPr id="12" name="text_673"/>
          <p:cNvSpPr txBox="1"/>
          <p:nvPr/>
        </p:nvSpPr>
        <p:spPr>
          <a:xfrm>
            <a:off x="7178040" y="472694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ピックアップの台数</a:t>
            </a:r>
            <a:endParaRPr lang="en-US" sz="1400" dirty="0"/>
          </a:p>
        </p:txBody>
      </p:sp>
      <p:sp>
        <p:nvSpPr>
          <p:cNvPr id="13" name="text_674"/>
          <p:cNvSpPr txBox="1"/>
          <p:nvPr/>
        </p:nvSpPr>
        <p:spPr>
          <a:xfrm>
            <a:off x="411480" y="5897880"/>
            <a:ext cx="9866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日系の台数は約37万台。その8割はピックアップ・PPV・HEV</a:t>
            </a:r>
            <a:endParaRPr lang="en-US" sz="1500" dirty="0"/>
          </a:p>
        </p:txBody>
      </p:sp>
      <p:sp>
        <p:nvSpPr>
          <p:cNvPr id="14" name="text_67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出典：前回のデータブックによる試算（2026年の再現値59.8%、実績61.8%）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付録32　実行の順番</a:t>
            </a:r>
            <a:endParaRPr lang="en-US" sz="2400" dirty="0"/>
          </a:p>
        </p:txBody>
      </p:sp>
      <p:sp>
        <p:nvSpPr>
          <p:cNvPr id="3" name="shape_676"/>
          <p:cNvSpPr/>
          <p:nvPr/>
        </p:nvSpPr>
        <p:spPr>
          <a:xfrm>
            <a:off x="411480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677"/>
          <p:cNvSpPr/>
          <p:nvPr/>
        </p:nvSpPr>
        <p:spPr>
          <a:xfrm>
            <a:off x="1312164" y="1298448"/>
            <a:ext cx="1216152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0〜6か月</a:t>
            </a:r>
            <a:endParaRPr lang="en-US" sz="1800" dirty="0"/>
          </a:p>
        </p:txBody>
      </p:sp>
      <p:sp>
        <p:nvSpPr>
          <p:cNvPr id="5" name="text_678"/>
          <p:cNvSpPr txBox="1"/>
          <p:nvPr/>
        </p:nvSpPr>
        <p:spPr>
          <a:xfrm>
            <a:off x="640080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同クラスの実見積、SOH・買取実績、失注理由をそろえる</a:t>
            </a:r>
            <a:endParaRPr lang="en-US" sz="1600" dirty="0"/>
          </a:p>
        </p:txBody>
      </p:sp>
      <p:sp>
        <p:nvSpPr>
          <p:cNvPr id="6" name="crit_679"/>
          <p:cNvSpPr/>
          <p:nvPr/>
        </p:nvSpPr>
        <p:spPr>
          <a:xfrm>
            <a:off x="640080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残価で許せる価格差を把握</a:t>
            </a:r>
            <a:endParaRPr lang="en-US" sz="1200" dirty="0"/>
          </a:p>
        </p:txBody>
      </p:sp>
      <p:sp>
        <p:nvSpPr>
          <p:cNvPr id="7" name="shape_680"/>
          <p:cNvSpPr/>
          <p:nvPr/>
        </p:nvSpPr>
        <p:spPr>
          <a:xfrm>
            <a:off x="3495294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81"/>
          <p:cNvSpPr/>
          <p:nvPr/>
        </p:nvSpPr>
        <p:spPr>
          <a:xfrm>
            <a:off x="3610508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682"/>
          <p:cNvSpPr/>
          <p:nvPr/>
        </p:nvSpPr>
        <p:spPr>
          <a:xfrm>
            <a:off x="3835908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683"/>
          <p:cNvSpPr/>
          <p:nvPr/>
        </p:nvSpPr>
        <p:spPr>
          <a:xfrm>
            <a:off x="4672584" y="1298448"/>
            <a:ext cx="1344168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6〜18か月</a:t>
            </a:r>
            <a:endParaRPr lang="en-US" sz="1800" dirty="0"/>
          </a:p>
        </p:txBody>
      </p:sp>
      <p:sp>
        <p:nvSpPr>
          <p:cNvPr id="11" name="text_684"/>
          <p:cNvSpPr txBox="1"/>
          <p:nvPr/>
        </p:nvSpPr>
        <p:spPr>
          <a:xfrm>
            <a:off x="4064508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主力HEVに残クレを設計。中国開発BEVの案件を進める</a:t>
            </a:r>
            <a:endParaRPr lang="en-US" sz="1600" dirty="0"/>
          </a:p>
        </p:txBody>
      </p:sp>
      <p:sp>
        <p:nvSpPr>
          <p:cNvPr id="12" name="crit_685"/>
          <p:cNvSpPr/>
          <p:nvPr/>
        </p:nvSpPr>
        <p:spPr>
          <a:xfrm>
            <a:off x="4064508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用途・充電条件と車種ごとの採算</a:t>
            </a:r>
            <a:endParaRPr lang="en-US" sz="1200" dirty="0"/>
          </a:p>
        </p:txBody>
      </p:sp>
      <p:sp>
        <p:nvSpPr>
          <p:cNvPr id="13" name="shape_686"/>
          <p:cNvSpPr/>
          <p:nvPr/>
        </p:nvSpPr>
        <p:spPr>
          <a:xfrm>
            <a:off x="6919722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687"/>
          <p:cNvSpPr/>
          <p:nvPr/>
        </p:nvSpPr>
        <p:spPr>
          <a:xfrm>
            <a:off x="7034936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688"/>
          <p:cNvSpPr/>
          <p:nvPr/>
        </p:nvSpPr>
        <p:spPr>
          <a:xfrm>
            <a:off x="7260336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689"/>
          <p:cNvSpPr/>
          <p:nvPr/>
        </p:nvSpPr>
        <p:spPr>
          <a:xfrm>
            <a:off x="8033004" y="1298448"/>
            <a:ext cx="147218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18〜36か月</a:t>
            </a:r>
            <a:endParaRPr lang="en-US" sz="1800" dirty="0"/>
          </a:p>
        </p:txBody>
      </p:sp>
      <p:sp>
        <p:nvSpPr>
          <p:cNvPr id="17" name="text_690"/>
          <p:cNvSpPr txBox="1"/>
          <p:nvPr/>
        </p:nvSpPr>
        <p:spPr>
          <a:xfrm>
            <a:off x="7488936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現地化・ライン増強を受注と輸出に合わせる</a:t>
            </a:r>
            <a:endParaRPr lang="en-US" sz="1600" dirty="0"/>
          </a:p>
        </p:txBody>
      </p:sp>
      <p:sp>
        <p:nvSpPr>
          <p:cNvPr id="18" name="crit_691"/>
          <p:cNvSpPr/>
          <p:nvPr/>
        </p:nvSpPr>
        <p:spPr>
          <a:xfrm>
            <a:off x="7488936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国内需要＋輸出が損益分岐を超えるか</a:t>
            </a:r>
            <a:endParaRPr lang="en-US" sz="1200" dirty="0"/>
          </a:p>
        </p:txBody>
      </p:sp>
      <p:sp>
        <p:nvSpPr>
          <p:cNvPr id="19" name="summary_692"/>
          <p:cNvSpPr/>
          <p:nvPr/>
        </p:nvSpPr>
        <p:spPr>
          <a:xfrm>
            <a:off x="1143000" y="5532120"/>
            <a:ext cx="8403336" cy="1097280"/>
          </a:xfrm>
          <a:prstGeom prst="roundRect">
            <a:avLst>
              <a:gd name="adj" fmla="val 833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利益＝車種ごとの台数×限界利益 − 共通基盤・改良・残価リスクの費用</a:t>
            </a:r>
            <a:endParaRPr lang="en-US" sz="1700" dirty="0"/>
          </a:p>
        </p:txBody>
      </p:sp>
      <p:sp>
        <p:nvSpPr>
          <p:cNvPr id="20" name="text_69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出典：本資料の検証にもとづく提案。個社の計画ではない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付録33　追加の検証設計（社内データで行うもの）</a:t>
            </a:r>
            <a:endParaRPr lang="en-US" sz="2400" dirty="0"/>
          </a:p>
        </p:txBody>
      </p:sp>
      <p:graphicFrame>
        <p:nvGraphicFramePr>
          <p:cNvPr id="54" name="table_6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986637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3282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比べ方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必要なデータ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改良が競争力を高めるか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同じ車格・動力・価格帯で、改良の前後を比較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MarkLines月次、S&amp;P改良時期、実売価格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中国系は売れ行きの落ち方が速いか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同じ動力・セグメント・発売年で販売カーブを比較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MarkLines月次、発売月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新車値下げが中古価格を下げるか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値下げした車と、しない近い車の差の差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同型・同年式の成約価格の時系列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電池劣化の価格への寄与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同型・同年式・同距離でSOHの違いを比較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実測SOH、成約価格、保証・充電履歴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売れる車種の数が企業を支えるか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販売構成と採算の変化を企業・車種で追う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モデル別台数、価格、粗利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現地化が競争力を変えるか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同じ仕様のCBU→CKDを比較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生産国、現地調達、稼働率、在庫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695"/>
          <p:cNvSpPr/>
          <p:nvPr/>
        </p:nvSpPr>
        <p:spPr>
          <a:xfrm>
            <a:off x="411480" y="1143000"/>
            <a:ext cx="9866376" cy="51206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69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出典：本資料の検証設計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付録34　社内PCで作る図と、差し込む場所</a:t>
            </a:r>
            <a:endParaRPr lang="en-US" sz="2400" dirty="0"/>
          </a:p>
        </p:txBody>
      </p:sp>
      <p:graphicFrame>
        <p:nvGraphicFramePr>
          <p:cNvPr id="55" name="table_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143000"/>
          <a:ext cx="8403336" cy="914400"/>
        </p:xfrm>
        <a:graphic>
          <a:graphicData uri="http://schemas.openxmlformats.org/drawingml/2006/table">
            <a:tbl>
              <a:tblPr/>
              <a:tblGrid>
                <a:gridCol w="6391656"/>
                <a:gridCol w="2011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作る図（MarkLines・S&amp;P）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差し込む場所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ASEAN各国の中国系・日系シェアの推移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パワートレイン別の販売とシェアの推移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セグメント別の販売とシェアの推移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マトリクス各セルの台数・シェア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BEV・HEVの月次販売（政策の年表とそろえる）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ICEの減少と行き先（国籍×動力の台数変化）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日系のモデルチェンジ前後の月次販売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上位企業の車種別販売の推移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スライド16、付録5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車種構成の横棒＋シェア変化＋主力の交代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付録28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中国系の改良時期 × 改良前後の月次販売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付録4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中国系の新車は誰の客を取るか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付録7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698"/>
          <p:cNvSpPr/>
          <p:nvPr/>
        </p:nvSpPr>
        <p:spPr>
          <a:xfrm>
            <a:off x="1143000" y="1143000"/>
            <a:ext cx="8403336" cy="5449824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付録35　想定される質問①（分析の方法）</a:t>
            </a:r>
            <a:endParaRPr lang="en-US" sz="2400" dirty="0"/>
          </a:p>
        </p:txBody>
      </p:sp>
      <p:sp>
        <p:nvSpPr>
          <p:cNvPr id="3" name="shape_699"/>
          <p:cNvSpPr/>
          <p:nvPr/>
        </p:nvSpPr>
        <p:spPr>
          <a:xfrm>
            <a:off x="411480" y="1143000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4" name="text_700"/>
          <p:cNvSpPr txBox="1"/>
          <p:nvPr/>
        </p:nvSpPr>
        <p:spPr>
          <a:xfrm>
            <a:off x="548640" y="1234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_701"/>
          <p:cNvSpPr txBox="1"/>
          <p:nvPr/>
        </p:nvSpPr>
        <p:spPr>
          <a:xfrm>
            <a:off x="960120" y="1234440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日系の失点の分解は、因果ではないのでは？</a:t>
            </a:r>
            <a:endParaRPr lang="en-US" sz="1600" dirty="0"/>
          </a:p>
        </p:txBody>
      </p:sp>
      <p:sp>
        <p:nvSpPr>
          <p:cNvPr id="6" name="text_702"/>
          <p:cNvSpPr txBox="1"/>
          <p:nvPr/>
        </p:nvSpPr>
        <p:spPr>
          <a:xfrm>
            <a:off x="548640" y="17099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_703"/>
          <p:cNvSpPr txBox="1"/>
          <p:nvPr/>
        </p:nvSpPr>
        <p:spPr>
          <a:xfrm>
            <a:off x="960120" y="1709928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はい、会計上の分解です。BEVの買い手が日系を選んだかは分かりません。ピックアップ縮小で分母が減った分も含むため、セグメント×動力で分解し直します。</a:t>
            </a:r>
            <a:endParaRPr lang="en-US" sz="1500" dirty="0"/>
          </a:p>
        </p:txBody>
      </p:sp>
      <p:sp>
        <p:nvSpPr>
          <p:cNvPr id="8" name="shape_704"/>
          <p:cNvSpPr/>
          <p:nvPr/>
        </p:nvSpPr>
        <p:spPr>
          <a:xfrm>
            <a:off x="411480" y="2670048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9" name="text_705"/>
          <p:cNvSpPr txBox="1"/>
          <p:nvPr/>
        </p:nvSpPr>
        <p:spPr>
          <a:xfrm>
            <a:off x="54864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_706"/>
          <p:cNvSpPr txBox="1"/>
          <p:nvPr/>
        </p:nvSpPr>
        <p:spPr>
          <a:xfrm>
            <a:off x="960120" y="2761488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中国系の改良間隔が短いのは、観測期間が短いからでは？</a:t>
            </a:r>
            <a:endParaRPr lang="en-US" sz="1600" dirty="0"/>
          </a:p>
        </p:txBody>
      </p:sp>
      <p:sp>
        <p:nvSpPr>
          <p:cNvPr id="11" name="text_707"/>
          <p:cNvSpPr txBox="1"/>
          <p:nvPr/>
        </p:nvSpPr>
        <p:spPr>
          <a:xfrm>
            <a:off x="548640" y="32369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_708"/>
          <p:cNvSpPr txBox="1"/>
          <p:nvPr/>
        </p:nvSpPr>
        <p:spPr>
          <a:xfrm>
            <a:off x="960120" y="3236976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その可能性があります。2022年以降の参入で、長い周期の車はまだ観測されていません。同じ発売年どうしで比べ直します。</a:t>
            </a:r>
            <a:endParaRPr lang="en-US" sz="1500" dirty="0"/>
          </a:p>
        </p:txBody>
      </p:sp>
      <p:sp>
        <p:nvSpPr>
          <p:cNvPr id="13" name="shape_709"/>
          <p:cNvSpPr/>
          <p:nvPr/>
        </p:nvSpPr>
        <p:spPr>
          <a:xfrm>
            <a:off x="411480" y="4197096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4" name="text_710"/>
          <p:cNvSpPr txBox="1"/>
          <p:nvPr/>
        </p:nvSpPr>
        <p:spPr>
          <a:xfrm>
            <a:off x="548640" y="42885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text_711"/>
          <p:cNvSpPr txBox="1"/>
          <p:nvPr/>
        </p:nvSpPr>
        <p:spPr>
          <a:xfrm>
            <a:off x="960120" y="4288536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「速さは中国系どうしの生き残り条件」の根拠は？</a:t>
            </a:r>
            <a:endParaRPr lang="en-US" sz="1600" dirty="0"/>
          </a:p>
        </p:txBody>
      </p:sp>
      <p:sp>
        <p:nvSpPr>
          <p:cNvPr id="16" name="text_712"/>
          <p:cNvSpPr txBox="1"/>
          <p:nvPr/>
        </p:nvSpPr>
        <p:spPr>
          <a:xfrm>
            <a:off x="548640" y="47640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_713"/>
          <p:cNvSpPr txBox="1"/>
          <p:nvPr/>
        </p:nvSpPr>
        <p:spPr>
          <a:xfrm>
            <a:off x="960120" y="4764024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2023年の上位10車種のうち6車種が翌年に半減し、BYDは2年でシェアが半分、Netaは撤退へ向かいました。改良前後の販売はS&amp;PとMarkLinesで確かめます。</a:t>
            </a:r>
            <a:endParaRPr lang="en-US" sz="1500" dirty="0"/>
          </a:p>
        </p:txBody>
      </p:sp>
      <p:sp>
        <p:nvSpPr>
          <p:cNvPr id="18" name="shape_714"/>
          <p:cNvSpPr/>
          <p:nvPr/>
        </p:nvSpPr>
        <p:spPr>
          <a:xfrm>
            <a:off x="411480" y="5724144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9" name="text_715"/>
          <p:cNvSpPr txBox="1"/>
          <p:nvPr/>
        </p:nvSpPr>
        <p:spPr>
          <a:xfrm>
            <a:off x="548640" y="5815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_716"/>
          <p:cNvSpPr txBox="1"/>
          <p:nvPr/>
        </p:nvSpPr>
        <p:spPr>
          <a:xfrm>
            <a:off x="960120" y="5815584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中古価格の比較はN=7と5で、少ないのでは？</a:t>
            </a:r>
            <a:endParaRPr lang="en-US" sz="1600" dirty="0"/>
          </a:p>
        </p:txBody>
      </p:sp>
      <p:sp>
        <p:nvSpPr>
          <p:cNvPr id="21" name="text_717"/>
          <p:cNvSpPr txBox="1"/>
          <p:nvPr/>
        </p:nvSpPr>
        <p:spPr>
          <a:xfrm>
            <a:off x="548640" y="6291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_718"/>
          <p:cNvSpPr txBox="1"/>
          <p:nvPr/>
        </p:nvSpPr>
        <p:spPr>
          <a:xfrm>
            <a:off x="960120" y="6291072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はい、掲載価格で件数も少なく、示唆にとどまります。One2carの時系列（1年で2〜3割下落）と方向は一致しています。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付録36　想定される質問②（戦略）</a:t>
            </a:r>
            <a:endParaRPr lang="en-US" sz="2400" dirty="0"/>
          </a:p>
        </p:txBody>
      </p:sp>
      <p:sp>
        <p:nvSpPr>
          <p:cNvPr id="3" name="shape_719"/>
          <p:cNvSpPr/>
          <p:nvPr/>
        </p:nvSpPr>
        <p:spPr>
          <a:xfrm>
            <a:off x="411480" y="1143000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4" name="text_720"/>
          <p:cNvSpPr txBox="1"/>
          <p:nvPr/>
        </p:nvSpPr>
        <p:spPr>
          <a:xfrm>
            <a:off x="548640" y="1234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_721"/>
          <p:cNvSpPr txBox="1"/>
          <p:nvPr/>
        </p:nvSpPr>
        <p:spPr>
          <a:xfrm>
            <a:off x="960120" y="1234440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日系がBEVに入れば、日系も速さの勝負に巻き込まれるのでは？</a:t>
            </a:r>
            <a:endParaRPr lang="en-US" sz="1600" dirty="0"/>
          </a:p>
        </p:txBody>
      </p:sp>
      <p:sp>
        <p:nvSpPr>
          <p:cNvPr id="6" name="text_722"/>
          <p:cNvSpPr txBox="1"/>
          <p:nvPr/>
        </p:nvSpPr>
        <p:spPr>
          <a:xfrm>
            <a:off x="548640" y="17099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_723"/>
          <p:cNvSpPr txBox="1"/>
          <p:nvPr/>
        </p:nvSpPr>
        <p:spPr>
          <a:xfrm>
            <a:off x="960120" y="1709928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そうなります。そのため自社開発ではなく中国の開発体制を使い、車種を絞って都市・法人向けに投入します。</a:t>
            </a:r>
            <a:endParaRPr lang="en-US" sz="1500" dirty="0"/>
          </a:p>
        </p:txBody>
      </p:sp>
      <p:sp>
        <p:nvSpPr>
          <p:cNvPr id="8" name="shape_724"/>
          <p:cNvSpPr/>
          <p:nvPr/>
        </p:nvSpPr>
        <p:spPr>
          <a:xfrm>
            <a:off x="411480" y="2670048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9" name="text_725"/>
          <p:cNvSpPr txBox="1"/>
          <p:nvPr/>
        </p:nvSpPr>
        <p:spPr>
          <a:xfrm>
            <a:off x="54864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_726"/>
          <p:cNvSpPr txBox="1"/>
          <p:nvPr/>
        </p:nvSpPr>
        <p:spPr>
          <a:xfrm>
            <a:off x="960120" y="2761488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PHEVは7割が中国系。HEVも安泰ではないのでは？</a:t>
            </a:r>
            <a:endParaRPr lang="en-US" sz="1600" dirty="0"/>
          </a:p>
        </p:txBody>
      </p:sp>
      <p:sp>
        <p:nvSpPr>
          <p:cNvPr id="11" name="text_727"/>
          <p:cNvSpPr txBox="1"/>
          <p:nvPr/>
        </p:nvSpPr>
        <p:spPr>
          <a:xfrm>
            <a:off x="548640" y="32369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_728"/>
          <p:cNvSpPr txBox="1"/>
          <p:nvPr/>
        </p:nvSpPr>
        <p:spPr>
          <a:xfrm>
            <a:off x="960120" y="3236976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はい。HEV内の中国系シェア（今は1.6%）とC-SUVのPHEVを毎月見ます。10%を超えたら打ち手を前倒しします。</a:t>
            </a:r>
            <a:endParaRPr lang="en-US" sz="1500" dirty="0"/>
          </a:p>
        </p:txBody>
      </p:sp>
      <p:sp>
        <p:nvSpPr>
          <p:cNvPr id="13" name="shape_729"/>
          <p:cNvSpPr/>
          <p:nvPr/>
        </p:nvSpPr>
        <p:spPr>
          <a:xfrm>
            <a:off x="411480" y="4197096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4" name="text_730"/>
          <p:cNvSpPr txBox="1"/>
          <p:nvPr/>
        </p:nvSpPr>
        <p:spPr>
          <a:xfrm>
            <a:off x="548640" y="42885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text_731"/>
          <p:cNvSpPr txBox="1"/>
          <p:nvPr/>
        </p:nvSpPr>
        <p:spPr>
          <a:xfrm>
            <a:off x="960120" y="4288536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残クレは、残価が崩れたら日系が損をするのでは？</a:t>
            </a:r>
            <a:endParaRPr lang="en-US" sz="1600" dirty="0"/>
          </a:p>
        </p:txBody>
      </p:sp>
      <p:sp>
        <p:nvSpPr>
          <p:cNvPr id="16" name="text_732"/>
          <p:cNvSpPr txBox="1"/>
          <p:nvPr/>
        </p:nvSpPr>
        <p:spPr>
          <a:xfrm>
            <a:off x="548640" y="47640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_733"/>
          <p:cNvSpPr txBox="1"/>
          <p:nvPr/>
        </p:nvSpPr>
        <p:spPr>
          <a:xfrm>
            <a:off x="960120" y="4764024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はい、残価のリスクは金融会社が負います。中国系の値下げがHEVの中古相場に波及しないかを見ながら、残価率を保守的に置きます。</a:t>
            </a:r>
            <a:endParaRPr lang="en-US" sz="1500" dirty="0"/>
          </a:p>
        </p:txBody>
      </p:sp>
      <p:sp>
        <p:nvSpPr>
          <p:cNvPr id="18" name="shape_734"/>
          <p:cNvSpPr/>
          <p:nvPr/>
        </p:nvSpPr>
        <p:spPr>
          <a:xfrm>
            <a:off x="411480" y="5724144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9" name="text_735"/>
          <p:cNvSpPr txBox="1"/>
          <p:nvPr/>
        </p:nvSpPr>
        <p:spPr>
          <a:xfrm>
            <a:off x="548640" y="5815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_736"/>
          <p:cNvSpPr txBox="1"/>
          <p:nvPr/>
        </p:nvSpPr>
        <p:spPr>
          <a:xfrm>
            <a:off x="960120" y="5815584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電池劣化のデータは北米中心で、タイの暑さに合わないのでは？</a:t>
            </a:r>
            <a:endParaRPr lang="en-US" sz="1600" dirty="0"/>
          </a:p>
        </p:txBody>
      </p:sp>
      <p:sp>
        <p:nvSpPr>
          <p:cNvPr id="21" name="text_737"/>
          <p:cNvSpPr txBox="1"/>
          <p:nvPr/>
        </p:nvSpPr>
        <p:spPr>
          <a:xfrm>
            <a:off x="548640" y="6291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_738"/>
          <p:cNvSpPr txBox="1"/>
          <p:nvPr/>
        </p:nvSpPr>
        <p:spPr>
          <a:xfrm>
            <a:off x="960120" y="6291072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はい。暑い地域ほど劣化が速いという結果はありますが、タイのLFP車の実測はありません。SOH付きの中古データで確かめます。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付録37　出典</a:t>
            </a:r>
            <a:endParaRPr lang="en-US" sz="2400" dirty="0"/>
          </a:p>
        </p:txBody>
      </p:sp>
      <p:sp>
        <p:nvSpPr>
          <p:cNvPr id="3" name="text_739"/>
          <p:cNvSpPr txBox="1"/>
          <p:nvPr/>
        </p:nvSpPr>
        <p:spPr>
          <a:xfrm>
            <a:off x="411480" y="1188720"/>
            <a:ext cx="9866376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市場：JETRO「タイ乗用車登録 2026年上半期」（2026/7/24）、EVAT・DLT、TMT、Thansettakij、Autolife（BEV登録の車種別・企業別、2023〜2025年）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政策：BOI（EV3.5、2023/11；輸出算入1.5倍、2025/7/30；見直し、2025/11/25）、物品税局、The Nation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ASEAN：MITI（マレーシア）、ベトナム政令202/2026、フィリピンEO62/2024、LTA（シンガポール）、IEA Global EV Outlook 2026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改良：BYD Rêver、BYD販売店、MG Thailand、GWM、Changan、GAC、Neta、XPeng、Zeekr、Omoda、Toyota、Honda、Nissan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中古：One2car（2026/2/6、2026/10/8観測）、Krungsri Research（2025/1/27）、iSeeCars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電池：Geotab（2026/1/13）、BloombergNEF（2024/12/10）、BYD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価格：BYD Rêver（2026年10月キャンペーン）、Toyota Thailand、各社の価格表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その他：McKinsey（2025年10月）、CPCA、Toyota（bZ3、2022/10/24）、Bangkok Post、FTI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社内：MarkLines（ASEAN車種別月次販売）、S&amp;P（車種別の発売・改良時期）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OEM Research">
  <a:themeElements>
    <a:clrScheme name="Thai OEM Research">
      <a:dk1>
        <a:srgbClr val="333333"/>
      </a:dk1>
      <a:lt1>
        <a:srgbClr val="FFFFFF"/>
      </a:lt1>
      <a:dk2>
        <a:srgbClr val="3F3F3F"/>
      </a:dk2>
      <a:lt2>
        <a:srgbClr val="F2F2F2"/>
      </a:lt2>
      <a:accent1>
        <a:srgbClr val="4472C4"/>
      </a:accent1>
      <a:accent2>
        <a:srgbClr val="E8604C"/>
      </a:accent2>
      <a:accent3>
        <a:srgbClr val="3FB2AB"/>
      </a:accent3>
      <a:accent4>
        <a:srgbClr val="7F7F7F"/>
      </a:accent4>
      <a:accent5>
        <a:srgbClr val="EEF3FB"/>
      </a:accent5>
      <a:accent6>
        <a:srgbClr val="D3F0ED"/>
      </a:accent6>
      <a:hlink>
        <a:srgbClr val="2F5597"/>
      </a:hlink>
      <a:folHlink>
        <a:srgbClr val="7F7F7F"/>
      </a:folHlink>
    </a:clrScheme>
    <a:fontScheme name="Thai OEM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タイ市場における中国系OEMの台頭と日系の戦略</dc:title>
  <dc:subject>PptxGenJS Presentation</dc:subject>
  <dc:creator>[発表者名]</dc:creator>
  <cp:lastModifiedBy>[発表者名]</cp:lastModifiedBy>
  <cp:revision>1</cp:revision>
  <dcterms:created xsi:type="dcterms:W3CDTF">2026-10-15T04:45:40Z</dcterms:created>
  <dcterms:modified xsi:type="dcterms:W3CDTF">2026-10-15T04:45:40Z</dcterms:modified>
</cp:coreProperties>
</file>