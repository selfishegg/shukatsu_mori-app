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中国系OEMが東南アジアで台頭している理由と、その強み・弱みを検証するにあたり、本日立てた仮説と検証方針を報告する。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イはGasgooの集計で、中国系の比率が2021年の4.0%から2025年に21.5%へ上昇した。日系は2025年に69.3%となり、初めて7割を下回った（MarkLinesも同値）。2026年1〜7月の日系比率は61.8%まで下がったとの報道もある（Wedge）。インドネシアはGAIKINDOの卸売ベースで、中国系が2024年1〜3月の3.83%から2025年1〜3月に約10%、2026年1〜3月に17.6%へ上昇した。マレーシアはJPJの登録ベースで、吉利が出資する国産ブランドのプロトンは中国系の集計に含めていない。タイのBEV・HEV登録の比率は、JETROが陸運局（DLT）のデータを集計した2026年1〜6月の値である。伸びがBEVに集中している点が、以降の仮説の出発点と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仮説は三つの要素からなる。中国系は刷新の頻度が高く、新モデルの立ち上がりが速く（κが大きい）、減衰も速い（λが大きい）。日系はその逆で、刷新の間隔が長く、緩やかに立ち上がって長く売れる。概念図のパラメータは仮置きで、中国系はκ=0.9/月・λ=0.07/月（半減期約10か月）、日系はκ=0.35/月・λ=0.02/月（半減期約35か月）とした。この設定では1モデルあたりの累積販売は日系が中国系の約3.6倍となり、中国系は日系の数倍の頻度で新モデルを出さなければ同じシェアを保てない。このため、刷新頻度とκ・λはセットで確か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立ち上がり：中国製EVは同クラスの内燃機関車より安い価格帯で投入されている（JETRO）。タイのEV3.0は電池容量30kWh超のBEVに1台15万バーツを補助した。減衰：中国のEVメーカーの開発期間は約20か月で、従来メーカーの約40か月の半分である（AlixPartners, 2024）。2025年半ば時点で、タイには十数の中国ブランドが参入している（Rhodium Group）。値下げ競争で中古EVの価格が下がり、残価への懸念が出ている（Global Fleet）。日系：タイのHEV乗用車登録の97.8%（2026年1〜6月、JETRO）と1トンピックアップの約8割を日系が占める。残価の安定は仮説であり、中古車価格のデータで確かめる。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Pのデータで各車種のフルモデルチェンジとマイナーチェンジの時期を特定し、MarkLinesの月次販売と車種名で結合する。S&amp;Pの時期が生産開始を指す場合、東南アジアでの発売とずれる可能性があるため、起点は各国で販売が立ち上がった月と照合して決める。フルモデルチェンジとマイナーチェンジは分けて集計する。③では Y(t)=A(1−e^(−κt))e^(−λt) を当てはめ、半減期 ln2/λ も求める。④は刷新間隔とλの関係を車種横断の回帰で確かめる。刷新間隔が短いほどλが大きければ、刷新は鮮度低下を補う手段とみられる。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価格は値下げの時期と幅を変数として推定に組み込み、値下げによる販売の下支えを除いてλを比べる。中古車価格は同じ車種の経過年数ごとの残価率を比べ、日系の持続力の背景を確かめる。補助金は、タイのEV3.0の期限前後（2025年末〜2026年初）のように駆け込みと反動が大きい期間を区別するのに使う。新車登録台数はタイ陸運局やマレーシアのdata.gov.myが公開しており、MarkLinesの販売台数との差を確かめられる。検索量はGoogleトレンドで車種名の関心度を月次で取り、販売とは別の指標で鮮度の減衰を測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次回は、作成中のデータベースから刷新後の販売推移を集計し、中国系と日系のカーブを比べた結果を報告する。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17600"/>
            <a:ext cx="10566400" cy="425450"/>
          </a:xfrm>
          <a:prstGeom prst="rect">
            <a:avLst/>
          </a:prstGeom>
          <a:noFill/>
          <a:ln/>
        </p:spPr>
        <p:txBody>
          <a:bodyPr wrap="square" lIns="0" tIns="0" rIns="0" bIns="0" rtlCol="0" anchor="t"/>
          <a:lstStyle>
            <a:lvl1pPr algn="l" indent="0" marL="0">
              <a:lnSpc>
                <a:spcPct val="115000"/>
              </a:lnSpc>
              <a:buNone/>
              <a:defRPr lang="en-US" sz="2800" dirty="0">
                <a:solidFill>
                  <a:srgbClr val="1D1F22"/>
                </a:solidFill>
                <a:latin typeface="Arial" pitchFamily="34" charset="0"/>
                <a:ea typeface="Arial" pitchFamily="34" charset="-122"/>
                <a:cs typeface="Arial"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47850"/>
            <a:ext cx="10566400" cy="4197350"/>
          </a:xfrm>
          <a:prstGeom prst="rect">
            <a:avLst/>
          </a:prstGeom>
          <a:noFill/>
          <a:ln/>
        </p:spPr>
        <p:txBody>
          <a:bodyPr wrap="square" lIns="0" tIns="0" rIns="0" bIns="0" rtlCol="0" anchor="t"/>
          <a:lstStyle>
            <a:lvl1pPr algn="l" indent="0" marL="0">
              <a:lnSpc>
                <a:spcPct val="140000"/>
              </a:lnSpc>
              <a:buNone/>
              <a:defRPr lang="en-US" sz="1600" dirty="0">
                <a:solidFill>
                  <a:srgbClr val="1D1F22"/>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17600"/>
            <a:ext cx="10566400" cy="425450"/>
          </a:xfrm>
          <a:prstGeom prst="rect">
            <a:avLst/>
          </a:prstGeom>
          <a:noFill/>
          <a:ln/>
        </p:spPr>
        <p:txBody>
          <a:bodyPr wrap="square" lIns="0" tIns="0" rIns="0" bIns="0" rtlCol="0" anchor="t"/>
          <a:lstStyle>
            <a:lvl1pPr algn="l" indent="0" marL="0">
              <a:lnSpc>
                <a:spcPct val="115000"/>
              </a:lnSpc>
              <a:buNone/>
              <a:defRPr lang="en-US" sz="2800" dirty="0">
                <a:solidFill>
                  <a:srgbClr val="1D1F22"/>
                </a:solidFill>
                <a:latin typeface="Arial" pitchFamily="34" charset="0"/>
                <a:ea typeface="Arial" pitchFamily="34" charset="-122"/>
                <a:cs typeface="Arial"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47850"/>
            <a:ext cx="10566400" cy="4197350"/>
          </a:xfrm>
          <a:prstGeom prst="rect">
            <a:avLst/>
          </a:prstGeom>
          <a:noFill/>
          <a:ln/>
        </p:spPr>
        <p:txBody>
          <a:bodyPr wrap="square" lIns="0" tIns="0" rIns="0" bIns="0" rtlCol="0" anchor="t"/>
          <a:lstStyle>
            <a:lvl1pPr algn="l" indent="0" marL="0">
              <a:lnSpc>
                <a:spcPct val="140000"/>
              </a:lnSpc>
              <a:buNone/>
              <a:defRPr lang="en-US" sz="1600" dirty="0">
                <a:solidFill>
                  <a:srgbClr val="1D1F22"/>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329"/>
        </a:solidFill>
      </p:bgPr>
    </p:bg>
    <p:spTree>
      <p:nvGrpSpPr>
        <p:cNvPr id="1" name=""/>
        <p:cNvGrpSpPr/>
        <p:nvPr/>
      </p:nvGrpSpPr>
      <p:grpSpPr>
        <a:xfrm>
          <a:off x="0" y="0"/>
          <a:ext cx="0" cy="0"/>
          <a:chOff x="0" y="0"/>
          <a:chExt cx="0" cy="0"/>
        </a:xfrm>
      </p:grpSpPr>
      <p:sp>
        <p:nvSpPr>
          <p:cNvPr id="2" name="Shape 0"/>
          <p:cNvSpPr/>
          <p:nvPr/>
        </p:nvSpPr>
        <p:spPr>
          <a:xfrm>
            <a:off x="812800" y="3308350"/>
            <a:ext cx="1016000" cy="38100"/>
          </a:xfrm>
          <a:prstGeom prst="rect">
            <a:avLst/>
          </a:prstGeom>
          <a:solidFill>
            <a:srgbClr val="8DB4E8"/>
          </a:solidFill>
          <a:ln/>
        </p:spPr>
      </p:sp>
      <p:sp>
        <p:nvSpPr>
          <p:cNvPr id="3" name="Text 1"/>
          <p:cNvSpPr/>
          <p:nvPr/>
        </p:nvSpPr>
        <p:spPr>
          <a:xfrm>
            <a:off x="812800" y="3600450"/>
            <a:ext cx="10883392" cy="27305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DB4E8"/>
                </a:solidFill>
                <a:latin typeface="Arial" pitchFamily="34" charset="0"/>
                <a:ea typeface="Arial" pitchFamily="34" charset="-122"/>
                <a:cs typeface="Arial" pitchFamily="34" charset="-120"/>
              </a:rPr>
              <a:t>本日の検討内容｜2026年10月5日</a:t>
            </a:r>
            <a:endParaRPr lang="en-US" sz="1400" dirty="0"/>
          </a:p>
        </p:txBody>
      </p:sp>
      <p:sp>
        <p:nvSpPr>
          <p:cNvPr id="4" name="Text 2"/>
          <p:cNvSpPr/>
          <p:nvPr>
            <p:ph type="title"/>
          </p:nvPr>
        </p:nvSpPr>
        <p:spPr>
          <a:xfrm>
            <a:off x="812800" y="4102100"/>
            <a:ext cx="10883392" cy="1358900"/>
          </a:xfrm>
          <a:prstGeom prst="rect">
            <a:avLst/>
          </a:prstGeom>
          <a:noFill/>
          <a:ln/>
        </p:spPr>
        <p:txBody>
          <a:bodyPr wrap="square" lIns="0" tIns="0" rIns="0" bIns="0" rtlCol="0" anchor="t">
            <a:normAutofit/>
          </a:bodyPr>
          <a:lstStyle/>
          <a:p>
            <a:pPr algn="l" indent="0" marL="0">
              <a:lnSpc>
                <a:spcPts val="5280"/>
              </a:lnSpc>
              <a:buNone/>
            </a:pPr>
            <a:r>
              <a:rPr lang="en-US" sz="4400" b="1" i="0" dirty="0">
                <a:solidFill>
                  <a:srgbClr val="F1EFEA"/>
                </a:solidFill>
                <a:latin typeface="Arial" pitchFamily="34" charset="0"/>
                <a:ea typeface="Arial" pitchFamily="34" charset="-122"/>
                <a:cs typeface="Arial" pitchFamily="34" charset="-120"/>
              </a:rPr>
              <a:t>東南アジアにおける</a:t>
            </a:r>
            <a:endParaRPr lang="en-US" sz="4400" dirty="0"/>
          </a:p>
          <a:p>
            <a:pPr algn="l" indent="0" marL="0">
              <a:lnSpc>
                <a:spcPts val="5280"/>
              </a:lnSpc>
              <a:buNone/>
            </a:pPr>
            <a:r>
              <a:rPr lang="en-US" sz="4400" b="1" i="0" dirty="0">
                <a:solidFill>
                  <a:srgbClr val="F1EFEA"/>
                </a:solidFill>
                <a:latin typeface="Arial" pitchFamily="34" charset="0"/>
                <a:ea typeface="Arial" pitchFamily="34" charset="-122"/>
                <a:cs typeface="Arial" pitchFamily="34" charset="-120"/>
              </a:rPr>
              <a:t>中国系OEM台頭の検証</a:t>
            </a:r>
            <a:endParaRPr lang="en-US" sz="4400" dirty="0"/>
          </a:p>
        </p:txBody>
      </p:sp>
      <p:sp>
        <p:nvSpPr>
          <p:cNvPr id="5" name="Text 3"/>
          <p:cNvSpPr/>
          <p:nvPr/>
        </p:nvSpPr>
        <p:spPr>
          <a:xfrm>
            <a:off x="812800" y="56896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CED6"/>
                </a:solidFill>
                <a:latin typeface="Arial" pitchFamily="34" charset="0"/>
                <a:ea typeface="Arial" pitchFamily="34" charset="-122"/>
                <a:cs typeface="Arial" pitchFamily="34" charset="-120"/>
              </a:rPr>
              <a:t>本日立てた仮説と、データ分析の方針</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540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457A6"/>
                </a:solidFill>
                <a:latin typeface="Arial" pitchFamily="34" charset="0"/>
                <a:ea typeface="Arial" pitchFamily="34" charset="-122"/>
                <a:cs typeface="Arial" pitchFamily="34" charset="-120"/>
              </a:rPr>
              <a:t>背景</a:t>
            </a:r>
            <a:endParaRPr lang="en-US" sz="1300" dirty="0"/>
          </a:p>
        </p:txBody>
      </p:sp>
      <p:sp>
        <p:nvSpPr>
          <p:cNvPr id="3" name="Text 1"/>
          <p:cNvSpPr/>
          <p:nvPr>
            <p:ph type="title"/>
          </p:nvPr>
        </p:nvSpPr>
        <p:spPr>
          <a:xfrm>
            <a:off x="812800" y="1117600"/>
            <a:ext cx="10883392" cy="45085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D1F22"/>
                </a:solidFill>
                <a:latin typeface="Arial" pitchFamily="34" charset="0"/>
                <a:ea typeface="Arial" pitchFamily="34" charset="-122"/>
                <a:cs typeface="Arial" pitchFamily="34" charset="-120"/>
              </a:rPr>
              <a:t>中国系OEMは東南アジア主要国でシェアを急速に伸ばしている</a:t>
            </a:r>
            <a:endParaRPr lang="en-US" sz="2800" dirty="0"/>
          </a:p>
        </p:txBody>
      </p:sp>
      <p:sp>
        <p:nvSpPr>
          <p:cNvPr id="4" name="Shape 2"/>
          <p:cNvSpPr/>
          <p:nvPr/>
        </p:nvSpPr>
        <p:spPr>
          <a:xfrm>
            <a:off x="812800" y="2006600"/>
            <a:ext cx="3251200" cy="0"/>
          </a:xfrm>
          <a:prstGeom prst="line">
            <a:avLst/>
          </a:prstGeom>
          <a:noFill/>
          <a:ln w="12700">
            <a:solidFill>
              <a:srgbClr val="CFCCC4"/>
            </a:solidFill>
            <a:prstDash val="solid"/>
          </a:ln>
        </p:spPr>
      </p:sp>
      <p:sp>
        <p:nvSpPr>
          <p:cNvPr id="5" name="Text 3"/>
          <p:cNvSpPr/>
          <p:nvPr/>
        </p:nvSpPr>
        <p:spPr>
          <a:xfrm>
            <a:off x="812800" y="2190750"/>
            <a:ext cx="3348736" cy="27940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D1F22"/>
                </a:solidFill>
                <a:latin typeface="Arial" pitchFamily="34" charset="0"/>
                <a:ea typeface="Arial" pitchFamily="34" charset="-122"/>
                <a:cs typeface="Arial" pitchFamily="34" charset="-120"/>
              </a:rPr>
              <a:t>タイ</a:t>
            </a:r>
            <a:endParaRPr lang="en-US" sz="1700" dirty="0"/>
          </a:p>
        </p:txBody>
      </p:sp>
      <p:sp>
        <p:nvSpPr>
          <p:cNvPr id="6" name="Text 4"/>
          <p:cNvSpPr/>
          <p:nvPr/>
        </p:nvSpPr>
        <p:spPr>
          <a:xfrm>
            <a:off x="812800" y="2533650"/>
            <a:ext cx="3348736"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2457A6"/>
                </a:solidFill>
                <a:latin typeface="Arial" pitchFamily="34" charset="0"/>
                <a:ea typeface="Arial" pitchFamily="34" charset="-122"/>
                <a:cs typeface="Arial" pitchFamily="34" charset="-120"/>
              </a:rPr>
              <a:t>21.5%</a:t>
            </a:r>
            <a:endParaRPr lang="en-US" sz="6000" dirty="0"/>
          </a:p>
        </p:txBody>
      </p:sp>
      <p:sp>
        <p:nvSpPr>
          <p:cNvPr id="7" name="Text 5"/>
          <p:cNvSpPr/>
          <p:nvPr/>
        </p:nvSpPr>
        <p:spPr>
          <a:xfrm>
            <a:off x="812800" y="3422650"/>
            <a:ext cx="3348736" cy="647700"/>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3E4247"/>
                </a:solidFill>
                <a:latin typeface="Arial" pitchFamily="34" charset="0"/>
                <a:ea typeface="Arial" pitchFamily="34" charset="-122"/>
                <a:cs typeface="Arial" pitchFamily="34" charset="-120"/>
              </a:rPr>
              <a:t>新車販売に占める比率</a:t>
            </a:r>
            <a:endParaRPr lang="en-US" sz="1700" dirty="0"/>
          </a:p>
          <a:p>
            <a:pPr algn="l" indent="0" marL="0">
              <a:lnSpc>
                <a:spcPts val="2465"/>
              </a:lnSpc>
              <a:buNone/>
            </a:pPr>
            <a:r>
              <a:rPr lang="en-US" sz="1700" dirty="0">
                <a:solidFill>
                  <a:srgbClr val="3E4247"/>
                </a:solidFill>
                <a:latin typeface="Arial" pitchFamily="34" charset="0"/>
                <a:ea typeface="Arial" pitchFamily="34" charset="-122"/>
                <a:cs typeface="Arial" pitchFamily="34" charset="-120"/>
              </a:rPr>
              <a:t>2025年。2021年は4.0%</a:t>
            </a:r>
            <a:endParaRPr lang="en-US" sz="1700" dirty="0"/>
          </a:p>
        </p:txBody>
      </p:sp>
      <p:sp>
        <p:nvSpPr>
          <p:cNvPr id="8" name="Shape 6"/>
          <p:cNvSpPr/>
          <p:nvPr/>
        </p:nvSpPr>
        <p:spPr>
          <a:xfrm>
            <a:off x="4470400" y="2006600"/>
            <a:ext cx="3251200" cy="0"/>
          </a:xfrm>
          <a:prstGeom prst="line">
            <a:avLst/>
          </a:prstGeom>
          <a:noFill/>
          <a:ln w="12700">
            <a:solidFill>
              <a:srgbClr val="CFCCC4"/>
            </a:solidFill>
            <a:prstDash val="solid"/>
          </a:ln>
        </p:spPr>
      </p:sp>
      <p:sp>
        <p:nvSpPr>
          <p:cNvPr id="9" name="Text 7"/>
          <p:cNvSpPr/>
          <p:nvPr/>
        </p:nvSpPr>
        <p:spPr>
          <a:xfrm>
            <a:off x="4470400" y="2190750"/>
            <a:ext cx="3348736" cy="27940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D1F22"/>
                </a:solidFill>
                <a:latin typeface="Arial" pitchFamily="34" charset="0"/>
                <a:ea typeface="Arial" pitchFamily="34" charset="-122"/>
                <a:cs typeface="Arial" pitchFamily="34" charset="-120"/>
              </a:rPr>
              <a:t>インドネシア</a:t>
            </a:r>
            <a:endParaRPr lang="en-US" sz="1700" dirty="0"/>
          </a:p>
        </p:txBody>
      </p:sp>
      <p:sp>
        <p:nvSpPr>
          <p:cNvPr id="10" name="Text 8"/>
          <p:cNvSpPr/>
          <p:nvPr/>
        </p:nvSpPr>
        <p:spPr>
          <a:xfrm>
            <a:off x="4470400" y="2533650"/>
            <a:ext cx="3348736"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2457A6"/>
                </a:solidFill>
                <a:latin typeface="Arial" pitchFamily="34" charset="0"/>
                <a:ea typeface="Arial" pitchFamily="34" charset="-122"/>
                <a:cs typeface="Arial" pitchFamily="34" charset="-120"/>
              </a:rPr>
              <a:t>17.6%</a:t>
            </a:r>
            <a:endParaRPr lang="en-US" sz="6000" dirty="0"/>
          </a:p>
        </p:txBody>
      </p:sp>
      <p:sp>
        <p:nvSpPr>
          <p:cNvPr id="11" name="Text 9"/>
          <p:cNvSpPr/>
          <p:nvPr/>
        </p:nvSpPr>
        <p:spPr>
          <a:xfrm>
            <a:off x="4470400" y="3422650"/>
            <a:ext cx="3348736" cy="647700"/>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3E4247"/>
                </a:solidFill>
                <a:latin typeface="Arial" pitchFamily="34" charset="0"/>
                <a:ea typeface="Arial" pitchFamily="34" charset="-122"/>
                <a:cs typeface="Arial" pitchFamily="34" charset="-120"/>
              </a:rPr>
              <a:t>卸売に占める比率</a:t>
            </a:r>
            <a:endParaRPr lang="en-US" sz="1700" dirty="0"/>
          </a:p>
          <a:p>
            <a:pPr algn="l" indent="0" marL="0">
              <a:lnSpc>
                <a:spcPts val="2465"/>
              </a:lnSpc>
              <a:buNone/>
            </a:pPr>
            <a:r>
              <a:rPr lang="en-US" sz="1700" dirty="0">
                <a:solidFill>
                  <a:srgbClr val="3E4247"/>
                </a:solidFill>
                <a:latin typeface="Arial" pitchFamily="34" charset="0"/>
                <a:ea typeface="Arial" pitchFamily="34" charset="-122"/>
                <a:cs typeface="Arial" pitchFamily="34" charset="-120"/>
              </a:rPr>
              <a:t>2026年1〜3月。2年前は約3.8%</a:t>
            </a:r>
            <a:endParaRPr lang="en-US" sz="1700" dirty="0"/>
          </a:p>
        </p:txBody>
      </p:sp>
      <p:sp>
        <p:nvSpPr>
          <p:cNvPr id="12" name="Shape 10"/>
          <p:cNvSpPr/>
          <p:nvPr/>
        </p:nvSpPr>
        <p:spPr>
          <a:xfrm>
            <a:off x="8128000" y="2006600"/>
            <a:ext cx="3251200" cy="0"/>
          </a:xfrm>
          <a:prstGeom prst="line">
            <a:avLst/>
          </a:prstGeom>
          <a:noFill/>
          <a:ln w="12700">
            <a:solidFill>
              <a:srgbClr val="CFCCC4"/>
            </a:solidFill>
            <a:prstDash val="solid"/>
          </a:ln>
        </p:spPr>
      </p:sp>
      <p:sp>
        <p:nvSpPr>
          <p:cNvPr id="13" name="Text 11"/>
          <p:cNvSpPr/>
          <p:nvPr/>
        </p:nvSpPr>
        <p:spPr>
          <a:xfrm>
            <a:off x="8128000" y="2190750"/>
            <a:ext cx="3348736" cy="27940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D1F22"/>
                </a:solidFill>
                <a:latin typeface="Arial" pitchFamily="34" charset="0"/>
                <a:ea typeface="Arial" pitchFamily="34" charset="-122"/>
                <a:cs typeface="Arial" pitchFamily="34" charset="-120"/>
              </a:rPr>
              <a:t>マレーシア</a:t>
            </a:r>
            <a:endParaRPr lang="en-US" sz="1700" dirty="0"/>
          </a:p>
        </p:txBody>
      </p:sp>
      <p:sp>
        <p:nvSpPr>
          <p:cNvPr id="14" name="Text 12"/>
          <p:cNvSpPr/>
          <p:nvPr/>
        </p:nvSpPr>
        <p:spPr>
          <a:xfrm>
            <a:off x="8128000" y="2533650"/>
            <a:ext cx="3348736"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2457A6"/>
                </a:solidFill>
                <a:latin typeface="Arial" pitchFamily="34" charset="0"/>
                <a:ea typeface="Arial" pitchFamily="34" charset="-122"/>
                <a:cs typeface="Arial" pitchFamily="34" charset="-120"/>
              </a:rPr>
              <a:t>7.6%</a:t>
            </a:r>
            <a:endParaRPr lang="en-US" sz="6000" dirty="0"/>
          </a:p>
        </p:txBody>
      </p:sp>
      <p:sp>
        <p:nvSpPr>
          <p:cNvPr id="15" name="Text 13"/>
          <p:cNvSpPr/>
          <p:nvPr/>
        </p:nvSpPr>
        <p:spPr>
          <a:xfrm>
            <a:off x="8128000" y="3422650"/>
            <a:ext cx="3348736" cy="647700"/>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3E4247"/>
                </a:solidFill>
                <a:latin typeface="Arial" pitchFamily="34" charset="0"/>
                <a:ea typeface="Arial" pitchFamily="34" charset="-122"/>
                <a:cs typeface="Arial" pitchFamily="34" charset="-120"/>
              </a:rPr>
              <a:t>新規登録に占める比率</a:t>
            </a:r>
            <a:endParaRPr lang="en-US" sz="1700" dirty="0"/>
          </a:p>
          <a:p>
            <a:pPr algn="l" indent="0" marL="0">
              <a:lnSpc>
                <a:spcPts val="2465"/>
              </a:lnSpc>
              <a:buNone/>
            </a:pPr>
            <a:r>
              <a:rPr lang="en-US" sz="1700" dirty="0">
                <a:solidFill>
                  <a:srgbClr val="3E4247"/>
                </a:solidFill>
                <a:latin typeface="Arial" pitchFamily="34" charset="0"/>
                <a:ea typeface="Arial" pitchFamily="34" charset="-122"/>
                <a:cs typeface="Arial" pitchFamily="34" charset="-120"/>
              </a:rPr>
              <a:t>2025年。2022年は0.08%</a:t>
            </a:r>
            <a:endParaRPr lang="en-US" sz="1700" dirty="0"/>
          </a:p>
        </p:txBody>
      </p:sp>
      <p:sp>
        <p:nvSpPr>
          <p:cNvPr id="16" name="Shape 14"/>
          <p:cNvSpPr/>
          <p:nvPr/>
        </p:nvSpPr>
        <p:spPr>
          <a:xfrm>
            <a:off x="812800" y="4508500"/>
            <a:ext cx="10566400" cy="0"/>
          </a:xfrm>
          <a:prstGeom prst="line">
            <a:avLst/>
          </a:prstGeom>
          <a:noFill/>
          <a:ln w="12700">
            <a:solidFill>
              <a:srgbClr val="CFCCC4"/>
            </a:solidFill>
            <a:prstDash val="solid"/>
          </a:ln>
        </p:spPr>
      </p:sp>
      <p:sp>
        <p:nvSpPr>
          <p:cNvPr id="17" name="Text 15"/>
          <p:cNvSpPr/>
          <p:nvPr/>
        </p:nvSpPr>
        <p:spPr>
          <a:xfrm>
            <a:off x="812800" y="4692650"/>
            <a:ext cx="10883392" cy="711200"/>
          </a:xfrm>
          <a:prstGeom prst="rect">
            <a:avLst/>
          </a:prstGeom>
          <a:noFill/>
          <a:ln/>
        </p:spPr>
        <p:txBody>
          <a:bodyPr wrap="square" lIns="0" tIns="0" rIns="0" bIns="0" rtlCol="0" anchor="t">
            <a:normAutofit/>
          </a:bodyPr>
          <a:lstStyle/>
          <a:p>
            <a:pPr algn="l" indent="0" marL="0">
              <a:lnSpc>
                <a:spcPts val="2700"/>
              </a:lnSpc>
              <a:buNone/>
            </a:pPr>
            <a:r>
              <a:rPr lang="en-US" sz="1800" dirty="0">
                <a:solidFill>
                  <a:srgbClr val="1D1F22"/>
                </a:solidFill>
                <a:latin typeface="Arial" pitchFamily="34" charset="0"/>
                <a:ea typeface="Arial" pitchFamily="34" charset="-122"/>
                <a:cs typeface="Arial" pitchFamily="34" charset="-120"/>
              </a:rPr>
              <a:t>伸びの中心はBEVである。タイでは乗用車のBEV登録の90.0%を中国系、HEV登録の97.8%を日系が占める（2026年1〜6月）</a:t>
            </a:r>
            <a:endParaRPr lang="en-US" sz="1800" dirty="0"/>
          </a:p>
        </p:txBody>
      </p:sp>
      <p:sp>
        <p:nvSpPr>
          <p:cNvPr id="18" name="Text 16"/>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E73"/>
                </a:solidFill>
                <a:latin typeface="Arial" pitchFamily="34" charset="0"/>
                <a:ea typeface="Arial" pitchFamily="34" charset="-122"/>
                <a:cs typeface="Arial" pitchFamily="34" charset="-120"/>
              </a:rPr>
              <a:t>出典：Gasgoo（タイ）／Jakarta Globe、新華社（インドネシア）／paultan.org（マレーシア）／JETRO（BEV・HEV）</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329"/>
        </a:solidFill>
      </p:bgPr>
    </p:bg>
    <p:spTree>
      <p:nvGrpSpPr>
        <p:cNvPr id="1" name=""/>
        <p:cNvGrpSpPr/>
        <p:nvPr/>
      </p:nvGrpSpPr>
      <p:grpSpPr>
        <a:xfrm>
          <a:off x="0" y="0"/>
          <a:ext cx="0" cy="0"/>
          <a:chOff x="0" y="0"/>
          <a:chExt cx="0" cy="0"/>
        </a:xfrm>
      </p:grpSpPr>
      <p:sp>
        <p:nvSpPr>
          <p:cNvPr id="2" name="Text 0"/>
          <p:cNvSpPr/>
          <p:nvPr/>
        </p:nvSpPr>
        <p:spPr>
          <a:xfrm>
            <a:off x="812800" y="812800"/>
            <a:ext cx="10883392" cy="2540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8DB4E8"/>
                </a:solidFill>
                <a:latin typeface="Arial" pitchFamily="34" charset="0"/>
                <a:ea typeface="Arial" pitchFamily="34" charset="-122"/>
                <a:cs typeface="Arial" pitchFamily="34" charset="-120"/>
              </a:rPr>
              <a:t>本日の仮説</a:t>
            </a:r>
            <a:endParaRPr lang="en-US" sz="1300" dirty="0"/>
          </a:p>
        </p:txBody>
      </p:sp>
      <p:sp>
        <p:nvSpPr>
          <p:cNvPr id="3" name="Text 1"/>
          <p:cNvSpPr/>
          <p:nvPr>
            <p:ph type="title"/>
          </p:nvPr>
        </p:nvSpPr>
        <p:spPr>
          <a:xfrm>
            <a:off x="812800" y="1117600"/>
            <a:ext cx="10883392" cy="87630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F1EFEA"/>
                </a:solidFill>
                <a:latin typeface="Arial" pitchFamily="34" charset="0"/>
                <a:ea typeface="Arial" pitchFamily="34" charset="-122"/>
                <a:cs typeface="Arial" pitchFamily="34" charset="-120"/>
              </a:rPr>
              <a:t>中国系は「高速回転型」、日系は「ロングセラー型」の</a:t>
            </a:r>
            <a:endParaRPr lang="en-US" sz="2800" dirty="0"/>
          </a:p>
          <a:p>
            <a:pPr algn="l" indent="0" marL="0">
              <a:lnSpc>
                <a:spcPts val="3360"/>
              </a:lnSpc>
              <a:buNone/>
            </a:pPr>
            <a:r>
              <a:rPr lang="en-US" sz="2800" b="1" i="0" dirty="0">
                <a:solidFill>
                  <a:srgbClr val="F1EFEA"/>
                </a:solidFill>
                <a:latin typeface="Arial" pitchFamily="34" charset="0"/>
                <a:ea typeface="Arial" pitchFamily="34" charset="-122"/>
                <a:cs typeface="Arial" pitchFamily="34" charset="-120"/>
              </a:rPr>
              <a:t>販売カーブを描く</a:t>
            </a:r>
            <a:endParaRPr lang="en-US" sz="2800" dirty="0"/>
          </a:p>
        </p:txBody>
      </p:sp>
      <p:pic>
        <p:nvPicPr>
          <p:cNvPr id="4" name="Image 0" descr="概念図。中国系の販売カーブは早く立ち上がって早く減衰し、日系の販売カーブは緩やかに立ち上がって長く続く">    </p:cNvPr>
          <p:cNvPicPr>
            <a:picLocks noChangeAspect="1"/>
          </p:cNvPicPr>
          <p:nvPr/>
        </p:nvPicPr>
        <p:blipFill>
          <a:blip r:embed="rId1"/>
          <a:srcRect l="0" r="0" t="0" b="0"/>
          <a:stretch/>
        </p:blipFill>
        <p:spPr>
          <a:xfrm>
            <a:off x="812800" y="2273300"/>
            <a:ext cx="6096000" cy="2857500"/>
          </a:xfrm>
          <a:prstGeom prst="rect">
            <a:avLst/>
          </a:prstGeom>
        </p:spPr>
      </p:pic>
      <p:sp>
        <p:nvSpPr>
          <p:cNvPr id="5" name="Text 2"/>
          <p:cNvSpPr/>
          <p:nvPr/>
        </p:nvSpPr>
        <p:spPr>
          <a:xfrm>
            <a:off x="1244600" y="2273300"/>
            <a:ext cx="15748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4BB"/>
                </a:solidFill>
                <a:latin typeface="Arial" pitchFamily="34" charset="0"/>
                <a:ea typeface="Arial" pitchFamily="34" charset="-122"/>
                <a:cs typeface="Arial" pitchFamily="34" charset="-120"/>
              </a:rPr>
              <a:t>販売（シェア）</a:t>
            </a:r>
            <a:endParaRPr lang="en-US" sz="1200" dirty="0"/>
          </a:p>
        </p:txBody>
      </p:sp>
      <p:sp>
        <p:nvSpPr>
          <p:cNvPr id="6" name="Text 3"/>
          <p:cNvSpPr/>
          <p:nvPr/>
        </p:nvSpPr>
        <p:spPr>
          <a:xfrm>
            <a:off x="952500" y="4965700"/>
            <a:ext cx="431800" cy="23495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EB4BB"/>
                </a:solidFill>
                <a:latin typeface="Arial" pitchFamily="34" charset="0"/>
                <a:ea typeface="Arial" pitchFamily="34" charset="-122"/>
                <a:cs typeface="Arial" pitchFamily="34" charset="-120"/>
              </a:rPr>
              <a:t>0</a:t>
            </a:r>
            <a:endParaRPr lang="en-US" sz="1200" dirty="0"/>
          </a:p>
        </p:txBody>
      </p:sp>
      <p:sp>
        <p:nvSpPr>
          <p:cNvPr id="7" name="Text 4"/>
          <p:cNvSpPr/>
          <p:nvPr/>
        </p:nvSpPr>
        <p:spPr>
          <a:xfrm>
            <a:off x="2813050" y="4965700"/>
            <a:ext cx="431800" cy="23495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EB4BB"/>
                </a:solidFill>
                <a:latin typeface="Arial" pitchFamily="34" charset="0"/>
                <a:ea typeface="Arial" pitchFamily="34" charset="-122"/>
                <a:cs typeface="Arial" pitchFamily="34" charset="-120"/>
              </a:rPr>
              <a:t>12</a:t>
            </a:r>
            <a:endParaRPr lang="en-US" sz="1200" dirty="0"/>
          </a:p>
        </p:txBody>
      </p:sp>
      <p:sp>
        <p:nvSpPr>
          <p:cNvPr id="8" name="Text 5"/>
          <p:cNvSpPr/>
          <p:nvPr/>
        </p:nvSpPr>
        <p:spPr>
          <a:xfrm>
            <a:off x="4679950" y="4965700"/>
            <a:ext cx="431800" cy="23495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EB4BB"/>
                </a:solidFill>
                <a:latin typeface="Arial" pitchFamily="34" charset="0"/>
                <a:ea typeface="Arial" pitchFamily="34" charset="-122"/>
                <a:cs typeface="Arial" pitchFamily="34" charset="-120"/>
              </a:rPr>
              <a:t>24</a:t>
            </a:r>
            <a:endParaRPr lang="en-US" sz="1200" dirty="0"/>
          </a:p>
        </p:txBody>
      </p:sp>
      <p:sp>
        <p:nvSpPr>
          <p:cNvPr id="9" name="Text 6"/>
          <p:cNvSpPr/>
          <p:nvPr/>
        </p:nvSpPr>
        <p:spPr>
          <a:xfrm>
            <a:off x="6502400" y="4965700"/>
            <a:ext cx="431800" cy="23495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EB4BB"/>
                </a:solidFill>
                <a:latin typeface="Arial" pitchFamily="34" charset="0"/>
                <a:ea typeface="Arial" pitchFamily="34" charset="-122"/>
                <a:cs typeface="Arial" pitchFamily="34" charset="-120"/>
              </a:rPr>
              <a:t>36</a:t>
            </a:r>
            <a:endParaRPr lang="en-US" sz="1200" dirty="0"/>
          </a:p>
        </p:txBody>
      </p:sp>
      <p:sp>
        <p:nvSpPr>
          <p:cNvPr id="10" name="Text 7"/>
          <p:cNvSpPr/>
          <p:nvPr/>
        </p:nvSpPr>
        <p:spPr>
          <a:xfrm>
            <a:off x="3773932" y="5207000"/>
            <a:ext cx="2982468"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EB4BB"/>
                </a:solidFill>
                <a:latin typeface="Arial" pitchFamily="34" charset="0"/>
                <a:ea typeface="Arial" pitchFamily="34" charset="-122"/>
                <a:cs typeface="Arial" pitchFamily="34" charset="-120"/>
              </a:rPr>
              <a:t>発売後の経過月数</a:t>
            </a:r>
            <a:endParaRPr lang="en-US" sz="1200" dirty="0"/>
          </a:p>
        </p:txBody>
      </p:sp>
      <p:sp>
        <p:nvSpPr>
          <p:cNvPr id="11" name="Text 8"/>
          <p:cNvSpPr/>
          <p:nvPr/>
        </p:nvSpPr>
        <p:spPr>
          <a:xfrm>
            <a:off x="5892800" y="2857500"/>
            <a:ext cx="939800"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D5D8DC"/>
                </a:solidFill>
                <a:latin typeface="Arial" pitchFamily="34" charset="0"/>
                <a:ea typeface="Arial" pitchFamily="34" charset="-122"/>
                <a:cs typeface="Arial" pitchFamily="34" charset="-120"/>
              </a:rPr>
              <a:t>日系</a:t>
            </a:r>
            <a:endParaRPr lang="en-US" sz="1400" dirty="0"/>
          </a:p>
        </p:txBody>
      </p:sp>
      <p:sp>
        <p:nvSpPr>
          <p:cNvPr id="12" name="Text 9"/>
          <p:cNvSpPr/>
          <p:nvPr/>
        </p:nvSpPr>
        <p:spPr>
          <a:xfrm>
            <a:off x="5892800" y="4127500"/>
            <a:ext cx="939800"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DB4E8"/>
                </a:solidFill>
                <a:latin typeface="Arial" pitchFamily="34" charset="0"/>
                <a:ea typeface="Arial" pitchFamily="34" charset="-122"/>
                <a:cs typeface="Arial" pitchFamily="34" charset="-120"/>
              </a:rPr>
              <a:t>中国系</a:t>
            </a:r>
            <a:endParaRPr lang="en-US" sz="1400" dirty="0"/>
          </a:p>
        </p:txBody>
      </p:sp>
      <p:pic>
        <p:nvPicPr>
          <p:cNvPr id="13" name="Image 1" descr="Y(t) = A (1 − e^{−κt}) e^{−λt}">    </p:cNvPr>
          <p:cNvPicPr>
            <a:picLocks noChangeAspect="1"/>
          </p:cNvPicPr>
          <p:nvPr/>
        </p:nvPicPr>
        <p:blipFill>
          <a:blip r:embed="rId2"/>
          <a:srcRect l="0" r="0" t="-325" b="-325"/>
          <a:stretch/>
        </p:blipFill>
        <p:spPr>
          <a:xfrm>
            <a:off x="7315200" y="2273300"/>
            <a:ext cx="3562350" cy="527050"/>
          </a:xfrm>
          <a:prstGeom prst="rect">
            <a:avLst/>
          </a:prstGeom>
        </p:spPr>
      </p:pic>
      <p:sp>
        <p:nvSpPr>
          <p:cNvPr id="14" name="Text 10"/>
          <p:cNvSpPr/>
          <p:nvPr/>
        </p:nvSpPr>
        <p:spPr>
          <a:xfrm>
            <a:off x="7315200" y="2851150"/>
            <a:ext cx="2975928" cy="73025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AEB4BB"/>
                </a:solidFill>
                <a:latin typeface="Arial" pitchFamily="34" charset="0"/>
                <a:ea typeface="Arial" pitchFamily="34" charset="-122"/>
                <a:cs typeface="Arial" pitchFamily="34" charset="-120"/>
              </a:rPr>
              <a:t>κ：立ち上がりの速さ（浸透速度）</a:t>
            </a:r>
            <a:endParaRPr lang="en-US" sz="1300" dirty="0"/>
          </a:p>
          <a:p>
            <a:pPr algn="l" indent="0" marL="0">
              <a:lnSpc>
                <a:spcPts val="1885"/>
              </a:lnSpc>
              <a:buNone/>
            </a:pPr>
            <a:r>
              <a:rPr lang="en-US" sz="1300" dirty="0">
                <a:solidFill>
                  <a:srgbClr val="AEB4BB"/>
                </a:solidFill>
                <a:latin typeface="Arial" pitchFamily="34" charset="0"/>
                <a:ea typeface="Arial" pitchFamily="34" charset="-122"/>
                <a:cs typeface="Arial" pitchFamily="34" charset="-120"/>
              </a:rPr>
              <a:t>λ：売れ行きが落ちる速さ（減衰速度）</a:t>
            </a:r>
            <a:endParaRPr lang="en-US" sz="1300" dirty="0"/>
          </a:p>
        </p:txBody>
      </p:sp>
      <p:sp>
        <p:nvSpPr>
          <p:cNvPr id="15" name="Text 11"/>
          <p:cNvSpPr/>
          <p:nvPr/>
        </p:nvSpPr>
        <p:spPr>
          <a:xfrm>
            <a:off x="7315200" y="3733800"/>
            <a:ext cx="4185920" cy="27940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DB4E8"/>
                </a:solidFill>
                <a:latin typeface="Arial" pitchFamily="34" charset="0"/>
                <a:ea typeface="Arial" pitchFamily="34" charset="-122"/>
                <a:cs typeface="Arial" pitchFamily="34" charset="-120"/>
              </a:rPr>
              <a:t>中国系：高速回転型</a:t>
            </a:r>
            <a:endParaRPr lang="en-US" sz="1700" dirty="0"/>
          </a:p>
        </p:txBody>
      </p:sp>
      <p:sp>
        <p:nvSpPr>
          <p:cNvPr id="16" name="Text 12"/>
          <p:cNvSpPr/>
          <p:nvPr/>
        </p:nvSpPr>
        <p:spPr>
          <a:xfrm>
            <a:off x="7315200" y="4025900"/>
            <a:ext cx="418592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D9DCE0"/>
                </a:solidFill>
                <a:latin typeface="Arial" pitchFamily="34" charset="0"/>
                <a:ea typeface="Arial" pitchFamily="34" charset="-122"/>
                <a:cs typeface="Arial" pitchFamily="34" charset="-120"/>
              </a:rPr>
              <a:t>刷新を重ね、速く立ち上がって速く減衰する</a:t>
            </a:r>
            <a:endParaRPr lang="en-US" sz="1400" dirty="0"/>
          </a:p>
        </p:txBody>
      </p:sp>
      <p:sp>
        <p:nvSpPr>
          <p:cNvPr id="17" name="Text 13"/>
          <p:cNvSpPr/>
          <p:nvPr/>
        </p:nvSpPr>
        <p:spPr>
          <a:xfrm>
            <a:off x="7315200" y="4470400"/>
            <a:ext cx="4185920" cy="27940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D5D8DC"/>
                </a:solidFill>
                <a:latin typeface="Arial" pitchFamily="34" charset="0"/>
                <a:ea typeface="Arial" pitchFamily="34" charset="-122"/>
                <a:cs typeface="Arial" pitchFamily="34" charset="-120"/>
              </a:rPr>
              <a:t>日系：ロングセラー型</a:t>
            </a:r>
            <a:endParaRPr lang="en-US" sz="1700" dirty="0"/>
          </a:p>
        </p:txBody>
      </p:sp>
      <p:sp>
        <p:nvSpPr>
          <p:cNvPr id="18" name="Text 14"/>
          <p:cNvSpPr/>
          <p:nvPr/>
        </p:nvSpPr>
        <p:spPr>
          <a:xfrm>
            <a:off x="7315200" y="4762500"/>
            <a:ext cx="418592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D9DCE0"/>
                </a:solidFill>
                <a:latin typeface="Arial" pitchFamily="34" charset="0"/>
                <a:ea typeface="Arial" pitchFamily="34" charset="-122"/>
                <a:cs typeface="Arial" pitchFamily="34" charset="-120"/>
              </a:rPr>
              <a:t>刷新は少なく、緩やかに立ち上がって長く売れる</a:t>
            </a:r>
            <a:endParaRPr lang="en-US" sz="1400" dirty="0"/>
          </a:p>
        </p:txBody>
      </p:sp>
      <p:sp>
        <p:nvSpPr>
          <p:cNvPr id="19" name="Shape 15"/>
          <p:cNvSpPr/>
          <p:nvPr/>
        </p:nvSpPr>
        <p:spPr>
          <a:xfrm>
            <a:off x="7315200" y="5213350"/>
            <a:ext cx="4064000" cy="0"/>
          </a:xfrm>
          <a:prstGeom prst="line">
            <a:avLst/>
          </a:prstGeom>
          <a:noFill/>
          <a:ln w="12700">
            <a:solidFill>
              <a:srgbClr val="3A424B"/>
            </a:solidFill>
            <a:prstDash val="solid"/>
          </a:ln>
        </p:spPr>
      </p:sp>
      <p:pic>
        <p:nvPicPr>
          <p:cNvPr id="20" name="Image 2" descr="κ_CN &gt; κ_JP、λ_CN &gt; λ_JP">    </p:cNvPr>
          <p:cNvPicPr>
            <a:picLocks noChangeAspect="1"/>
          </p:cNvPicPr>
          <p:nvPr/>
        </p:nvPicPr>
        <p:blipFill>
          <a:blip r:embed="rId3"/>
          <a:srcRect l="0" r="0" t="-411" b="-411"/>
          <a:stretch/>
        </p:blipFill>
        <p:spPr>
          <a:xfrm>
            <a:off x="7315200" y="5372100"/>
            <a:ext cx="3575050" cy="381000"/>
          </a:xfrm>
          <a:prstGeom prst="rect">
            <a:avLst/>
          </a:prstGeom>
        </p:spPr>
      </p:pic>
      <p:sp>
        <p:nvSpPr>
          <p:cNvPr id="21" name="Text 16"/>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4BB"/>
                </a:solidFill>
                <a:latin typeface="Arial" pitchFamily="34" charset="0"/>
                <a:ea typeface="Arial" pitchFamily="34" charset="-122"/>
                <a:cs typeface="Arial" pitchFamily="34" charset="-120"/>
              </a:rPr>
              <a:t>図は仮置きのパラメータで描いた概念図。CN：中国系、JP：日系</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540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457A6"/>
                </a:solidFill>
                <a:latin typeface="Arial" pitchFamily="34" charset="0"/>
                <a:ea typeface="Arial" pitchFamily="34" charset="-122"/>
                <a:cs typeface="Arial" pitchFamily="34" charset="-120"/>
              </a:rPr>
              <a:t>仮説の背景</a:t>
            </a:r>
            <a:endParaRPr lang="en-US" sz="1300" dirty="0"/>
          </a:p>
        </p:txBody>
      </p:sp>
      <p:sp>
        <p:nvSpPr>
          <p:cNvPr id="3" name="Text 1"/>
          <p:cNvSpPr/>
          <p:nvPr>
            <p:ph type="title"/>
          </p:nvPr>
        </p:nvSpPr>
        <p:spPr>
          <a:xfrm>
            <a:off x="812800" y="1117600"/>
            <a:ext cx="10883392" cy="45085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D1F22"/>
                </a:solidFill>
                <a:latin typeface="Arial" pitchFamily="34" charset="0"/>
                <a:ea typeface="Arial" pitchFamily="34" charset="-122"/>
                <a:cs typeface="Arial" pitchFamily="34" charset="-120"/>
              </a:rPr>
              <a:t>中国系と日系で販売カーブの形が異なると考える理由</a:t>
            </a:r>
            <a:endParaRPr lang="en-US" sz="2800" dirty="0"/>
          </a:p>
        </p:txBody>
      </p:sp>
      <p:sp>
        <p:nvSpPr>
          <p:cNvPr id="4" name="Shape 2"/>
          <p:cNvSpPr/>
          <p:nvPr/>
        </p:nvSpPr>
        <p:spPr>
          <a:xfrm>
            <a:off x="812800" y="1968500"/>
            <a:ext cx="3251200" cy="0"/>
          </a:xfrm>
          <a:prstGeom prst="line">
            <a:avLst/>
          </a:prstGeom>
          <a:noFill/>
          <a:ln w="38100">
            <a:solidFill>
              <a:srgbClr val="2457A6"/>
            </a:solidFill>
            <a:prstDash val="solid"/>
          </a:ln>
        </p:spPr>
      </p:sp>
      <p:sp>
        <p:nvSpPr>
          <p:cNvPr id="5" name="Text 3"/>
          <p:cNvSpPr/>
          <p:nvPr/>
        </p:nvSpPr>
        <p:spPr>
          <a:xfrm>
            <a:off x="812800" y="2139950"/>
            <a:ext cx="3348736" cy="31115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2457A6"/>
                </a:solidFill>
                <a:latin typeface="Arial" pitchFamily="34" charset="0"/>
                <a:ea typeface="Arial" pitchFamily="34" charset="-122"/>
                <a:cs typeface="Arial" pitchFamily="34" charset="-120"/>
              </a:rPr>
              <a:t>中国系の立ち上がりが速い</a:t>
            </a:r>
            <a:endParaRPr lang="en-US" sz="1900" dirty="0"/>
          </a:p>
        </p:txBody>
      </p:sp>
      <p:sp>
        <p:nvSpPr>
          <p:cNvPr id="6" name="Text 4"/>
          <p:cNvSpPr/>
          <p:nvPr/>
        </p:nvSpPr>
        <p:spPr>
          <a:xfrm>
            <a:off x="868934" y="2552700"/>
            <a:ext cx="3284982" cy="1187450"/>
          </a:xfrm>
          <a:prstGeom prst="rect">
            <a:avLst/>
          </a:prstGeom>
          <a:noFill/>
          <a:ln/>
        </p:spPr>
        <p:txBody>
          <a:bodyPr wrap="square" lIns="0" tIns="0" rIns="0" bIns="0" rtlCol="0" anchor="t">
            <a:normAutofit/>
          </a:bodyPr>
          <a:lstStyle/>
          <a:p>
            <a:pPr algn="l" marL="197866" indent="-197866">
              <a:lnSpc>
                <a:spcPts val="3060"/>
              </a:lnSpc>
              <a:buSzPct val="100000"/>
              <a:buChar char="•"/>
            </a:pPr>
            <a:r>
              <a:rPr lang="en-US" sz="1800" dirty="0">
                <a:solidFill>
                  <a:srgbClr val="3E4247"/>
                </a:solidFill>
                <a:latin typeface="Arial" pitchFamily="34" charset="0"/>
                <a:ea typeface="Arial" pitchFamily="34" charset="-122"/>
                <a:cs typeface="Arial" pitchFamily="34" charset="-120"/>
              </a:rPr>
              <a:t>価格と装備の競争力が高い</a:t>
            </a:r>
            <a:endParaRPr lang="en-US" sz="1800" dirty="0"/>
          </a:p>
          <a:p>
            <a:pPr algn="l" marL="197866" indent="-197866">
              <a:lnSpc>
                <a:spcPts val="3060"/>
              </a:lnSpc>
              <a:buSzPct val="100000"/>
              <a:buChar char="•"/>
            </a:pPr>
            <a:r>
              <a:rPr lang="en-US" sz="1800" dirty="0">
                <a:solidFill>
                  <a:srgbClr val="3E4247"/>
                </a:solidFill>
                <a:latin typeface="Arial" pitchFamily="34" charset="0"/>
                <a:ea typeface="Arial" pitchFamily="34" charset="-122"/>
                <a:cs typeface="Arial" pitchFamily="34" charset="-120"/>
              </a:rPr>
              <a:t>EV補助金が追い風</a:t>
            </a:r>
            <a:endParaRPr lang="en-US" sz="1800" dirty="0"/>
          </a:p>
          <a:p>
            <a:pPr algn="l" marL="197866" indent="-197866">
              <a:lnSpc>
                <a:spcPts val="3060"/>
              </a:lnSpc>
              <a:buSzPct val="100000"/>
              <a:buChar char="•"/>
            </a:pPr>
            <a:r>
              <a:rPr lang="en-US" sz="1800" dirty="0">
                <a:solidFill>
                  <a:srgbClr val="3E4247"/>
                </a:solidFill>
                <a:latin typeface="Arial" pitchFamily="34" charset="0"/>
                <a:ea typeface="Arial" pitchFamily="34" charset="-122"/>
                <a:cs typeface="Arial" pitchFamily="34" charset="-120"/>
              </a:rPr>
              <a:t>発売時に販促を集中させる</a:t>
            </a:r>
            <a:endParaRPr lang="en-US" sz="1800" dirty="0"/>
          </a:p>
        </p:txBody>
      </p:sp>
      <p:sp>
        <p:nvSpPr>
          <p:cNvPr id="7" name="Shape 5"/>
          <p:cNvSpPr/>
          <p:nvPr/>
        </p:nvSpPr>
        <p:spPr>
          <a:xfrm>
            <a:off x="4470400" y="1968500"/>
            <a:ext cx="3251200" cy="0"/>
          </a:xfrm>
          <a:prstGeom prst="line">
            <a:avLst/>
          </a:prstGeom>
          <a:noFill/>
          <a:ln w="38100">
            <a:solidFill>
              <a:srgbClr val="2457A6"/>
            </a:solidFill>
            <a:prstDash val="solid"/>
          </a:ln>
        </p:spPr>
      </p:sp>
      <p:sp>
        <p:nvSpPr>
          <p:cNvPr id="8" name="Text 6"/>
          <p:cNvSpPr/>
          <p:nvPr/>
        </p:nvSpPr>
        <p:spPr>
          <a:xfrm>
            <a:off x="4470400" y="2139950"/>
            <a:ext cx="3348736" cy="31115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2457A6"/>
                </a:solidFill>
                <a:latin typeface="Arial" pitchFamily="34" charset="0"/>
                <a:ea typeface="Arial" pitchFamily="34" charset="-122"/>
                <a:cs typeface="Arial" pitchFamily="34" charset="-120"/>
              </a:rPr>
              <a:t>中国系の減衰が速い</a:t>
            </a:r>
            <a:endParaRPr lang="en-US" sz="1900" dirty="0"/>
          </a:p>
        </p:txBody>
      </p:sp>
      <p:sp>
        <p:nvSpPr>
          <p:cNvPr id="9" name="Text 7"/>
          <p:cNvSpPr/>
          <p:nvPr/>
        </p:nvSpPr>
        <p:spPr>
          <a:xfrm>
            <a:off x="4526534" y="2552700"/>
            <a:ext cx="3284982" cy="1574800"/>
          </a:xfrm>
          <a:prstGeom prst="rect">
            <a:avLst/>
          </a:prstGeom>
          <a:noFill/>
          <a:ln/>
        </p:spPr>
        <p:txBody>
          <a:bodyPr wrap="square" lIns="0" tIns="0" rIns="0" bIns="0" rtlCol="0" anchor="t">
            <a:normAutofit/>
          </a:bodyPr>
          <a:lstStyle/>
          <a:p>
            <a:pPr algn="l" marL="197866" indent="-197866">
              <a:lnSpc>
                <a:spcPts val="3060"/>
              </a:lnSpc>
              <a:buSzPct val="100000"/>
              <a:buChar char="•"/>
            </a:pPr>
            <a:r>
              <a:rPr lang="en-US" sz="1800" dirty="0">
                <a:solidFill>
                  <a:srgbClr val="3E4247"/>
                </a:solidFill>
                <a:latin typeface="Arial" pitchFamily="34" charset="0"/>
                <a:ea typeface="Arial" pitchFamily="34" charset="-122"/>
                <a:cs typeface="Arial" pitchFamily="34" charset="-120"/>
              </a:rPr>
              <a:t>刷新のサイクルが短い</a:t>
            </a:r>
            <a:endParaRPr lang="en-US" sz="1800" dirty="0"/>
          </a:p>
          <a:p>
            <a:pPr algn="l" marL="197866" indent="-197866">
              <a:lnSpc>
                <a:spcPts val="3060"/>
              </a:lnSpc>
              <a:buSzPct val="100000"/>
              <a:buChar char="•"/>
            </a:pPr>
            <a:r>
              <a:rPr lang="en-US" sz="1800" dirty="0">
                <a:solidFill>
                  <a:srgbClr val="3E4247"/>
                </a:solidFill>
                <a:latin typeface="Arial" pitchFamily="34" charset="0"/>
                <a:ea typeface="Arial" pitchFamily="34" charset="-122"/>
                <a:cs typeface="Arial" pitchFamily="34" charset="-120"/>
              </a:rPr>
              <a:t>後継モデルに需要が移る</a:t>
            </a:r>
            <a:endParaRPr lang="en-US" sz="1800" dirty="0"/>
          </a:p>
          <a:p>
            <a:pPr algn="l" marL="197866" indent="-197866">
              <a:lnSpc>
                <a:spcPts val="3060"/>
              </a:lnSpc>
              <a:buSzPct val="100000"/>
              <a:buChar char="•"/>
            </a:pPr>
            <a:r>
              <a:rPr lang="en-US" sz="1800" dirty="0">
                <a:solidFill>
                  <a:srgbClr val="3E4247"/>
                </a:solidFill>
                <a:latin typeface="Arial" pitchFamily="34" charset="0"/>
                <a:ea typeface="Arial" pitchFamily="34" charset="-122"/>
                <a:cs typeface="Arial" pitchFamily="34" charset="-120"/>
              </a:rPr>
              <a:t>中国系同士の競合が激しい</a:t>
            </a:r>
            <a:endParaRPr lang="en-US" sz="1800" dirty="0"/>
          </a:p>
          <a:p>
            <a:pPr algn="l" marL="197866" indent="-197866">
              <a:lnSpc>
                <a:spcPts val="3060"/>
              </a:lnSpc>
              <a:buSzPct val="100000"/>
              <a:buChar char="•"/>
            </a:pPr>
            <a:r>
              <a:rPr lang="en-US" sz="1800" dirty="0">
                <a:solidFill>
                  <a:srgbClr val="3E4247"/>
                </a:solidFill>
                <a:latin typeface="Arial" pitchFamily="34" charset="0"/>
                <a:ea typeface="Arial" pitchFamily="34" charset="-122"/>
                <a:cs typeface="Arial" pitchFamily="34" charset="-120"/>
              </a:rPr>
              <a:t>値下げで残価が揺らぐ</a:t>
            </a:r>
            <a:endParaRPr lang="en-US" sz="1800" dirty="0"/>
          </a:p>
        </p:txBody>
      </p:sp>
      <p:sp>
        <p:nvSpPr>
          <p:cNvPr id="10" name="Shape 8"/>
          <p:cNvSpPr/>
          <p:nvPr/>
        </p:nvSpPr>
        <p:spPr>
          <a:xfrm>
            <a:off x="8128000" y="1968500"/>
            <a:ext cx="3251200" cy="0"/>
          </a:xfrm>
          <a:prstGeom prst="line">
            <a:avLst/>
          </a:prstGeom>
          <a:noFill/>
          <a:ln w="38100">
            <a:solidFill>
              <a:srgbClr val="8C8F94"/>
            </a:solidFill>
            <a:prstDash val="solid"/>
          </a:ln>
        </p:spPr>
      </p:sp>
      <p:sp>
        <p:nvSpPr>
          <p:cNvPr id="11" name="Text 9"/>
          <p:cNvSpPr/>
          <p:nvPr/>
        </p:nvSpPr>
        <p:spPr>
          <a:xfrm>
            <a:off x="8128000" y="2139950"/>
            <a:ext cx="3348736" cy="31115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4A4E53"/>
                </a:solidFill>
                <a:latin typeface="Arial" pitchFamily="34" charset="0"/>
                <a:ea typeface="Arial" pitchFamily="34" charset="-122"/>
                <a:cs typeface="Arial" pitchFamily="34" charset="-120"/>
              </a:rPr>
              <a:t>日系は長く売れる</a:t>
            </a:r>
            <a:endParaRPr lang="en-US" sz="1900" dirty="0"/>
          </a:p>
        </p:txBody>
      </p:sp>
      <p:sp>
        <p:nvSpPr>
          <p:cNvPr id="12" name="Text 10"/>
          <p:cNvSpPr/>
          <p:nvPr/>
        </p:nvSpPr>
        <p:spPr>
          <a:xfrm>
            <a:off x="8184134" y="2552700"/>
            <a:ext cx="3284982" cy="1187450"/>
          </a:xfrm>
          <a:prstGeom prst="rect">
            <a:avLst/>
          </a:prstGeom>
          <a:noFill/>
          <a:ln/>
        </p:spPr>
        <p:txBody>
          <a:bodyPr wrap="square" lIns="0" tIns="0" rIns="0" bIns="0" rtlCol="0" anchor="t">
            <a:normAutofit/>
          </a:bodyPr>
          <a:lstStyle/>
          <a:p>
            <a:pPr algn="l" marL="197866" indent="-197866">
              <a:lnSpc>
                <a:spcPts val="3060"/>
              </a:lnSpc>
              <a:buSzPct val="100000"/>
              <a:buChar char="•"/>
            </a:pPr>
            <a:r>
              <a:rPr lang="en-US" sz="1800" dirty="0">
                <a:solidFill>
                  <a:srgbClr val="3E4247"/>
                </a:solidFill>
                <a:latin typeface="Arial" pitchFamily="34" charset="0"/>
                <a:ea typeface="Arial" pitchFamily="34" charset="-122"/>
                <a:cs typeface="Arial" pitchFamily="34" charset="-120"/>
              </a:rPr>
              <a:t>ブランドの信頼と高い残価</a:t>
            </a:r>
            <a:endParaRPr lang="en-US" sz="1800" dirty="0"/>
          </a:p>
          <a:p>
            <a:pPr algn="l" marL="197866" indent="-197866">
              <a:lnSpc>
                <a:spcPts val="3060"/>
              </a:lnSpc>
              <a:buSzPct val="100000"/>
              <a:buChar char="•"/>
            </a:pPr>
            <a:r>
              <a:rPr lang="en-US" sz="1800" dirty="0">
                <a:solidFill>
                  <a:srgbClr val="3E4247"/>
                </a:solidFill>
                <a:latin typeface="Arial" pitchFamily="34" charset="0"/>
                <a:ea typeface="Arial" pitchFamily="34" charset="-122"/>
                <a:cs typeface="Arial" pitchFamily="34" charset="-120"/>
              </a:rPr>
              <a:t>HEV・ピックアップの基盤</a:t>
            </a:r>
            <a:endParaRPr lang="en-US" sz="1800" dirty="0"/>
          </a:p>
          <a:p>
            <a:pPr algn="l" marL="197866" indent="-197866">
              <a:lnSpc>
                <a:spcPts val="3060"/>
              </a:lnSpc>
              <a:buSzPct val="100000"/>
              <a:buChar char="•"/>
            </a:pPr>
            <a:r>
              <a:rPr lang="en-US" sz="1800" dirty="0">
                <a:solidFill>
                  <a:srgbClr val="3E4247"/>
                </a:solidFill>
                <a:latin typeface="Arial" pitchFamily="34" charset="0"/>
                <a:ea typeface="Arial" pitchFamily="34" charset="-122"/>
                <a:cs typeface="Arial" pitchFamily="34" charset="-120"/>
              </a:rPr>
              <a:t>厚い販売網と販売金融</a:t>
            </a:r>
            <a:endParaRPr lang="en-US" sz="1800" dirty="0"/>
          </a:p>
        </p:txBody>
      </p:sp>
      <p:sp>
        <p:nvSpPr>
          <p:cNvPr id="13" name="Shape 11"/>
          <p:cNvSpPr/>
          <p:nvPr/>
        </p:nvSpPr>
        <p:spPr>
          <a:xfrm>
            <a:off x="812800" y="4514850"/>
            <a:ext cx="10566400" cy="0"/>
          </a:xfrm>
          <a:prstGeom prst="line">
            <a:avLst/>
          </a:prstGeom>
          <a:noFill/>
          <a:ln w="12700">
            <a:solidFill>
              <a:srgbClr val="CFCCC4"/>
            </a:solidFill>
            <a:prstDash val="solid"/>
          </a:ln>
        </p:spPr>
      </p:sp>
      <p:sp>
        <p:nvSpPr>
          <p:cNvPr id="14" name="Text 12"/>
          <p:cNvSpPr/>
          <p:nvPr/>
        </p:nvSpPr>
        <p:spPr>
          <a:xfrm>
            <a:off x="812800" y="4673600"/>
            <a:ext cx="10883392" cy="349250"/>
          </a:xfrm>
          <a:prstGeom prst="rect">
            <a:avLst/>
          </a:prstGeom>
          <a:noFill/>
          <a:ln/>
        </p:spPr>
        <p:txBody>
          <a:bodyPr wrap="square" lIns="0" tIns="0" rIns="0" bIns="0" rtlCol="0" anchor="t">
            <a:normAutofit/>
          </a:bodyPr>
          <a:lstStyle/>
          <a:p>
            <a:pPr algn="l" indent="0" marL="0">
              <a:lnSpc>
                <a:spcPts val="2550"/>
              </a:lnSpc>
              <a:buNone/>
            </a:pPr>
            <a:r>
              <a:rPr lang="en-US" sz="1700" dirty="0">
                <a:solidFill>
                  <a:srgbClr val="1D1F22"/>
                </a:solidFill>
                <a:latin typeface="Arial" pitchFamily="34" charset="0"/>
                <a:ea typeface="Arial" pitchFamily="34" charset="-122"/>
                <a:cs typeface="Arial" pitchFamily="34" charset="-120"/>
              </a:rPr>
              <a:t>これらが重なり、中国系は「出してすぐ売れ、早く入れ替わる」販売パターンになっていると考える</a:t>
            </a:r>
            <a:endParaRPr lang="en-US" sz="1700" dirty="0"/>
          </a:p>
        </p:txBody>
      </p:sp>
      <p:sp>
        <p:nvSpPr>
          <p:cNvPr id="15" name="Text 13"/>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E73"/>
                </a:solidFill>
                <a:latin typeface="Arial" pitchFamily="34" charset="0"/>
                <a:ea typeface="Arial" pitchFamily="34" charset="-122"/>
                <a:cs typeface="Arial" pitchFamily="34" charset="-120"/>
              </a:rPr>
              <a:t>参考：AlixPartners（2024）、JETRO、各種報道</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540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457A6"/>
                </a:solidFill>
                <a:latin typeface="Arial" pitchFamily="34" charset="0"/>
                <a:ea typeface="Arial" pitchFamily="34" charset="-122"/>
                <a:cs typeface="Arial" pitchFamily="34" charset="-120"/>
              </a:rPr>
              <a:t>与えられたデータでの分析</a:t>
            </a:r>
            <a:endParaRPr lang="en-US" sz="1300" dirty="0"/>
          </a:p>
        </p:txBody>
      </p:sp>
      <p:sp>
        <p:nvSpPr>
          <p:cNvPr id="3" name="Text 1"/>
          <p:cNvSpPr/>
          <p:nvPr>
            <p:ph type="title"/>
          </p:nvPr>
        </p:nvSpPr>
        <p:spPr>
          <a:xfrm>
            <a:off x="812800" y="1117600"/>
            <a:ext cx="11379200" cy="45085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D1F22"/>
                </a:solidFill>
                <a:latin typeface="Arial" pitchFamily="34" charset="0"/>
                <a:ea typeface="Arial" pitchFamily="34" charset="-122"/>
                <a:cs typeface="Arial" pitchFamily="34" charset="-120"/>
              </a:rPr>
              <a:t>与えられたデータから、モデルチェンジ後の販売推移を分析する</a:t>
            </a:r>
            <a:endParaRPr lang="en-US" sz="2800" dirty="0"/>
          </a:p>
        </p:txBody>
      </p:sp>
      <p:sp>
        <p:nvSpPr>
          <p:cNvPr id="4" name="Shape 2"/>
          <p:cNvSpPr/>
          <p:nvPr/>
        </p:nvSpPr>
        <p:spPr>
          <a:xfrm>
            <a:off x="812800" y="1835150"/>
            <a:ext cx="3149600" cy="0"/>
          </a:xfrm>
          <a:prstGeom prst="line">
            <a:avLst/>
          </a:prstGeom>
          <a:noFill/>
          <a:ln w="25400">
            <a:solidFill>
              <a:srgbClr val="8C8F94"/>
            </a:solidFill>
            <a:prstDash val="solid"/>
          </a:ln>
        </p:spPr>
      </p:sp>
      <p:sp>
        <p:nvSpPr>
          <p:cNvPr id="5" name="Text 3"/>
          <p:cNvSpPr/>
          <p:nvPr/>
        </p:nvSpPr>
        <p:spPr>
          <a:xfrm>
            <a:off x="812800" y="1949450"/>
            <a:ext cx="3244088" cy="23495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A6E73"/>
                </a:solidFill>
                <a:latin typeface="Arial" pitchFamily="34" charset="0"/>
                <a:ea typeface="Arial" pitchFamily="34" charset="-122"/>
                <a:cs typeface="Arial" pitchFamily="34" charset="-120"/>
              </a:rPr>
              <a:t>S&amp;P</a:t>
            </a:r>
            <a:endParaRPr lang="en-US" sz="1200" dirty="0"/>
          </a:p>
        </p:txBody>
      </p:sp>
      <p:sp>
        <p:nvSpPr>
          <p:cNvPr id="6" name="Text 4"/>
          <p:cNvSpPr/>
          <p:nvPr/>
        </p:nvSpPr>
        <p:spPr>
          <a:xfrm>
            <a:off x="812800" y="2197100"/>
            <a:ext cx="3244088"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1F22"/>
                </a:solidFill>
                <a:latin typeface="Arial" pitchFamily="34" charset="0"/>
                <a:ea typeface="Arial" pitchFamily="34" charset="-122"/>
                <a:cs typeface="Arial" pitchFamily="34" charset="-120"/>
              </a:rPr>
              <a:t>車種別のモデルチェンジ時期・頻度</a:t>
            </a:r>
            <a:endParaRPr lang="en-US" sz="1400" dirty="0"/>
          </a:p>
        </p:txBody>
      </p:sp>
      <p:sp>
        <p:nvSpPr>
          <p:cNvPr id="7" name="Text 5"/>
          <p:cNvSpPr/>
          <p:nvPr/>
        </p:nvSpPr>
        <p:spPr>
          <a:xfrm>
            <a:off x="4114800" y="1955800"/>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8C8F94"/>
                </a:solidFill>
                <a:latin typeface="Arial" pitchFamily="34" charset="0"/>
                <a:ea typeface="Arial" pitchFamily="34" charset="-122"/>
                <a:cs typeface="Arial" pitchFamily="34" charset="-120"/>
              </a:rPr>
              <a:t>＋</a:t>
            </a:r>
            <a:endParaRPr lang="en-US" sz="2000" dirty="0"/>
          </a:p>
        </p:txBody>
      </p:sp>
      <p:sp>
        <p:nvSpPr>
          <p:cNvPr id="8" name="Shape 6"/>
          <p:cNvSpPr/>
          <p:nvPr/>
        </p:nvSpPr>
        <p:spPr>
          <a:xfrm>
            <a:off x="4521200" y="1835150"/>
            <a:ext cx="3149600" cy="0"/>
          </a:xfrm>
          <a:prstGeom prst="line">
            <a:avLst/>
          </a:prstGeom>
          <a:noFill/>
          <a:ln w="25400">
            <a:solidFill>
              <a:srgbClr val="8C8F94"/>
            </a:solidFill>
            <a:prstDash val="solid"/>
          </a:ln>
        </p:spPr>
      </p:sp>
      <p:sp>
        <p:nvSpPr>
          <p:cNvPr id="9" name="Text 7"/>
          <p:cNvSpPr/>
          <p:nvPr/>
        </p:nvSpPr>
        <p:spPr>
          <a:xfrm>
            <a:off x="4521200" y="1949450"/>
            <a:ext cx="3244088" cy="23495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A6E73"/>
                </a:solidFill>
                <a:latin typeface="Arial" pitchFamily="34" charset="0"/>
                <a:ea typeface="Arial" pitchFamily="34" charset="-122"/>
                <a:cs typeface="Arial" pitchFamily="34" charset="-120"/>
              </a:rPr>
              <a:t>MarkLines</a:t>
            </a:r>
            <a:endParaRPr lang="en-US" sz="1200" dirty="0"/>
          </a:p>
        </p:txBody>
      </p:sp>
      <p:sp>
        <p:nvSpPr>
          <p:cNvPr id="10" name="Text 8"/>
          <p:cNvSpPr/>
          <p:nvPr/>
        </p:nvSpPr>
        <p:spPr>
          <a:xfrm>
            <a:off x="4521200" y="2197100"/>
            <a:ext cx="3244088"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1F22"/>
                </a:solidFill>
                <a:latin typeface="Arial" pitchFamily="34" charset="0"/>
                <a:ea typeface="Arial" pitchFamily="34" charset="-122"/>
                <a:cs typeface="Arial" pitchFamily="34" charset="-120"/>
              </a:rPr>
              <a:t>車種別の月次販売台数</a:t>
            </a:r>
            <a:endParaRPr lang="en-US" sz="1400" dirty="0"/>
          </a:p>
        </p:txBody>
      </p:sp>
      <p:sp>
        <p:nvSpPr>
          <p:cNvPr id="11" name="Text 9"/>
          <p:cNvSpPr/>
          <p:nvPr/>
        </p:nvSpPr>
        <p:spPr>
          <a:xfrm>
            <a:off x="7823200" y="1955800"/>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2457A6"/>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8229600" y="1835150"/>
            <a:ext cx="3149600" cy="0"/>
          </a:xfrm>
          <a:prstGeom prst="line">
            <a:avLst/>
          </a:prstGeom>
          <a:noFill/>
          <a:ln w="25400">
            <a:solidFill>
              <a:srgbClr val="2457A6"/>
            </a:solidFill>
            <a:prstDash val="solid"/>
          </a:ln>
        </p:spPr>
      </p:sp>
      <p:sp>
        <p:nvSpPr>
          <p:cNvPr id="13" name="Text 11"/>
          <p:cNvSpPr/>
          <p:nvPr/>
        </p:nvSpPr>
        <p:spPr>
          <a:xfrm>
            <a:off x="8229600" y="1949450"/>
            <a:ext cx="3244088" cy="23495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2457A6"/>
                </a:solidFill>
                <a:latin typeface="Arial" pitchFamily="34" charset="0"/>
                <a:ea typeface="Arial" pitchFamily="34" charset="-122"/>
                <a:cs typeface="Arial" pitchFamily="34" charset="-120"/>
              </a:rPr>
              <a:t>作成中のデータベース</a:t>
            </a:r>
            <a:endParaRPr lang="en-US" sz="1200" dirty="0"/>
          </a:p>
        </p:txBody>
      </p:sp>
      <p:sp>
        <p:nvSpPr>
          <p:cNvPr id="14" name="Text 12"/>
          <p:cNvSpPr/>
          <p:nvPr/>
        </p:nvSpPr>
        <p:spPr>
          <a:xfrm>
            <a:off x="8229600" y="2197100"/>
            <a:ext cx="3244088" cy="27305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1F22"/>
                </a:solidFill>
                <a:latin typeface="Arial" pitchFamily="34" charset="0"/>
                <a:ea typeface="Arial" pitchFamily="34" charset="-122"/>
                <a:cs typeface="Arial" pitchFamily="34" charset="-120"/>
              </a:rPr>
              <a:t>刷新月を起点とした販売推移</a:t>
            </a:r>
            <a:endParaRPr lang="en-US" sz="1400" dirty="0"/>
          </a:p>
        </p:txBody>
      </p:sp>
      <p:sp>
        <p:nvSpPr>
          <p:cNvPr id="15" name="Shape 13"/>
          <p:cNvSpPr/>
          <p:nvPr/>
        </p:nvSpPr>
        <p:spPr>
          <a:xfrm>
            <a:off x="812800" y="2730500"/>
            <a:ext cx="5156200" cy="0"/>
          </a:xfrm>
          <a:prstGeom prst="line">
            <a:avLst/>
          </a:prstGeom>
          <a:noFill/>
          <a:ln w="12700">
            <a:solidFill>
              <a:srgbClr val="CFCCC4"/>
            </a:solidFill>
            <a:prstDash val="solid"/>
          </a:ln>
        </p:spPr>
      </p:sp>
      <p:sp>
        <p:nvSpPr>
          <p:cNvPr id="16" name="Text 14"/>
          <p:cNvSpPr/>
          <p:nvPr/>
        </p:nvSpPr>
        <p:spPr>
          <a:xfrm>
            <a:off x="812800" y="2863850"/>
            <a:ext cx="5310886" cy="27940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D1F22"/>
                </a:solidFill>
                <a:latin typeface="Arial" pitchFamily="34" charset="0"/>
                <a:ea typeface="Arial" pitchFamily="34" charset="-122"/>
                <a:cs typeface="Arial" pitchFamily="34" charset="-120"/>
              </a:rPr>
              <a:t>① 刷新頻度の比較</a:t>
            </a:r>
            <a:endParaRPr lang="en-US" sz="1700" dirty="0"/>
          </a:p>
        </p:txBody>
      </p:sp>
      <p:sp>
        <p:nvSpPr>
          <p:cNvPr id="17" name="Text 15"/>
          <p:cNvSpPr/>
          <p:nvPr/>
        </p:nvSpPr>
        <p:spPr>
          <a:xfrm>
            <a:off x="812800" y="3168650"/>
            <a:ext cx="5310886" cy="2984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247"/>
                </a:solidFill>
                <a:latin typeface="Arial" pitchFamily="34" charset="0"/>
                <a:ea typeface="Arial" pitchFamily="34" charset="-122"/>
                <a:cs typeface="Arial" pitchFamily="34" charset="-120"/>
              </a:rPr>
              <a:t>モデルチェンジの間隔を、中国系と日系で比べる</a:t>
            </a:r>
            <a:endParaRPr lang="en-US" sz="1500" dirty="0"/>
          </a:p>
        </p:txBody>
      </p:sp>
      <p:sp>
        <p:nvSpPr>
          <p:cNvPr id="18" name="Text 16"/>
          <p:cNvSpPr/>
          <p:nvPr/>
        </p:nvSpPr>
        <p:spPr>
          <a:xfrm>
            <a:off x="812800" y="3492500"/>
            <a:ext cx="5310886" cy="2984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2457A6"/>
                </a:solidFill>
                <a:latin typeface="Arial" pitchFamily="34" charset="0"/>
                <a:ea typeface="Arial" pitchFamily="34" charset="-122"/>
                <a:cs typeface="Arial" pitchFamily="34" charset="-120"/>
              </a:rPr>
              <a:t>→ 仮説の前提である投入スピードの差を確かめる</a:t>
            </a:r>
            <a:endParaRPr lang="en-US" sz="1500" dirty="0"/>
          </a:p>
        </p:txBody>
      </p:sp>
      <p:sp>
        <p:nvSpPr>
          <p:cNvPr id="19" name="Shape 17"/>
          <p:cNvSpPr/>
          <p:nvPr/>
        </p:nvSpPr>
        <p:spPr>
          <a:xfrm>
            <a:off x="6223000" y="2730500"/>
            <a:ext cx="5156200" cy="0"/>
          </a:xfrm>
          <a:prstGeom prst="line">
            <a:avLst/>
          </a:prstGeom>
          <a:noFill/>
          <a:ln w="12700">
            <a:solidFill>
              <a:srgbClr val="CFCCC4"/>
            </a:solidFill>
            <a:prstDash val="solid"/>
          </a:ln>
        </p:spPr>
      </p:sp>
      <p:sp>
        <p:nvSpPr>
          <p:cNvPr id="20" name="Text 18"/>
          <p:cNvSpPr/>
          <p:nvPr/>
        </p:nvSpPr>
        <p:spPr>
          <a:xfrm>
            <a:off x="6223000" y="2863850"/>
            <a:ext cx="5310886" cy="27940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D1F22"/>
                </a:solidFill>
                <a:latin typeface="Arial" pitchFamily="34" charset="0"/>
                <a:ea typeface="Arial" pitchFamily="34" charset="-122"/>
                <a:cs typeface="Arial" pitchFamily="34" charset="-120"/>
              </a:rPr>
              <a:t>② 刷新後の販売推移</a:t>
            </a:r>
            <a:endParaRPr lang="en-US" sz="1700" dirty="0"/>
          </a:p>
        </p:txBody>
      </p:sp>
      <p:sp>
        <p:nvSpPr>
          <p:cNvPr id="21" name="Text 19"/>
          <p:cNvSpPr/>
          <p:nvPr/>
        </p:nvSpPr>
        <p:spPr>
          <a:xfrm>
            <a:off x="6223000" y="3168650"/>
            <a:ext cx="5310886" cy="5715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247"/>
                </a:solidFill>
                <a:latin typeface="Arial" pitchFamily="34" charset="0"/>
                <a:ea typeface="Arial" pitchFamily="34" charset="-122"/>
                <a:cs typeface="Arial" pitchFamily="34" charset="-120"/>
              </a:rPr>
              <a:t>刷新月を起点に、0〜36か月のシェアの推移と刷新前からの伸びを比べる</a:t>
            </a:r>
            <a:endParaRPr lang="en-US" sz="1500" dirty="0"/>
          </a:p>
        </p:txBody>
      </p:sp>
      <p:sp>
        <p:nvSpPr>
          <p:cNvPr id="22" name="Text 20"/>
          <p:cNvSpPr/>
          <p:nvPr/>
        </p:nvSpPr>
        <p:spPr>
          <a:xfrm>
            <a:off x="6223000" y="3765550"/>
            <a:ext cx="5310886" cy="2984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2457A6"/>
                </a:solidFill>
                <a:latin typeface="Arial" pitchFamily="34" charset="0"/>
                <a:ea typeface="Arial" pitchFamily="34" charset="-122"/>
                <a:cs typeface="Arial" pitchFamily="34" charset="-120"/>
              </a:rPr>
              <a:t>→ 販売カーブの形の違いを確かめる</a:t>
            </a:r>
            <a:endParaRPr lang="en-US" sz="1500" dirty="0"/>
          </a:p>
        </p:txBody>
      </p:sp>
      <p:sp>
        <p:nvSpPr>
          <p:cNvPr id="23" name="Shape 21"/>
          <p:cNvSpPr/>
          <p:nvPr/>
        </p:nvSpPr>
        <p:spPr>
          <a:xfrm>
            <a:off x="812800" y="4298950"/>
            <a:ext cx="5156200" cy="0"/>
          </a:xfrm>
          <a:prstGeom prst="line">
            <a:avLst/>
          </a:prstGeom>
          <a:noFill/>
          <a:ln w="12700">
            <a:solidFill>
              <a:srgbClr val="CFCCC4"/>
            </a:solidFill>
            <a:prstDash val="solid"/>
          </a:ln>
        </p:spPr>
      </p:sp>
      <p:sp>
        <p:nvSpPr>
          <p:cNvPr id="24" name="Text 22"/>
          <p:cNvSpPr/>
          <p:nvPr/>
        </p:nvSpPr>
        <p:spPr>
          <a:xfrm>
            <a:off x="812800" y="4432300"/>
            <a:ext cx="5310886" cy="27940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D1F22"/>
                </a:solidFill>
                <a:latin typeface="Arial" pitchFamily="34" charset="0"/>
                <a:ea typeface="Arial" pitchFamily="34" charset="-122"/>
                <a:cs typeface="Arial" pitchFamily="34" charset="-120"/>
              </a:rPr>
              <a:t>③ κ・λの推定</a:t>
            </a:r>
            <a:endParaRPr lang="en-US" sz="1700" dirty="0"/>
          </a:p>
        </p:txBody>
      </p:sp>
      <p:sp>
        <p:nvSpPr>
          <p:cNvPr id="25" name="Text 23"/>
          <p:cNvSpPr/>
          <p:nvPr/>
        </p:nvSpPr>
        <p:spPr>
          <a:xfrm>
            <a:off x="812800" y="4737100"/>
            <a:ext cx="5310886" cy="5715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247"/>
                </a:solidFill>
                <a:latin typeface="Arial" pitchFamily="34" charset="0"/>
                <a:ea typeface="Arial" pitchFamily="34" charset="-122"/>
                <a:cs typeface="Arial" pitchFamily="34" charset="-120"/>
              </a:rPr>
              <a:t>販売カーブの式を当てはめ、浸透速度・減衰速度・半減期を推定する</a:t>
            </a:r>
            <a:endParaRPr lang="en-US" sz="1500" dirty="0"/>
          </a:p>
        </p:txBody>
      </p:sp>
      <p:sp>
        <p:nvSpPr>
          <p:cNvPr id="26" name="Text 24"/>
          <p:cNvSpPr/>
          <p:nvPr/>
        </p:nvSpPr>
        <p:spPr>
          <a:xfrm>
            <a:off x="812800" y="5334000"/>
            <a:ext cx="5310886" cy="2984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2457A6"/>
                </a:solidFill>
                <a:latin typeface="Arial" pitchFamily="34" charset="0"/>
                <a:ea typeface="Arial" pitchFamily="34" charset="-122"/>
                <a:cs typeface="Arial" pitchFamily="34" charset="-120"/>
              </a:rPr>
              <a:t>→ 高速回転型かロングセラー型かを判定する</a:t>
            </a:r>
            <a:endParaRPr lang="en-US" sz="1500" dirty="0"/>
          </a:p>
        </p:txBody>
      </p:sp>
      <p:sp>
        <p:nvSpPr>
          <p:cNvPr id="27" name="Shape 25"/>
          <p:cNvSpPr/>
          <p:nvPr/>
        </p:nvSpPr>
        <p:spPr>
          <a:xfrm>
            <a:off x="6223000" y="4298950"/>
            <a:ext cx="5156200" cy="0"/>
          </a:xfrm>
          <a:prstGeom prst="line">
            <a:avLst/>
          </a:prstGeom>
          <a:noFill/>
          <a:ln w="12700">
            <a:solidFill>
              <a:srgbClr val="CFCCC4"/>
            </a:solidFill>
            <a:prstDash val="solid"/>
          </a:ln>
        </p:spPr>
      </p:sp>
      <p:sp>
        <p:nvSpPr>
          <p:cNvPr id="28" name="Text 26"/>
          <p:cNvSpPr/>
          <p:nvPr/>
        </p:nvSpPr>
        <p:spPr>
          <a:xfrm>
            <a:off x="6223000" y="4432300"/>
            <a:ext cx="5310886" cy="27940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D1F22"/>
                </a:solidFill>
                <a:latin typeface="Arial" pitchFamily="34" charset="0"/>
                <a:ea typeface="Arial" pitchFamily="34" charset="-122"/>
                <a:cs typeface="Arial" pitchFamily="34" charset="-120"/>
              </a:rPr>
              <a:t>④ 刷新頻度と減衰の関係</a:t>
            </a:r>
            <a:endParaRPr lang="en-US" sz="1700" dirty="0"/>
          </a:p>
        </p:txBody>
      </p:sp>
      <p:sp>
        <p:nvSpPr>
          <p:cNvPr id="29" name="Text 27"/>
          <p:cNvSpPr/>
          <p:nvPr/>
        </p:nvSpPr>
        <p:spPr>
          <a:xfrm>
            <a:off x="6223000" y="4737100"/>
            <a:ext cx="5310886" cy="5715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247"/>
                </a:solidFill>
                <a:latin typeface="Arial" pitchFamily="34" charset="0"/>
                <a:ea typeface="Arial" pitchFamily="34" charset="-122"/>
                <a:cs typeface="Arial" pitchFamily="34" charset="-120"/>
              </a:rPr>
              <a:t>刷新の間隔が短い車種ほどλが大きいかを、車種横断で確かめる</a:t>
            </a:r>
            <a:endParaRPr lang="en-US" sz="1500" dirty="0"/>
          </a:p>
        </p:txBody>
      </p:sp>
      <p:sp>
        <p:nvSpPr>
          <p:cNvPr id="30" name="Text 28"/>
          <p:cNvSpPr/>
          <p:nvPr/>
        </p:nvSpPr>
        <p:spPr>
          <a:xfrm>
            <a:off x="6223000" y="5334000"/>
            <a:ext cx="5310886" cy="2984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2457A6"/>
                </a:solidFill>
                <a:latin typeface="Arial" pitchFamily="34" charset="0"/>
                <a:ea typeface="Arial" pitchFamily="34" charset="-122"/>
                <a:cs typeface="Arial" pitchFamily="34" charset="-120"/>
              </a:rPr>
              <a:t>→ 刷新が攻めの手段か、鮮度低下への対応かを見極める</a:t>
            </a:r>
            <a:endParaRPr lang="en-US" sz="1500" dirty="0"/>
          </a:p>
        </p:txBody>
      </p:sp>
      <p:sp>
        <p:nvSpPr>
          <p:cNvPr id="31" name="Text 29"/>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E73"/>
                </a:solidFill>
                <a:latin typeface="Arial" pitchFamily="34" charset="0"/>
                <a:ea typeface="Arial" pitchFamily="34" charset="-122"/>
                <a:cs typeface="Arial" pitchFamily="34" charset="-120"/>
              </a:rPr>
              <a:t>注：販売台数は国ごとの市場全体で割ってシェアに換算する。起点はS&amp;Pの刷新時期とMarkLinesで販売が始まった月を照合して決める</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812800" y="812800"/>
            <a:ext cx="10883392" cy="2540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457A6"/>
                </a:solidFill>
                <a:latin typeface="Arial" pitchFamily="34" charset="0"/>
                <a:ea typeface="Arial" pitchFamily="34" charset="-122"/>
                <a:cs typeface="Arial" pitchFamily="34" charset="-120"/>
              </a:rPr>
              <a:t>補強に使えるデータ</a:t>
            </a:r>
            <a:endParaRPr lang="en-US" sz="1300" dirty="0"/>
          </a:p>
        </p:txBody>
      </p:sp>
      <p:sp>
        <p:nvSpPr>
          <p:cNvPr id="3" name="Text 1"/>
          <p:cNvSpPr/>
          <p:nvPr>
            <p:ph type="title"/>
          </p:nvPr>
        </p:nvSpPr>
        <p:spPr>
          <a:xfrm>
            <a:off x="812800" y="1117600"/>
            <a:ext cx="10883392" cy="45085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D1F22"/>
                </a:solidFill>
                <a:latin typeface="Arial" pitchFamily="34" charset="0"/>
                <a:ea typeface="Arial" pitchFamily="34" charset="-122"/>
                <a:cs typeface="Arial" pitchFamily="34" charset="-120"/>
              </a:rPr>
              <a:t>次のデータがあれば、仮説の裏付けを強められる</a:t>
            </a:r>
            <a:endParaRPr lang="en-US" sz="2800" dirty="0"/>
          </a:p>
        </p:txBody>
      </p:sp>
      <p:sp>
        <p:nvSpPr>
          <p:cNvPr id="4" name="Text 2"/>
          <p:cNvSpPr/>
          <p:nvPr/>
        </p:nvSpPr>
        <p:spPr>
          <a:xfrm>
            <a:off x="812800" y="184785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3E4247"/>
                </a:solidFill>
                <a:latin typeface="Arial" pitchFamily="34" charset="0"/>
                <a:ea typeface="Arial" pitchFamily="34" charset="-122"/>
                <a:cs typeface="Arial" pitchFamily="34" charset="-120"/>
              </a:rPr>
              <a:t>販売データだけでは見えにくい、価格・政策・消費者側の要因を補う</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470150"/>
          <a:ext cx="10553700" cy="3074690"/>
        </p:xfrm>
        <a:graphic>
          <a:graphicData uri="http://schemas.openxmlformats.org/drawingml/2006/table">
            <a:tbl>
              <a:tblPr/>
              <a:tblGrid>
                <a:gridCol w="2743962"/>
                <a:gridCol w="5065776"/>
                <a:gridCol w="2743962"/>
              </a:tblGrid>
              <a:tr h="439241">
                <a:tc>
                  <a:txBody>
                    <a:bodyPr/>
                    <a:lstStyle/>
                    <a:p>
                      <a:pPr indent="0" marL="0">
                        <a:lnSpc>
                          <a:spcPts val="2240"/>
                        </a:lnSpc>
                        <a:buNone/>
                      </a:pPr>
                      <a:r>
                        <a:rPr lang="en-US" sz="1600" b="1" dirty="0">
                          <a:solidFill>
                            <a:srgbClr val="1D1F22"/>
                          </a:solidFill>
                          <a:latin typeface="Arial" pitchFamily="34" charset="0"/>
                          <a:ea typeface="Arial" pitchFamily="34" charset="-122"/>
                          <a:cs typeface="Arial" pitchFamily="34" charset="-120"/>
                        </a:rPr>
                        <a:t>追加データ</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BBB9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9B4"/>
                      </a:solidFill>
                      <a:prstDash val="solid"/>
                      <a:round/>
                      <a:headEnd type="none" w="med" len="med"/>
                      <a:tailEnd type="none" w="med" len="med"/>
                    </a:lnB>
                    <a:solidFill>
                      <a:srgbClr val="EAE8E2"/>
                    </a:solidFill>
                  </a:tcPr>
                </a:tc>
                <a:tc>
                  <a:txBody>
                    <a:bodyPr/>
                    <a:lstStyle/>
                    <a:p>
                      <a:pPr indent="0" marL="0">
                        <a:lnSpc>
                          <a:spcPts val="2240"/>
                        </a:lnSpc>
                        <a:buNone/>
                      </a:pPr>
                      <a:r>
                        <a:rPr lang="en-US" sz="1600" b="1" dirty="0">
                          <a:solidFill>
                            <a:srgbClr val="1D1F22"/>
                          </a:solidFill>
                          <a:latin typeface="Arial" pitchFamily="34" charset="0"/>
                          <a:ea typeface="Arial" pitchFamily="34" charset="-122"/>
                          <a:cs typeface="Arial" pitchFamily="34" charset="-120"/>
                        </a:rPr>
                        <a:t>補強できること</a:t>
                      </a:r>
                      <a:endParaRPr lang="en-US" sz="1600" dirty="0">
                        <a:latin typeface="Arial" charset="0"/>
                        <a:ea typeface="Arial" charset="0"/>
                        <a:cs typeface="Arial" charset="0"/>
                      </a:endParaRPr>
                    </a:p>
                  </a:txBody>
                  <a:tcPr marL="71120" marR="71120" marT="71120" marB="71120" anchor="t">
                    <a:lnL w="12700" cap="flat" cmpd="sng" algn="ctr">
                      <a:solidFill>
                        <a:srgbClr val="BBB9B4"/>
                      </a:solidFill>
                      <a:prstDash val="solid"/>
                      <a:round/>
                      <a:headEnd type="none" w="med" len="med"/>
                      <a:tailEnd type="none" w="med" len="med"/>
                    </a:lnL>
                    <a:lnR w="12700" cap="flat" cmpd="sng" algn="ctr">
                      <a:solidFill>
                        <a:srgbClr val="BBB9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9B4"/>
                      </a:solidFill>
                      <a:prstDash val="solid"/>
                      <a:round/>
                      <a:headEnd type="none" w="med" len="med"/>
                      <a:tailEnd type="none" w="med" len="med"/>
                    </a:lnB>
                    <a:solidFill>
                      <a:srgbClr val="EAE8E2"/>
                    </a:solidFill>
                  </a:tcPr>
                </a:tc>
                <a:tc>
                  <a:txBody>
                    <a:bodyPr/>
                    <a:lstStyle/>
                    <a:p>
                      <a:pPr indent="0" marL="0">
                        <a:lnSpc>
                          <a:spcPts val="2240"/>
                        </a:lnSpc>
                        <a:buNone/>
                      </a:pPr>
                      <a:r>
                        <a:rPr lang="en-US" sz="1600" b="1" dirty="0">
                          <a:solidFill>
                            <a:srgbClr val="1D1F22"/>
                          </a:solidFill>
                          <a:latin typeface="Arial" pitchFamily="34" charset="0"/>
                          <a:ea typeface="Arial" pitchFamily="34" charset="-122"/>
                          <a:cs typeface="Arial" pitchFamily="34" charset="-120"/>
                        </a:rPr>
                        <a:t>入手先の例</a:t>
                      </a:r>
                      <a:endParaRPr lang="en-US" sz="1600" dirty="0">
                        <a:latin typeface="Arial" charset="0"/>
                        <a:ea typeface="Arial" charset="0"/>
                        <a:cs typeface="Arial" charset="0"/>
                      </a:endParaRPr>
                    </a:p>
                  </a:txBody>
                  <a:tcPr marL="71120" marR="71120" marT="71120" marB="71120" anchor="t">
                    <a:lnL w="12700" cap="flat" cmpd="sng" algn="ctr">
                      <a:solidFill>
                        <a:srgbClr val="BBB9B4"/>
                      </a:solidFill>
                      <a:prstDash val="solid"/>
                      <a:round/>
                      <a:headEnd type="none" w="med" len="med"/>
                      <a:tailEnd type="none" w="med" len="med"/>
                    </a:lnL>
                    <a:lnR w="12700" cap="flat" cmpd="sng" algn="ctr">
                      <a:solidFill>
                        <a:srgbClr val="BBB9B4"/>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BB9B4"/>
                      </a:solidFill>
                      <a:prstDash val="solid"/>
                      <a:round/>
                      <a:headEnd type="none" w="med" len="med"/>
                      <a:tailEnd type="none" w="med" len="med"/>
                    </a:lnB>
                    <a:solidFill>
                      <a:srgbClr val="EAE8E2"/>
                    </a:solidFill>
                  </a:tcPr>
                </a:tc>
              </a:tr>
              <a:tr h="439241">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価格・値引きの履歴</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BB9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値下げの影響を除き、λを公平に比べる</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BB9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各社の価格表・発表</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BB9B4"/>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39241">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中古車価格（残価）</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日系の持続力が残価に支えられているか確かめる</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中古車相場サイト</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39241">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補助金・税制の適用期間</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政策の期限による駆け込みと反動を除く</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各国政府の発表</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39241">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販売店網の推移</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立ち上がりの速さが販売網によるかを確かめる</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各社の開示・報道</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39241">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新車登録台数</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卸売と最終需要のずれを補正する</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陸運局・data.gov.my</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39241">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検索量・消費者調査</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関心の減衰やブランド評価を別の指標で確かめる</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2240"/>
                        </a:lnSpc>
                        <a:buNone/>
                      </a:pPr>
                      <a:r>
                        <a:rPr lang="en-US" sz="1600" dirty="0">
                          <a:solidFill>
                            <a:srgbClr val="1D1F22"/>
                          </a:solidFill>
                          <a:latin typeface="Arial" pitchFamily="34" charset="0"/>
                          <a:ea typeface="Arial" pitchFamily="34" charset="-122"/>
                          <a:cs typeface="Arial" pitchFamily="34" charset="-120"/>
                        </a:rPr>
                        <a:t>検索データ・調査会社</a:t>
                      </a:r>
                      <a:endParaRPr lang="en-US" sz="1600" dirty="0">
                        <a:latin typeface="Arial" charset="0"/>
                        <a:ea typeface="Arial" charset="0"/>
                        <a:cs typeface="Arial" charset="0"/>
                      </a:endParaRPr>
                    </a:p>
                  </a:txBody>
                  <a:tcPr marL="71120" marR="71120" marT="71120" marB="7112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A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50850"/>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D1F22"/>
                </a:solidFill>
                <a:latin typeface="Arial" pitchFamily="34" charset="0"/>
                <a:ea typeface="Arial" pitchFamily="34" charset="-122"/>
                <a:cs typeface="Arial" pitchFamily="34" charset="-120"/>
              </a:rPr>
              <a:t>まとめ</a:t>
            </a:r>
            <a:endParaRPr lang="en-US" sz="2800" dirty="0"/>
          </a:p>
        </p:txBody>
      </p:sp>
      <p:sp>
        <p:nvSpPr>
          <p:cNvPr id="3" name="Shape 1"/>
          <p:cNvSpPr/>
          <p:nvPr/>
        </p:nvSpPr>
        <p:spPr>
          <a:xfrm>
            <a:off x="812800" y="1600200"/>
            <a:ext cx="10566400" cy="0"/>
          </a:xfrm>
          <a:prstGeom prst="line">
            <a:avLst/>
          </a:prstGeom>
          <a:noFill/>
          <a:ln w="12700">
            <a:solidFill>
              <a:srgbClr val="C9C5BC"/>
            </a:solidFill>
            <a:prstDash val="solid"/>
          </a:ln>
        </p:spPr>
      </p:sp>
      <p:sp>
        <p:nvSpPr>
          <p:cNvPr id="4" name="Text 2"/>
          <p:cNvSpPr/>
          <p:nvPr/>
        </p:nvSpPr>
        <p:spPr>
          <a:xfrm>
            <a:off x="812800" y="1847850"/>
            <a:ext cx="1447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457A6"/>
                </a:solidFill>
                <a:latin typeface="Arial" pitchFamily="34" charset="0"/>
                <a:ea typeface="Arial" pitchFamily="34" charset="-122"/>
                <a:cs typeface="Arial" pitchFamily="34" charset="-120"/>
              </a:rPr>
              <a:t>仮説</a:t>
            </a:r>
            <a:endParaRPr lang="en-US" sz="1500" dirty="0"/>
          </a:p>
        </p:txBody>
      </p:sp>
      <p:sp>
        <p:nvSpPr>
          <p:cNvPr id="5" name="Text 3"/>
          <p:cNvSpPr/>
          <p:nvPr/>
        </p:nvSpPr>
        <p:spPr>
          <a:xfrm>
            <a:off x="2463800" y="1784350"/>
            <a:ext cx="9182862" cy="749300"/>
          </a:xfrm>
          <a:prstGeom prst="rect">
            <a:avLst/>
          </a:prstGeom>
          <a:noFill/>
          <a:ln/>
        </p:spPr>
        <p:txBody>
          <a:bodyPr wrap="square" lIns="0" tIns="0" rIns="0" bIns="0" rtlCol="0" anchor="t">
            <a:normAutofit/>
          </a:bodyPr>
          <a:lstStyle/>
          <a:p>
            <a:pPr algn="l" indent="0" marL="0">
              <a:lnSpc>
                <a:spcPts val="2850"/>
              </a:lnSpc>
              <a:buNone/>
            </a:pPr>
            <a:r>
              <a:rPr lang="en-US" sz="1900" dirty="0">
                <a:solidFill>
                  <a:srgbClr val="1D1F22"/>
                </a:solidFill>
                <a:latin typeface="Arial" pitchFamily="34" charset="0"/>
                <a:ea typeface="Arial" pitchFamily="34" charset="-122"/>
                <a:cs typeface="Arial" pitchFamily="34" charset="-120"/>
              </a:rPr>
              <a:t>中国系は刷新を重ね、速く立ち上がって速く減衰する「高速回転型」、日系は長く売れる「ロングセラー型」と考える</a:t>
            </a:r>
            <a:endParaRPr lang="en-US" sz="1900" dirty="0"/>
          </a:p>
        </p:txBody>
      </p:sp>
      <p:sp>
        <p:nvSpPr>
          <p:cNvPr id="6" name="Shape 4"/>
          <p:cNvSpPr/>
          <p:nvPr/>
        </p:nvSpPr>
        <p:spPr>
          <a:xfrm>
            <a:off x="812800" y="2692400"/>
            <a:ext cx="10566400" cy="0"/>
          </a:xfrm>
          <a:prstGeom prst="line">
            <a:avLst/>
          </a:prstGeom>
          <a:noFill/>
          <a:ln w="12700">
            <a:solidFill>
              <a:srgbClr val="C9C5BC"/>
            </a:solidFill>
            <a:prstDash val="solid"/>
          </a:ln>
        </p:spPr>
      </p:sp>
      <p:sp>
        <p:nvSpPr>
          <p:cNvPr id="7" name="Text 5"/>
          <p:cNvSpPr/>
          <p:nvPr/>
        </p:nvSpPr>
        <p:spPr>
          <a:xfrm>
            <a:off x="812800" y="2940050"/>
            <a:ext cx="1447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457A6"/>
                </a:solidFill>
                <a:latin typeface="Arial" pitchFamily="34" charset="0"/>
                <a:ea typeface="Arial" pitchFamily="34" charset="-122"/>
                <a:cs typeface="Arial" pitchFamily="34" charset="-120"/>
              </a:rPr>
              <a:t>分析</a:t>
            </a:r>
            <a:endParaRPr lang="en-US" sz="1500" dirty="0"/>
          </a:p>
        </p:txBody>
      </p:sp>
      <p:sp>
        <p:nvSpPr>
          <p:cNvPr id="8" name="Text 6"/>
          <p:cNvSpPr/>
          <p:nvPr/>
        </p:nvSpPr>
        <p:spPr>
          <a:xfrm>
            <a:off x="2463800" y="2876550"/>
            <a:ext cx="9182862" cy="749300"/>
          </a:xfrm>
          <a:prstGeom prst="rect">
            <a:avLst/>
          </a:prstGeom>
          <a:noFill/>
          <a:ln/>
        </p:spPr>
        <p:txBody>
          <a:bodyPr wrap="square" lIns="0" tIns="0" rIns="0" bIns="0" rtlCol="0" anchor="t">
            <a:normAutofit/>
          </a:bodyPr>
          <a:lstStyle/>
          <a:p>
            <a:pPr algn="l" indent="0" marL="0">
              <a:lnSpc>
                <a:spcPts val="2850"/>
              </a:lnSpc>
              <a:buNone/>
            </a:pPr>
            <a:r>
              <a:rPr lang="en-US" sz="1900" dirty="0">
                <a:solidFill>
                  <a:srgbClr val="1D1F22"/>
                </a:solidFill>
                <a:latin typeface="Arial" pitchFamily="34" charset="0"/>
                <a:ea typeface="Arial" pitchFamily="34" charset="-122"/>
                <a:cs typeface="Arial" pitchFamily="34" charset="-120"/>
              </a:rPr>
              <a:t>S&amp;Pのモデルチェンジ時期とMarkLinesの月次販売を結合し、刷新頻度・刷新後の販売推移・κとλを中国系と日系で比べる</a:t>
            </a:r>
            <a:endParaRPr lang="en-US" sz="1900" dirty="0"/>
          </a:p>
        </p:txBody>
      </p:sp>
      <p:sp>
        <p:nvSpPr>
          <p:cNvPr id="9" name="Shape 7"/>
          <p:cNvSpPr/>
          <p:nvPr/>
        </p:nvSpPr>
        <p:spPr>
          <a:xfrm>
            <a:off x="812800" y="3784600"/>
            <a:ext cx="10566400" cy="0"/>
          </a:xfrm>
          <a:prstGeom prst="line">
            <a:avLst/>
          </a:prstGeom>
          <a:noFill/>
          <a:ln w="12700">
            <a:solidFill>
              <a:srgbClr val="C9C5BC"/>
            </a:solidFill>
            <a:prstDash val="solid"/>
          </a:ln>
        </p:spPr>
      </p:sp>
      <p:sp>
        <p:nvSpPr>
          <p:cNvPr id="10" name="Text 8"/>
          <p:cNvSpPr/>
          <p:nvPr/>
        </p:nvSpPr>
        <p:spPr>
          <a:xfrm>
            <a:off x="812800" y="4032250"/>
            <a:ext cx="1447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457A6"/>
                </a:solidFill>
                <a:latin typeface="Arial" pitchFamily="34" charset="0"/>
                <a:ea typeface="Arial" pitchFamily="34" charset="-122"/>
                <a:cs typeface="Arial" pitchFamily="34" charset="-120"/>
              </a:rPr>
              <a:t>補強</a:t>
            </a:r>
            <a:endParaRPr lang="en-US" sz="1500" dirty="0"/>
          </a:p>
        </p:txBody>
      </p:sp>
      <p:sp>
        <p:nvSpPr>
          <p:cNvPr id="11" name="Text 9"/>
          <p:cNvSpPr/>
          <p:nvPr/>
        </p:nvSpPr>
        <p:spPr>
          <a:xfrm>
            <a:off x="2463800" y="3968750"/>
            <a:ext cx="9182862" cy="749300"/>
          </a:xfrm>
          <a:prstGeom prst="rect">
            <a:avLst/>
          </a:prstGeom>
          <a:noFill/>
          <a:ln/>
        </p:spPr>
        <p:txBody>
          <a:bodyPr wrap="square" lIns="0" tIns="0" rIns="0" bIns="0" rtlCol="0" anchor="t">
            <a:normAutofit/>
          </a:bodyPr>
          <a:lstStyle/>
          <a:p>
            <a:pPr algn="l" indent="0" marL="0">
              <a:lnSpc>
                <a:spcPts val="2850"/>
              </a:lnSpc>
              <a:buNone/>
            </a:pPr>
            <a:r>
              <a:rPr lang="en-US" sz="1900" dirty="0">
                <a:solidFill>
                  <a:srgbClr val="1D1F22"/>
                </a:solidFill>
                <a:latin typeface="Arial" pitchFamily="34" charset="0"/>
                <a:ea typeface="Arial" pitchFamily="34" charset="-122"/>
                <a:cs typeface="Arial" pitchFamily="34" charset="-120"/>
              </a:rPr>
              <a:t>価格・残価・補助金・販売網・登録台数・消費者の関心のデータで、要因を切り分ける</a:t>
            </a:r>
            <a:endParaRPr lang="en-US" sz="1900" dirty="0"/>
          </a:p>
        </p:txBody>
      </p:sp>
      <p:sp>
        <p:nvSpPr>
          <p:cNvPr id="12" name="Shape 10"/>
          <p:cNvSpPr/>
          <p:nvPr/>
        </p:nvSpPr>
        <p:spPr>
          <a:xfrm>
            <a:off x="812800" y="4876800"/>
            <a:ext cx="10566400" cy="0"/>
          </a:xfrm>
          <a:prstGeom prst="line">
            <a:avLst/>
          </a:prstGeom>
          <a:noFill/>
          <a:ln w="12700">
            <a:solidFill>
              <a:srgbClr val="C9C5BC"/>
            </a:solidFill>
            <a:prstDash val="solid"/>
          </a:ln>
        </p:spPr>
      </p:sp>
      <p:sp>
        <p:nvSpPr>
          <p:cNvPr id="13" name="Shape 11"/>
          <p:cNvSpPr/>
          <p:nvPr/>
        </p:nvSpPr>
        <p:spPr>
          <a:xfrm>
            <a:off x="812800" y="5607050"/>
            <a:ext cx="10566400" cy="0"/>
          </a:xfrm>
          <a:prstGeom prst="line">
            <a:avLst/>
          </a:prstGeom>
          <a:noFill/>
          <a:ln w="12700">
            <a:solidFill>
              <a:srgbClr val="C9C5BC"/>
            </a:solidFill>
            <a:prstDash val="solid"/>
          </a:ln>
        </p:spPr>
      </p:sp>
      <p:sp>
        <p:nvSpPr>
          <p:cNvPr id="14" name="Text 12"/>
          <p:cNvSpPr/>
          <p:nvPr/>
        </p:nvSpPr>
        <p:spPr>
          <a:xfrm>
            <a:off x="812800" y="5124450"/>
            <a:ext cx="1447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457A6"/>
                </a:solidFill>
                <a:latin typeface="Arial" pitchFamily="34" charset="0"/>
                <a:ea typeface="Arial" pitchFamily="34" charset="-122"/>
                <a:cs typeface="Arial" pitchFamily="34" charset="-120"/>
              </a:rPr>
              <a:t>次のステップ</a:t>
            </a:r>
            <a:endParaRPr lang="en-US" sz="1500" dirty="0"/>
          </a:p>
        </p:txBody>
      </p:sp>
      <p:sp>
        <p:nvSpPr>
          <p:cNvPr id="15" name="Text 13"/>
          <p:cNvSpPr/>
          <p:nvPr/>
        </p:nvSpPr>
        <p:spPr>
          <a:xfrm>
            <a:off x="2463800" y="5060950"/>
            <a:ext cx="9182862" cy="387350"/>
          </a:xfrm>
          <a:prstGeom prst="rect">
            <a:avLst/>
          </a:prstGeom>
          <a:noFill/>
          <a:ln/>
        </p:spPr>
        <p:txBody>
          <a:bodyPr wrap="square" lIns="0" tIns="0" rIns="0" bIns="0" rtlCol="0" anchor="t">
            <a:normAutofit/>
          </a:bodyPr>
          <a:lstStyle/>
          <a:p>
            <a:pPr algn="l" indent="0" marL="0">
              <a:lnSpc>
                <a:spcPts val="2850"/>
              </a:lnSpc>
              <a:buNone/>
            </a:pPr>
            <a:r>
              <a:rPr lang="en-US" sz="1900" dirty="0">
                <a:solidFill>
                  <a:srgbClr val="1D1F22"/>
                </a:solidFill>
                <a:latin typeface="Arial" pitchFamily="34" charset="0"/>
                <a:ea typeface="Arial" pitchFamily="34" charset="-122"/>
                <a:cs typeface="Arial" pitchFamily="34" charset="-120"/>
              </a:rPr>
              <a:t>データベースを完成させ、刷新後の販売推移の集計から着手する</a:t>
            </a:r>
            <a:endParaRPr lang="en-US" sz="1900" dirty="0"/>
          </a:p>
        </p:txBody>
      </p:sp>
    </p:spTree>
  </p:cSld>
  <p:clrMapOvr>
    <a:masterClrMapping/>
  </p:clrMapOvr>
</p:sld>
</file>

<file path=ppt/theme/theme1.xml><?xml version="1.0" encoding="utf-8"?>
<a:theme xmlns:a="http://schemas.openxmlformats.org/drawingml/2006/main" name="中国系OEM台頭の仮説と検証方針">
  <a:themeElements>
    <a:clrScheme name="中国系OEM台頭の仮説と検証方針">
      <a:dk1>
        <a:srgbClr val="1D1F22"/>
      </a:dk1>
      <a:lt1>
        <a:srgbClr val="F5F4F0"/>
      </a:lt1>
      <a:dk2>
        <a:srgbClr val="535456"/>
      </a:dk2>
      <a:lt2>
        <a:srgbClr val="DFDFDB"/>
      </a:lt2>
      <a:accent1>
        <a:srgbClr val="2457A6"/>
      </a:accent1>
      <a:accent2>
        <a:srgbClr val="8DB4E8"/>
      </a:accent2>
      <a:accent3>
        <a:srgbClr val="3E4247"/>
      </a:accent3>
      <a:accent4>
        <a:srgbClr val="AEB4BB"/>
      </a:accent4>
      <a:accent5>
        <a:srgbClr val="6A6E73"/>
      </a:accent5>
      <a:accent6>
        <a:srgbClr val="D5D8DC"/>
      </a:accent6>
      <a:hlink>
        <a:srgbClr val="0563C1"/>
      </a:hlink>
      <a:folHlink>
        <a:srgbClr val="954F72"/>
      </a:folHlink>
    </a:clrScheme>
    <a:fontScheme name="中国系OEM台頭の仮説と検証方針">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中国系OEM台頭の仮説と検証方針</dc:title>
  <dc:subject/>
  <dc:creator/>
  <cp:lastModifiedBy/>
  <cp:revision>1</cp:revision>
  <dcterms:created xsi:type="dcterms:W3CDTF">2026-10-05T07:40:11Z</dcterms:created>
  <dcterms:modified xsi:type="dcterms:W3CDTF">2026-10-05T07:40:11Z</dcterms:modified>
</cp:coreProperties>
</file>